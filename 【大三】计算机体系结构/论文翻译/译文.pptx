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3" r:id="rId2"/>
  </p:sldMasterIdLst>
  <p:notesMasterIdLst>
    <p:notesMasterId r:id="rId18"/>
  </p:notesMasterIdLst>
  <p:handoutMasterIdLst>
    <p:handoutMasterId r:id="rId19"/>
  </p:handoutMasterIdLst>
  <p:sldIdLst>
    <p:sldId id="268" r:id="rId3"/>
    <p:sldId id="269" r:id="rId4"/>
    <p:sldId id="296" r:id="rId5"/>
    <p:sldId id="297" r:id="rId6"/>
    <p:sldId id="303" r:id="rId7"/>
    <p:sldId id="298" r:id="rId8"/>
    <p:sldId id="304" r:id="rId9"/>
    <p:sldId id="299" r:id="rId10"/>
    <p:sldId id="305" r:id="rId11"/>
    <p:sldId id="300" r:id="rId12"/>
    <p:sldId id="306" r:id="rId13"/>
    <p:sldId id="301" r:id="rId14"/>
    <p:sldId id="307" r:id="rId15"/>
    <p:sldId id="302" r:id="rId16"/>
    <p:sldId id="308" r:id="rId17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 autoAdjust="0"/>
    <p:restoredTop sz="95777" autoAdjust="0"/>
  </p:normalViewPr>
  <p:slideViewPr>
    <p:cSldViewPr snapToGrid="0" showGuides="1">
      <p:cViewPr varScale="1">
        <p:scale>
          <a:sx n="100" d="100"/>
          <a:sy n="100" d="100"/>
        </p:scale>
        <p:origin x="75" y="7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741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</a:defRPr>
            </a:lvl1pPr>
          </a:lstStyle>
          <a:p>
            <a:fld id="{015A1460-7A15-4E10-96C8-810FBA2A2185}" type="datetimeFigureOut">
              <a:rPr lang="zh-CN" altLang="en-US" smtClean="0"/>
              <a:pPr/>
              <a:t>2025/9/26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</a:defRPr>
            </a:lvl1pPr>
          </a:lstStyle>
          <a:p>
            <a:fld id="{3786BE25-C7D8-4C58-A0EB-4D1A244685A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314934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9588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39E1D-F5EB-469E-DF72-67E1770C8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1DEAAC-A4E2-5AA1-7161-FCF52BEBF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F9AB31-1F52-5B02-EC30-E4E0094CF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760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6E178-A765-6145-9185-10C0DE7B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6DA9C3-03FF-4087-FD4B-8A865C42C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F925DF-10B7-7629-A8FF-4C067AE59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487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6401-8BF6-E4D9-9894-944D5127E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44687F-B3FB-B9F8-8012-BB9AFA4BF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2D8927-5B74-6F26-F453-CA62BB565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076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76249-80B2-3871-C9E6-8F2EC34FA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6AAC4E-A99D-31EA-413A-1C6939F64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C898A7-AC94-846F-AAF3-E7191C365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150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7379E-D19E-CD95-A883-CADEEDEB4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46701D-5DEC-DAF8-3D8C-F7E1F4907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456000-E56F-AA78-2401-DCFAEC3D1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981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ACBC-3B8A-68FE-1D8F-1521EF878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BB9302-6AF3-9501-1A11-51C5F159D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FA42DC-13FC-2FE7-4D3E-A5106AAFC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646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2" y="0"/>
            <a:ext cx="12192001" cy="6858000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2129099" y="499415"/>
            <a:ext cx="474823" cy="58892"/>
            <a:chOff x="2098606" y="517907"/>
            <a:chExt cx="486876" cy="60387"/>
          </a:xfrm>
        </p:grpSpPr>
        <p:sp>
          <p:nvSpPr>
            <p:cNvPr id="18" name="椭圆 17"/>
            <p:cNvSpPr/>
            <p:nvPr/>
          </p:nvSpPr>
          <p:spPr>
            <a:xfrm>
              <a:off x="2525095" y="517907"/>
              <a:ext cx="60387" cy="603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2311850" y="517907"/>
              <a:ext cx="60387" cy="60387"/>
            </a:xfrm>
            <a:prstGeom prst="ellipse">
              <a:avLst/>
            </a:prstGeom>
            <a:solidFill>
              <a:srgbClr val="00F3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2098606" y="517907"/>
              <a:ext cx="60387" cy="60387"/>
            </a:xfrm>
            <a:prstGeom prst="ellipse">
              <a:avLst/>
            </a:prstGeom>
            <a:solidFill>
              <a:srgbClr val="FF31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22414" y="2136877"/>
            <a:ext cx="6552526" cy="2585323"/>
            <a:chOff x="322414" y="2136877"/>
            <a:chExt cx="6552526" cy="2585323"/>
          </a:xfrm>
        </p:grpSpPr>
        <p:sp>
          <p:nvSpPr>
            <p:cNvPr id="10" name="文本框 9"/>
            <p:cNvSpPr txBox="1"/>
            <p:nvPr/>
          </p:nvSpPr>
          <p:spPr>
            <a:xfrm>
              <a:off x="322414" y="2136877"/>
              <a:ext cx="6552526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spc="600" dirty="0">
                  <a:ln w="15875">
                    <a:gradFill>
                      <a:gsLst>
                        <a:gs pos="82000">
                          <a:srgbClr val="00F3DD"/>
                        </a:gs>
                        <a:gs pos="10000">
                          <a:srgbClr val="FF31E4"/>
                        </a:gs>
                      </a:gsLst>
                      <a:lin ang="5400000" scaled="0"/>
                    </a:gradFill>
                  </a:ln>
                  <a:noFill/>
                  <a:latin typeface="字魂35号-经典雅黑" panose="02000000000000000000" charset="-122"/>
                  <a:ea typeface="字魂35号-经典雅黑" panose="02000000000000000000" charset="-122"/>
                  <a:cs typeface="字魂35号-经典雅黑" panose="02000000000000000000" charset="-122"/>
                </a:rPr>
                <a:t>面向真实存内计算系统的机器学习训练研究</a:t>
              </a:r>
            </a:p>
          </p:txBody>
        </p:sp>
        <p:sp>
          <p:nvSpPr>
            <p:cNvPr id="23" name="椭圆 22"/>
            <p:cNvSpPr/>
            <p:nvPr/>
          </p:nvSpPr>
          <p:spPr>
            <a:xfrm>
              <a:off x="3440423" y="2635151"/>
              <a:ext cx="138022" cy="138022"/>
            </a:xfrm>
            <a:prstGeom prst="ellipse">
              <a:avLst/>
            </a:prstGeom>
            <a:gradFill>
              <a:gsLst>
                <a:gs pos="0">
                  <a:srgbClr val="FF31E4"/>
                </a:gs>
                <a:gs pos="100000">
                  <a:srgbClr val="00F3DD"/>
                </a:gs>
              </a:gsLst>
              <a:lin ang="2700000" scaled="0"/>
            </a:gradFill>
            <a:ln w="6350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8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5号-经典雅黑" panose="02000000000000000000" charset="-122"/>
                <a:ea typeface="字魂35号-经典雅黑" panose="02000000000000000000" charset="-122"/>
              </a:endParaRPr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6702330" y="382088"/>
            <a:ext cx="49823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800" dirty="0">
                <a:ln w="6350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TECHNOLOGY</a:t>
            </a:r>
            <a:endParaRPr lang="zh-CN" altLang="en-US" sz="800" dirty="0">
              <a:ln w="6350">
                <a:noFill/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0">
        <p14:vortex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dur="5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634" t="8079" r="5728" b="9139"/>
          <a:stretch>
            <a:fillRect/>
          </a:stretch>
        </p:blipFill>
        <p:spPr>
          <a:xfrm>
            <a:off x="0" y="0"/>
            <a:ext cx="12192000" cy="685690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363027" y="2853660"/>
            <a:ext cx="5639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ln w="15875">
                  <a:gradFill>
                    <a:gsLst>
                      <a:gs pos="8000">
                        <a:srgbClr val="FF31E4"/>
                      </a:gs>
                      <a:gs pos="94000">
                        <a:srgbClr val="00F3DD"/>
                      </a:gs>
                    </a:gsLst>
                    <a:lin ang="5400000" scaled="1"/>
                  </a:gradFill>
                </a:ln>
                <a:noFill/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研究背景与问题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787478" y="1526149"/>
            <a:ext cx="27611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gradFill>
                  <a:gsLst>
                    <a:gs pos="100000">
                      <a:srgbClr val="FF31E4">
                        <a:alpha val="0"/>
                      </a:srgbClr>
                    </a:gs>
                    <a:gs pos="21000">
                      <a:schemeClr val="bg1">
                        <a:alpha val="77000"/>
                      </a:schemeClr>
                    </a:gs>
                  </a:gsLst>
                  <a:lin ang="54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01</a:t>
            </a:r>
            <a:endParaRPr lang="zh-CN" altLang="en-US" sz="8800" dirty="0">
              <a:gradFill>
                <a:gsLst>
                  <a:gs pos="100000">
                    <a:srgbClr val="FF31E4">
                      <a:alpha val="0"/>
                    </a:srgbClr>
                  </a:gs>
                  <a:gs pos="21000">
                    <a:schemeClr val="bg1">
                      <a:alpha val="77000"/>
                    </a:schemeClr>
                  </a:gs>
                </a:gsLst>
                <a:lin ang="5400000" scaled="0"/>
              </a:gradFill>
              <a:latin typeface="字魂35号-经典雅黑" panose="02000000000000000000" pitchFamily="2" charset="-122"/>
              <a:ea typeface="字魂35号-经典雅黑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5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1473627" y="1271282"/>
            <a:ext cx="10075125" cy="4540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机器学习算法在科学与技术的诸多领域得到了广泛应用，因为它们能够从经验中学习并不断改进。然而，训练这些算法是一个计算密集型过程，需要处理大量训练数据。在传统的处理器中心化系统（如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CPU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和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GPU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）中，数据需要在内存和处理器之间频繁传输，这不仅消耗大量能量，还占用执行周期。当计算量和数据局部性不足以抵消这种数据移动的开销时，数据传输就会成为机器学习训练的性能瓶颈。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a楷体" panose="02000500000000000000" pitchFamily="2" charset="-122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700" y="5603613"/>
            <a:ext cx="2842517" cy="762775"/>
          </a:xfrm>
          <a:prstGeom prst="rect">
            <a:avLst/>
          </a:prstGeom>
        </p:spPr>
      </p:pic>
      <p:sp>
        <p:nvSpPr>
          <p:cNvPr id="15" name="文本框 15"/>
          <p:cNvSpPr txBox="1"/>
          <p:nvPr/>
        </p:nvSpPr>
        <p:spPr>
          <a:xfrm flipH="1">
            <a:off x="1473627" y="470999"/>
            <a:ext cx="2991494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>
              <a:defRPr sz="2800">
                <a:gradFill>
                  <a:gsLst>
                    <a:gs pos="0">
                      <a:srgbClr val="FF31E4"/>
                    </a:gs>
                    <a:gs pos="43000">
                      <a:srgbClr val="00F3DD"/>
                    </a:gs>
                    <a:gs pos="100000">
                      <a:srgbClr val="2506FF"/>
                    </a:gs>
                  </a:gsLst>
                  <a:lin ang="27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defRPr>
            </a:lvl1pPr>
          </a:lstStyle>
          <a:p>
            <a:r>
              <a:rPr lang="zh-CN" altLang="en-US" dirty="0"/>
              <a:t>研究背景与问题</a:t>
            </a:r>
          </a:p>
        </p:txBody>
      </p:sp>
    </p:spTree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75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D576E-28CE-6786-C121-FDD620640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6B224B6-6CB5-AA27-C209-7A226F3E34B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634" t="8079" r="5728" b="9139"/>
          <a:stretch>
            <a:fillRect/>
          </a:stretch>
        </p:blipFill>
        <p:spPr>
          <a:xfrm>
            <a:off x="0" y="0"/>
            <a:ext cx="12192000" cy="68569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26748E5-37F6-2B1E-B85D-97A8630D7152}"/>
              </a:ext>
            </a:extLst>
          </p:cNvPr>
          <p:cNvSpPr txBox="1"/>
          <p:nvPr/>
        </p:nvSpPr>
        <p:spPr>
          <a:xfrm>
            <a:off x="2903517" y="2853660"/>
            <a:ext cx="6442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ln w="15875">
                  <a:gradFill>
                    <a:gsLst>
                      <a:gs pos="8000">
                        <a:srgbClr val="FF31E4"/>
                      </a:gs>
                      <a:gs pos="94000">
                        <a:srgbClr val="00F3DD"/>
                      </a:gs>
                    </a:gsLst>
                    <a:lin ang="5400000" scaled="1"/>
                  </a:gradFill>
                </a:ln>
                <a:noFill/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解决方案：存内计算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AEFD70A-4448-D4E1-C482-D13E46285067}"/>
              </a:ext>
            </a:extLst>
          </p:cNvPr>
          <p:cNvSpPr txBox="1"/>
          <p:nvPr/>
        </p:nvSpPr>
        <p:spPr>
          <a:xfrm>
            <a:off x="4787478" y="1526149"/>
            <a:ext cx="27611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gradFill>
                  <a:gsLst>
                    <a:gs pos="100000">
                      <a:srgbClr val="FF31E4">
                        <a:alpha val="0"/>
                      </a:srgbClr>
                    </a:gs>
                    <a:gs pos="21000">
                      <a:schemeClr val="bg1">
                        <a:alpha val="77000"/>
                      </a:schemeClr>
                    </a:gs>
                  </a:gsLst>
                  <a:lin ang="54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02</a:t>
            </a:r>
            <a:endParaRPr lang="zh-CN" altLang="en-US" sz="8800" dirty="0">
              <a:gradFill>
                <a:gsLst>
                  <a:gs pos="100000">
                    <a:srgbClr val="FF31E4">
                      <a:alpha val="0"/>
                    </a:srgbClr>
                  </a:gs>
                  <a:gs pos="21000">
                    <a:schemeClr val="bg1">
                      <a:alpha val="77000"/>
                    </a:schemeClr>
                  </a:gs>
                </a:gsLst>
                <a:lin ang="5400000" scaled="0"/>
              </a:gradFill>
              <a:latin typeface="字魂35号-经典雅黑" panose="02000000000000000000" pitchFamily="2" charset="-122"/>
              <a:ea typeface="字魂35号-经典雅黑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587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5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20D4E-D2EF-2AC6-86FF-0694804A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8204948-8A88-5670-E313-964EA15C9CA6}"/>
              </a:ext>
            </a:extLst>
          </p:cNvPr>
          <p:cNvSpPr/>
          <p:nvPr/>
        </p:nvSpPr>
        <p:spPr>
          <a:xfrm>
            <a:off x="1283395" y="1122841"/>
            <a:ext cx="10075125" cy="5833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存内计算（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Processing-in-Memory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）是一种以数据为中心的计算范式，其核心思想是在存储器内部或其附近集成处理单元，从而减少数据在内存和处理器之间的频繁传输。通过这种方式，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能显著提高内存带宽的利用率并降低访问延迟。相比传统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CPU/GPU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系统，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的优势在于能够在靠近数据的地方直接进行计算，从而缓解数据传输带来的性能瓶颈和能耗问题。近年来，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技术已经取得实际落地的进展，出现了多种商用或实验性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系统，为机器学习训练提供了新的加速途径。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a楷体" panose="02000500000000000000" pitchFamily="2" charset="-122"/>
              <a:sym typeface="+mn-lt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79F7DC1-555C-3E08-C1F3-90BA1223CFC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700" y="5603613"/>
            <a:ext cx="2842517" cy="762775"/>
          </a:xfrm>
          <a:prstGeom prst="rect">
            <a:avLst/>
          </a:prstGeom>
        </p:spPr>
      </p:pic>
      <p:sp>
        <p:nvSpPr>
          <p:cNvPr id="15" name="文本框 15">
            <a:extLst>
              <a:ext uri="{FF2B5EF4-FFF2-40B4-BE49-F238E27FC236}">
                <a16:creationId xmlns:a16="http://schemas.microsoft.com/office/drawing/2014/main" id="{87F5B903-1684-3ECA-022E-DC4A5DB0644D}"/>
              </a:ext>
            </a:extLst>
          </p:cNvPr>
          <p:cNvSpPr txBox="1"/>
          <p:nvPr/>
        </p:nvSpPr>
        <p:spPr>
          <a:xfrm flipH="1">
            <a:off x="1473627" y="470999"/>
            <a:ext cx="2991494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>
              <a:defRPr sz="2800">
                <a:gradFill>
                  <a:gsLst>
                    <a:gs pos="0">
                      <a:srgbClr val="FF31E4"/>
                    </a:gs>
                    <a:gs pos="43000">
                      <a:srgbClr val="00F3DD"/>
                    </a:gs>
                    <a:gs pos="100000">
                      <a:srgbClr val="2506FF"/>
                    </a:gs>
                  </a:gsLst>
                  <a:lin ang="27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defRPr>
            </a:lvl1pPr>
          </a:lstStyle>
          <a:p>
            <a:r>
              <a:rPr lang="zh-CN" altLang="en-US" dirty="0"/>
              <a:t>存内计算</a:t>
            </a:r>
          </a:p>
        </p:txBody>
      </p:sp>
    </p:spTree>
    <p:extLst>
      <p:ext uri="{BB962C8B-B14F-4D97-AF65-F5344CB8AC3E}">
        <p14:creationId xmlns:p14="http://schemas.microsoft.com/office/powerpoint/2010/main" val="3726800143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75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D374-71B6-3347-1A64-33C2BA6D1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F49A952-95F4-4DFA-D8A8-C066262DDD7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634" t="8079" r="5728" b="9139"/>
          <a:stretch>
            <a:fillRect/>
          </a:stretch>
        </p:blipFill>
        <p:spPr>
          <a:xfrm>
            <a:off x="0" y="0"/>
            <a:ext cx="12192000" cy="68569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0CB6178-2463-81A2-12D4-60DFA2CE646B}"/>
              </a:ext>
            </a:extLst>
          </p:cNvPr>
          <p:cNvSpPr txBox="1"/>
          <p:nvPr/>
        </p:nvSpPr>
        <p:spPr>
          <a:xfrm>
            <a:off x="2416629" y="2853660"/>
            <a:ext cx="7226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ln w="15875">
                  <a:gradFill>
                    <a:gsLst>
                      <a:gs pos="8000">
                        <a:srgbClr val="FF31E4"/>
                      </a:gs>
                      <a:gs pos="94000">
                        <a:srgbClr val="00F3DD"/>
                      </a:gs>
                    </a:gsLst>
                    <a:lin ang="5400000" scaled="1"/>
                  </a:gradFill>
                </a:ln>
                <a:noFill/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现有真实</a:t>
            </a:r>
            <a:r>
              <a:rPr lang="en-US" altLang="zh-CN" sz="5400" dirty="0">
                <a:ln w="15875">
                  <a:gradFill>
                    <a:gsLst>
                      <a:gs pos="8000">
                        <a:srgbClr val="FF31E4"/>
                      </a:gs>
                      <a:gs pos="94000">
                        <a:srgbClr val="00F3DD"/>
                      </a:gs>
                    </a:gsLst>
                    <a:lin ang="5400000" scaled="1"/>
                  </a:gradFill>
                </a:ln>
                <a:noFill/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PIM</a:t>
            </a:r>
            <a:r>
              <a:rPr lang="zh-CN" altLang="en-US" sz="5400" dirty="0">
                <a:ln w="15875">
                  <a:gradFill>
                    <a:gsLst>
                      <a:gs pos="8000">
                        <a:srgbClr val="FF31E4"/>
                      </a:gs>
                      <a:gs pos="94000">
                        <a:srgbClr val="00F3DD"/>
                      </a:gs>
                    </a:gsLst>
                    <a:lin ang="5400000" scaled="1"/>
                  </a:gradFill>
                </a:ln>
                <a:noFill/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系统案例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AEFD99B-4E10-1C68-07B9-B1BB88EF9DE2}"/>
              </a:ext>
            </a:extLst>
          </p:cNvPr>
          <p:cNvSpPr txBox="1"/>
          <p:nvPr/>
        </p:nvSpPr>
        <p:spPr>
          <a:xfrm>
            <a:off x="4787478" y="1526149"/>
            <a:ext cx="27611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gradFill>
                  <a:gsLst>
                    <a:gs pos="100000">
                      <a:srgbClr val="FF31E4">
                        <a:alpha val="0"/>
                      </a:srgbClr>
                    </a:gs>
                    <a:gs pos="21000">
                      <a:schemeClr val="bg1">
                        <a:alpha val="77000"/>
                      </a:schemeClr>
                    </a:gs>
                  </a:gsLst>
                  <a:lin ang="54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03</a:t>
            </a:r>
            <a:endParaRPr lang="zh-CN" altLang="en-US" sz="8800" dirty="0">
              <a:gradFill>
                <a:gsLst>
                  <a:gs pos="100000">
                    <a:srgbClr val="FF31E4">
                      <a:alpha val="0"/>
                    </a:srgbClr>
                  </a:gs>
                  <a:gs pos="21000">
                    <a:schemeClr val="bg1">
                      <a:alpha val="77000"/>
                    </a:schemeClr>
                  </a:gs>
                </a:gsLst>
                <a:lin ang="5400000" scaled="0"/>
              </a:gradFill>
              <a:latin typeface="字魂35号-经典雅黑" panose="02000000000000000000" pitchFamily="2" charset="-122"/>
              <a:ea typeface="字魂35号-经典雅黑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965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5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A638-1475-DA6B-58E5-77DA4CE4E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FF0F4C7-4442-11D9-81D1-582AECB2F341}"/>
              </a:ext>
            </a:extLst>
          </p:cNvPr>
          <p:cNvSpPr/>
          <p:nvPr/>
        </p:nvSpPr>
        <p:spPr>
          <a:xfrm>
            <a:off x="1473627" y="1271282"/>
            <a:ext cx="10075125" cy="5186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</a:rPr>
              <a:t>目前已有多种真实 </a:t>
            </a:r>
            <a:r>
              <a:rPr lang="en-US" altLang="zh-CN" sz="2800" b="1" dirty="0">
                <a:solidFill>
                  <a:schemeClr val="bg1"/>
                </a:solidFill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</a:rPr>
              <a:t>系统。</a:t>
            </a:r>
            <a:r>
              <a:rPr lang="en-US" altLang="zh-CN" sz="2800" b="1" dirty="0">
                <a:solidFill>
                  <a:schemeClr val="bg1"/>
                </a:solidFill>
              </a:rPr>
              <a:t>UPMEM </a:t>
            </a:r>
            <a:r>
              <a:rPr lang="zh-CN" altLang="en-US" sz="2800" b="1" dirty="0">
                <a:solidFill>
                  <a:schemeClr val="bg1"/>
                </a:solidFill>
              </a:rPr>
              <a:t>在 </a:t>
            </a:r>
            <a:r>
              <a:rPr lang="en-US" altLang="zh-CN" sz="2800" b="1" dirty="0">
                <a:solidFill>
                  <a:schemeClr val="bg1"/>
                </a:solidFill>
              </a:rPr>
              <a:t>DRAM </a:t>
            </a:r>
            <a:r>
              <a:rPr lang="zh-CN" altLang="en-US" sz="2800" b="1" dirty="0">
                <a:solidFill>
                  <a:schemeClr val="bg1"/>
                </a:solidFill>
              </a:rPr>
              <a:t>内存库附近集成小型核心，实现通用计算。三星的 </a:t>
            </a:r>
            <a:r>
              <a:rPr lang="en-US" altLang="zh-CN" sz="2800" b="1" dirty="0">
                <a:solidFill>
                  <a:schemeClr val="bg1"/>
                </a:solidFill>
              </a:rPr>
              <a:t>HBM-PIM </a:t>
            </a:r>
            <a:r>
              <a:rPr lang="zh-CN" altLang="en-US" sz="2800" b="1" dirty="0">
                <a:solidFill>
                  <a:schemeClr val="bg1"/>
                </a:solidFill>
              </a:rPr>
              <a:t>和 </a:t>
            </a:r>
            <a:r>
              <a:rPr lang="en-US" altLang="zh-CN" sz="2800" b="1" dirty="0" err="1">
                <a:solidFill>
                  <a:schemeClr val="bg1"/>
                </a:solidFill>
              </a:rPr>
              <a:t>AxDIMM</a:t>
            </a:r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</a:rPr>
              <a:t>分别在 </a:t>
            </a:r>
            <a:r>
              <a:rPr lang="en-US" altLang="zh-CN" sz="2800" b="1" dirty="0">
                <a:solidFill>
                  <a:schemeClr val="bg1"/>
                </a:solidFill>
              </a:rPr>
              <a:t>HBM </a:t>
            </a:r>
            <a:r>
              <a:rPr lang="zh-CN" altLang="en-US" sz="2800" b="1" dirty="0">
                <a:solidFill>
                  <a:schemeClr val="bg1"/>
                </a:solidFill>
              </a:rPr>
              <a:t>和 </a:t>
            </a:r>
            <a:r>
              <a:rPr lang="en-US" altLang="zh-CN" sz="2800" b="1" dirty="0">
                <a:solidFill>
                  <a:schemeClr val="bg1"/>
                </a:solidFill>
              </a:rPr>
              <a:t>DDR </a:t>
            </a:r>
            <a:r>
              <a:rPr lang="zh-CN" altLang="en-US" sz="2800" b="1" dirty="0">
                <a:solidFill>
                  <a:schemeClr val="bg1"/>
                </a:solidFill>
              </a:rPr>
              <a:t>模块中集成 </a:t>
            </a:r>
            <a:r>
              <a:rPr lang="en-US" altLang="zh-CN" sz="2800" b="1" dirty="0">
                <a:solidFill>
                  <a:schemeClr val="bg1"/>
                </a:solidFill>
              </a:rPr>
              <a:t>SIMD </a:t>
            </a:r>
            <a:r>
              <a:rPr lang="zh-CN" altLang="en-US" sz="2800" b="1" dirty="0">
                <a:solidFill>
                  <a:schemeClr val="bg1"/>
                </a:solidFill>
              </a:rPr>
              <a:t>单元或 </a:t>
            </a:r>
            <a:r>
              <a:rPr lang="en-US" altLang="zh-CN" sz="2800" b="1" dirty="0">
                <a:solidFill>
                  <a:schemeClr val="bg1"/>
                </a:solidFill>
              </a:rPr>
              <a:t>FPGA</a:t>
            </a:r>
            <a:r>
              <a:rPr lang="zh-CN" altLang="en-US" sz="2800" b="1" dirty="0">
                <a:solidFill>
                  <a:schemeClr val="bg1"/>
                </a:solidFill>
              </a:rPr>
              <a:t>，用于神经网络和推荐系统加速。</a:t>
            </a:r>
            <a:r>
              <a:rPr lang="en-US" altLang="zh-CN" sz="2800" b="1" dirty="0">
                <a:solidFill>
                  <a:schemeClr val="bg1"/>
                </a:solidFill>
              </a:rPr>
              <a:t>SK Hynix </a:t>
            </a:r>
            <a:r>
              <a:rPr lang="zh-CN" altLang="en-US" sz="2800" b="1" dirty="0">
                <a:solidFill>
                  <a:schemeClr val="bg1"/>
                </a:solidFill>
              </a:rPr>
              <a:t>的 </a:t>
            </a:r>
            <a:r>
              <a:rPr lang="en-US" altLang="zh-CN" sz="2800" b="1" dirty="0" err="1">
                <a:solidFill>
                  <a:schemeClr val="bg1"/>
                </a:solidFill>
              </a:rPr>
              <a:t>AiM</a:t>
            </a:r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</a:rPr>
              <a:t>基于 </a:t>
            </a:r>
            <a:r>
              <a:rPr lang="en-US" altLang="zh-CN" sz="2800" b="1" dirty="0">
                <a:solidFill>
                  <a:schemeClr val="bg1"/>
                </a:solidFill>
              </a:rPr>
              <a:t>GDDR6</a:t>
            </a:r>
            <a:r>
              <a:rPr lang="zh-CN" altLang="en-US" sz="2800" b="1" dirty="0">
                <a:solidFill>
                  <a:schemeClr val="bg1"/>
                </a:solidFill>
              </a:rPr>
              <a:t>，支持深度学习计算；阿里巴巴的 </a:t>
            </a:r>
            <a:r>
              <a:rPr lang="en-US" altLang="zh-CN" sz="2800" b="1" dirty="0">
                <a:solidFill>
                  <a:schemeClr val="bg1"/>
                </a:solidFill>
              </a:rPr>
              <a:t>HB-PNM </a:t>
            </a:r>
            <a:r>
              <a:rPr lang="zh-CN" altLang="en-US" sz="2800" b="1" dirty="0">
                <a:solidFill>
                  <a:schemeClr val="bg1"/>
                </a:solidFill>
              </a:rPr>
              <a:t>通过 </a:t>
            </a:r>
            <a:r>
              <a:rPr lang="en-US" altLang="zh-CN" sz="2800" b="1" dirty="0">
                <a:solidFill>
                  <a:schemeClr val="bg1"/>
                </a:solidFill>
              </a:rPr>
              <a:t>3D </a:t>
            </a:r>
            <a:r>
              <a:rPr lang="zh-CN" altLang="en-US" sz="2800" b="1" dirty="0">
                <a:solidFill>
                  <a:schemeClr val="bg1"/>
                </a:solidFill>
              </a:rPr>
              <a:t>堆叠结合内存与专用加速器，用于推荐系统。这些系统的特点是 </a:t>
            </a:r>
            <a:r>
              <a:rPr lang="en-US" altLang="zh-CN" sz="2800" b="1" dirty="0">
                <a:solidFill>
                  <a:schemeClr val="bg1"/>
                </a:solidFill>
              </a:rPr>
              <a:t>CPU </a:t>
            </a:r>
            <a:r>
              <a:rPr lang="zh-CN" altLang="en-US" sz="2800" b="1" dirty="0">
                <a:solidFill>
                  <a:schemeClr val="bg1"/>
                </a:solidFill>
              </a:rPr>
              <a:t>可访问标准内存和 </a:t>
            </a:r>
            <a:r>
              <a:rPr lang="en-US" altLang="zh-CN" sz="2800" b="1" dirty="0">
                <a:solidFill>
                  <a:schemeClr val="bg1"/>
                </a:solidFill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</a:rPr>
              <a:t>内存，</a:t>
            </a:r>
            <a:r>
              <a:rPr lang="en-US" altLang="zh-CN" sz="2800" b="1" dirty="0">
                <a:solidFill>
                  <a:schemeClr val="bg1"/>
                </a:solidFill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</a:rPr>
              <a:t>核高带宽、低延迟，但频率和缓存有限，通信通常需通过主机。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a楷体" panose="02000500000000000000" pitchFamily="2" charset="-122"/>
              <a:sym typeface="+mn-lt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BF0987D-6012-5060-6197-865D5BB1ED0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700" y="5603613"/>
            <a:ext cx="2842517" cy="762775"/>
          </a:xfrm>
          <a:prstGeom prst="rect">
            <a:avLst/>
          </a:prstGeom>
        </p:spPr>
      </p:pic>
      <p:sp>
        <p:nvSpPr>
          <p:cNvPr id="15" name="文本框 15">
            <a:extLst>
              <a:ext uri="{FF2B5EF4-FFF2-40B4-BE49-F238E27FC236}">
                <a16:creationId xmlns:a16="http://schemas.microsoft.com/office/drawing/2014/main" id="{FBA8453C-B571-08C8-862D-908F3A6847F5}"/>
              </a:ext>
            </a:extLst>
          </p:cNvPr>
          <p:cNvSpPr txBox="1"/>
          <p:nvPr/>
        </p:nvSpPr>
        <p:spPr>
          <a:xfrm flipH="1">
            <a:off x="1473625" y="470999"/>
            <a:ext cx="3876208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>
              <a:defRPr sz="2800">
                <a:gradFill>
                  <a:gsLst>
                    <a:gs pos="0">
                      <a:srgbClr val="FF31E4"/>
                    </a:gs>
                    <a:gs pos="43000">
                      <a:srgbClr val="00F3DD"/>
                    </a:gs>
                    <a:gs pos="100000">
                      <a:srgbClr val="2506FF"/>
                    </a:gs>
                  </a:gsLst>
                  <a:lin ang="27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defRPr>
            </a:lvl1pPr>
          </a:lstStyle>
          <a:p>
            <a:r>
              <a:rPr lang="zh-CN" altLang="en-US" dirty="0"/>
              <a:t>现有真实</a:t>
            </a:r>
            <a:r>
              <a:rPr lang="en-US" altLang="zh-CN" dirty="0"/>
              <a:t>PIM</a:t>
            </a:r>
            <a:r>
              <a:rPr lang="zh-CN" altLang="en-US" dirty="0"/>
              <a:t>系统案例</a:t>
            </a:r>
          </a:p>
        </p:txBody>
      </p:sp>
    </p:spTree>
    <p:extLst>
      <p:ext uri="{BB962C8B-B14F-4D97-AF65-F5344CB8AC3E}">
        <p14:creationId xmlns:p14="http://schemas.microsoft.com/office/powerpoint/2010/main" val="2351496514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75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3477C-07ED-0563-5CD6-FAE5083D9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8E731E9-848B-6193-ECCF-45658905BCC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634" t="8079" r="5728" b="9139"/>
          <a:stretch>
            <a:fillRect/>
          </a:stretch>
        </p:blipFill>
        <p:spPr>
          <a:xfrm>
            <a:off x="0" y="0"/>
            <a:ext cx="12192000" cy="68569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10E8A14-2ABD-E156-C203-51C4C7A69998}"/>
              </a:ext>
            </a:extLst>
          </p:cNvPr>
          <p:cNvSpPr txBox="1"/>
          <p:nvPr/>
        </p:nvSpPr>
        <p:spPr>
          <a:xfrm>
            <a:off x="4625438" y="2853660"/>
            <a:ext cx="3016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ln w="15875">
                  <a:gradFill>
                    <a:gsLst>
                      <a:gs pos="8000">
                        <a:srgbClr val="FF31E4"/>
                      </a:gs>
                      <a:gs pos="94000">
                        <a:srgbClr val="00F3DD"/>
                      </a:gs>
                    </a:gsLst>
                    <a:lin ang="5400000" scaled="1"/>
                  </a:gradFill>
                </a:ln>
                <a:noFill/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研究目标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DB2F29-DF86-6302-7BF1-75675F566FF3}"/>
              </a:ext>
            </a:extLst>
          </p:cNvPr>
          <p:cNvSpPr txBox="1"/>
          <p:nvPr/>
        </p:nvSpPr>
        <p:spPr>
          <a:xfrm>
            <a:off x="4787478" y="1526149"/>
            <a:ext cx="27611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gradFill>
                  <a:gsLst>
                    <a:gs pos="100000">
                      <a:srgbClr val="FF31E4">
                        <a:alpha val="0"/>
                      </a:srgbClr>
                    </a:gs>
                    <a:gs pos="21000">
                      <a:schemeClr val="bg1">
                        <a:alpha val="77000"/>
                      </a:schemeClr>
                    </a:gs>
                  </a:gsLst>
                  <a:lin ang="54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04</a:t>
            </a:r>
            <a:endParaRPr lang="zh-CN" altLang="en-US" sz="8800" dirty="0">
              <a:gradFill>
                <a:gsLst>
                  <a:gs pos="100000">
                    <a:srgbClr val="FF31E4">
                      <a:alpha val="0"/>
                    </a:srgbClr>
                  </a:gs>
                  <a:gs pos="21000">
                    <a:schemeClr val="bg1">
                      <a:alpha val="77000"/>
                    </a:schemeClr>
                  </a:gs>
                </a:gsLst>
                <a:lin ang="5400000" scaled="0"/>
              </a:gradFill>
              <a:latin typeface="字魂35号-经典雅黑" panose="02000000000000000000" pitchFamily="2" charset="-122"/>
              <a:ea typeface="字魂35号-经典雅黑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564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5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1E60C-BBB4-249B-C893-4BF269316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EC089756-6AF6-CC6E-6EFA-898EC8C18CE2}"/>
              </a:ext>
            </a:extLst>
          </p:cNvPr>
          <p:cNvSpPr/>
          <p:nvPr/>
        </p:nvSpPr>
        <p:spPr>
          <a:xfrm>
            <a:off x="1473627" y="1271282"/>
            <a:ext cx="10075125" cy="3247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本研究旨在量化通用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架构在机器学习训练中的潜力。我们在支持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内存的系统上实现了四种经典算法：线性回归、逻辑回归、决策树和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K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均值聚类。研究未包含深度学习训练，因为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GPU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和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TPU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已经高度优化。通过评估训练精度、性能和可扩展性，探索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对内存受限机器学习任务的加速效果。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a楷体" panose="02000500000000000000" pitchFamily="2" charset="-122"/>
              <a:sym typeface="+mn-lt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FC85F28-8829-5AD1-430F-0FC65A7A89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700" y="5603613"/>
            <a:ext cx="2842517" cy="762775"/>
          </a:xfrm>
          <a:prstGeom prst="rect">
            <a:avLst/>
          </a:prstGeom>
        </p:spPr>
      </p:pic>
      <p:sp>
        <p:nvSpPr>
          <p:cNvPr id="15" name="文本框 15">
            <a:extLst>
              <a:ext uri="{FF2B5EF4-FFF2-40B4-BE49-F238E27FC236}">
                <a16:creationId xmlns:a16="http://schemas.microsoft.com/office/drawing/2014/main" id="{13056934-D55E-8A2C-CC5D-D6199AD0C155}"/>
              </a:ext>
            </a:extLst>
          </p:cNvPr>
          <p:cNvSpPr txBox="1"/>
          <p:nvPr/>
        </p:nvSpPr>
        <p:spPr>
          <a:xfrm flipH="1">
            <a:off x="1473627" y="470999"/>
            <a:ext cx="2991494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>
              <a:defRPr sz="2800">
                <a:gradFill>
                  <a:gsLst>
                    <a:gs pos="0">
                      <a:srgbClr val="FF31E4"/>
                    </a:gs>
                    <a:gs pos="43000">
                      <a:srgbClr val="00F3DD"/>
                    </a:gs>
                    <a:gs pos="100000">
                      <a:srgbClr val="2506FF"/>
                    </a:gs>
                  </a:gsLst>
                  <a:lin ang="27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defRPr>
            </a:lvl1pPr>
          </a:lstStyle>
          <a:p>
            <a:r>
              <a:rPr lang="zh-CN" altLang="en-US" dirty="0"/>
              <a:t>研究目标</a:t>
            </a:r>
          </a:p>
        </p:txBody>
      </p:sp>
    </p:spTree>
    <p:extLst>
      <p:ext uri="{BB962C8B-B14F-4D97-AF65-F5344CB8AC3E}">
        <p14:creationId xmlns:p14="http://schemas.microsoft.com/office/powerpoint/2010/main" val="2473620702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75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0ABC-F01A-5965-6480-3465027EB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6C8EDB2-5F86-16F1-8FBD-8EF73ABC84E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634" t="8079" r="5728" b="9139"/>
          <a:stretch>
            <a:fillRect/>
          </a:stretch>
        </p:blipFill>
        <p:spPr>
          <a:xfrm>
            <a:off x="0" y="0"/>
            <a:ext cx="12192000" cy="68569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C2DD852-08FA-5081-2B0D-A031378016D6}"/>
              </a:ext>
            </a:extLst>
          </p:cNvPr>
          <p:cNvSpPr txBox="1"/>
          <p:nvPr/>
        </p:nvSpPr>
        <p:spPr>
          <a:xfrm>
            <a:off x="4073236" y="2853660"/>
            <a:ext cx="4227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ln w="15875">
                  <a:gradFill>
                    <a:gsLst>
                      <a:gs pos="8000">
                        <a:srgbClr val="FF31E4"/>
                      </a:gs>
                      <a:gs pos="94000">
                        <a:srgbClr val="00F3DD"/>
                      </a:gs>
                    </a:gsLst>
                    <a:lin ang="5400000" scaled="1"/>
                  </a:gradFill>
                </a:ln>
                <a:noFill/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方法与优化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E97D71-5D1B-4E1B-334A-C1729B89028A}"/>
              </a:ext>
            </a:extLst>
          </p:cNvPr>
          <p:cNvSpPr txBox="1"/>
          <p:nvPr/>
        </p:nvSpPr>
        <p:spPr>
          <a:xfrm>
            <a:off x="4787478" y="1526149"/>
            <a:ext cx="27611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gradFill>
                  <a:gsLst>
                    <a:gs pos="100000">
                      <a:srgbClr val="FF31E4">
                        <a:alpha val="0"/>
                      </a:srgbClr>
                    </a:gs>
                    <a:gs pos="21000">
                      <a:schemeClr val="bg1">
                        <a:alpha val="77000"/>
                      </a:schemeClr>
                    </a:gs>
                  </a:gsLst>
                  <a:lin ang="54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05</a:t>
            </a:r>
            <a:endParaRPr lang="zh-CN" altLang="en-US" sz="8800" dirty="0">
              <a:gradFill>
                <a:gsLst>
                  <a:gs pos="100000">
                    <a:srgbClr val="FF31E4">
                      <a:alpha val="0"/>
                    </a:srgbClr>
                  </a:gs>
                  <a:gs pos="21000">
                    <a:schemeClr val="bg1">
                      <a:alpha val="77000"/>
                    </a:schemeClr>
                  </a:gs>
                </a:gsLst>
                <a:lin ang="5400000" scaled="0"/>
              </a:gradFill>
              <a:latin typeface="字魂35号-经典雅黑" panose="02000000000000000000" pitchFamily="2" charset="-122"/>
              <a:ea typeface="字魂35号-经典雅黑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826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5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134EA-5852-9BD3-0D42-58EBB5FA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4E3DB3F-4B25-6EE1-2C08-9FA15A1A27FC}"/>
              </a:ext>
            </a:extLst>
          </p:cNvPr>
          <p:cNvSpPr/>
          <p:nvPr/>
        </p:nvSpPr>
        <p:spPr>
          <a:xfrm>
            <a:off x="1473627" y="1271282"/>
            <a:ext cx="10075125" cy="3894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在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实现中，我们遵循近期文献的编程建议，并针对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的限制进行优化。主要措施包括：使用定点表示、量化和混合精度来缓解浮点计算不足；通过查找表（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LUT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）替代复杂激活函数提升计算效率；合理布置数据实现流式访问，充分利用高带宽内存；扩展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支持的内存容量，使大规模训练数据无需频繁传输到主机，从而提升性能。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a楷体" panose="02000500000000000000" pitchFamily="2" charset="-122"/>
              <a:sym typeface="+mn-lt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CB8362A-F602-2EC2-7DCD-6B506C64483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700" y="5603613"/>
            <a:ext cx="2842517" cy="762775"/>
          </a:xfrm>
          <a:prstGeom prst="rect">
            <a:avLst/>
          </a:prstGeom>
        </p:spPr>
      </p:pic>
      <p:sp>
        <p:nvSpPr>
          <p:cNvPr id="15" name="文本框 15">
            <a:extLst>
              <a:ext uri="{FF2B5EF4-FFF2-40B4-BE49-F238E27FC236}">
                <a16:creationId xmlns:a16="http://schemas.microsoft.com/office/drawing/2014/main" id="{988FE82E-6060-63C7-A0D4-AB97E4675B6B}"/>
              </a:ext>
            </a:extLst>
          </p:cNvPr>
          <p:cNvSpPr txBox="1"/>
          <p:nvPr/>
        </p:nvSpPr>
        <p:spPr>
          <a:xfrm flipH="1">
            <a:off x="1473627" y="470999"/>
            <a:ext cx="2991494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>
              <a:defRPr sz="2800">
                <a:gradFill>
                  <a:gsLst>
                    <a:gs pos="0">
                      <a:srgbClr val="FF31E4"/>
                    </a:gs>
                    <a:gs pos="43000">
                      <a:srgbClr val="00F3DD"/>
                    </a:gs>
                    <a:gs pos="100000">
                      <a:srgbClr val="2506FF"/>
                    </a:gs>
                  </a:gsLst>
                  <a:lin ang="27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defRPr>
            </a:lvl1pPr>
          </a:lstStyle>
          <a:p>
            <a:r>
              <a:rPr lang="zh-CN" altLang="en-US" dirty="0"/>
              <a:t>方法与优化</a:t>
            </a:r>
          </a:p>
        </p:txBody>
      </p:sp>
    </p:spTree>
    <p:extLst>
      <p:ext uri="{BB962C8B-B14F-4D97-AF65-F5344CB8AC3E}">
        <p14:creationId xmlns:p14="http://schemas.microsoft.com/office/powerpoint/2010/main" val="1057222005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75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7F2E4-B416-515F-33D9-D1147D988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5FAF717-7754-8052-694B-F27AF3B92C8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634" t="8079" r="5728" b="9139"/>
          <a:stretch>
            <a:fillRect/>
          </a:stretch>
        </p:blipFill>
        <p:spPr>
          <a:xfrm>
            <a:off x="0" y="0"/>
            <a:ext cx="12192000" cy="68569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7AFCB23-57F5-EA12-2AEF-1C3E8D2F1696}"/>
              </a:ext>
            </a:extLst>
          </p:cNvPr>
          <p:cNvSpPr txBox="1"/>
          <p:nvPr/>
        </p:nvSpPr>
        <p:spPr>
          <a:xfrm>
            <a:off x="3363027" y="2853660"/>
            <a:ext cx="5639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ln w="15875">
                  <a:gradFill>
                    <a:gsLst>
                      <a:gs pos="8000">
                        <a:srgbClr val="FF31E4"/>
                      </a:gs>
                      <a:gs pos="94000">
                        <a:srgbClr val="00F3DD"/>
                      </a:gs>
                    </a:gsLst>
                    <a:lin ang="5400000" scaled="1"/>
                  </a:gradFill>
                </a:ln>
                <a:noFill/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实验结果与观察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081047A-A532-EE4B-2D57-F3F7BD257C4E}"/>
              </a:ext>
            </a:extLst>
          </p:cNvPr>
          <p:cNvSpPr txBox="1"/>
          <p:nvPr/>
        </p:nvSpPr>
        <p:spPr>
          <a:xfrm>
            <a:off x="4787478" y="1526149"/>
            <a:ext cx="27611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gradFill>
                  <a:gsLst>
                    <a:gs pos="100000">
                      <a:srgbClr val="FF31E4">
                        <a:alpha val="0"/>
                      </a:srgbClr>
                    </a:gs>
                    <a:gs pos="21000">
                      <a:schemeClr val="bg1">
                        <a:alpha val="77000"/>
                      </a:schemeClr>
                    </a:gs>
                  </a:gsLst>
                  <a:lin ang="54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06</a:t>
            </a:r>
            <a:endParaRPr lang="zh-CN" altLang="en-US" sz="8800" dirty="0">
              <a:gradFill>
                <a:gsLst>
                  <a:gs pos="100000">
                    <a:srgbClr val="FF31E4">
                      <a:alpha val="0"/>
                    </a:srgbClr>
                  </a:gs>
                  <a:gs pos="21000">
                    <a:schemeClr val="bg1">
                      <a:alpha val="77000"/>
                    </a:schemeClr>
                  </a:gs>
                </a:gsLst>
                <a:lin ang="5400000" scaled="0"/>
              </a:gradFill>
              <a:latin typeface="字魂35号-经典雅黑" panose="02000000000000000000" pitchFamily="2" charset="-122"/>
              <a:ea typeface="字魂35号-经典雅黑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781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5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E4FEB-8897-459D-5271-D834C8112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6157FF8E-9C71-DA8E-E579-B44FC3DAD7FE}"/>
              </a:ext>
            </a:extLst>
          </p:cNvPr>
          <p:cNvSpPr/>
          <p:nvPr/>
        </p:nvSpPr>
        <p:spPr>
          <a:xfrm>
            <a:off x="1473627" y="1271282"/>
            <a:ext cx="10075125" cy="3894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实验结果表明，对于内存受限的机器学习训练任务，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系统可显著提升性能。当操作可被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硬件原生支持，或通过查找表高效替代时，配备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内存的系统表现优于传统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CPU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和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GPU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系统。线性回归、逻辑回归、决策树和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K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均值聚类的训练任务在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系统上实现了更高的内存带宽利用率和较低的数据传输开销。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a楷体" panose="02000500000000000000" pitchFamily="2" charset="-122"/>
              <a:sym typeface="+mn-lt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A86FA74-0BDD-E0C0-07CB-52CE18E18A6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700" y="5603613"/>
            <a:ext cx="2842517" cy="762775"/>
          </a:xfrm>
          <a:prstGeom prst="rect">
            <a:avLst/>
          </a:prstGeom>
        </p:spPr>
      </p:pic>
      <p:sp>
        <p:nvSpPr>
          <p:cNvPr id="15" name="文本框 15">
            <a:extLst>
              <a:ext uri="{FF2B5EF4-FFF2-40B4-BE49-F238E27FC236}">
                <a16:creationId xmlns:a16="http://schemas.microsoft.com/office/drawing/2014/main" id="{853ADD2C-A545-366D-B79A-4B58C761EA59}"/>
              </a:ext>
            </a:extLst>
          </p:cNvPr>
          <p:cNvSpPr txBox="1"/>
          <p:nvPr/>
        </p:nvSpPr>
        <p:spPr>
          <a:xfrm flipH="1">
            <a:off x="1473627" y="470999"/>
            <a:ext cx="2991494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>
              <a:defRPr sz="2800">
                <a:gradFill>
                  <a:gsLst>
                    <a:gs pos="0">
                      <a:srgbClr val="FF31E4"/>
                    </a:gs>
                    <a:gs pos="43000">
                      <a:srgbClr val="00F3DD"/>
                    </a:gs>
                    <a:gs pos="100000">
                      <a:srgbClr val="2506FF"/>
                    </a:gs>
                  </a:gsLst>
                  <a:lin ang="27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defRPr>
            </a:lvl1pPr>
          </a:lstStyle>
          <a:p>
            <a:r>
              <a:rPr lang="zh-CN" altLang="en-US" dirty="0"/>
              <a:t>研究背景与问题</a:t>
            </a:r>
          </a:p>
        </p:txBody>
      </p:sp>
    </p:spTree>
    <p:extLst>
      <p:ext uri="{BB962C8B-B14F-4D97-AF65-F5344CB8AC3E}">
        <p14:creationId xmlns:p14="http://schemas.microsoft.com/office/powerpoint/2010/main" val="827710958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75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F379D-EC32-F7C8-23A7-F3946D827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E5BE803-160C-F40B-DC45-853E067602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634" t="8079" r="5728" b="9139"/>
          <a:stretch>
            <a:fillRect/>
          </a:stretch>
        </p:blipFill>
        <p:spPr>
          <a:xfrm>
            <a:off x="0" y="0"/>
            <a:ext cx="12192000" cy="68569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FD0E4BC-FADF-BCDE-1481-9EA5A0AE1391}"/>
              </a:ext>
            </a:extLst>
          </p:cNvPr>
          <p:cNvSpPr txBox="1"/>
          <p:nvPr/>
        </p:nvSpPr>
        <p:spPr>
          <a:xfrm>
            <a:off x="4055423" y="2853660"/>
            <a:ext cx="4310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ln w="15875">
                  <a:gradFill>
                    <a:gsLst>
                      <a:gs pos="8000">
                        <a:srgbClr val="FF31E4"/>
                      </a:gs>
                      <a:gs pos="94000">
                        <a:srgbClr val="00F3DD"/>
                      </a:gs>
                    </a:gsLst>
                    <a:lin ang="5400000" scaled="1"/>
                  </a:gradFill>
                </a:ln>
                <a:noFill/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结论与展望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A2FD9A-267A-02AE-B284-6DE24C085C6D}"/>
              </a:ext>
            </a:extLst>
          </p:cNvPr>
          <p:cNvSpPr txBox="1"/>
          <p:nvPr/>
        </p:nvSpPr>
        <p:spPr>
          <a:xfrm>
            <a:off x="4787478" y="1526149"/>
            <a:ext cx="27611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gradFill>
                  <a:gsLst>
                    <a:gs pos="100000">
                      <a:srgbClr val="FF31E4">
                        <a:alpha val="0"/>
                      </a:srgbClr>
                    </a:gs>
                    <a:gs pos="21000">
                      <a:schemeClr val="bg1">
                        <a:alpha val="77000"/>
                      </a:schemeClr>
                    </a:gs>
                  </a:gsLst>
                  <a:lin ang="54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07</a:t>
            </a:r>
            <a:endParaRPr lang="zh-CN" altLang="en-US" sz="8800" dirty="0">
              <a:gradFill>
                <a:gsLst>
                  <a:gs pos="100000">
                    <a:srgbClr val="FF31E4">
                      <a:alpha val="0"/>
                    </a:srgbClr>
                  </a:gs>
                  <a:gs pos="21000">
                    <a:schemeClr val="bg1">
                      <a:alpha val="77000"/>
                    </a:schemeClr>
                  </a:gs>
                </a:gsLst>
                <a:lin ang="5400000" scaled="0"/>
              </a:gradFill>
              <a:latin typeface="字魂35号-经典雅黑" panose="02000000000000000000" pitchFamily="2" charset="-122"/>
              <a:ea typeface="字魂35号-经典雅黑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501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:blinds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ur="5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A8A36-51BF-F63A-C64B-780977E77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DA23797C-CACB-D9A0-5694-F2E29BCD7DB8}"/>
              </a:ext>
            </a:extLst>
          </p:cNvPr>
          <p:cNvSpPr/>
          <p:nvPr/>
        </p:nvSpPr>
        <p:spPr>
          <a:xfrm>
            <a:off x="1473627" y="1271282"/>
            <a:ext cx="10075125" cy="2601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系统在内存受限的机器学习训练任务中表现出显著优势。通过高带宽、低延迟的内存访问和合理优化，可提升性能和可扩展性。未来工作包括开源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上的算法实现与评估脚本，为开发者提供编程建议，并为下一代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PIM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a楷体" panose="02000500000000000000" pitchFamily="2" charset="-122"/>
                <a:sym typeface="+mn-lt"/>
              </a:rPr>
              <a:t>架构设计提供参考。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a楷体" panose="02000500000000000000" pitchFamily="2" charset="-122"/>
              <a:sym typeface="+mn-lt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A8AB216-C3E5-5807-9EAA-5FCA03FDCD3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700" y="5603613"/>
            <a:ext cx="2842517" cy="762775"/>
          </a:xfrm>
          <a:prstGeom prst="rect">
            <a:avLst/>
          </a:prstGeom>
        </p:spPr>
      </p:pic>
      <p:sp>
        <p:nvSpPr>
          <p:cNvPr id="15" name="文本框 15">
            <a:extLst>
              <a:ext uri="{FF2B5EF4-FFF2-40B4-BE49-F238E27FC236}">
                <a16:creationId xmlns:a16="http://schemas.microsoft.com/office/drawing/2014/main" id="{C5EBBF4F-883C-E345-5EF3-C3B9675F3AA7}"/>
              </a:ext>
            </a:extLst>
          </p:cNvPr>
          <p:cNvSpPr txBox="1"/>
          <p:nvPr/>
        </p:nvSpPr>
        <p:spPr>
          <a:xfrm flipH="1">
            <a:off x="1473627" y="470999"/>
            <a:ext cx="2991494" cy="52322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>
            <a:defPPr>
              <a:defRPr lang="zh-CN"/>
            </a:defPPr>
            <a:lvl1pPr>
              <a:defRPr sz="2800">
                <a:gradFill>
                  <a:gsLst>
                    <a:gs pos="0">
                      <a:srgbClr val="FF31E4"/>
                    </a:gs>
                    <a:gs pos="43000">
                      <a:srgbClr val="00F3DD"/>
                    </a:gs>
                    <a:gs pos="100000">
                      <a:srgbClr val="2506FF"/>
                    </a:gs>
                  </a:gsLst>
                  <a:lin ang="2700000" scaled="0"/>
                </a:gradFill>
                <a:latin typeface="字魂35号-经典雅黑" panose="02000000000000000000" pitchFamily="2" charset="-122"/>
                <a:ea typeface="字魂35号-经典雅黑" panose="02000000000000000000" pitchFamily="2" charset="-122"/>
              </a:defRPr>
            </a:lvl1pPr>
          </a:lstStyle>
          <a:p>
            <a:r>
              <a:rPr lang="zh-CN" altLang="en-US" dirty="0"/>
              <a:t>研究与展望</a:t>
            </a:r>
          </a:p>
        </p:txBody>
      </p:sp>
    </p:spTree>
    <p:extLst>
      <p:ext uri="{BB962C8B-B14F-4D97-AF65-F5344CB8AC3E}">
        <p14:creationId xmlns:p14="http://schemas.microsoft.com/office/powerpoint/2010/main" val="200960923"/>
      </p:ext>
    </p:extLst>
  </p:cSld>
  <p:clrMapOvr>
    <a:masterClrMapping/>
  </p:clrMapOvr>
  <p:transition spd="slow" advClick="0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75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阿里巴巴普惠">
      <a:majorFont>
        <a:latin typeface="阿里巴巴普惠体"/>
        <a:ea typeface="阿里巴巴普惠体"/>
        <a:cs typeface="Arial"/>
      </a:majorFont>
      <a:minorFont>
        <a:latin typeface="阿里巴巴普惠体"/>
        <a:ea typeface="阿里巴巴普惠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715</Words>
  <Application>Microsoft Office PowerPoint</Application>
  <PresentationFormat>宽屏</PresentationFormat>
  <Paragraphs>30</Paragraphs>
  <Slides>15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微软雅黑</vt:lpstr>
      <vt:lpstr>字魂35号-经典雅黑</vt:lpstr>
      <vt:lpstr>Arial</vt:lpstr>
      <vt:lpstr>Calibri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企业介绍</dc:title>
  <dc:creator/>
  <cp:keywords>www.1ppt.com</cp:keywords>
  <dc:description>www.1ppt.com</dc:description>
  <cp:lastModifiedBy/>
  <cp:revision>6</cp:revision>
  <dcterms:created xsi:type="dcterms:W3CDTF">2023-03-15T07:41:00Z</dcterms:created>
  <dcterms:modified xsi:type="dcterms:W3CDTF">2025-09-26T08:41:34Z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D19CC30C48204B7582CBD4D0BCD47630_12</vt:lpwstr>
  </property>
  <property fmtid="{D5CDD505-2E9C-101B-9397-08002B2CF9AE}" pid="3" name="KSOProductBuildVer">
    <vt:lpwstr>2052-12.1.0.21915</vt:lpwstr>
  </property>
</Properties>
</file>