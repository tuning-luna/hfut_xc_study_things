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4.xml" ContentType="application/vnd.openxmlformats-officedocument.theme+xml"/>
  <Override PartName="/ppt/presentation.xml" ContentType="application/vnd.openxmlformats-officedocument.presentationml.presentation.main+xml"/>
  <Override PartName="/ppt/slides/slide45.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03.xml" ContentType="application/vnd.openxmlformats-officedocument.presentationml.slide+xml"/>
  <Override PartName="/ppt/slides/slide20.xml" ContentType="application/vnd.openxmlformats-officedocument.presentationml.slide+xml"/>
  <Override PartName="/ppt/slides/slide46.xml" ContentType="application/vnd.openxmlformats-officedocument.presentationml.slide+xml"/>
  <Override PartName="/ppt/slides/slide2.xml" ContentType="application/vnd.openxmlformats-officedocument.presentationml.slide+xml"/>
  <Override PartName="/ppt/slides/slide102.xml" ContentType="application/vnd.openxmlformats-officedocument.presentationml.slide+xml"/>
  <Override PartName="/ppt/slides/slide21.xml" ContentType="application/vnd.openxmlformats-officedocument.presentationml.slide+xml"/>
  <Override PartName="/ppt/slides/slide47.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101.xml" ContentType="application/vnd.openxmlformats-officedocument.presentationml.slide+xml"/>
  <Override PartName="/ppt/slides/slide22.xml" ContentType="application/vnd.openxmlformats-officedocument.presentationml.slide+xml"/>
  <Override PartName="/ppt/slides/slide42.xml" ContentType="application/vnd.openxmlformats-officedocument.presentationml.slide+xml"/>
  <Override PartName="/ppt/slides/slide6.xml" ContentType="application/vnd.openxmlformats-officedocument.presentationml.slide+xml"/>
  <Override PartName="/ppt/slides/slide100.xml" ContentType="application/vnd.openxmlformats-officedocument.presentationml.slide+xml"/>
  <Override PartName="/ppt/slides/slide23.xml" ContentType="application/vnd.openxmlformats-officedocument.presentationml.slide+xml"/>
  <Override PartName="/ppt/slides/slide43.xml" ContentType="application/vnd.openxmlformats-officedocument.presentationml.slide+xml"/>
  <Override PartName="/ppt/slides/slide7.xml" ContentType="application/vnd.openxmlformats-officedocument.presentationml.slide+xml"/>
  <Override PartName="/ppt/slides/slide107.xml" ContentType="application/vnd.openxmlformats-officedocument.presentationml.slide+xml"/>
  <Override PartName="/ppt/slides/slide24.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6.xml" ContentType="application/vnd.openxmlformats-officedocument.presentationml.slide+xml"/>
  <Override PartName="/ppt/slides/slide25.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05.xml" ContentType="application/vnd.openxmlformats-officedocument.presentationml.slide+xml"/>
  <Override PartName="/ppt/slides/slide26.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49.xml" ContentType="application/vnd.openxmlformats-officedocument.presentationml.slide+xml"/>
  <Override PartName="/ppt/slides/slide14.xml" ContentType="application/vnd.openxmlformats-officedocument.presentationml.slide+xml"/>
  <Override PartName="/ppt/slides/slide48.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44.xml" ContentType="application/vnd.openxmlformats-officedocument.presentationml.slide+xml"/>
  <Override PartName="/ppt/slides/slide19.xml" ContentType="application/vnd.openxmlformats-officedocument.presentationml.slide+xml"/>
  <Override PartName="/ppt/slides/slide104.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64.xml" ContentType="application/vnd.openxmlformats-officedocument.presentationml.slide+xml"/>
  <Override PartName="/ppt/slides/slide3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diagrams/data1.xml" ContentType="application/vnd.openxmlformats-officedocument.drawingml.diagramData+xml"/>
  <Override PartName="/ppt/diagrams/colors1.xml" ContentType="application/vnd.openxmlformats-officedocument.drawingml.diagramColors+xml"/>
  <Override PartName="/ppt/diagrams/layout1.xml" ContentType="application/vnd.openxmlformats-officedocument.drawingml.diagramLayout+xml"/>
  <Override PartName="/ppt/diagrams/quickStyle1.xml" ContentType="application/vnd.openxmlformats-officedocument.drawingml.diagramStyle+xml"/>
  <Override PartName="/ppt/diagrams/data2.xml" ContentType="application/vnd.openxmlformats-officedocument.drawingml.diagramData+xml"/>
  <Override PartName="/ppt/diagrams/colors2.xml" ContentType="application/vnd.openxmlformats-officedocument.drawingml.diagramColors+xml"/>
  <Override PartName="/ppt/diagrams/layout2.xml" ContentType="application/vnd.openxmlformats-officedocument.drawingml.diagramLayout+xml"/>
  <Override PartName="/ppt/diagrams/quickStyle2.xml" ContentType="application/vnd.openxmlformats-officedocument.drawingml.diagramStyle+xml"/>
  <Override PartName="/ppt/notesSlides/notesSlide54.xml" ContentType="application/vnd.openxmlformats-officedocument.presentationml.notesSlide+xml"/>
  <Override PartName="/ppt/notesSlides/notesSlide100.xml" ContentType="application/vnd.openxmlformats-officedocument.presentationml.notesSlide+xml"/>
  <Override PartName="/ppt/notesSlides/notesSlide76.xml" ContentType="application/vnd.openxmlformats-officedocument.presentationml.notesSlide+xml"/>
  <Override PartName="/ppt/notesSlides/notesSlide1.xml" ContentType="application/vnd.openxmlformats-officedocument.presentationml.notesSlide+xml"/>
  <Override PartName="/ppt/notesSlides/notesSlide108.xml" ContentType="application/vnd.openxmlformats-officedocument.presentationml.notesSlide+xml"/>
  <Override PartName="/ppt/notesSlides/notesSlide9.xml" ContentType="application/vnd.openxmlformats-officedocument.presentationml.notesSlide+xml"/>
  <Override PartName="/ppt/notesSlides/notesSlide53.xml" ContentType="application/vnd.openxmlformats-officedocument.presentationml.notesSlide+xml"/>
  <Override PartName="/ppt/notesSlides/notesSlide103.xml" ContentType="application/vnd.openxmlformats-officedocument.presentationml.notesSlide+xml"/>
  <Override PartName="/ppt/notesSlides/notesSlide75.xml" ContentType="application/vnd.openxmlformats-officedocument.presentationml.notesSlide+xml"/>
  <Override PartName="/ppt/notesSlides/notesSlide2.xml" ContentType="application/vnd.openxmlformats-officedocument.presentationml.notesSlide+xml"/>
  <Override PartName="/ppt/notesSlides/notesSlide102.xml" ContentType="application/vnd.openxmlformats-officedocument.presentationml.notesSlide+xml"/>
  <Override PartName="/ppt/notesSlides/notesSlide74.xml" ContentType="application/vnd.openxmlformats-officedocument.presentationml.notesSlide+xml"/>
  <Override PartName="/ppt/notesSlides/notesSlide3.xml" ContentType="application/vnd.openxmlformats-officedocument.presentationml.notesSlide+xml"/>
  <Override PartName="/ppt/notesSlides/notesSlide55.xml" ContentType="application/vnd.openxmlformats-officedocument.presentationml.notesSlide+xml"/>
  <Override PartName="/ppt/notesSlides/notesSlide105.xml" ContentType="application/vnd.openxmlformats-officedocument.presentationml.notesSlide+xml"/>
  <Override PartName="/ppt/notesSlides/notesSlide73.xml" ContentType="application/vnd.openxmlformats-officedocument.presentationml.notesSlide+xml"/>
  <Override PartName="/ppt/notesSlides/notesSlide4.xml" ContentType="application/vnd.openxmlformats-officedocument.presentationml.notesSlide+xml"/>
  <Override PartName="/ppt/notesSlides/notesSlide56.xml" ContentType="application/vnd.openxmlformats-officedocument.presentationml.notesSlide+xml"/>
  <Override PartName="/ppt/notesSlides/notesSlide107.xml" ContentType="application/vnd.openxmlformats-officedocument.presentationml.notesSlide+xml"/>
  <Override PartName="/ppt/notesSlides/notesSlide71.xml" ContentType="application/vnd.openxmlformats-officedocument.presentationml.notesSlide+xml"/>
  <Override PartName="/ppt/notesSlides/notesSlide6.xml" ContentType="application/vnd.openxmlformats-officedocument.presentationml.notesSlide+xml"/>
  <Override PartName="/ppt/notesSlides/notesSlide115.xml" ContentType="application/vnd.openxmlformats-officedocument.presentationml.notesSlide+xml"/>
  <Override PartName="/ppt/notesSlides/notesSlide63.xml" ContentType="application/vnd.openxmlformats-officedocument.presentationml.notesSlide+xml"/>
  <Override PartName="/ppt/notesSlides/notesSlide58.xml" ContentType="application/vnd.openxmlformats-officedocument.presentationml.notesSlide+xml"/>
  <Override PartName="/ppt/notesSlides/notesSlide106.xml" ContentType="application/vnd.openxmlformats-officedocument.presentationml.notesSlide+xml"/>
  <Override PartName="/ppt/notesSlides/notesSlide70.xml" ContentType="application/vnd.openxmlformats-officedocument.presentationml.notesSlide+xml"/>
  <Override PartName="/ppt/notesSlides/notesSlide7.xml" ContentType="application/vnd.openxmlformats-officedocument.presentationml.notesSlide+xml"/>
  <Override PartName="/ppt/notesSlides/notesSlide114.xml" ContentType="application/vnd.openxmlformats-officedocument.presentationml.notesSlide+xml"/>
  <Override PartName="/ppt/notesSlides/notesSlide62.xml" ContentType="application/vnd.openxmlformats-officedocument.presentationml.notesSlide+xml"/>
  <Override PartName="/ppt/notesSlides/notesSlide59.xml" ContentType="application/vnd.openxmlformats-officedocument.presentationml.notesSlide+xml"/>
  <Override PartName="/ppt/notesSlides/notesSlide109.xml" ContentType="application/vnd.openxmlformats-officedocument.presentationml.notesSlide+xml"/>
  <Override PartName="/ppt/notesSlides/notesSlide8.xml" ContentType="application/vnd.openxmlformats-officedocument.presentationml.notesSlide+xml"/>
  <Override PartName="/ppt/notesSlides/notesSlide130.xml" ContentType="application/vnd.openxmlformats-officedocument.presentationml.notesSlide+xml"/>
  <Override PartName="/ppt/notesSlides/notesSlide10.xml" ContentType="application/vnd.openxmlformats-officedocument.presentationml.notesSlide+xml"/>
  <Override PartName="/ppt/notesSlides/notesSlide131.xml" ContentType="application/vnd.openxmlformats-officedocument.presentationml.notesSlide+xml"/>
  <Override PartName="/ppt/notesSlides/notesSlide11.xml" ContentType="application/vnd.openxmlformats-officedocument.presentationml.notesSlide+xml"/>
  <Override PartName="/ppt/notesSlides/notesSlide29.xml" ContentType="application/vnd.openxmlformats-officedocument.presentationml.notesSlide+xml"/>
  <Override PartName="/ppt/notesSlides/notesSlide12.xml" ContentType="application/vnd.openxmlformats-officedocument.presentationml.notesSlide+xml"/>
  <Override PartName="/ppt/notesSlides/notesSlide28.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9.xml" ContentType="application/vnd.openxmlformats-officedocument.presentationml.notesSlide+xml"/>
  <Override PartName="/ppt/notesSlides/notesSlide36.xml" ContentType="application/vnd.openxmlformats-officedocument.presentationml.notesSlide+xml"/>
  <Override PartName="/ppt/notesSlides/notesSlide48.xml" ContentType="application/vnd.openxmlformats-officedocument.presentationml.notesSlide+xml"/>
  <Override PartName="/ppt/notesSlides/notesSlide37.xml" ContentType="application/vnd.openxmlformats-officedocument.presentationml.notesSlide+xml"/>
  <Override PartName="/ppt/notesSlides/notesSlide47.xml" ContentType="application/vnd.openxmlformats-officedocument.presentationml.notesSlide+xml"/>
  <Override PartName="/ppt/notesSlides/notesSlide38.xml" ContentType="application/vnd.openxmlformats-officedocument.presentationml.notesSlide+xml"/>
  <Override PartName="/ppt/notesSlides/notesSlide46.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7.xml" ContentType="application/vnd.openxmlformats-officedocument.presentationml.notesSlide+xml"/>
  <Override PartName="/ppt/notesSlides/notesSlide116.xml" ContentType="application/vnd.openxmlformats-officedocument.presentationml.notesSlide+xml"/>
  <Override PartName="/ppt/notesSlides/notesSlide60.xml" ContentType="application/vnd.openxmlformats-officedocument.presentationml.notesSlide+xml"/>
  <Override PartName="/ppt/notesSlides/notesSlide117.xml" ContentType="application/vnd.openxmlformats-officedocument.presentationml.notesSlide+xml"/>
  <Override PartName="/ppt/notesSlides/notesSlide61.xml" ContentType="application/vnd.openxmlformats-officedocument.presentationml.notesSlide+xml"/>
  <Override PartName="/ppt/notesSlides/notesSlide112.xml" ContentType="application/vnd.openxmlformats-officedocument.presentationml.notesSlide+xml"/>
  <Override PartName="/ppt/notesSlides/notesSlide64.xml" ContentType="application/vnd.openxmlformats-officedocument.presentationml.notesSlide+xml"/>
  <Override PartName="/ppt/notesSlides/notesSlide113.xml" ContentType="application/vnd.openxmlformats-officedocument.presentationml.notesSlide+xml"/>
  <Override PartName="/ppt/notesSlides/notesSlide65.xml" ContentType="application/vnd.openxmlformats-officedocument.presentationml.notesSlide+xml"/>
  <Override PartName="/ppt/notesSlides/notesSlide110.xml" ContentType="application/vnd.openxmlformats-officedocument.presentationml.notesSlide+xml"/>
  <Override PartName="/ppt/notesSlides/notesSlide66.xml" ContentType="application/vnd.openxmlformats-officedocument.presentationml.notesSlide+xml"/>
  <Override PartName="/ppt/notesSlides/notesSlide111.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104.xml" ContentType="application/vnd.openxmlformats-officedocument.presentationml.notesSlide+xml"/>
  <Override PartName="/ppt/notesSlides/notesSlide72.xml" ContentType="application/vnd.openxmlformats-officedocument.presentationml.notesSlide+xml"/>
  <Override PartName="/ppt/notesSlides/notesSlide101.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slide" Target="slides/slide80.xml"/><Relationship Id="rId84" Type="http://schemas.openxmlformats.org/officeDocument/2006/relationships/slide" Target="slides/slide81.xml"/><Relationship Id="rId85" Type="http://schemas.openxmlformats.org/officeDocument/2006/relationships/slide" Target="slides/slide82.xml"/><Relationship Id="rId86" Type="http://schemas.openxmlformats.org/officeDocument/2006/relationships/slide" Target="slides/slide83.xml"/><Relationship Id="rId87" Type="http://schemas.openxmlformats.org/officeDocument/2006/relationships/slide" Target="slides/slide84.xml"/><Relationship Id="rId88" Type="http://schemas.openxmlformats.org/officeDocument/2006/relationships/slide" Target="slides/slide85.xml"/><Relationship Id="rId89" Type="http://schemas.openxmlformats.org/officeDocument/2006/relationships/slide" Target="slides/slide86.xml"/><Relationship Id="rId90" Type="http://schemas.openxmlformats.org/officeDocument/2006/relationships/slide" Target="slides/slide87.xml"/><Relationship Id="rId91" Type="http://schemas.openxmlformats.org/officeDocument/2006/relationships/slide" Target="slides/slide88.xml"/><Relationship Id="rId92" Type="http://schemas.openxmlformats.org/officeDocument/2006/relationships/slide" Target="slides/slide89.xml"/><Relationship Id="rId93" Type="http://schemas.openxmlformats.org/officeDocument/2006/relationships/slide" Target="slides/slide90.xml"/><Relationship Id="rId94" Type="http://schemas.openxmlformats.org/officeDocument/2006/relationships/slide" Target="slides/slide91.xml"/><Relationship Id="rId95" Type="http://schemas.openxmlformats.org/officeDocument/2006/relationships/slide" Target="slides/slide92.xml"/><Relationship Id="rId96" Type="http://schemas.openxmlformats.org/officeDocument/2006/relationships/slide" Target="slides/slide93.xml"/><Relationship Id="rId97" Type="http://schemas.openxmlformats.org/officeDocument/2006/relationships/slide" Target="slides/slide94.xml"/><Relationship Id="rId98" Type="http://schemas.openxmlformats.org/officeDocument/2006/relationships/slide" Target="slides/slide95.xml"/><Relationship Id="rId99" Type="http://schemas.openxmlformats.org/officeDocument/2006/relationships/slide" Target="slides/slide96.xml"/><Relationship Id="rId100" Type="http://schemas.openxmlformats.org/officeDocument/2006/relationships/slide" Target="slides/slide97.xml"/><Relationship Id="rId101" Type="http://schemas.openxmlformats.org/officeDocument/2006/relationships/slide" Target="slides/slide98.xml"/><Relationship Id="rId102" Type="http://schemas.openxmlformats.org/officeDocument/2006/relationships/slide" Target="slides/slide99.xml"/><Relationship Id="rId103" Type="http://schemas.openxmlformats.org/officeDocument/2006/relationships/slide" Target="slides/slide100.xml"/><Relationship Id="rId104" Type="http://schemas.openxmlformats.org/officeDocument/2006/relationships/slide" Target="slides/slide101.xml"/><Relationship Id="rId105" Type="http://schemas.openxmlformats.org/officeDocument/2006/relationships/slide" Target="slides/slide102.xml"/><Relationship Id="rId106" Type="http://schemas.openxmlformats.org/officeDocument/2006/relationships/slide" Target="slides/slide103.xml"/><Relationship Id="rId107" Type="http://schemas.openxmlformats.org/officeDocument/2006/relationships/slide" Target="slides/slide104.xml"/><Relationship Id="rId108" Type="http://schemas.openxmlformats.org/officeDocument/2006/relationships/slide" Target="slides/slide105.xml"/><Relationship Id="rId109" Type="http://schemas.openxmlformats.org/officeDocument/2006/relationships/slide" Target="slides/slide106.xml"/><Relationship Id="rId110" Type="http://schemas.openxmlformats.org/officeDocument/2006/relationships/slide" Target="slides/slide107.xml"/><Relationship Id="rId111" Type="http://schemas.openxmlformats.org/officeDocument/2006/relationships/slide" Target="slides/slide108.xml"/><Relationship Id="rId112" Type="http://schemas.openxmlformats.org/officeDocument/2006/relationships/slide" Target="slides/slide109.xml"/><Relationship Id="rId113" Type="http://schemas.openxmlformats.org/officeDocument/2006/relationships/slide" Target="slides/slide110.xml"/><Relationship Id="rId114" Type="http://schemas.openxmlformats.org/officeDocument/2006/relationships/slide" Target="slides/slide111.xml"/><Relationship Id="rId115" Type="http://schemas.openxmlformats.org/officeDocument/2006/relationships/slide" Target="slides/slide112.xml"/><Relationship Id="rId116" Type="http://schemas.openxmlformats.org/officeDocument/2006/relationships/slide" Target="slides/slide113.xml"/><Relationship Id="rId117" Type="http://schemas.openxmlformats.org/officeDocument/2006/relationships/slide" Target="slides/slide114.xml"/><Relationship Id="rId118" Type="http://schemas.openxmlformats.org/officeDocument/2006/relationships/slide" Target="slides/slide115.xml"/><Relationship Id="rId119" Type="http://schemas.openxmlformats.org/officeDocument/2006/relationships/slide" Target="slides/slide116.xml"/><Relationship Id="rId120" Type="http://schemas.openxmlformats.org/officeDocument/2006/relationships/slide" Target="slides/slide117.xml"/><Relationship Id="rId121" Type="http://schemas.openxmlformats.org/officeDocument/2006/relationships/slide" Target="slides/slide118.xml"/><Relationship Id="rId122" Type="http://schemas.openxmlformats.org/officeDocument/2006/relationships/slide" Target="slides/slide119.xml"/><Relationship Id="rId123" Type="http://schemas.openxmlformats.org/officeDocument/2006/relationships/slide" Target="slides/slide120.xml"/><Relationship Id="rId124" Type="http://schemas.openxmlformats.org/officeDocument/2006/relationships/slide" Target="slides/slide121.xml"/><Relationship Id="rId125" Type="http://schemas.openxmlformats.org/officeDocument/2006/relationships/slide" Target="slides/slide122.xml"/><Relationship Id="rId126" Type="http://schemas.openxmlformats.org/officeDocument/2006/relationships/slide" Target="slides/slide123.xml"/><Relationship Id="rId127" Type="http://schemas.openxmlformats.org/officeDocument/2006/relationships/slide" Target="slides/slide124.xml"/><Relationship Id="rId128" Type="http://schemas.openxmlformats.org/officeDocument/2006/relationships/slide" Target="slides/slide125.xml"/><Relationship Id="rId129" Type="http://schemas.openxmlformats.org/officeDocument/2006/relationships/slide" Target="slides/slide126.xml"/><Relationship Id="rId130" Type="http://schemas.openxmlformats.org/officeDocument/2006/relationships/slide" Target="slides/slide127.xml"/><Relationship Id="rId131" Type="http://schemas.openxmlformats.org/officeDocument/2006/relationships/slide" Target="slides/slide128.xml"/><Relationship Id="rId132" Type="http://schemas.openxmlformats.org/officeDocument/2006/relationships/slide" Target="slides/slide129.xml"/><Relationship Id="rId133" Type="http://schemas.openxmlformats.org/officeDocument/2006/relationships/slide" Target="slides/slide130.xml"/><Relationship Id="rId134" Type="http://schemas.openxmlformats.org/officeDocument/2006/relationships/slide" Target="slides/slide131.xml"/><Relationship Id="rId135" Type="http://schemas.openxmlformats.org/officeDocument/2006/relationships/slide" Target="slides/slide132.xml"/><Relationship Id="rId136" Type="http://schemas.openxmlformats.org/officeDocument/2006/relationships/presProps" Target="presProps.xml"/>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3B87CC0-35DA-4B6C-9A66-EED73E7A2B4E}" type="doc">
      <dgm:prSet loTypeId="urn:microsoft.com/office/officeart/2005/8/layout/vList4#1" loCatId="list" qsTypeId="urn:microsoft.com/office/officeart/2005/8/quickstyle/simple1" qsCatId="simple" csTypeId="urn:microsoft.com/office/officeart/2005/8/colors/accent1_2" csCatId="accent1" phldr="0"/>
      <dgm:spPr/>
      <dgm:t>
        <a:bodyPr/>
        <a:lstStyle/>
        <a:p>
          <a:endParaRPr lang="zh-CN" altLang="en-US"/>
        </a:p>
      </dgm:t>
    </dgm:pt>
    <dgm:pt modelId="{39C12F7F-0C70-45FD-9E06-85177A18AA15}" type="pres">
      <dgm:prSet presAssocID="{53B87CC0-35DA-4B6C-9A66-EED73E7A2B4E}" presName="linear" presStyleCnt="0">
        <dgm:presLayoutVars>
          <dgm:dir/>
          <dgm:resizeHandles val="exact"/>
        </dgm:presLayoutVars>
      </dgm:prSet>
      <dgm:spPr/>
      <dgm:t>
        <a:bodyPr/>
        <a:lstStyle/>
        <a:p>
          <a:endParaRPr lang="zh-CN" altLang="en-US"/>
        </a:p>
      </dgm:t>
    </dgm:pt>
  </dgm:ptLst>
  <dgm:cxnLst>
    <dgm:cxn modelId="{69BD16AA-6228-44EF-A2F9-E74690449398}" type="presOf" srcId="{53B87CC0-35DA-4B6C-9A66-EED73E7A2B4E}" destId="{39C12F7F-0C70-45FD-9E06-85177A18AA15}" srcOrd="0" destOrd="0" presId="urn:microsoft.com/office/officeart/2005/8/layout/vList4#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4D469B9-EB9D-4FA5-BE56-47AA41E9BE48}"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zh-CN" altLang="en-US"/>
        </a:p>
      </dgm:t>
    </dgm:pt>
    <dgm:pt modelId="{3E7FF75C-7A63-4C39-B317-6B3D96307543}">
      <dgm:prSet phldrT="[文本]" custT="1"/>
      <dgm:spPr/>
      <dgm:t>
        <a:bodyPr/>
        <a:lstStyle/>
        <a:p>
          <a:r>
            <a:rPr lang="zh-CN" altLang="en-US" sz="3200" dirty="0" smtClean="0"/>
            <a:t>实现</a:t>
          </a:r>
          <a:endParaRPr lang="zh-CN" altLang="en-US" sz="3200" dirty="0"/>
        </a:p>
      </dgm:t>
    </dgm:pt>
    <dgm:pt modelId="{4EAA9E22-A802-43BB-9A38-3DFDCBB81B33}" type="parTrans" cxnId="{DE727059-FB8D-402E-8B74-4D997FDE25F0}">
      <dgm:prSet/>
      <dgm:spPr/>
      <dgm:t>
        <a:bodyPr/>
        <a:lstStyle/>
        <a:p>
          <a:endParaRPr lang="zh-CN" altLang="en-US"/>
        </a:p>
      </dgm:t>
    </dgm:pt>
    <dgm:pt modelId="{4BEC2E03-9E61-4FEA-90C0-FAD4B3A901EB}" type="sibTrans" cxnId="{DE727059-FB8D-402E-8B74-4D997FDE25F0}">
      <dgm:prSet/>
      <dgm:spPr/>
      <dgm:t>
        <a:bodyPr/>
        <a:lstStyle/>
        <a:p>
          <a:endParaRPr lang="zh-CN" altLang="en-US"/>
        </a:p>
      </dgm:t>
    </dgm:pt>
    <dgm:pt modelId="{BACE1264-CD59-446D-BDF7-1D8B6396E2DC}">
      <dgm:prSet phldrT="[文本]" custT="1"/>
      <dgm:spPr/>
      <dgm:t>
        <a:bodyPr/>
        <a:lstStyle/>
        <a:p>
          <a:r>
            <a:rPr lang="zh-CN" altLang="en-US" sz="3200" dirty="0" smtClean="0"/>
            <a:t>编码</a:t>
          </a:r>
          <a:endParaRPr lang="zh-CN" altLang="en-US" sz="3200" dirty="0"/>
        </a:p>
      </dgm:t>
    </dgm:pt>
    <dgm:pt modelId="{4B54AF0B-C027-495B-86A1-B5505693FC70}" type="parTrans" cxnId="{70A963D1-9454-4C0B-8964-A3C2CEF3EAFE}">
      <dgm:prSet/>
      <dgm:spPr/>
      <dgm:t>
        <a:bodyPr/>
        <a:lstStyle/>
        <a:p>
          <a:endParaRPr lang="zh-CN" altLang="en-US"/>
        </a:p>
      </dgm:t>
    </dgm:pt>
    <dgm:pt modelId="{23DAB2F2-5B9C-4BA6-8089-ACA7E82EA48F}" type="sibTrans" cxnId="{70A963D1-9454-4C0B-8964-A3C2CEF3EAFE}">
      <dgm:prSet/>
      <dgm:spPr/>
      <dgm:t>
        <a:bodyPr/>
        <a:lstStyle/>
        <a:p>
          <a:endParaRPr lang="zh-CN" altLang="en-US"/>
        </a:p>
      </dgm:t>
    </dgm:pt>
    <dgm:pt modelId="{2B72F6B7-E121-4E04-9370-048715A76D6E}">
      <dgm:prSet phldrT="[文本]" custT="1"/>
      <dgm:spPr/>
      <dgm:t>
        <a:bodyPr/>
        <a:lstStyle/>
        <a:p>
          <a:r>
            <a:rPr lang="zh-CN" altLang="en-US" sz="3200" dirty="0" smtClean="0"/>
            <a:t>测试</a:t>
          </a:r>
          <a:endParaRPr lang="zh-CN" altLang="en-US" sz="3200" dirty="0"/>
        </a:p>
      </dgm:t>
    </dgm:pt>
    <dgm:pt modelId="{8BB68D91-6682-4AFA-BDF9-5D50A860E54A}" type="sibTrans" cxnId="{83179A15-301A-4427-9F7F-0ECD9198D7BA}">
      <dgm:prSet/>
      <dgm:spPr/>
      <dgm:t>
        <a:bodyPr/>
        <a:lstStyle/>
        <a:p>
          <a:endParaRPr lang="zh-CN" altLang="en-US"/>
        </a:p>
      </dgm:t>
    </dgm:pt>
    <dgm:pt modelId="{EDF171D7-545F-4CE6-8ACB-4A6A598B7A55}" type="parTrans" cxnId="{83179A15-301A-4427-9F7F-0ECD9198D7BA}">
      <dgm:prSet/>
      <dgm:spPr/>
      <dgm:t>
        <a:bodyPr/>
        <a:lstStyle/>
        <a:p>
          <a:endParaRPr lang="zh-CN" altLang="en-US"/>
        </a:p>
      </dgm:t>
    </dgm:pt>
    <dgm:pt modelId="{BC116D3D-0E38-45BD-9B47-A8A53F36B858}" type="pres">
      <dgm:prSet presAssocID="{E4D469B9-EB9D-4FA5-BE56-47AA41E9BE48}" presName="Name0" presStyleCnt="0">
        <dgm:presLayoutVars>
          <dgm:chPref val="1"/>
          <dgm:dir/>
          <dgm:animOne val="branch"/>
          <dgm:animLvl val="lvl"/>
          <dgm:resizeHandles val="exact"/>
        </dgm:presLayoutVars>
      </dgm:prSet>
      <dgm:spPr/>
      <dgm:t>
        <a:bodyPr/>
        <a:lstStyle/>
        <a:p>
          <a:endParaRPr lang="zh-CN" altLang="en-US"/>
        </a:p>
      </dgm:t>
    </dgm:pt>
    <dgm:pt modelId="{00144B44-3C8A-429B-A187-4584829ED1D5}" type="pres">
      <dgm:prSet presAssocID="{3E7FF75C-7A63-4C39-B317-6B3D96307543}" presName="root1" presStyleCnt="0"/>
      <dgm:spPr/>
    </dgm:pt>
    <dgm:pt modelId="{0A07C1A2-4A79-4B57-AE16-290E656142CE}" type="pres">
      <dgm:prSet presAssocID="{3E7FF75C-7A63-4C39-B317-6B3D96307543}" presName="LevelOneTextNode" presStyleLbl="node0" presStyleIdx="0" presStyleCnt="1" custAng="5400000" custScaleX="73577" custScaleY="29477" custLinFactX="-100000" custLinFactNeighborX="-187584" custLinFactNeighborY="3594">
        <dgm:presLayoutVars>
          <dgm:chPref val="3"/>
        </dgm:presLayoutVars>
      </dgm:prSet>
      <dgm:spPr/>
      <dgm:t>
        <a:bodyPr/>
        <a:lstStyle/>
        <a:p>
          <a:endParaRPr lang="zh-CN" altLang="en-US"/>
        </a:p>
      </dgm:t>
    </dgm:pt>
    <dgm:pt modelId="{C77EEF1A-AC53-4F6C-A69E-FD07DD3B80AD}" type="pres">
      <dgm:prSet presAssocID="{3E7FF75C-7A63-4C39-B317-6B3D96307543}" presName="level2hierChild" presStyleCnt="0"/>
      <dgm:spPr/>
    </dgm:pt>
    <dgm:pt modelId="{2172A1CE-371E-4853-93D6-3A1B5B0B7BB9}" type="pres">
      <dgm:prSet presAssocID="{4B54AF0B-C027-495B-86A1-B5505693FC70}" presName="conn2-1" presStyleLbl="parChTrans1D2" presStyleIdx="0" presStyleCnt="2"/>
      <dgm:spPr/>
      <dgm:t>
        <a:bodyPr/>
        <a:lstStyle/>
        <a:p>
          <a:endParaRPr lang="zh-CN" altLang="en-US"/>
        </a:p>
      </dgm:t>
    </dgm:pt>
    <dgm:pt modelId="{82A43EC3-F612-4D60-99E4-B23C92A9AB25}" type="pres">
      <dgm:prSet presAssocID="{4B54AF0B-C027-495B-86A1-B5505693FC70}" presName="connTx" presStyleLbl="parChTrans1D2" presStyleIdx="0" presStyleCnt="2"/>
      <dgm:spPr/>
      <dgm:t>
        <a:bodyPr/>
        <a:lstStyle/>
        <a:p>
          <a:endParaRPr lang="zh-CN" altLang="en-US"/>
        </a:p>
      </dgm:t>
    </dgm:pt>
    <dgm:pt modelId="{CBB387EE-8121-4B29-B603-15C045DC433F}" type="pres">
      <dgm:prSet presAssocID="{BACE1264-CD59-446D-BDF7-1D8B6396E2DC}" presName="root2" presStyleCnt="0"/>
      <dgm:spPr/>
    </dgm:pt>
    <dgm:pt modelId="{DB0500EC-2328-4CA6-BB6A-824FB9F92690}" type="pres">
      <dgm:prSet presAssocID="{BACE1264-CD59-446D-BDF7-1D8B6396E2DC}" presName="LevelTwoTextNode" presStyleLbl="node2" presStyleIdx="0" presStyleCnt="2" custScaleX="45746" custScaleY="87630" custLinFactNeighborX="-77083" custLinFactNeighborY="-25615">
        <dgm:presLayoutVars>
          <dgm:chPref val="3"/>
        </dgm:presLayoutVars>
      </dgm:prSet>
      <dgm:spPr/>
      <dgm:t>
        <a:bodyPr/>
        <a:lstStyle/>
        <a:p>
          <a:endParaRPr lang="zh-CN" altLang="en-US"/>
        </a:p>
      </dgm:t>
    </dgm:pt>
    <dgm:pt modelId="{76D231B0-23E2-4B7B-833A-95FBF4D9E443}" type="pres">
      <dgm:prSet presAssocID="{BACE1264-CD59-446D-BDF7-1D8B6396E2DC}" presName="level3hierChild" presStyleCnt="0"/>
      <dgm:spPr/>
    </dgm:pt>
    <dgm:pt modelId="{5A344A2B-9937-46B2-88D8-56C8D9A7236A}" type="pres">
      <dgm:prSet presAssocID="{EDF171D7-545F-4CE6-8ACB-4A6A598B7A55}" presName="conn2-1" presStyleLbl="parChTrans1D2" presStyleIdx="1" presStyleCnt="2"/>
      <dgm:spPr/>
      <dgm:t>
        <a:bodyPr/>
        <a:lstStyle/>
        <a:p>
          <a:endParaRPr lang="zh-CN" altLang="en-US"/>
        </a:p>
      </dgm:t>
    </dgm:pt>
    <dgm:pt modelId="{3FF46B0E-4F35-4A08-88C3-E0CE21336AF4}" type="pres">
      <dgm:prSet presAssocID="{EDF171D7-545F-4CE6-8ACB-4A6A598B7A55}" presName="connTx" presStyleLbl="parChTrans1D2" presStyleIdx="1" presStyleCnt="2"/>
      <dgm:spPr/>
      <dgm:t>
        <a:bodyPr/>
        <a:lstStyle/>
        <a:p>
          <a:endParaRPr lang="zh-CN" altLang="en-US"/>
        </a:p>
      </dgm:t>
    </dgm:pt>
    <dgm:pt modelId="{8253C515-A9DD-42EA-B8D5-28429945E874}" type="pres">
      <dgm:prSet presAssocID="{2B72F6B7-E121-4E04-9370-048715A76D6E}" presName="root2" presStyleCnt="0"/>
      <dgm:spPr/>
    </dgm:pt>
    <dgm:pt modelId="{04A6545A-32A3-405C-8753-ABBC1D2C3B96}" type="pres">
      <dgm:prSet presAssocID="{2B72F6B7-E121-4E04-9370-048715A76D6E}" presName="LevelTwoTextNode" presStyleLbl="node2" presStyleIdx="1" presStyleCnt="2" custScaleX="46502" custScaleY="82621" custLinFactNeighborX="-77083" custLinFactNeighborY="60150">
        <dgm:presLayoutVars>
          <dgm:chPref val="3"/>
        </dgm:presLayoutVars>
      </dgm:prSet>
      <dgm:spPr/>
      <dgm:t>
        <a:bodyPr/>
        <a:lstStyle/>
        <a:p>
          <a:endParaRPr lang="zh-CN" altLang="en-US"/>
        </a:p>
      </dgm:t>
    </dgm:pt>
    <dgm:pt modelId="{4A48D512-AFA0-4AED-85D2-CADFC0A386CF}" type="pres">
      <dgm:prSet presAssocID="{2B72F6B7-E121-4E04-9370-048715A76D6E}" presName="level3hierChild" presStyleCnt="0"/>
      <dgm:spPr/>
    </dgm:pt>
  </dgm:ptLst>
  <dgm:cxnLst>
    <dgm:cxn modelId="{83179A15-301A-4427-9F7F-0ECD9198D7BA}" srcId="{3E7FF75C-7A63-4C39-B317-6B3D96307543}" destId="{2B72F6B7-E121-4E04-9370-048715A76D6E}" srcOrd="1" destOrd="0" parTransId="{EDF171D7-545F-4CE6-8ACB-4A6A598B7A55}" sibTransId="{8BB68D91-6682-4AFA-BDF9-5D50A860E54A}"/>
    <dgm:cxn modelId="{E555A4BE-68CE-4C70-B3BE-A1EC8C6D2F6B}" type="presOf" srcId="{3E7FF75C-7A63-4C39-B317-6B3D96307543}" destId="{0A07C1A2-4A79-4B57-AE16-290E656142CE}" srcOrd="0" destOrd="0" presId="urn:microsoft.com/office/officeart/2008/layout/HorizontalMultiLevelHierarchy"/>
    <dgm:cxn modelId="{4770A61B-03B6-4E8B-B367-49B5C3D11E03}" type="presOf" srcId="{BACE1264-CD59-446D-BDF7-1D8B6396E2DC}" destId="{DB0500EC-2328-4CA6-BB6A-824FB9F92690}" srcOrd="0" destOrd="0" presId="urn:microsoft.com/office/officeart/2008/layout/HorizontalMultiLevelHierarchy"/>
    <dgm:cxn modelId="{70A963D1-9454-4C0B-8964-A3C2CEF3EAFE}" srcId="{3E7FF75C-7A63-4C39-B317-6B3D96307543}" destId="{BACE1264-CD59-446D-BDF7-1D8B6396E2DC}" srcOrd="0" destOrd="0" parTransId="{4B54AF0B-C027-495B-86A1-B5505693FC70}" sibTransId="{23DAB2F2-5B9C-4BA6-8089-ACA7E82EA48F}"/>
    <dgm:cxn modelId="{DE727059-FB8D-402E-8B74-4D997FDE25F0}" srcId="{E4D469B9-EB9D-4FA5-BE56-47AA41E9BE48}" destId="{3E7FF75C-7A63-4C39-B317-6B3D96307543}" srcOrd="0" destOrd="0" parTransId="{4EAA9E22-A802-43BB-9A38-3DFDCBB81B33}" sibTransId="{4BEC2E03-9E61-4FEA-90C0-FAD4B3A901EB}"/>
    <dgm:cxn modelId="{E72E5E61-163A-4A53-A3B0-1219B767612C}" type="presOf" srcId="{4B54AF0B-C027-495B-86A1-B5505693FC70}" destId="{82A43EC3-F612-4D60-99E4-B23C92A9AB25}" srcOrd="1" destOrd="0" presId="urn:microsoft.com/office/officeart/2008/layout/HorizontalMultiLevelHierarchy"/>
    <dgm:cxn modelId="{7CA93AE6-0B93-48FF-B2BE-85CAF791A0AC}" type="presOf" srcId="{EDF171D7-545F-4CE6-8ACB-4A6A598B7A55}" destId="{3FF46B0E-4F35-4A08-88C3-E0CE21336AF4}" srcOrd="1" destOrd="0" presId="urn:microsoft.com/office/officeart/2008/layout/HorizontalMultiLevelHierarchy"/>
    <dgm:cxn modelId="{4C08D475-90F4-470A-9C22-9EA7A718398D}" type="presOf" srcId="{2B72F6B7-E121-4E04-9370-048715A76D6E}" destId="{04A6545A-32A3-405C-8753-ABBC1D2C3B96}" srcOrd="0" destOrd="0" presId="urn:microsoft.com/office/officeart/2008/layout/HorizontalMultiLevelHierarchy"/>
    <dgm:cxn modelId="{848DFD20-8086-4C99-9454-26E89FDCEB00}" type="presOf" srcId="{E4D469B9-EB9D-4FA5-BE56-47AA41E9BE48}" destId="{BC116D3D-0E38-45BD-9B47-A8A53F36B858}" srcOrd="0" destOrd="0" presId="urn:microsoft.com/office/officeart/2008/layout/HorizontalMultiLevelHierarchy"/>
    <dgm:cxn modelId="{A9587769-30F4-4EAB-826E-95FE97276091}" type="presOf" srcId="{EDF171D7-545F-4CE6-8ACB-4A6A598B7A55}" destId="{5A344A2B-9937-46B2-88D8-56C8D9A7236A}" srcOrd="0" destOrd="0" presId="urn:microsoft.com/office/officeart/2008/layout/HorizontalMultiLevelHierarchy"/>
    <dgm:cxn modelId="{224BBA7F-1A74-4B9E-9239-093CBF00F093}" type="presOf" srcId="{4B54AF0B-C027-495B-86A1-B5505693FC70}" destId="{2172A1CE-371E-4853-93D6-3A1B5B0B7BB9}" srcOrd="0" destOrd="0" presId="urn:microsoft.com/office/officeart/2008/layout/HorizontalMultiLevelHierarchy"/>
    <dgm:cxn modelId="{F5B23B1A-5547-49AD-AE8E-7DB77DC299AE}" type="presParOf" srcId="{BC116D3D-0E38-45BD-9B47-A8A53F36B858}" destId="{00144B44-3C8A-429B-A187-4584829ED1D5}" srcOrd="0" destOrd="0" presId="urn:microsoft.com/office/officeart/2008/layout/HorizontalMultiLevelHierarchy"/>
    <dgm:cxn modelId="{D4975F33-3E51-4B10-89A6-4902653EE4D7}" type="presParOf" srcId="{00144B44-3C8A-429B-A187-4584829ED1D5}" destId="{0A07C1A2-4A79-4B57-AE16-290E656142CE}" srcOrd="0" destOrd="0" presId="urn:microsoft.com/office/officeart/2008/layout/HorizontalMultiLevelHierarchy"/>
    <dgm:cxn modelId="{6F4F272C-169C-4ED5-B677-F7A8023533BF}" type="presParOf" srcId="{00144B44-3C8A-429B-A187-4584829ED1D5}" destId="{C77EEF1A-AC53-4F6C-A69E-FD07DD3B80AD}" srcOrd="1" destOrd="0" presId="urn:microsoft.com/office/officeart/2008/layout/HorizontalMultiLevelHierarchy"/>
    <dgm:cxn modelId="{0D0BBEAF-24FB-4B06-A716-3905D5A012A9}" type="presParOf" srcId="{C77EEF1A-AC53-4F6C-A69E-FD07DD3B80AD}" destId="{2172A1CE-371E-4853-93D6-3A1B5B0B7BB9}" srcOrd="0" destOrd="0" presId="urn:microsoft.com/office/officeart/2008/layout/HorizontalMultiLevelHierarchy"/>
    <dgm:cxn modelId="{85A7C619-F35A-43A9-A01C-C28B8CB3C341}" type="presParOf" srcId="{2172A1CE-371E-4853-93D6-3A1B5B0B7BB9}" destId="{82A43EC3-F612-4D60-99E4-B23C92A9AB25}" srcOrd="0" destOrd="0" presId="urn:microsoft.com/office/officeart/2008/layout/HorizontalMultiLevelHierarchy"/>
    <dgm:cxn modelId="{60168464-0120-4BE1-B8C0-10A6962DBCB6}" type="presParOf" srcId="{C77EEF1A-AC53-4F6C-A69E-FD07DD3B80AD}" destId="{CBB387EE-8121-4B29-B603-15C045DC433F}" srcOrd="1" destOrd="0" presId="urn:microsoft.com/office/officeart/2008/layout/HorizontalMultiLevelHierarchy"/>
    <dgm:cxn modelId="{9C6AF470-3C11-4588-8387-3BBF5B3C18E3}" type="presParOf" srcId="{CBB387EE-8121-4B29-B603-15C045DC433F}" destId="{DB0500EC-2328-4CA6-BB6A-824FB9F92690}" srcOrd="0" destOrd="0" presId="urn:microsoft.com/office/officeart/2008/layout/HorizontalMultiLevelHierarchy"/>
    <dgm:cxn modelId="{F70585D5-5884-48A5-88B7-AF041EB57809}" type="presParOf" srcId="{CBB387EE-8121-4B29-B603-15C045DC433F}" destId="{76D231B0-23E2-4B7B-833A-95FBF4D9E443}" srcOrd="1" destOrd="0" presId="urn:microsoft.com/office/officeart/2008/layout/HorizontalMultiLevelHierarchy"/>
    <dgm:cxn modelId="{9C747992-75E8-4D3C-88FD-310A70BB3C42}" type="presParOf" srcId="{C77EEF1A-AC53-4F6C-A69E-FD07DD3B80AD}" destId="{5A344A2B-9937-46B2-88D8-56C8D9A7236A}" srcOrd="2" destOrd="0" presId="urn:microsoft.com/office/officeart/2008/layout/HorizontalMultiLevelHierarchy"/>
    <dgm:cxn modelId="{E2525B06-8B10-46CA-A1D0-426C438566E5}" type="presParOf" srcId="{5A344A2B-9937-46B2-88D8-56C8D9A7236A}" destId="{3FF46B0E-4F35-4A08-88C3-E0CE21336AF4}" srcOrd="0" destOrd="0" presId="urn:microsoft.com/office/officeart/2008/layout/HorizontalMultiLevelHierarchy"/>
    <dgm:cxn modelId="{27D927B5-1FA8-4D11-B041-9D04F614234B}" type="presParOf" srcId="{C77EEF1A-AC53-4F6C-A69E-FD07DD3B80AD}" destId="{8253C515-A9DD-42EA-B8D5-28429945E874}" srcOrd="3" destOrd="0" presId="urn:microsoft.com/office/officeart/2008/layout/HorizontalMultiLevelHierarchy"/>
    <dgm:cxn modelId="{5782DD0A-8B32-4556-BF99-BE73FC414F16}" type="presParOf" srcId="{8253C515-A9DD-42EA-B8D5-28429945E874}" destId="{04A6545A-32A3-405C-8753-ABBC1D2C3B96}" srcOrd="0" destOrd="0" presId="urn:microsoft.com/office/officeart/2008/layout/HorizontalMultiLevelHierarchy"/>
    <dgm:cxn modelId="{EB2DF58B-4E33-4AE0-B70C-9D9A861F0F75}" type="presParOf" srcId="{8253C515-A9DD-42EA-B8D5-28429945E874}" destId="{4A48D512-AFA0-4AED-85D2-CADFC0A386CF}" srcOrd="1" destOrd="0" presId="urn:microsoft.com/office/officeart/2008/layout/HorizontalMultiLevelHierarchy"/>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layout1.xml><?xml version="1.0" encoding="utf-8"?>
<dgm:layoutDef xmlns:dgm="http://schemas.openxmlformats.org/drawingml/2006/diagram" xmlns:a="http://schemas.openxmlformats.org/drawingml/2006/main" uniqueId="urn:microsoft.com/office/officeart/2005/8/layout/vList4#1">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lang="zh-CN" sz="4400" b="0" u="none" strike="noStrike">
                <a:solidFill>
                  <a:schemeClr val="dk1"/>
                </a:solidFill>
                <a:effectLst/>
                <a:uFillTx/>
                <a:latin typeface="Arial"/>
              </a:rPr>
              <a:t>单击以移动幻灯片</a:t>
            </a:r>
            <a:endParaRPr lang="es-ES" sz="4400" b="0" u="none" strike="noStrike">
              <a:solidFill>
                <a:schemeClr val="dk1"/>
              </a:solidFill>
              <a:effectLst/>
              <a:uFillTx/>
              <a:latin typeface="Arial"/>
            </a:endParaRPr>
          </a:p>
        </p:txBody>
      </p:sp>
      <p:sp>
        <p:nvSpPr>
          <p:cNvPr id="2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zh-CN" sz="2000" b="0" u="none" strike="noStrike">
                <a:solidFill>
                  <a:srgbClr val="000000"/>
                </a:solidFill>
                <a:effectLst/>
                <a:uFillTx/>
                <a:latin typeface="Arial"/>
              </a:rPr>
              <a:t>点击编辑备注格式</a:t>
            </a:r>
            <a:endParaRPr lang="en-US" sz="2000" b="0" u="none" strike="noStrike">
              <a:solidFill>
                <a:srgbClr val="000000"/>
              </a:solidFill>
              <a:effectLst/>
              <a:uFillTx/>
              <a:latin typeface="Arial"/>
            </a:endParaRPr>
          </a:p>
        </p:txBody>
      </p:sp>
      <p:sp>
        <p:nvSpPr>
          <p:cNvPr id="3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Times New Roman"/>
              </a:rPr>
              <a:t>&lt;页眉&gt;</a:t>
            </a:r>
            <a:endParaRPr lang="en-US" sz="1400" b="0" u="none" strike="noStrike">
              <a:solidFill>
                <a:srgbClr val="000000"/>
              </a:solidFill>
              <a:effectLst/>
              <a:uFillTx/>
              <a:latin typeface="Times New Roman"/>
            </a:endParaRPr>
          </a:p>
        </p:txBody>
      </p:sp>
      <p:sp>
        <p:nvSpPr>
          <p:cNvPr id="31" name="PlaceHolder 4"/>
          <p:cNvSpPr>
            <a:spLocks noGrp="1"/>
          </p:cNvSpPr>
          <p:nvPr>
            <p:ph type="dt" idx="8"/>
          </p:nvPr>
        </p:nvSpPr>
        <p:spPr>
          <a:xfrm>
            <a:off x="4278960" y="0"/>
            <a:ext cx="3280680" cy="53424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&lt;日期/时间&gt;</a:t>
            </a:r>
            <a:endParaRPr lang="en-US" sz="1400" b="0" u="none" strike="noStrike">
              <a:solidFill>
                <a:srgbClr val="000000"/>
              </a:solidFill>
              <a:effectLst/>
              <a:uFillTx/>
              <a:latin typeface="Times New Roman"/>
            </a:endParaRPr>
          </a:p>
        </p:txBody>
      </p:sp>
      <p:sp>
        <p:nvSpPr>
          <p:cNvPr id="32" name="PlaceHolder 5"/>
          <p:cNvSpPr>
            <a:spLocks noGrp="1"/>
          </p:cNvSpPr>
          <p:nvPr>
            <p:ph type="ftr" idx="9"/>
          </p:nvPr>
        </p:nvSpPr>
        <p:spPr>
          <a:xfrm>
            <a:off x="0" y="10157400"/>
            <a:ext cx="3280680" cy="53424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&lt;页脚&gt;</a:t>
            </a:r>
            <a:endParaRPr lang="en-US" sz="1400" b="0" u="none" strike="noStrike">
              <a:solidFill>
                <a:srgbClr val="000000"/>
              </a:solidFill>
              <a:effectLst/>
              <a:uFillTx/>
              <a:latin typeface="Times New Roman"/>
            </a:endParaRPr>
          </a:p>
        </p:txBody>
      </p:sp>
      <p:sp>
        <p:nvSpPr>
          <p:cNvPr id="33" name="PlaceHolder 6"/>
          <p:cNvSpPr>
            <a:spLocks noGrp="1"/>
          </p:cNvSpPr>
          <p:nvPr>
            <p:ph type="sldNum" idx="10"/>
          </p:nvPr>
        </p:nvSpPr>
        <p:spPr>
          <a:xfrm>
            <a:off x="4278960" y="10157400"/>
            <a:ext cx="3280680" cy="53424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13A1ABE1-8917-4179-86D7-7E4F404EFA1C}" type="slidenum">
              <a:rPr lang="en-US" sz="1400" b="0" u="none" strike="noStrike">
                <a:solidFill>
                  <a:srgbClr val="000000"/>
                </a:solidFill>
                <a:effectLst/>
                <a:uFillTx/>
                <a:latin typeface="Times New Roman"/>
              </a:rPr>
              <a:t>&lt;编号&gt;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5.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
</Relationships>
</file>

<file path=ppt/notesSlides/_rels/notesSlide76.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
</Relationships>
</file>

<file path=ppt/notesSlides/_rels/notesSlide77.xml.rels><?xml version="1.0" encoding="UTF-8"?>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
</Relationships>
</file>

<file path=ppt/notesSlides/_rels/notesSlide78.xml.rels><?xml version="1.0" encoding="UTF-8"?>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
</Relationships>
</file>

<file path=ppt/notesSlides/_rels/notesSlide79.xml.rels><?xml version="1.0" encoding="UTF-8"?>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
</Relationships>
</file>

<file path=ppt/notesSlides/_rels/notesSlide80.xml.rels><?xml version="1.0" encoding="UTF-8"?>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
</Relationships>
</file>

<file path=ppt/notesSlides/_rels/notesSlide81.xml.rels><?xml version="1.0" encoding="UTF-8"?>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
</Relationships>
</file>

<file path=ppt/notesSlides/_rels/notesSlide82.xml.rels><?xml version="1.0" encoding="UTF-8"?>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
</Relationships>
</file>

<file path=ppt/notesSlides/_rels/notesSlide83.xml.rels><?xml version="1.0" encoding="UTF-8"?>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
</Relationships>
</file>

<file path=ppt/notesSlides/_rels/notesSlide84.xml.rels><?xml version="1.0" encoding="UTF-8"?>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
</Relationships>
</file>

<file path=ppt/notesSlides/_rels/notesSlide85.xml.rels><?xml version="1.0" encoding="UTF-8"?>
<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
</Relationships>
</file>

<file path=ppt/notesSlides/_rels/notesSlide86.xml.rels><?xml version="1.0" encoding="UTF-8"?>
<Relationships xmlns="http://schemas.openxmlformats.org/package/2006/relationships"><Relationship Id="rId1" Type="http://schemas.openxmlformats.org/officeDocument/2006/relationships/slide" Target="../slides/slide86.xml"/><Relationship Id="rId2" Type="http://schemas.openxmlformats.org/officeDocument/2006/relationships/notesMaster" Target="../notesMasters/notesMaster1.xml"/>
</Relationships>
</file>

<file path=ppt/notesSlides/_rels/notesSlide87.xml.rels><?xml version="1.0" encoding="UTF-8"?>
<Relationships xmlns="http://schemas.openxmlformats.org/package/2006/relationships"><Relationship Id="rId1" Type="http://schemas.openxmlformats.org/officeDocument/2006/relationships/slide" Target="../slides/slide87.xml"/><Relationship Id="rId2" Type="http://schemas.openxmlformats.org/officeDocument/2006/relationships/notesMaster" Target="../notesMasters/notesMaster1.xml"/>
</Relationships>
</file>

<file path=ppt/notesSlides/_rels/notesSlide88.xml.rels><?xml version="1.0" encoding="UTF-8"?>
<Relationships xmlns="http://schemas.openxmlformats.org/package/2006/relationships"><Relationship Id="rId1" Type="http://schemas.openxmlformats.org/officeDocument/2006/relationships/slide" Target="../slides/slide88.xml"/><Relationship Id="rId2" Type="http://schemas.openxmlformats.org/officeDocument/2006/relationships/notesMaster" Target="../notesMasters/notesMaster1.xml"/>
</Relationships>
</file>

<file path=ppt/notesSlides/_rels/notesSlide89.xml.rels><?xml version="1.0" encoding="UTF-8"?>
<Relationships xmlns="http://schemas.openxmlformats.org/package/2006/relationships"><Relationship Id="rId1" Type="http://schemas.openxmlformats.org/officeDocument/2006/relationships/slide" Target="../slides/slide89.xml"/><Relationship Id="rId2" Type="http://schemas.openxmlformats.org/officeDocument/2006/relationships/notesMaster" Target="../notesMasters/notesMaster1.xml"/>
</Relationships>
</file>

<file path=ppt/notesSlides/_rels/notesSlide90.xml.rels><?xml version="1.0" encoding="UTF-8"?>
<Relationships xmlns="http://schemas.openxmlformats.org/package/2006/relationships"><Relationship Id="rId1" Type="http://schemas.openxmlformats.org/officeDocument/2006/relationships/slide" Target="../slides/slide90.xml"/><Relationship Id="rId2" Type="http://schemas.openxmlformats.org/officeDocument/2006/relationships/notesMaster" Target="../notesMasters/notesMaster1.xml"/>
</Relationships>
</file>

<file path=ppt/notesSlides/_rels/notesSlide91.xml.rels><?xml version="1.0" encoding="UTF-8"?>
<Relationships xmlns="http://schemas.openxmlformats.org/package/2006/relationships"><Relationship Id="rId1" Type="http://schemas.openxmlformats.org/officeDocument/2006/relationships/slide" Target="../slides/slide91.xml"/><Relationship Id="rId2" Type="http://schemas.openxmlformats.org/officeDocument/2006/relationships/notesMaster" Target="../notesMasters/notesMaster1.xml"/>
</Relationships>
</file>

<file path=ppt/notesSlides/_rels/notesSlide92.xml.rels><?xml version="1.0" encoding="UTF-8"?>
<Relationships xmlns="http://schemas.openxmlformats.org/package/2006/relationships"><Relationship Id="rId1" Type="http://schemas.openxmlformats.org/officeDocument/2006/relationships/slide" Target="../slides/slide92.xml"/><Relationship Id="rId2" Type="http://schemas.openxmlformats.org/officeDocument/2006/relationships/notesMaster" Target="../notesMasters/notesMaster1.xml"/>
</Relationships>
</file>

<file path=ppt/notesSlides/_rels/notesSlide93.xml.rels><?xml version="1.0" encoding="UTF-8"?>
<Relationships xmlns="http://schemas.openxmlformats.org/package/2006/relationships"><Relationship Id="rId1" Type="http://schemas.openxmlformats.org/officeDocument/2006/relationships/slide" Target="../slides/slide93.xml"/><Relationship Id="rId2" Type="http://schemas.openxmlformats.org/officeDocument/2006/relationships/notesMaster" Target="../notesMasters/notesMaster1.xml"/>
</Relationships>
</file>

<file path=ppt/notesSlides/_rels/notesSlide94.xml.rels><?xml version="1.0" encoding="UTF-8"?>
<Relationships xmlns="http://schemas.openxmlformats.org/package/2006/relationships"><Relationship Id="rId1" Type="http://schemas.openxmlformats.org/officeDocument/2006/relationships/slide" Target="../slides/slide94.xml"/><Relationship Id="rId2" Type="http://schemas.openxmlformats.org/officeDocument/2006/relationships/notesMaster" Target="../notesMasters/notesMaster1.xml"/>
</Relationships>
</file>

<file path=ppt/notesSlides/_rels/notesSlide95.xml.rels><?xml version="1.0" encoding="UTF-8"?>
<Relationships xmlns="http://schemas.openxmlformats.org/package/2006/relationships"><Relationship Id="rId1" Type="http://schemas.openxmlformats.org/officeDocument/2006/relationships/slide" Target="../slides/slide95.xml"/><Relationship Id="rId2" Type="http://schemas.openxmlformats.org/officeDocument/2006/relationships/notesMaster" Target="../notesMasters/notesMaster1.xml"/>
</Relationships>
</file>

<file path=ppt/notesSlides/_rels/notesSlide96.xml.rels><?xml version="1.0" encoding="UTF-8"?>
<Relationships xmlns="http://schemas.openxmlformats.org/package/2006/relationships"><Relationship Id="rId1" Type="http://schemas.openxmlformats.org/officeDocument/2006/relationships/slide" Target="../slides/slide96.xml"/><Relationship Id="rId2" Type="http://schemas.openxmlformats.org/officeDocument/2006/relationships/notesMaster" Target="../notesMasters/notesMaster1.xml"/>
</Relationships>
</file>

<file path=ppt/notesSlides/_rels/notesSlide97.xml.rels><?xml version="1.0" encoding="UTF-8"?>
<Relationships xmlns="http://schemas.openxmlformats.org/package/2006/relationships"><Relationship Id="rId1" Type="http://schemas.openxmlformats.org/officeDocument/2006/relationships/slide" Target="../slides/slide97.xml"/><Relationship Id="rId2" Type="http://schemas.openxmlformats.org/officeDocument/2006/relationships/notesMaster" Target="../notesMasters/notesMaster1.xml"/>
</Relationships>
</file>

<file path=ppt/notesSlides/_rels/notesSlide98.xml.rels><?xml version="1.0" encoding="UTF-8"?>
<Relationships xmlns="http://schemas.openxmlformats.org/package/2006/relationships"><Relationship Id="rId1" Type="http://schemas.openxmlformats.org/officeDocument/2006/relationships/slide" Target="../slides/slide98.xml"/><Relationship Id="rId2" Type="http://schemas.openxmlformats.org/officeDocument/2006/relationships/notesMaster" Target="../notesMasters/notesMaster1.xml"/>
</Relationships>
</file>

<file path=ppt/notesSlides/_rels/notesSlide99.xml.rels><?xml version="1.0" encoding="UTF-8"?>
<Relationships xmlns="http://schemas.openxmlformats.org/package/2006/relationships"><Relationship Id="rId1" Type="http://schemas.openxmlformats.org/officeDocument/2006/relationships/slide" Target="../slides/slide99.xml"/><Relationship Id="rId2" Type="http://schemas.openxmlformats.org/officeDocument/2006/relationships/notesMaster" Target="../notesMasters/notesMaster1.xml"/>
</Relationships>
</file>

<file path=ppt/notesSlides/_rels/notesSlide100.xml.rels><?xml version="1.0" encoding="UTF-8"?>
<Relationships xmlns="http://schemas.openxmlformats.org/package/2006/relationships"><Relationship Id="rId1" Type="http://schemas.openxmlformats.org/officeDocument/2006/relationships/slide" Target="../slides/slide100.xml"/><Relationship Id="rId2" Type="http://schemas.openxmlformats.org/officeDocument/2006/relationships/notesMaster" Target="../notesMasters/notesMaster1.xml"/>
</Relationships>
</file>

<file path=ppt/notesSlides/_rels/notesSlide101.xml.rels><?xml version="1.0" encoding="UTF-8"?>
<Relationships xmlns="http://schemas.openxmlformats.org/package/2006/relationships"><Relationship Id="rId1" Type="http://schemas.openxmlformats.org/officeDocument/2006/relationships/slide" Target="../slides/slide101.xml"/><Relationship Id="rId2" Type="http://schemas.openxmlformats.org/officeDocument/2006/relationships/notesMaster" Target="../notesMasters/notesMaster1.xml"/>
</Relationships>
</file>

<file path=ppt/notesSlides/_rels/notesSlide102.xml.rels><?xml version="1.0" encoding="UTF-8"?>
<Relationships xmlns="http://schemas.openxmlformats.org/package/2006/relationships"><Relationship Id="rId1" Type="http://schemas.openxmlformats.org/officeDocument/2006/relationships/slide" Target="../slides/slide102.xml"/><Relationship Id="rId2" Type="http://schemas.openxmlformats.org/officeDocument/2006/relationships/notesMaster" Target="../notesMasters/notesMaster1.xml"/>
</Relationships>
</file>

<file path=ppt/notesSlides/_rels/notesSlide103.xml.rels><?xml version="1.0" encoding="UTF-8"?>
<Relationships xmlns="http://schemas.openxmlformats.org/package/2006/relationships"><Relationship Id="rId1" Type="http://schemas.openxmlformats.org/officeDocument/2006/relationships/slide" Target="../slides/slide103.xml"/><Relationship Id="rId2" Type="http://schemas.openxmlformats.org/officeDocument/2006/relationships/notesMaster" Target="../notesMasters/notesMaster1.xml"/>
</Relationships>
</file>

<file path=ppt/notesSlides/_rels/notesSlide104.xml.rels><?xml version="1.0" encoding="UTF-8"?>
<Relationships xmlns="http://schemas.openxmlformats.org/package/2006/relationships"><Relationship Id="rId1" Type="http://schemas.openxmlformats.org/officeDocument/2006/relationships/slide" Target="../slides/slide104.xml"/><Relationship Id="rId2" Type="http://schemas.openxmlformats.org/officeDocument/2006/relationships/notesMaster" Target="../notesMasters/notesMaster1.xml"/>
</Relationships>
</file>

<file path=ppt/notesSlides/_rels/notesSlide105.xml.rels><?xml version="1.0" encoding="UTF-8"?>
<Relationships xmlns="http://schemas.openxmlformats.org/package/2006/relationships"><Relationship Id="rId1" Type="http://schemas.openxmlformats.org/officeDocument/2006/relationships/slide" Target="../slides/slide105.xml"/><Relationship Id="rId2" Type="http://schemas.openxmlformats.org/officeDocument/2006/relationships/notesMaster" Target="../notesMasters/notesMaster1.xml"/>
</Relationships>
</file>

<file path=ppt/notesSlides/_rels/notesSlide106.xml.rels><?xml version="1.0" encoding="UTF-8"?>
<Relationships xmlns="http://schemas.openxmlformats.org/package/2006/relationships"><Relationship Id="rId1" Type="http://schemas.openxmlformats.org/officeDocument/2006/relationships/slide" Target="../slides/slide106.xml"/><Relationship Id="rId2" Type="http://schemas.openxmlformats.org/officeDocument/2006/relationships/notesMaster" Target="../notesMasters/notesMaster1.xml"/>
</Relationships>
</file>

<file path=ppt/notesSlides/_rels/notesSlide107.xml.rels><?xml version="1.0" encoding="UTF-8"?>
<Relationships xmlns="http://schemas.openxmlformats.org/package/2006/relationships"><Relationship Id="rId1" Type="http://schemas.openxmlformats.org/officeDocument/2006/relationships/slide" Target="../slides/slide107.xml"/><Relationship Id="rId2" Type="http://schemas.openxmlformats.org/officeDocument/2006/relationships/notesMaster" Target="../notesMasters/notesMaster1.xml"/>
</Relationships>
</file>

<file path=ppt/notesSlides/_rels/notesSlide108.xml.rels><?xml version="1.0" encoding="UTF-8"?>
<Relationships xmlns="http://schemas.openxmlformats.org/package/2006/relationships"><Relationship Id="rId1" Type="http://schemas.openxmlformats.org/officeDocument/2006/relationships/slide" Target="../slides/slide108.xml"/><Relationship Id="rId2" Type="http://schemas.openxmlformats.org/officeDocument/2006/relationships/notesMaster" Target="../notesMasters/notesMaster1.xml"/>
</Relationships>
</file>

<file path=ppt/notesSlides/_rels/notesSlide109.xml.rels><?xml version="1.0" encoding="UTF-8"?>
<Relationships xmlns="http://schemas.openxmlformats.org/package/2006/relationships"><Relationship Id="rId1" Type="http://schemas.openxmlformats.org/officeDocument/2006/relationships/slide" Target="../slides/slide109.xml"/><Relationship Id="rId2" Type="http://schemas.openxmlformats.org/officeDocument/2006/relationships/notesMaster" Target="../notesMasters/notesMaster1.xml"/>
</Relationships>
</file>

<file path=ppt/notesSlides/_rels/notesSlide110.xml.rels><?xml version="1.0" encoding="UTF-8"?>
<Relationships xmlns="http://schemas.openxmlformats.org/package/2006/relationships"><Relationship Id="rId1" Type="http://schemas.openxmlformats.org/officeDocument/2006/relationships/slide" Target="../slides/slide110.xml"/><Relationship Id="rId2" Type="http://schemas.openxmlformats.org/officeDocument/2006/relationships/notesMaster" Target="../notesMasters/notesMaster1.xml"/>
</Relationships>
</file>

<file path=ppt/notesSlides/_rels/notesSlide111.xml.rels><?xml version="1.0" encoding="UTF-8"?>
<Relationships xmlns="http://schemas.openxmlformats.org/package/2006/relationships"><Relationship Id="rId1" Type="http://schemas.openxmlformats.org/officeDocument/2006/relationships/slide" Target="../slides/slide111.xml"/><Relationship Id="rId2" Type="http://schemas.openxmlformats.org/officeDocument/2006/relationships/notesMaster" Target="../notesMasters/notesMaster1.xml"/>
</Relationships>
</file>

<file path=ppt/notesSlides/_rels/notesSlide112.xml.rels><?xml version="1.0" encoding="UTF-8"?>
<Relationships xmlns="http://schemas.openxmlformats.org/package/2006/relationships"><Relationship Id="rId1" Type="http://schemas.openxmlformats.org/officeDocument/2006/relationships/slide" Target="../slides/slide112.xml"/><Relationship Id="rId2" Type="http://schemas.openxmlformats.org/officeDocument/2006/relationships/notesMaster" Target="../notesMasters/notesMaster1.xml"/>
</Relationships>
</file>

<file path=ppt/notesSlides/_rels/notesSlide113.xml.rels><?xml version="1.0" encoding="UTF-8"?>
<Relationships xmlns="http://schemas.openxmlformats.org/package/2006/relationships"><Relationship Id="rId1" Type="http://schemas.openxmlformats.org/officeDocument/2006/relationships/slide" Target="../slides/slide113.xml"/><Relationship Id="rId2" Type="http://schemas.openxmlformats.org/officeDocument/2006/relationships/notesMaster" Target="../notesMasters/notesMaster1.xml"/>
</Relationships>
</file>

<file path=ppt/notesSlides/_rels/notesSlide114.xml.rels><?xml version="1.0" encoding="UTF-8"?>
<Relationships xmlns="http://schemas.openxmlformats.org/package/2006/relationships"><Relationship Id="rId1" Type="http://schemas.openxmlformats.org/officeDocument/2006/relationships/slide" Target="../slides/slide114.xml"/><Relationship Id="rId2" Type="http://schemas.openxmlformats.org/officeDocument/2006/relationships/notesMaster" Target="../notesMasters/notesMaster1.xml"/>
</Relationships>
</file>

<file path=ppt/notesSlides/_rels/notesSlide115.xml.rels><?xml version="1.0" encoding="UTF-8"?>
<Relationships xmlns="http://schemas.openxmlformats.org/package/2006/relationships"><Relationship Id="rId1" Type="http://schemas.openxmlformats.org/officeDocument/2006/relationships/slide" Target="../slides/slide115.xml"/><Relationship Id="rId2" Type="http://schemas.openxmlformats.org/officeDocument/2006/relationships/notesMaster" Target="../notesMasters/notesMaster1.xml"/>
</Relationships>
</file>

<file path=ppt/notesSlides/_rels/notesSlide116.xml.rels><?xml version="1.0" encoding="UTF-8"?>
<Relationships xmlns="http://schemas.openxmlformats.org/package/2006/relationships"><Relationship Id="rId1" Type="http://schemas.openxmlformats.org/officeDocument/2006/relationships/slide" Target="../slides/slide116.xml"/><Relationship Id="rId2" Type="http://schemas.openxmlformats.org/officeDocument/2006/relationships/notesMaster" Target="../notesMasters/notesMaster1.xml"/>
</Relationships>
</file>

<file path=ppt/notesSlides/_rels/notesSlide117.xml.rels><?xml version="1.0" encoding="UTF-8"?>
<Relationships xmlns="http://schemas.openxmlformats.org/package/2006/relationships"><Relationship Id="rId1" Type="http://schemas.openxmlformats.org/officeDocument/2006/relationships/slide" Target="../slides/slide117.xml"/><Relationship Id="rId2" Type="http://schemas.openxmlformats.org/officeDocument/2006/relationships/notesMaster" Target="../notesMasters/notesMaster1.xml"/>
</Relationships>
</file>

<file path=ppt/notesSlides/_rels/notesSlide118.xml.rels><?xml version="1.0" encoding="UTF-8"?>
<Relationships xmlns="http://schemas.openxmlformats.org/package/2006/relationships"><Relationship Id="rId1" Type="http://schemas.openxmlformats.org/officeDocument/2006/relationships/slide" Target="../slides/slide118.xml"/><Relationship Id="rId2" Type="http://schemas.openxmlformats.org/officeDocument/2006/relationships/notesMaster" Target="../notesMasters/notesMaster1.xml"/>
</Relationships>
</file>

<file path=ppt/notesSlides/_rels/notesSlide119.xml.rels><?xml version="1.0" encoding="UTF-8"?>
<Relationships xmlns="http://schemas.openxmlformats.org/package/2006/relationships"><Relationship Id="rId1" Type="http://schemas.openxmlformats.org/officeDocument/2006/relationships/slide" Target="../slides/slide119.xml"/><Relationship Id="rId2" Type="http://schemas.openxmlformats.org/officeDocument/2006/relationships/notesMaster" Target="../notesMasters/notesMaster1.xml"/>
</Relationships>
</file>

<file path=ppt/notesSlides/_rels/notesSlide120.xml.rels><?xml version="1.0" encoding="UTF-8"?>
<Relationships xmlns="http://schemas.openxmlformats.org/package/2006/relationships"><Relationship Id="rId1" Type="http://schemas.openxmlformats.org/officeDocument/2006/relationships/slide" Target="../slides/slide120.xml"/><Relationship Id="rId2" Type="http://schemas.openxmlformats.org/officeDocument/2006/relationships/notesMaster" Target="../notesMasters/notesMaster1.xml"/>
</Relationships>
</file>

<file path=ppt/notesSlides/_rels/notesSlide121.xml.rels><?xml version="1.0" encoding="UTF-8"?>
<Relationships xmlns="http://schemas.openxmlformats.org/package/2006/relationships"><Relationship Id="rId1" Type="http://schemas.openxmlformats.org/officeDocument/2006/relationships/slide" Target="../slides/slide121.xml"/><Relationship Id="rId2" Type="http://schemas.openxmlformats.org/officeDocument/2006/relationships/notesMaster" Target="../notesMasters/notesMaster1.xml"/>
</Relationships>
</file>

<file path=ppt/notesSlides/_rels/notesSlide122.xml.rels><?xml version="1.0" encoding="UTF-8"?>
<Relationships xmlns="http://schemas.openxmlformats.org/package/2006/relationships"><Relationship Id="rId1" Type="http://schemas.openxmlformats.org/officeDocument/2006/relationships/slide" Target="../slides/slide122.xml"/><Relationship Id="rId2" Type="http://schemas.openxmlformats.org/officeDocument/2006/relationships/notesMaster" Target="../notesMasters/notesMaster1.xml"/>
</Relationships>
</file>

<file path=ppt/notesSlides/_rels/notesSlide123.xml.rels><?xml version="1.0" encoding="UTF-8"?>
<Relationships xmlns="http://schemas.openxmlformats.org/package/2006/relationships"><Relationship Id="rId1" Type="http://schemas.openxmlformats.org/officeDocument/2006/relationships/slide" Target="../slides/slide123.xml"/><Relationship Id="rId2" Type="http://schemas.openxmlformats.org/officeDocument/2006/relationships/notesMaster" Target="../notesMasters/notesMaster1.xml"/>
</Relationships>
</file>

<file path=ppt/notesSlides/_rels/notesSlide124.xml.rels><?xml version="1.0" encoding="UTF-8"?>
<Relationships xmlns="http://schemas.openxmlformats.org/package/2006/relationships"><Relationship Id="rId1" Type="http://schemas.openxmlformats.org/officeDocument/2006/relationships/slide" Target="../slides/slide124.xml"/><Relationship Id="rId2" Type="http://schemas.openxmlformats.org/officeDocument/2006/relationships/notesMaster" Target="../notesMasters/notesMaster1.xml"/>
</Relationships>
</file>

<file path=ppt/notesSlides/_rels/notesSlide125.xml.rels><?xml version="1.0" encoding="UTF-8"?>
<Relationships xmlns="http://schemas.openxmlformats.org/package/2006/relationships"><Relationship Id="rId1" Type="http://schemas.openxmlformats.org/officeDocument/2006/relationships/slide" Target="../slides/slide125.xml"/><Relationship Id="rId2" Type="http://schemas.openxmlformats.org/officeDocument/2006/relationships/notesMaster" Target="../notesMasters/notesMaster1.xml"/>
</Relationships>
</file>

<file path=ppt/notesSlides/_rels/notesSlide126.xml.rels><?xml version="1.0" encoding="UTF-8"?>
<Relationships xmlns="http://schemas.openxmlformats.org/package/2006/relationships"><Relationship Id="rId1" Type="http://schemas.openxmlformats.org/officeDocument/2006/relationships/slide" Target="../slides/slide126.xml"/><Relationship Id="rId2" Type="http://schemas.openxmlformats.org/officeDocument/2006/relationships/notesMaster" Target="../notesMasters/notesMaster1.xml"/>
</Relationships>
</file>

<file path=ppt/notesSlides/_rels/notesSlide127.xml.rels><?xml version="1.0" encoding="UTF-8"?>
<Relationships xmlns="http://schemas.openxmlformats.org/package/2006/relationships"><Relationship Id="rId1" Type="http://schemas.openxmlformats.org/officeDocument/2006/relationships/slide" Target="../slides/slide127.xml"/><Relationship Id="rId2" Type="http://schemas.openxmlformats.org/officeDocument/2006/relationships/notesMaster" Target="../notesMasters/notesMaster1.xml"/>
</Relationships>
</file>

<file path=ppt/notesSlides/_rels/notesSlide128.xml.rels><?xml version="1.0" encoding="UTF-8"?>
<Relationships xmlns="http://schemas.openxmlformats.org/package/2006/relationships"><Relationship Id="rId1" Type="http://schemas.openxmlformats.org/officeDocument/2006/relationships/slide" Target="../slides/slide128.xml"/><Relationship Id="rId2" Type="http://schemas.openxmlformats.org/officeDocument/2006/relationships/notesMaster" Target="../notesMasters/notesMaster1.xml"/>
</Relationships>
</file>

<file path=ppt/notesSlides/_rels/notesSlide129.xml.rels><?xml version="1.0" encoding="UTF-8"?>
<Relationships xmlns="http://schemas.openxmlformats.org/package/2006/relationships"><Relationship Id="rId1" Type="http://schemas.openxmlformats.org/officeDocument/2006/relationships/slide" Target="../slides/slide129.xml"/><Relationship Id="rId2" Type="http://schemas.openxmlformats.org/officeDocument/2006/relationships/notesMaster" Target="../notesMasters/notesMaster1.xml"/>
</Relationships>
</file>

<file path=ppt/notesSlides/_rels/notesSlide130.xml.rels><?xml version="1.0" encoding="UTF-8"?>
<Relationships xmlns="http://schemas.openxmlformats.org/package/2006/relationships"><Relationship Id="rId1" Type="http://schemas.openxmlformats.org/officeDocument/2006/relationships/slide" Target="../slides/slide130.xml"/><Relationship Id="rId2" Type="http://schemas.openxmlformats.org/officeDocument/2006/relationships/notesMaster" Target="../notesMasters/notesMaster1.xml"/>
</Relationships>
</file>

<file path=ppt/notesSlides/_rels/notesSlide131.xml.rels><?xml version="1.0" encoding="UTF-8"?>
<Relationships xmlns="http://schemas.openxmlformats.org/package/2006/relationships"><Relationship Id="rId1" Type="http://schemas.openxmlformats.org/officeDocument/2006/relationships/slide" Target="../slides/slide13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7" name="PlaceHolder 1"/>
          <p:cNvSpPr>
            <a:spLocks noGrp="1"/>
          </p:cNvSpPr>
          <p:nvPr>
            <p:ph type="sldImg"/>
          </p:nvPr>
        </p:nvSpPr>
        <p:spPr>
          <a:xfrm>
            <a:off x="1143000" y="685800"/>
            <a:ext cx="4571640" cy="3428640"/>
          </a:xfrm>
          <a:prstGeom prst="rect">
            <a:avLst/>
          </a:prstGeom>
          <a:ln w="0">
            <a:noFill/>
          </a:ln>
        </p:spPr>
      </p:sp>
      <p:sp>
        <p:nvSpPr>
          <p:cNvPr id="81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19" name="PlaceHolder 3"/>
          <p:cNvSpPr>
            <a:spLocks noGrp="1"/>
          </p:cNvSpPr>
          <p:nvPr>
            <p:ph type="sldNum" idx="1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B757B7E-6A8C-4220-82B2-0555EC63155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0" name="PlaceHolder 1"/>
          <p:cNvSpPr>
            <a:spLocks noGrp="1"/>
          </p:cNvSpPr>
          <p:nvPr>
            <p:ph type="sldImg"/>
          </p:nvPr>
        </p:nvSpPr>
        <p:spPr>
          <a:xfrm>
            <a:off x="1143000" y="685800"/>
            <a:ext cx="4571640" cy="3428640"/>
          </a:xfrm>
          <a:prstGeom prst="rect">
            <a:avLst/>
          </a:prstGeom>
          <a:ln w="0">
            <a:noFill/>
          </a:ln>
        </p:spPr>
      </p:sp>
      <p:sp>
        <p:nvSpPr>
          <p:cNvPr id="82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通常把编码和测试统称为实现。</a:t>
            </a:r>
            <a:endParaRPr lang="en-US" sz="2000" b="0" u="none" strike="noStrike">
              <a:solidFill>
                <a:srgbClr val="000000"/>
              </a:solidFill>
              <a:effectLst/>
              <a:uFillTx/>
              <a:latin typeface="Arial"/>
            </a:endParaRPr>
          </a:p>
        </p:txBody>
      </p:sp>
      <p:sp>
        <p:nvSpPr>
          <p:cNvPr id="822" name="PlaceHolder 3"/>
          <p:cNvSpPr>
            <a:spLocks noGrp="1"/>
          </p:cNvSpPr>
          <p:nvPr>
            <p:ph type="sldNum" idx="1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39BC753-4943-4611-9B6D-21993B5D6C3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3" name="PlaceHolder 1"/>
          <p:cNvSpPr>
            <a:spLocks noGrp="1"/>
          </p:cNvSpPr>
          <p:nvPr>
            <p:ph type="sldImg"/>
          </p:nvPr>
        </p:nvSpPr>
        <p:spPr>
          <a:xfrm>
            <a:off x="1143000" y="685800"/>
            <a:ext cx="4571640" cy="3428640"/>
          </a:xfrm>
          <a:prstGeom prst="rect">
            <a:avLst/>
          </a:prstGeom>
          <a:ln w="0">
            <a:noFill/>
          </a:ln>
        </p:spPr>
      </p:sp>
      <p:sp>
        <p:nvSpPr>
          <p:cNvPr id="82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25" name="PlaceHolder 3"/>
          <p:cNvSpPr>
            <a:spLocks noGrp="1"/>
          </p:cNvSpPr>
          <p:nvPr>
            <p:ph type="sldNum" idx="1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AE5F4E6-543E-4D41-8AFF-DE4867069224}"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6" name="PlaceHolder 1"/>
          <p:cNvSpPr>
            <a:spLocks noGrp="1"/>
          </p:cNvSpPr>
          <p:nvPr>
            <p:ph type="sldImg"/>
          </p:nvPr>
        </p:nvSpPr>
        <p:spPr>
          <a:xfrm>
            <a:off x="1143000" y="685800"/>
            <a:ext cx="4571640" cy="3428640"/>
          </a:xfrm>
          <a:prstGeom prst="rect">
            <a:avLst/>
          </a:prstGeom>
          <a:ln w="0">
            <a:noFill/>
          </a:ln>
        </p:spPr>
      </p:sp>
      <p:sp>
        <p:nvSpPr>
          <p:cNvPr id="82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28" name="PlaceHolder 3"/>
          <p:cNvSpPr>
            <a:spLocks noGrp="1"/>
          </p:cNvSpPr>
          <p:nvPr>
            <p:ph type="sldNum" idx="1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67CBCDB-D897-409A-8818-C6D802530AD4}"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9" name="PlaceHolder 1"/>
          <p:cNvSpPr>
            <a:spLocks noGrp="1"/>
          </p:cNvSpPr>
          <p:nvPr>
            <p:ph type="sldImg"/>
          </p:nvPr>
        </p:nvSpPr>
        <p:spPr>
          <a:xfrm>
            <a:off x="1143000" y="685800"/>
            <a:ext cx="4571640" cy="3428640"/>
          </a:xfrm>
          <a:prstGeom prst="rect">
            <a:avLst/>
          </a:prstGeom>
          <a:ln w="0">
            <a:noFill/>
          </a:ln>
        </p:spPr>
      </p:sp>
      <p:sp>
        <p:nvSpPr>
          <p:cNvPr id="83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、高级语言一般都容许用户给程序变量和子程序赋予含义鲜明的名字，通过名字很容易把程序对象和它们所代表的实体联系起来；此外，高级语言使用的符号和概念更符合人的习惯。</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2</a:t>
            </a:r>
            <a:r>
              <a:rPr lang="zh-CN" sz="2000" b="0" u="none" strike="noStrike">
                <a:solidFill>
                  <a:srgbClr val="000000"/>
                </a:solidFill>
                <a:effectLst/>
                <a:uFillTx/>
                <a:latin typeface="Arial"/>
              </a:rPr>
              <a:t>、使用汇编语言的情况：</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     1)</a:t>
            </a:r>
            <a:r>
              <a:rPr lang="zh-CN" sz="2000" b="0" u="none" strike="noStrike">
                <a:solidFill>
                  <a:srgbClr val="000000"/>
                </a:solidFill>
                <a:effectLst/>
                <a:uFillTx/>
                <a:latin typeface="Arial"/>
              </a:rPr>
              <a:t>、对程序执行时间和使用的空间都有很严格限制的情况；</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     2)</a:t>
            </a:r>
            <a:r>
              <a:rPr lang="zh-CN" sz="2000" b="0" u="none" strike="noStrike">
                <a:solidFill>
                  <a:srgbClr val="000000"/>
                </a:solidFill>
                <a:effectLst/>
                <a:uFillTx/>
                <a:latin typeface="Arial"/>
              </a:rPr>
              <a:t>、需要产生任意的甚至非法的指令序列；</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     3)</a:t>
            </a:r>
            <a:r>
              <a:rPr lang="zh-CN" sz="2000" b="0" u="none" strike="noStrike">
                <a:solidFill>
                  <a:srgbClr val="000000"/>
                </a:solidFill>
                <a:effectLst/>
                <a:uFillTx/>
                <a:latin typeface="Arial"/>
              </a:rPr>
              <a:t>、体系结构特殊的微处理机，以致在这类机器上通常不能实现高级语言编译程序；</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     4)</a:t>
            </a:r>
            <a:r>
              <a:rPr lang="zh-CN" sz="2000" b="0" u="none" strike="noStrike">
                <a:solidFill>
                  <a:srgbClr val="000000"/>
                </a:solidFill>
                <a:effectLst/>
                <a:uFillTx/>
                <a:latin typeface="Arial"/>
              </a:rPr>
              <a:t>、大型系统中执行时间非常关键的</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或直接依赖于硬件的</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一小部分代码需要用汇编语言书写。</a:t>
            </a:r>
            <a:endParaRPr lang="en-US" sz="2000" b="0" u="none" strike="noStrike">
              <a:solidFill>
                <a:srgbClr val="000000"/>
              </a:solidFill>
              <a:effectLst/>
              <a:uFillTx/>
              <a:latin typeface="Arial"/>
            </a:endParaRPr>
          </a:p>
        </p:txBody>
      </p:sp>
      <p:sp>
        <p:nvSpPr>
          <p:cNvPr id="831" name="PlaceHolder 3"/>
          <p:cNvSpPr>
            <a:spLocks noGrp="1"/>
          </p:cNvSpPr>
          <p:nvPr>
            <p:ph type="sldNum" idx="1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FA351D3-EA39-4CB7-9864-FC7CDF734B9B}"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2" name="PlaceHolder 1"/>
          <p:cNvSpPr>
            <a:spLocks noGrp="1"/>
          </p:cNvSpPr>
          <p:nvPr>
            <p:ph type="sldImg"/>
          </p:nvPr>
        </p:nvSpPr>
        <p:spPr>
          <a:xfrm>
            <a:off x="1143000" y="685800"/>
            <a:ext cx="4571640" cy="3428640"/>
          </a:xfrm>
          <a:prstGeom prst="rect">
            <a:avLst/>
          </a:prstGeom>
          <a:ln w="0">
            <a:noFill/>
          </a:ln>
        </p:spPr>
      </p:sp>
      <p:sp>
        <p:nvSpPr>
          <p:cNvPr id="83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34" name="PlaceHolder 3"/>
          <p:cNvSpPr>
            <a:spLocks noGrp="1"/>
          </p:cNvSpPr>
          <p:nvPr>
            <p:ph type="sldNum" idx="1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FFC3247-943F-40A6-8C77-3854CE1CA7E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5" name="PlaceHolder 1"/>
          <p:cNvSpPr>
            <a:spLocks noGrp="1"/>
          </p:cNvSpPr>
          <p:nvPr>
            <p:ph type="sldImg"/>
          </p:nvPr>
        </p:nvSpPr>
        <p:spPr>
          <a:xfrm>
            <a:off x="1143000" y="685800"/>
            <a:ext cx="4571640" cy="3428640"/>
          </a:xfrm>
          <a:prstGeom prst="rect">
            <a:avLst/>
          </a:prstGeom>
          <a:ln w="0">
            <a:noFill/>
          </a:ln>
        </p:spPr>
      </p:sp>
      <p:sp>
        <p:nvSpPr>
          <p:cNvPr id="83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37" name="PlaceHolder 3"/>
          <p:cNvSpPr>
            <a:spLocks noGrp="1"/>
          </p:cNvSpPr>
          <p:nvPr>
            <p:ph type="sldNum" idx="1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B49528D-0EE6-49AB-BFE7-195129747C39}"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8" name="PlaceHolder 1"/>
          <p:cNvSpPr>
            <a:spLocks noGrp="1"/>
          </p:cNvSpPr>
          <p:nvPr>
            <p:ph type="sldImg"/>
          </p:nvPr>
        </p:nvSpPr>
        <p:spPr>
          <a:xfrm>
            <a:off x="1143000" y="685800"/>
            <a:ext cx="4571640" cy="3428640"/>
          </a:xfrm>
          <a:prstGeom prst="rect">
            <a:avLst/>
          </a:prstGeom>
          <a:ln w="0">
            <a:noFill/>
          </a:ln>
        </p:spPr>
      </p:sp>
      <p:sp>
        <p:nvSpPr>
          <p:cNvPr id="83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、有次序的数据说明容易查阅，因此能够加速测试、调试和维护的过程。</a:t>
            </a:r>
            <a:endParaRPr lang="en-US" sz="2000" b="0" u="none" strike="noStrike">
              <a:solidFill>
                <a:srgbClr val="000000"/>
              </a:solidFill>
              <a:effectLst/>
              <a:uFillTx/>
              <a:latin typeface="Arial"/>
            </a:endParaRPr>
          </a:p>
        </p:txBody>
      </p:sp>
      <p:sp>
        <p:nvSpPr>
          <p:cNvPr id="840" name="PlaceHolder 3"/>
          <p:cNvSpPr>
            <a:spLocks noGrp="1"/>
          </p:cNvSpPr>
          <p:nvPr>
            <p:ph type="sldNum" idx="1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74910F1-285F-41F6-B643-75FA161952EB}"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1" name="PlaceHolder 1"/>
          <p:cNvSpPr>
            <a:spLocks noGrp="1"/>
          </p:cNvSpPr>
          <p:nvPr>
            <p:ph type="sldImg"/>
          </p:nvPr>
        </p:nvSpPr>
        <p:spPr>
          <a:xfrm>
            <a:off x="1143000" y="685800"/>
            <a:ext cx="4571640" cy="3428640"/>
          </a:xfrm>
          <a:prstGeom prst="rect">
            <a:avLst/>
          </a:prstGeom>
          <a:ln w="0">
            <a:noFill/>
          </a:ln>
        </p:spPr>
      </p:sp>
      <p:sp>
        <p:nvSpPr>
          <p:cNvPr id="84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43" name="PlaceHolder 3"/>
          <p:cNvSpPr>
            <a:spLocks noGrp="1"/>
          </p:cNvSpPr>
          <p:nvPr>
            <p:ph type="sldNum" idx="1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F8FFE75-9928-477A-8F2D-DD601AD1A3B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4" name="PlaceHolder 1"/>
          <p:cNvSpPr>
            <a:spLocks noGrp="1"/>
          </p:cNvSpPr>
          <p:nvPr>
            <p:ph type="sldImg"/>
          </p:nvPr>
        </p:nvSpPr>
        <p:spPr>
          <a:xfrm>
            <a:off x="1143000" y="685800"/>
            <a:ext cx="4571640" cy="3428640"/>
          </a:xfrm>
          <a:prstGeom prst="rect">
            <a:avLst/>
          </a:prstGeom>
          <a:ln w="0">
            <a:noFill/>
          </a:ln>
        </p:spPr>
      </p:sp>
      <p:sp>
        <p:nvSpPr>
          <p:cNvPr id="84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46" name="PlaceHolder 3"/>
          <p:cNvSpPr>
            <a:spLocks noGrp="1"/>
          </p:cNvSpPr>
          <p:nvPr>
            <p:ph type="sldNum" idx="2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DDCE7F6-FF2A-498A-99A8-E52C49C7ABD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7" name="PlaceHolder 1"/>
          <p:cNvSpPr>
            <a:spLocks noGrp="1"/>
          </p:cNvSpPr>
          <p:nvPr>
            <p:ph type="sldImg"/>
          </p:nvPr>
        </p:nvSpPr>
        <p:spPr>
          <a:xfrm>
            <a:off x="1143000" y="685800"/>
            <a:ext cx="4571640" cy="3428640"/>
          </a:xfrm>
          <a:prstGeom prst="rect">
            <a:avLst/>
          </a:prstGeom>
          <a:ln w="0">
            <a:noFill/>
          </a:ln>
        </p:spPr>
      </p:sp>
      <p:sp>
        <p:nvSpPr>
          <p:cNvPr id="84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49" name="PlaceHolder 3"/>
          <p:cNvSpPr>
            <a:spLocks noGrp="1"/>
          </p:cNvSpPr>
          <p:nvPr>
            <p:ph type="sldNum" idx="2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9578568-573F-47F4-8FF1-52BD8C784FA1}"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0" name="PlaceHolder 1"/>
          <p:cNvSpPr>
            <a:spLocks noGrp="1"/>
          </p:cNvSpPr>
          <p:nvPr>
            <p:ph type="sldImg"/>
          </p:nvPr>
        </p:nvSpPr>
        <p:spPr>
          <a:xfrm>
            <a:off x="1143000" y="685800"/>
            <a:ext cx="4571640" cy="3428640"/>
          </a:xfrm>
          <a:prstGeom prst="rect">
            <a:avLst/>
          </a:prstGeom>
          <a:ln w="0">
            <a:noFill/>
          </a:ln>
        </p:spPr>
      </p:sp>
      <p:sp>
        <p:nvSpPr>
          <p:cNvPr id="85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52" name="PlaceHolder 3"/>
          <p:cNvSpPr>
            <a:spLocks noGrp="1"/>
          </p:cNvSpPr>
          <p:nvPr>
            <p:ph type="sldNum" idx="2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588C091-259C-47D0-A997-FA2FBD7240C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3" name="PlaceHolder 1"/>
          <p:cNvSpPr>
            <a:spLocks noGrp="1"/>
          </p:cNvSpPr>
          <p:nvPr>
            <p:ph type="sldImg"/>
          </p:nvPr>
        </p:nvSpPr>
        <p:spPr>
          <a:xfrm>
            <a:off x="1143000" y="685800"/>
            <a:ext cx="4571640" cy="3428640"/>
          </a:xfrm>
          <a:prstGeom prst="rect">
            <a:avLst/>
          </a:prstGeom>
          <a:ln w="0">
            <a:noFill/>
          </a:ln>
        </p:spPr>
      </p:sp>
      <p:sp>
        <p:nvSpPr>
          <p:cNvPr id="85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55" name="PlaceHolder 3"/>
          <p:cNvSpPr>
            <a:spLocks noGrp="1"/>
          </p:cNvSpPr>
          <p:nvPr>
            <p:ph type="sldNum" idx="2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6873786-8EA9-41ED-BD27-DDDAB9C779B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6" name="PlaceHolder 1"/>
          <p:cNvSpPr>
            <a:spLocks noGrp="1"/>
          </p:cNvSpPr>
          <p:nvPr>
            <p:ph type="sldImg"/>
          </p:nvPr>
        </p:nvSpPr>
        <p:spPr>
          <a:xfrm>
            <a:off x="1143000" y="685800"/>
            <a:ext cx="4571640" cy="3428640"/>
          </a:xfrm>
          <a:prstGeom prst="rect">
            <a:avLst/>
          </a:prstGeom>
          <a:ln w="0">
            <a:noFill/>
          </a:ln>
        </p:spPr>
      </p:sp>
      <p:sp>
        <p:nvSpPr>
          <p:cNvPr id="85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58" name="PlaceHolder 3"/>
          <p:cNvSpPr>
            <a:spLocks noGrp="1"/>
          </p:cNvSpPr>
          <p:nvPr>
            <p:ph type="sldNum" idx="2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DCE3ABE-B841-4C02-B8AF-ECB7B343E0D1}"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9" name="PlaceHolder 1"/>
          <p:cNvSpPr>
            <a:spLocks noGrp="1"/>
          </p:cNvSpPr>
          <p:nvPr>
            <p:ph type="sldImg"/>
          </p:nvPr>
        </p:nvSpPr>
        <p:spPr>
          <a:xfrm>
            <a:off x="1143000" y="685800"/>
            <a:ext cx="4571640" cy="3428640"/>
          </a:xfrm>
          <a:prstGeom prst="rect">
            <a:avLst/>
          </a:prstGeom>
          <a:ln w="0">
            <a:noFill/>
          </a:ln>
        </p:spPr>
      </p:sp>
      <p:sp>
        <p:nvSpPr>
          <p:cNvPr id="86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61" name="PlaceHolder 3"/>
          <p:cNvSpPr>
            <a:spLocks noGrp="1"/>
          </p:cNvSpPr>
          <p:nvPr>
            <p:ph type="sldNum" idx="2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3600466-83E3-4C52-95DF-964F1B9C5D4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2" name="PlaceHolder 1"/>
          <p:cNvSpPr>
            <a:spLocks noGrp="1"/>
          </p:cNvSpPr>
          <p:nvPr>
            <p:ph type="sldImg"/>
          </p:nvPr>
        </p:nvSpPr>
        <p:spPr>
          <a:xfrm>
            <a:off x="1143000" y="685800"/>
            <a:ext cx="4571640" cy="3428640"/>
          </a:xfrm>
          <a:prstGeom prst="rect">
            <a:avLst/>
          </a:prstGeom>
          <a:ln w="0">
            <a:noFill/>
          </a:ln>
        </p:spPr>
      </p:sp>
      <p:sp>
        <p:nvSpPr>
          <p:cNvPr id="86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64" name="PlaceHolder 3"/>
          <p:cNvSpPr>
            <a:spLocks noGrp="1"/>
          </p:cNvSpPr>
          <p:nvPr>
            <p:ph type="sldNum" idx="2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8B460B2-2955-43A9-BF0C-7B43FF6F8F63}"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5" name="PlaceHolder 1"/>
          <p:cNvSpPr>
            <a:spLocks noGrp="1"/>
          </p:cNvSpPr>
          <p:nvPr>
            <p:ph type="sldImg"/>
          </p:nvPr>
        </p:nvSpPr>
        <p:spPr>
          <a:xfrm>
            <a:off x="1143000" y="685800"/>
            <a:ext cx="4571640" cy="3428640"/>
          </a:xfrm>
          <a:prstGeom prst="rect">
            <a:avLst/>
          </a:prstGeom>
          <a:ln w="0">
            <a:noFill/>
          </a:ln>
        </p:spPr>
      </p:sp>
      <p:sp>
        <p:nvSpPr>
          <p:cNvPr id="86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、为了能设计出有效的测试方案，软件工程师必须深入理解并正确运用指导软件测试的基本准则。</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2</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Pareto</a:t>
            </a:r>
            <a:r>
              <a:rPr lang="zh-CN" sz="2000" b="0" u="none" strike="noStrike">
                <a:solidFill>
                  <a:srgbClr val="000000"/>
                </a:solidFill>
                <a:effectLst/>
                <a:uFillTx/>
                <a:latin typeface="Arial"/>
              </a:rPr>
              <a:t>原理说明，测试发现的错误中的</a:t>
            </a:r>
            <a:r>
              <a:rPr lang="en-US" sz="2000" b="0" u="none" strike="noStrike">
                <a:solidFill>
                  <a:srgbClr val="000000"/>
                </a:solidFill>
                <a:effectLst/>
                <a:uFillTx/>
                <a:latin typeface="Arial"/>
              </a:rPr>
              <a:t>80%</a:t>
            </a:r>
            <a:r>
              <a:rPr lang="zh-CN" sz="2000" b="0" u="none" strike="noStrike">
                <a:solidFill>
                  <a:srgbClr val="000000"/>
                </a:solidFill>
                <a:effectLst/>
                <a:uFillTx/>
                <a:latin typeface="Arial"/>
              </a:rPr>
              <a:t>很可能是由程序中</a:t>
            </a:r>
            <a:r>
              <a:rPr lang="en-US" sz="2000" b="0" u="none" strike="noStrike">
                <a:solidFill>
                  <a:srgbClr val="000000"/>
                </a:solidFill>
                <a:effectLst/>
                <a:uFillTx/>
                <a:latin typeface="Arial"/>
              </a:rPr>
              <a:t>20%</a:t>
            </a:r>
            <a:r>
              <a:rPr lang="zh-CN" sz="2000" b="0" u="none" strike="noStrike">
                <a:solidFill>
                  <a:srgbClr val="000000"/>
                </a:solidFill>
                <a:effectLst/>
                <a:uFillTx/>
                <a:latin typeface="Arial"/>
              </a:rPr>
              <a:t>的模块造成的。</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3</a:t>
            </a:r>
            <a:r>
              <a:rPr lang="zh-CN" sz="2000" b="0" u="none" strike="noStrike">
                <a:solidFill>
                  <a:srgbClr val="000000"/>
                </a:solidFill>
                <a:effectLst/>
                <a:uFillTx/>
                <a:latin typeface="Arial"/>
              </a:rPr>
              <a:t>、所谓穷举测试就是把程序所有可能的执行路径都检查一遍的测试。</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4</a:t>
            </a:r>
            <a:r>
              <a:rPr lang="zh-CN" sz="2000" b="0" u="none" strike="noStrike">
                <a:solidFill>
                  <a:srgbClr val="000000"/>
                </a:solidFill>
                <a:effectLst/>
                <a:uFillTx/>
                <a:latin typeface="Arial"/>
              </a:rPr>
              <a:t>、所谓“最佳效果”是指有最大可能性发现错误的测试。</a:t>
            </a:r>
            <a:endParaRPr lang="en-US" sz="2000" b="0" u="none" strike="noStrike">
              <a:solidFill>
                <a:srgbClr val="000000"/>
              </a:solidFill>
              <a:effectLst/>
              <a:uFillTx/>
              <a:latin typeface="Arial"/>
            </a:endParaRPr>
          </a:p>
        </p:txBody>
      </p:sp>
      <p:sp>
        <p:nvSpPr>
          <p:cNvPr id="867" name="PlaceHolder 3"/>
          <p:cNvSpPr>
            <a:spLocks noGrp="1"/>
          </p:cNvSpPr>
          <p:nvPr>
            <p:ph type="sldNum" idx="2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33736C2-E9C7-485E-904B-9C62D89E62AB}"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8" name="PlaceHolder 1"/>
          <p:cNvSpPr>
            <a:spLocks noGrp="1"/>
          </p:cNvSpPr>
          <p:nvPr>
            <p:ph type="sldImg"/>
          </p:nvPr>
        </p:nvSpPr>
        <p:spPr>
          <a:xfrm>
            <a:off x="1143000" y="685800"/>
            <a:ext cx="4571640" cy="3428640"/>
          </a:xfrm>
          <a:prstGeom prst="rect">
            <a:avLst/>
          </a:prstGeom>
          <a:ln w="0">
            <a:noFill/>
          </a:ln>
        </p:spPr>
      </p:sp>
      <p:sp>
        <p:nvSpPr>
          <p:cNvPr id="86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测试任何产品都有两种方法：</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、如果已经知道了产品应该具有的功能，可以通过测试来检验是否每个功能都能正常使用；</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2</a:t>
            </a:r>
            <a:r>
              <a:rPr lang="zh-CN" sz="2000" b="0" u="none" strike="noStrike">
                <a:solidFill>
                  <a:srgbClr val="000000"/>
                </a:solidFill>
                <a:effectLst/>
                <a:uFillTx/>
                <a:latin typeface="Arial"/>
              </a:rPr>
              <a:t>、如果知道产品的内部工作过程，可以通过测试来检验产品内部动作是否按照规格说明书的规定正常进行。</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前一种方法称为黑盒测试，后一种方法称为白盒测试。</a:t>
            </a:r>
            <a:endParaRPr lang="en-US" sz="2000" b="0" u="none" strike="noStrike">
              <a:solidFill>
                <a:srgbClr val="000000"/>
              </a:solidFill>
              <a:effectLst/>
              <a:uFillTx/>
              <a:latin typeface="Arial"/>
            </a:endParaRPr>
          </a:p>
        </p:txBody>
      </p:sp>
      <p:sp>
        <p:nvSpPr>
          <p:cNvPr id="870" name="PlaceHolder 3"/>
          <p:cNvSpPr>
            <a:spLocks noGrp="1"/>
          </p:cNvSpPr>
          <p:nvPr>
            <p:ph type="sldNum" idx="2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B0549B5-F45B-4D6D-A0AC-F5CF12E8D407}"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1" name="PlaceHolder 1"/>
          <p:cNvSpPr>
            <a:spLocks noGrp="1"/>
          </p:cNvSpPr>
          <p:nvPr>
            <p:ph type="sldImg"/>
          </p:nvPr>
        </p:nvSpPr>
        <p:spPr>
          <a:xfrm>
            <a:off x="1143000" y="685800"/>
            <a:ext cx="4571640" cy="3428640"/>
          </a:xfrm>
          <a:prstGeom prst="rect">
            <a:avLst/>
          </a:prstGeom>
          <a:ln w="0">
            <a:noFill/>
          </a:ln>
        </p:spPr>
      </p:sp>
      <p:sp>
        <p:nvSpPr>
          <p:cNvPr id="87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73" name="PlaceHolder 3"/>
          <p:cNvSpPr>
            <a:spLocks noGrp="1"/>
          </p:cNvSpPr>
          <p:nvPr>
            <p:ph type="sldNum" idx="2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088C0A8-A644-427E-A1F4-47EC240735EB}"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4" name="PlaceHolder 1"/>
          <p:cNvSpPr>
            <a:spLocks noGrp="1"/>
          </p:cNvSpPr>
          <p:nvPr>
            <p:ph type="sldImg"/>
          </p:nvPr>
        </p:nvSpPr>
        <p:spPr>
          <a:xfrm>
            <a:off x="1143000" y="685800"/>
            <a:ext cx="4571640" cy="3428640"/>
          </a:xfrm>
          <a:prstGeom prst="rect">
            <a:avLst/>
          </a:prstGeom>
          <a:ln w="0">
            <a:noFill/>
          </a:ln>
        </p:spPr>
      </p:sp>
      <p:sp>
        <p:nvSpPr>
          <p:cNvPr id="87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、第</a:t>
            </a:r>
            <a:r>
              <a:rPr lang="en-US" sz="2000" b="0" u="none" strike="noStrike">
                <a:solidFill>
                  <a:srgbClr val="000000"/>
                </a:solidFill>
                <a:effectLst/>
                <a:uFillTx/>
                <a:latin typeface="Arial"/>
              </a:rPr>
              <a:t>4</a:t>
            </a:r>
            <a:r>
              <a:rPr lang="zh-CN" sz="2000" b="0" u="none" strike="noStrike">
                <a:solidFill>
                  <a:srgbClr val="000000"/>
                </a:solidFill>
                <a:effectLst/>
                <a:uFillTx/>
                <a:latin typeface="Arial"/>
              </a:rPr>
              <a:t>条测试准则是：应该从“小规模”测试开始，并逐步进行“大规模”测试。</a:t>
            </a:r>
            <a:endParaRPr lang="en-US" sz="2000" b="0" u="none" strike="noStrike">
              <a:solidFill>
                <a:srgbClr val="000000"/>
              </a:solidFill>
              <a:effectLst/>
              <a:uFillTx/>
              <a:latin typeface="Arial"/>
            </a:endParaRPr>
          </a:p>
        </p:txBody>
      </p:sp>
      <p:sp>
        <p:nvSpPr>
          <p:cNvPr id="876" name="PlaceHolder 3"/>
          <p:cNvSpPr>
            <a:spLocks noGrp="1"/>
          </p:cNvSpPr>
          <p:nvPr>
            <p:ph type="sldNum" idx="3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3D86710-C7C3-4977-831C-CD0D9718D18E}"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7" name="PlaceHolder 1"/>
          <p:cNvSpPr>
            <a:spLocks noGrp="1"/>
          </p:cNvSpPr>
          <p:nvPr>
            <p:ph type="sldImg"/>
          </p:nvPr>
        </p:nvSpPr>
        <p:spPr>
          <a:xfrm>
            <a:off x="1143000" y="685800"/>
            <a:ext cx="4571640" cy="3428640"/>
          </a:xfrm>
          <a:prstGeom prst="rect">
            <a:avLst/>
          </a:prstGeom>
          <a:ln w="0">
            <a:noFill/>
          </a:ln>
        </p:spPr>
      </p:sp>
      <p:sp>
        <p:nvSpPr>
          <p:cNvPr id="87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79" name="PlaceHolder 3"/>
          <p:cNvSpPr>
            <a:spLocks noGrp="1"/>
          </p:cNvSpPr>
          <p:nvPr>
            <p:ph type="sldNum" idx="3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10B17F9-80DC-4492-A325-9B507D1BB8D0}"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0" name="PlaceHolder 1"/>
          <p:cNvSpPr>
            <a:spLocks noGrp="1"/>
          </p:cNvSpPr>
          <p:nvPr>
            <p:ph type="sldImg"/>
          </p:nvPr>
        </p:nvSpPr>
        <p:spPr>
          <a:xfrm>
            <a:off x="1143000" y="685800"/>
            <a:ext cx="4571640" cy="3428640"/>
          </a:xfrm>
          <a:prstGeom prst="rect">
            <a:avLst/>
          </a:prstGeom>
          <a:ln w="0">
            <a:noFill/>
          </a:ln>
        </p:spPr>
      </p:sp>
      <p:sp>
        <p:nvSpPr>
          <p:cNvPr id="88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82" name="PlaceHolder 3"/>
          <p:cNvSpPr>
            <a:spLocks noGrp="1"/>
          </p:cNvSpPr>
          <p:nvPr>
            <p:ph type="sldNum" idx="3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45FDEAB-9534-4FA1-864E-C566688EE6A6}"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3" name="PlaceHolder 1"/>
          <p:cNvSpPr>
            <a:spLocks noGrp="1"/>
          </p:cNvSpPr>
          <p:nvPr>
            <p:ph type="sldImg"/>
          </p:nvPr>
        </p:nvSpPr>
        <p:spPr>
          <a:xfrm>
            <a:off x="1143000" y="685800"/>
            <a:ext cx="4571640" cy="3428640"/>
          </a:xfrm>
          <a:prstGeom prst="rect">
            <a:avLst/>
          </a:prstGeom>
          <a:ln w="0">
            <a:noFill/>
          </a:ln>
        </p:spPr>
      </p:sp>
      <p:sp>
        <p:nvSpPr>
          <p:cNvPr id="88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85" name="PlaceHolder 3"/>
          <p:cNvSpPr>
            <a:spLocks noGrp="1"/>
          </p:cNvSpPr>
          <p:nvPr>
            <p:ph type="sldNum" idx="3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B2964C2-6D11-47B0-A13C-6CDCBAAC1ADE}"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6" name="PlaceHolder 1"/>
          <p:cNvSpPr>
            <a:spLocks noGrp="1"/>
          </p:cNvSpPr>
          <p:nvPr>
            <p:ph type="sldImg"/>
          </p:nvPr>
        </p:nvSpPr>
        <p:spPr>
          <a:xfrm>
            <a:off x="1143000" y="685800"/>
            <a:ext cx="4571640" cy="3428640"/>
          </a:xfrm>
          <a:prstGeom prst="rect">
            <a:avLst/>
          </a:prstGeom>
          <a:ln w="0">
            <a:noFill/>
          </a:ln>
        </p:spPr>
      </p:sp>
      <p:sp>
        <p:nvSpPr>
          <p:cNvPr id="88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88" name="PlaceHolder 3"/>
          <p:cNvSpPr>
            <a:spLocks noGrp="1"/>
          </p:cNvSpPr>
          <p:nvPr>
            <p:ph type="sldNum" idx="3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CEBF1A7-D5B9-4550-8CB2-945D211F4EB1}"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9" name="PlaceHolder 1"/>
          <p:cNvSpPr>
            <a:spLocks noGrp="1"/>
          </p:cNvSpPr>
          <p:nvPr>
            <p:ph type="sldImg"/>
          </p:nvPr>
        </p:nvSpPr>
        <p:spPr>
          <a:xfrm>
            <a:off x="1143000" y="685800"/>
            <a:ext cx="4571640" cy="3428640"/>
          </a:xfrm>
          <a:prstGeom prst="rect">
            <a:avLst/>
          </a:prstGeom>
          <a:ln w="0">
            <a:noFill/>
          </a:ln>
        </p:spPr>
      </p:sp>
      <p:sp>
        <p:nvSpPr>
          <p:cNvPr id="89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、关系重大的软件产品在验收之后往往并不立即投入生产性运行，而是要再经过一段平行运行时间的考验。</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
        <p:nvSpPr>
          <p:cNvPr id="891" name="PlaceHolder 3"/>
          <p:cNvSpPr>
            <a:spLocks noGrp="1"/>
          </p:cNvSpPr>
          <p:nvPr>
            <p:ph type="sldNum" idx="3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25883B3-364A-4D06-876C-CD59263697D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2" name="PlaceHolder 1"/>
          <p:cNvSpPr>
            <a:spLocks noGrp="1"/>
          </p:cNvSpPr>
          <p:nvPr>
            <p:ph type="sldImg"/>
          </p:nvPr>
        </p:nvSpPr>
        <p:spPr>
          <a:xfrm>
            <a:off x="1143000" y="685800"/>
            <a:ext cx="4571640" cy="3428640"/>
          </a:xfrm>
          <a:prstGeom prst="rect">
            <a:avLst/>
          </a:prstGeom>
          <a:ln w="0">
            <a:noFill/>
          </a:ln>
        </p:spPr>
      </p:sp>
      <p:sp>
        <p:nvSpPr>
          <p:cNvPr id="89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94" name="PlaceHolder 3"/>
          <p:cNvSpPr>
            <a:spLocks noGrp="1"/>
          </p:cNvSpPr>
          <p:nvPr>
            <p:ph type="sldNum" idx="3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86A77F9-F4DA-49EF-A66C-043F88AC6F5F}"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5" name="PlaceHolder 1"/>
          <p:cNvSpPr>
            <a:spLocks noGrp="1"/>
          </p:cNvSpPr>
          <p:nvPr>
            <p:ph type="sldImg"/>
          </p:nvPr>
        </p:nvSpPr>
        <p:spPr>
          <a:xfrm>
            <a:off x="1143000" y="685800"/>
            <a:ext cx="4571640" cy="3428640"/>
          </a:xfrm>
          <a:prstGeom prst="rect">
            <a:avLst/>
          </a:prstGeom>
          <a:ln w="0">
            <a:noFill/>
          </a:ln>
        </p:spPr>
      </p:sp>
      <p:sp>
        <p:nvSpPr>
          <p:cNvPr id="89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97" name="PlaceHolder 3"/>
          <p:cNvSpPr>
            <a:spLocks noGrp="1"/>
          </p:cNvSpPr>
          <p:nvPr>
            <p:ph type="sldNum" idx="3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52263E1-39AD-4960-B2B5-10B54D588F2B}"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8" name="PlaceHolder 1"/>
          <p:cNvSpPr>
            <a:spLocks noGrp="1"/>
          </p:cNvSpPr>
          <p:nvPr>
            <p:ph type="sldImg"/>
          </p:nvPr>
        </p:nvSpPr>
        <p:spPr>
          <a:xfrm>
            <a:off x="1143000" y="685800"/>
            <a:ext cx="4571640" cy="3428640"/>
          </a:xfrm>
          <a:prstGeom prst="rect">
            <a:avLst/>
          </a:prstGeom>
          <a:ln w="0">
            <a:noFill/>
          </a:ln>
        </p:spPr>
      </p:sp>
      <p:sp>
        <p:nvSpPr>
          <p:cNvPr id="89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00" name="PlaceHolder 3"/>
          <p:cNvSpPr>
            <a:spLocks noGrp="1"/>
          </p:cNvSpPr>
          <p:nvPr>
            <p:ph type="sldNum" idx="3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EB961EF-425E-4B05-85A7-F98FA83BDA0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1" name="PlaceHolder 1"/>
          <p:cNvSpPr>
            <a:spLocks noGrp="1"/>
          </p:cNvSpPr>
          <p:nvPr>
            <p:ph type="sldImg"/>
          </p:nvPr>
        </p:nvSpPr>
        <p:spPr>
          <a:xfrm>
            <a:off x="1143000" y="685800"/>
            <a:ext cx="4571640" cy="3428640"/>
          </a:xfrm>
          <a:prstGeom prst="rect">
            <a:avLst/>
          </a:prstGeom>
          <a:ln w="0">
            <a:noFill/>
          </a:ln>
        </p:spPr>
      </p:sp>
      <p:sp>
        <p:nvSpPr>
          <p:cNvPr id="90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03" name="PlaceHolder 3"/>
          <p:cNvSpPr>
            <a:spLocks noGrp="1"/>
          </p:cNvSpPr>
          <p:nvPr>
            <p:ph type="sldNum" idx="3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26975C2-471D-42F8-AC52-9BD4A6A7B6A3}"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4" name="PlaceHolder 1"/>
          <p:cNvSpPr>
            <a:spLocks noGrp="1"/>
          </p:cNvSpPr>
          <p:nvPr>
            <p:ph type="sldImg"/>
          </p:nvPr>
        </p:nvSpPr>
        <p:spPr>
          <a:xfrm>
            <a:off x="1143000" y="685800"/>
            <a:ext cx="4571640" cy="3428640"/>
          </a:xfrm>
          <a:prstGeom prst="rect">
            <a:avLst/>
          </a:prstGeom>
          <a:ln w="0">
            <a:noFill/>
          </a:ln>
        </p:spPr>
      </p:sp>
      <p:sp>
        <p:nvSpPr>
          <p:cNvPr id="90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06" name="PlaceHolder 3"/>
          <p:cNvSpPr>
            <a:spLocks noGrp="1"/>
          </p:cNvSpPr>
          <p:nvPr>
            <p:ph type="sldNum" idx="4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38A3AF3-A30F-437D-8FE6-7C4BC4690560}"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7" name="PlaceHolder 1"/>
          <p:cNvSpPr>
            <a:spLocks noGrp="1"/>
          </p:cNvSpPr>
          <p:nvPr>
            <p:ph type="sldImg"/>
          </p:nvPr>
        </p:nvSpPr>
        <p:spPr>
          <a:xfrm>
            <a:off x="1143000" y="685800"/>
            <a:ext cx="4571640" cy="3428640"/>
          </a:xfrm>
          <a:prstGeom prst="rect">
            <a:avLst/>
          </a:prstGeom>
          <a:ln w="0">
            <a:noFill/>
          </a:ln>
        </p:spPr>
      </p:sp>
      <p:sp>
        <p:nvSpPr>
          <p:cNvPr id="90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09" name="PlaceHolder 3"/>
          <p:cNvSpPr>
            <a:spLocks noGrp="1"/>
          </p:cNvSpPr>
          <p:nvPr>
            <p:ph type="sldNum" idx="4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20EC843-A51A-4B1B-81F5-F1A91BAB71A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0" name="PlaceHolder 1"/>
          <p:cNvSpPr>
            <a:spLocks noGrp="1"/>
          </p:cNvSpPr>
          <p:nvPr>
            <p:ph type="sldImg"/>
          </p:nvPr>
        </p:nvSpPr>
        <p:spPr>
          <a:xfrm>
            <a:off x="1143000" y="685800"/>
            <a:ext cx="4571640" cy="3428640"/>
          </a:xfrm>
          <a:prstGeom prst="rect">
            <a:avLst/>
          </a:prstGeom>
          <a:ln w="0">
            <a:noFill/>
          </a:ln>
        </p:spPr>
      </p:sp>
      <p:sp>
        <p:nvSpPr>
          <p:cNvPr id="91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、首先应该对通过模块接口的数据流进行测试，如果数据不能正确地进出，所有其他测试都是不切实际的。</a:t>
            </a:r>
            <a:endParaRPr lang="en-US" sz="2000" b="0" u="none" strike="noStrike">
              <a:solidFill>
                <a:srgbClr val="000000"/>
              </a:solidFill>
              <a:effectLst/>
              <a:uFillTx/>
              <a:latin typeface="Arial"/>
            </a:endParaRPr>
          </a:p>
        </p:txBody>
      </p:sp>
      <p:sp>
        <p:nvSpPr>
          <p:cNvPr id="912" name="PlaceHolder 3"/>
          <p:cNvSpPr>
            <a:spLocks noGrp="1"/>
          </p:cNvSpPr>
          <p:nvPr>
            <p:ph type="sldNum" idx="4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828549E-7F65-4F86-9744-ADCBFE5254B0}"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3" name="PlaceHolder 1"/>
          <p:cNvSpPr>
            <a:spLocks noGrp="1"/>
          </p:cNvSpPr>
          <p:nvPr>
            <p:ph type="sldImg"/>
          </p:nvPr>
        </p:nvSpPr>
        <p:spPr>
          <a:xfrm>
            <a:off x="1143000" y="685800"/>
            <a:ext cx="4571640" cy="3428640"/>
          </a:xfrm>
          <a:prstGeom prst="rect">
            <a:avLst/>
          </a:prstGeom>
          <a:ln w="0">
            <a:noFill/>
          </a:ln>
        </p:spPr>
      </p:sp>
      <p:sp>
        <p:nvSpPr>
          <p:cNvPr id="91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15" name="PlaceHolder 3"/>
          <p:cNvSpPr>
            <a:spLocks noGrp="1"/>
          </p:cNvSpPr>
          <p:nvPr>
            <p:ph type="sldNum" idx="4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EF030B4-E8DB-4426-8DBE-ED162FB98D0B}"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6" name="PlaceHolder 1"/>
          <p:cNvSpPr>
            <a:spLocks noGrp="1"/>
          </p:cNvSpPr>
          <p:nvPr>
            <p:ph type="sldImg"/>
          </p:nvPr>
        </p:nvSpPr>
        <p:spPr>
          <a:xfrm>
            <a:off x="1143000" y="685800"/>
            <a:ext cx="4571640" cy="3428640"/>
          </a:xfrm>
          <a:prstGeom prst="rect">
            <a:avLst/>
          </a:prstGeom>
          <a:ln w="0">
            <a:noFill/>
          </a:ln>
        </p:spPr>
      </p:sp>
      <p:sp>
        <p:nvSpPr>
          <p:cNvPr id="91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18" name="PlaceHolder 3"/>
          <p:cNvSpPr>
            <a:spLocks noGrp="1"/>
          </p:cNvSpPr>
          <p:nvPr>
            <p:ph type="sldNum" idx="4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17D4B15-8FA8-409E-9FA8-E254CE59825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9" name="PlaceHolder 1"/>
          <p:cNvSpPr>
            <a:spLocks noGrp="1"/>
          </p:cNvSpPr>
          <p:nvPr>
            <p:ph type="sldImg"/>
          </p:nvPr>
        </p:nvSpPr>
        <p:spPr>
          <a:xfrm>
            <a:off x="1143000" y="685800"/>
            <a:ext cx="4571640" cy="3428640"/>
          </a:xfrm>
          <a:prstGeom prst="rect">
            <a:avLst/>
          </a:prstGeom>
          <a:ln w="0">
            <a:noFill/>
          </a:ln>
        </p:spPr>
      </p:sp>
      <p:sp>
        <p:nvSpPr>
          <p:cNvPr id="92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21" name="PlaceHolder 3"/>
          <p:cNvSpPr>
            <a:spLocks noGrp="1"/>
          </p:cNvSpPr>
          <p:nvPr>
            <p:ph type="sldNum" idx="4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E0B3FDD-8594-46CB-9C75-A641CDC30D5B}"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2" name="PlaceHolder 1"/>
          <p:cNvSpPr>
            <a:spLocks noGrp="1"/>
          </p:cNvSpPr>
          <p:nvPr>
            <p:ph type="sldImg"/>
          </p:nvPr>
        </p:nvSpPr>
        <p:spPr>
          <a:xfrm>
            <a:off x="1143000" y="685800"/>
            <a:ext cx="4571640" cy="3428640"/>
          </a:xfrm>
          <a:prstGeom prst="rect">
            <a:avLst/>
          </a:prstGeom>
          <a:ln w="0">
            <a:noFill/>
          </a:ln>
        </p:spPr>
      </p:sp>
      <p:sp>
        <p:nvSpPr>
          <p:cNvPr id="92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、如果一个人既是程序的设计者又是编写者，或既是编写者又是测试者，则审查小组中应该再增加一个程序员。</a:t>
            </a:r>
            <a:endParaRPr lang="en-US" sz="2000" b="0" u="none" strike="noStrike">
              <a:solidFill>
                <a:srgbClr val="000000"/>
              </a:solidFill>
              <a:effectLst/>
              <a:uFillTx/>
              <a:latin typeface="Arial"/>
            </a:endParaRPr>
          </a:p>
        </p:txBody>
      </p:sp>
      <p:sp>
        <p:nvSpPr>
          <p:cNvPr id="924" name="PlaceHolder 3"/>
          <p:cNvSpPr>
            <a:spLocks noGrp="1"/>
          </p:cNvSpPr>
          <p:nvPr>
            <p:ph type="sldNum" idx="4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B47617C-1CBF-43F3-A4A5-597A059F92F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5" name="PlaceHolder 1"/>
          <p:cNvSpPr>
            <a:spLocks noGrp="1"/>
          </p:cNvSpPr>
          <p:nvPr>
            <p:ph type="sldImg"/>
          </p:nvPr>
        </p:nvSpPr>
        <p:spPr>
          <a:xfrm>
            <a:off x="1143000" y="685800"/>
            <a:ext cx="4571640" cy="3428640"/>
          </a:xfrm>
          <a:prstGeom prst="rect">
            <a:avLst/>
          </a:prstGeom>
          <a:ln w="0">
            <a:noFill/>
          </a:ln>
        </p:spPr>
      </p:sp>
      <p:sp>
        <p:nvSpPr>
          <p:cNvPr id="92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27" name="PlaceHolder 3"/>
          <p:cNvSpPr>
            <a:spLocks noGrp="1"/>
          </p:cNvSpPr>
          <p:nvPr>
            <p:ph type="sldNum" idx="4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245DC43-F72C-4AE6-BC22-C205FB30EAF6}"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8" name="PlaceHolder 1"/>
          <p:cNvSpPr>
            <a:spLocks noGrp="1"/>
          </p:cNvSpPr>
          <p:nvPr>
            <p:ph type="sldImg"/>
          </p:nvPr>
        </p:nvSpPr>
        <p:spPr>
          <a:xfrm>
            <a:off x="1143000" y="685800"/>
            <a:ext cx="4571640" cy="3428640"/>
          </a:xfrm>
          <a:prstGeom prst="rect">
            <a:avLst/>
          </a:prstGeom>
          <a:ln w="0">
            <a:noFill/>
          </a:ln>
        </p:spPr>
      </p:sp>
      <p:sp>
        <p:nvSpPr>
          <p:cNvPr id="92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30" name="PlaceHolder 3"/>
          <p:cNvSpPr>
            <a:spLocks noGrp="1"/>
          </p:cNvSpPr>
          <p:nvPr>
            <p:ph type="sldNum" idx="4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8CAE1AD-8CD0-4181-860B-9C7F40CD840B}"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1" name="PlaceHolder 1"/>
          <p:cNvSpPr>
            <a:spLocks noGrp="1"/>
          </p:cNvSpPr>
          <p:nvPr>
            <p:ph type="sldImg"/>
          </p:nvPr>
        </p:nvSpPr>
        <p:spPr>
          <a:xfrm>
            <a:off x="1143000" y="685800"/>
            <a:ext cx="4571640" cy="3428640"/>
          </a:xfrm>
          <a:prstGeom prst="rect">
            <a:avLst/>
          </a:prstGeom>
          <a:ln w="0">
            <a:noFill/>
          </a:ln>
        </p:spPr>
      </p:sp>
      <p:sp>
        <p:nvSpPr>
          <p:cNvPr id="93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33" name="PlaceHolder 3"/>
          <p:cNvSpPr>
            <a:spLocks noGrp="1"/>
          </p:cNvSpPr>
          <p:nvPr>
            <p:ph type="sldNum" idx="4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5419E41-43D3-44CE-A576-3389EEB74DF6}"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4" name="PlaceHolder 1"/>
          <p:cNvSpPr>
            <a:spLocks noGrp="1"/>
          </p:cNvSpPr>
          <p:nvPr>
            <p:ph type="sldImg"/>
          </p:nvPr>
        </p:nvSpPr>
        <p:spPr>
          <a:xfrm>
            <a:off x="1143000" y="685800"/>
            <a:ext cx="4571640" cy="3428640"/>
          </a:xfrm>
          <a:prstGeom prst="rect">
            <a:avLst/>
          </a:prstGeom>
          <a:ln w="0">
            <a:noFill/>
          </a:ln>
        </p:spPr>
      </p:sp>
      <p:sp>
        <p:nvSpPr>
          <p:cNvPr id="93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36" name="PlaceHolder 3"/>
          <p:cNvSpPr>
            <a:spLocks noGrp="1"/>
          </p:cNvSpPr>
          <p:nvPr>
            <p:ph type="sldNum" idx="5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6027CEB-4222-47B7-AFEE-0B0C89E4267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7" name="PlaceHolder 1"/>
          <p:cNvSpPr>
            <a:spLocks noGrp="1"/>
          </p:cNvSpPr>
          <p:nvPr>
            <p:ph type="sldImg"/>
          </p:nvPr>
        </p:nvSpPr>
        <p:spPr>
          <a:xfrm>
            <a:off x="1143000" y="685800"/>
            <a:ext cx="4571640" cy="3428640"/>
          </a:xfrm>
          <a:prstGeom prst="rect">
            <a:avLst/>
          </a:prstGeom>
          <a:ln w="0">
            <a:noFill/>
          </a:ln>
        </p:spPr>
      </p:sp>
      <p:sp>
        <p:nvSpPr>
          <p:cNvPr id="93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39" name="PlaceHolder 3"/>
          <p:cNvSpPr>
            <a:spLocks noGrp="1"/>
          </p:cNvSpPr>
          <p:nvPr>
            <p:ph type="sldNum" idx="5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31B4514-4AE9-4C63-B945-6C9ACA37C0C0}"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0" name="PlaceHolder 1"/>
          <p:cNvSpPr>
            <a:spLocks noGrp="1"/>
          </p:cNvSpPr>
          <p:nvPr>
            <p:ph type="sldImg"/>
          </p:nvPr>
        </p:nvSpPr>
        <p:spPr>
          <a:xfrm>
            <a:off x="1143000" y="685800"/>
            <a:ext cx="4571640" cy="3428640"/>
          </a:xfrm>
          <a:prstGeom prst="rect">
            <a:avLst/>
          </a:prstGeom>
          <a:ln w="0">
            <a:noFill/>
          </a:ln>
        </p:spPr>
      </p:sp>
      <p:sp>
        <p:nvSpPr>
          <p:cNvPr id="94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42" name="PlaceHolder 3"/>
          <p:cNvSpPr>
            <a:spLocks noGrp="1"/>
          </p:cNvSpPr>
          <p:nvPr>
            <p:ph type="sldNum" idx="5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0E3463D-B991-4994-A574-E0F3513F5453}"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3" name="PlaceHolder 1"/>
          <p:cNvSpPr>
            <a:spLocks noGrp="1"/>
          </p:cNvSpPr>
          <p:nvPr>
            <p:ph type="sldImg"/>
          </p:nvPr>
        </p:nvSpPr>
        <p:spPr>
          <a:xfrm>
            <a:off x="1143000" y="685800"/>
            <a:ext cx="4571640" cy="3428640"/>
          </a:xfrm>
          <a:prstGeom prst="rect">
            <a:avLst/>
          </a:prstGeom>
          <a:ln w="0">
            <a:noFill/>
          </a:ln>
        </p:spPr>
      </p:sp>
      <p:sp>
        <p:nvSpPr>
          <p:cNvPr id="94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、集成测试举例：子系统测试即是在把模块按照设计要求组装起来的同时进行测试，主要目标是发现与接口有关的问题</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系统测试与此类似</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2</a:t>
            </a:r>
            <a:r>
              <a:rPr lang="zh-CN" sz="2000" b="0" u="none" strike="noStrike">
                <a:solidFill>
                  <a:srgbClr val="000000"/>
                </a:solidFill>
                <a:effectLst/>
                <a:uFillTx/>
                <a:latin typeface="Arial"/>
              </a:rPr>
              <a:t>、与接口有关的问题举例：数据穿过接口时可能丢失；一个模块对另一个模块可能由于疏忽而造成有害影响；把子功能组合起来可能不产生预期的主功能；个别看来是可以接受的误差可能积累到不能接受的程度；全程数据结构可能有问题等。</a:t>
            </a:r>
            <a:endParaRPr lang="en-US" sz="2000" b="0" u="none" strike="noStrike">
              <a:solidFill>
                <a:srgbClr val="000000"/>
              </a:solidFill>
              <a:effectLst/>
              <a:uFillTx/>
              <a:latin typeface="Arial"/>
            </a:endParaRPr>
          </a:p>
        </p:txBody>
      </p:sp>
      <p:sp>
        <p:nvSpPr>
          <p:cNvPr id="945" name="PlaceHolder 3"/>
          <p:cNvSpPr>
            <a:spLocks noGrp="1"/>
          </p:cNvSpPr>
          <p:nvPr>
            <p:ph type="sldNum" idx="5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130102B-170F-45DF-BE95-8F7A2DC18875}"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6" name="PlaceHolder 1"/>
          <p:cNvSpPr>
            <a:spLocks noGrp="1"/>
          </p:cNvSpPr>
          <p:nvPr>
            <p:ph type="sldImg"/>
          </p:nvPr>
        </p:nvSpPr>
        <p:spPr>
          <a:xfrm>
            <a:off x="1143000" y="685800"/>
            <a:ext cx="4571640" cy="3428640"/>
          </a:xfrm>
          <a:prstGeom prst="rect">
            <a:avLst/>
          </a:prstGeom>
          <a:ln w="0">
            <a:noFill/>
          </a:ln>
        </p:spPr>
      </p:sp>
      <p:sp>
        <p:nvSpPr>
          <p:cNvPr id="94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48" name="PlaceHolder 3"/>
          <p:cNvSpPr>
            <a:spLocks noGrp="1"/>
          </p:cNvSpPr>
          <p:nvPr>
            <p:ph type="sldNum" idx="5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5F16A0F-B732-4F20-929F-5B70FA805E15}"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9" name="PlaceHolder 1"/>
          <p:cNvSpPr>
            <a:spLocks noGrp="1"/>
          </p:cNvSpPr>
          <p:nvPr>
            <p:ph type="sldImg"/>
          </p:nvPr>
        </p:nvSpPr>
        <p:spPr>
          <a:xfrm>
            <a:off x="1143000" y="685800"/>
            <a:ext cx="4571640" cy="3428640"/>
          </a:xfrm>
          <a:prstGeom prst="rect">
            <a:avLst/>
          </a:prstGeom>
          <a:ln w="0">
            <a:noFill/>
          </a:ln>
        </p:spPr>
      </p:sp>
      <p:sp>
        <p:nvSpPr>
          <p:cNvPr id="95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51" name="PlaceHolder 3"/>
          <p:cNvSpPr>
            <a:spLocks noGrp="1"/>
          </p:cNvSpPr>
          <p:nvPr>
            <p:ph type="sldNum" idx="5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62BF559-4CAD-4575-A0D7-529A07ED846E}"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2" name="PlaceHolder 1"/>
          <p:cNvSpPr>
            <a:spLocks noGrp="1"/>
          </p:cNvSpPr>
          <p:nvPr>
            <p:ph type="sldImg"/>
          </p:nvPr>
        </p:nvSpPr>
        <p:spPr>
          <a:xfrm>
            <a:off x="1143000" y="685800"/>
            <a:ext cx="4571640" cy="3428640"/>
          </a:xfrm>
          <a:prstGeom prst="rect">
            <a:avLst/>
          </a:prstGeom>
          <a:ln w="0">
            <a:noFill/>
          </a:ln>
        </p:spPr>
      </p:sp>
      <p:sp>
        <p:nvSpPr>
          <p:cNvPr id="95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54" name="PlaceHolder 3"/>
          <p:cNvSpPr>
            <a:spLocks noGrp="1"/>
          </p:cNvSpPr>
          <p:nvPr>
            <p:ph type="sldNum" idx="5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CC420C8-71EE-46AF-9A9E-263072275E74}"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5" name="PlaceHolder 1"/>
          <p:cNvSpPr>
            <a:spLocks noGrp="1"/>
          </p:cNvSpPr>
          <p:nvPr>
            <p:ph type="sldImg"/>
          </p:nvPr>
        </p:nvSpPr>
        <p:spPr>
          <a:xfrm>
            <a:off x="1143000" y="685800"/>
            <a:ext cx="4571640" cy="3428640"/>
          </a:xfrm>
          <a:prstGeom prst="rect">
            <a:avLst/>
          </a:prstGeom>
          <a:ln w="0">
            <a:noFill/>
          </a:ln>
        </p:spPr>
      </p:sp>
      <p:sp>
        <p:nvSpPr>
          <p:cNvPr id="95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57" name="PlaceHolder 3"/>
          <p:cNvSpPr>
            <a:spLocks noGrp="1"/>
          </p:cNvSpPr>
          <p:nvPr>
            <p:ph type="sldNum" idx="5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58EB62A-3D62-43AB-A5CC-CC9298C4823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8" name="PlaceHolder 1"/>
          <p:cNvSpPr>
            <a:spLocks noGrp="1"/>
          </p:cNvSpPr>
          <p:nvPr>
            <p:ph type="sldImg"/>
          </p:nvPr>
        </p:nvSpPr>
        <p:spPr>
          <a:xfrm>
            <a:off x="1143000" y="685800"/>
            <a:ext cx="4571640" cy="3428640"/>
          </a:xfrm>
          <a:prstGeom prst="rect">
            <a:avLst/>
          </a:prstGeom>
          <a:ln w="0">
            <a:noFill/>
          </a:ln>
        </p:spPr>
      </p:sp>
      <p:sp>
        <p:nvSpPr>
          <p:cNvPr id="95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、方法①失去了在特定的测试和组装特定的模块之间的精确对应关系，这可能导致在确定错误的位置和原因时发生困难。方法②称为自底向上的测试，就是下面要讲的自底向上集成。</a:t>
            </a:r>
            <a:endParaRPr lang="en-US" sz="2000" b="0" u="none" strike="noStrike">
              <a:solidFill>
                <a:srgbClr val="000000"/>
              </a:solidFill>
              <a:effectLst/>
              <a:uFillTx/>
              <a:latin typeface="Arial"/>
            </a:endParaRPr>
          </a:p>
        </p:txBody>
      </p:sp>
      <p:sp>
        <p:nvSpPr>
          <p:cNvPr id="960" name="PlaceHolder 3"/>
          <p:cNvSpPr>
            <a:spLocks noGrp="1"/>
          </p:cNvSpPr>
          <p:nvPr>
            <p:ph type="sldNum" idx="5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374E985-F058-4A03-A4DA-076FBF1589FF}"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1" name="PlaceHolder 1"/>
          <p:cNvSpPr>
            <a:spLocks noGrp="1"/>
          </p:cNvSpPr>
          <p:nvPr>
            <p:ph type="sldImg"/>
          </p:nvPr>
        </p:nvSpPr>
        <p:spPr>
          <a:xfrm>
            <a:off x="1143000" y="685800"/>
            <a:ext cx="4571640" cy="3428640"/>
          </a:xfrm>
          <a:prstGeom prst="rect">
            <a:avLst/>
          </a:prstGeom>
          <a:ln w="0">
            <a:noFill/>
          </a:ln>
        </p:spPr>
      </p:sp>
      <p:sp>
        <p:nvSpPr>
          <p:cNvPr id="96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63" name="PlaceHolder 3"/>
          <p:cNvSpPr>
            <a:spLocks noGrp="1"/>
          </p:cNvSpPr>
          <p:nvPr>
            <p:ph type="sldNum" idx="5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3D5FD28-41D2-4C01-81B5-C2AA033A389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4" name="PlaceHolder 1"/>
          <p:cNvSpPr>
            <a:spLocks noGrp="1"/>
          </p:cNvSpPr>
          <p:nvPr>
            <p:ph type="sldImg"/>
          </p:nvPr>
        </p:nvSpPr>
        <p:spPr>
          <a:xfrm>
            <a:off x="1143000" y="685800"/>
            <a:ext cx="4571640" cy="3428640"/>
          </a:xfrm>
          <a:prstGeom prst="rect">
            <a:avLst/>
          </a:prstGeom>
          <a:ln w="0">
            <a:noFill/>
          </a:ln>
        </p:spPr>
      </p:sp>
      <p:sp>
        <p:nvSpPr>
          <p:cNvPr id="96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a:t>
            </a:r>
            <a:r>
              <a:rPr lang="zh-CN" sz="2000" b="0" u="none" strike="noStrike">
                <a:solidFill>
                  <a:srgbClr val="000000"/>
                </a:solidFill>
                <a:effectLst/>
                <a:uFillTx/>
                <a:latin typeface="+mn-ea"/>
              </a:rPr>
              <a:t>事实上，如果软件结构的顶部两层用自顶向下的方法组装，可以明显减少驱动程序的数目，而且族的结合也将大大简化。</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
        <p:nvSpPr>
          <p:cNvPr id="966" name="PlaceHolder 3"/>
          <p:cNvSpPr>
            <a:spLocks noGrp="1"/>
          </p:cNvSpPr>
          <p:nvPr>
            <p:ph type="sldNum" idx="6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099AE8F-56C8-4AD0-AF95-B86BB89FB71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7" name="PlaceHolder 1"/>
          <p:cNvSpPr>
            <a:spLocks noGrp="1"/>
          </p:cNvSpPr>
          <p:nvPr>
            <p:ph type="sldImg"/>
          </p:nvPr>
        </p:nvSpPr>
        <p:spPr>
          <a:xfrm>
            <a:off x="1143000" y="685800"/>
            <a:ext cx="4571640" cy="3428640"/>
          </a:xfrm>
          <a:prstGeom prst="rect">
            <a:avLst/>
          </a:prstGeom>
          <a:ln w="0">
            <a:noFill/>
          </a:ln>
        </p:spPr>
      </p:sp>
      <p:sp>
        <p:nvSpPr>
          <p:cNvPr id="96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、一般说来，一种方法的优点正好对应于另一种方法的缺点。</a:t>
            </a:r>
            <a:endParaRPr lang="en-US" sz="2000" b="0" u="none" strike="noStrike">
              <a:solidFill>
                <a:srgbClr val="000000"/>
              </a:solidFill>
              <a:effectLst/>
              <a:uFillTx/>
              <a:latin typeface="Arial"/>
            </a:endParaRPr>
          </a:p>
        </p:txBody>
      </p:sp>
      <p:sp>
        <p:nvSpPr>
          <p:cNvPr id="969" name="PlaceHolder 3"/>
          <p:cNvSpPr>
            <a:spLocks noGrp="1"/>
          </p:cNvSpPr>
          <p:nvPr>
            <p:ph type="sldNum" idx="6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71DCBF7-744A-43A5-A9BC-BAEB6E06054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0" name="PlaceHolder 1"/>
          <p:cNvSpPr>
            <a:spLocks noGrp="1"/>
          </p:cNvSpPr>
          <p:nvPr>
            <p:ph type="sldImg"/>
          </p:nvPr>
        </p:nvSpPr>
        <p:spPr>
          <a:xfrm>
            <a:off x="1143000" y="685800"/>
            <a:ext cx="4571640" cy="3428640"/>
          </a:xfrm>
          <a:prstGeom prst="rect">
            <a:avLst/>
          </a:prstGeom>
          <a:ln w="0">
            <a:noFill/>
          </a:ln>
        </p:spPr>
      </p:sp>
      <p:sp>
        <p:nvSpPr>
          <p:cNvPr id="97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72" name="PlaceHolder 3"/>
          <p:cNvSpPr>
            <a:spLocks noGrp="1"/>
          </p:cNvSpPr>
          <p:nvPr>
            <p:ph type="sldNum" idx="6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30A710E-CBE2-408D-B6BA-EA3CAC9627CB}"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3" name="PlaceHolder 1"/>
          <p:cNvSpPr>
            <a:spLocks noGrp="1"/>
          </p:cNvSpPr>
          <p:nvPr>
            <p:ph type="sldImg"/>
          </p:nvPr>
        </p:nvSpPr>
        <p:spPr>
          <a:xfrm>
            <a:off x="1143000" y="685800"/>
            <a:ext cx="4571640" cy="3428640"/>
          </a:xfrm>
          <a:prstGeom prst="rect">
            <a:avLst/>
          </a:prstGeom>
          <a:ln w="0">
            <a:noFill/>
          </a:ln>
        </p:spPr>
      </p:sp>
      <p:sp>
        <p:nvSpPr>
          <p:cNvPr id="97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75" name="PlaceHolder 3"/>
          <p:cNvSpPr>
            <a:spLocks noGrp="1"/>
          </p:cNvSpPr>
          <p:nvPr>
            <p:ph type="sldNum" idx="6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7F705BA-11A1-4E9C-8296-6C1CA9214093}"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6" name="PlaceHolder 1"/>
          <p:cNvSpPr>
            <a:spLocks noGrp="1"/>
          </p:cNvSpPr>
          <p:nvPr>
            <p:ph type="sldImg"/>
          </p:nvPr>
        </p:nvSpPr>
        <p:spPr>
          <a:xfrm>
            <a:off x="1143000" y="685800"/>
            <a:ext cx="4571640" cy="3428640"/>
          </a:xfrm>
          <a:prstGeom prst="rect">
            <a:avLst/>
          </a:prstGeom>
          <a:ln w="0">
            <a:noFill/>
          </a:ln>
        </p:spPr>
      </p:sp>
      <p:sp>
        <p:nvSpPr>
          <p:cNvPr id="97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78" name="PlaceHolder 3"/>
          <p:cNvSpPr>
            <a:spLocks noGrp="1"/>
          </p:cNvSpPr>
          <p:nvPr>
            <p:ph type="sldNum" idx="6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F7CEE09-269E-4CA6-AA93-C30A844282BE}"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9" name="PlaceHolder 1"/>
          <p:cNvSpPr>
            <a:spLocks noGrp="1"/>
          </p:cNvSpPr>
          <p:nvPr>
            <p:ph type="sldImg"/>
          </p:nvPr>
        </p:nvSpPr>
        <p:spPr>
          <a:xfrm>
            <a:off x="1143000" y="685800"/>
            <a:ext cx="4571640" cy="3428640"/>
          </a:xfrm>
          <a:prstGeom prst="rect">
            <a:avLst/>
          </a:prstGeom>
          <a:ln w="0">
            <a:noFill/>
          </a:ln>
        </p:spPr>
      </p:sp>
      <p:sp>
        <p:nvSpPr>
          <p:cNvPr id="98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81" name="PlaceHolder 3"/>
          <p:cNvSpPr>
            <a:spLocks noGrp="1"/>
          </p:cNvSpPr>
          <p:nvPr>
            <p:ph type="sldNum" idx="6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FE0C085-A8A5-4A05-B2D8-34E61BE56663}"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2" name="PlaceHolder 1"/>
          <p:cNvSpPr>
            <a:spLocks noGrp="1"/>
          </p:cNvSpPr>
          <p:nvPr>
            <p:ph type="sldImg"/>
          </p:nvPr>
        </p:nvSpPr>
        <p:spPr>
          <a:xfrm>
            <a:off x="1143000" y="685800"/>
            <a:ext cx="4571640" cy="3428640"/>
          </a:xfrm>
          <a:prstGeom prst="rect">
            <a:avLst/>
          </a:prstGeom>
          <a:ln w="0">
            <a:noFill/>
          </a:ln>
        </p:spPr>
      </p:sp>
      <p:sp>
        <p:nvSpPr>
          <p:cNvPr id="98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84" name="PlaceHolder 3"/>
          <p:cNvSpPr>
            <a:spLocks noGrp="1"/>
          </p:cNvSpPr>
          <p:nvPr>
            <p:ph type="sldNum" idx="6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6B0188B-C1C2-4B30-A4FF-6515AE96FF1F}"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5" name="PlaceHolder 1"/>
          <p:cNvSpPr>
            <a:spLocks noGrp="1"/>
          </p:cNvSpPr>
          <p:nvPr>
            <p:ph type="sldImg"/>
          </p:nvPr>
        </p:nvSpPr>
        <p:spPr>
          <a:xfrm>
            <a:off x="1143000" y="685800"/>
            <a:ext cx="4571640" cy="3428640"/>
          </a:xfrm>
          <a:prstGeom prst="rect">
            <a:avLst/>
          </a:prstGeom>
          <a:ln w="0">
            <a:noFill/>
          </a:ln>
        </p:spPr>
      </p:sp>
      <p:sp>
        <p:nvSpPr>
          <p:cNvPr id="98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、在这个阶段发现的问题往往和需求分析阶段的差错有关，涉及的面通常比较广，因此解决起来也比较困难。为了制定解决确认测试过程中发现的软件缺陷或错误的策略，通常需要和用户充分协商。</a:t>
            </a:r>
            <a:endParaRPr lang="en-US" sz="2000" b="0" u="none" strike="noStrike">
              <a:solidFill>
                <a:srgbClr val="000000"/>
              </a:solidFill>
              <a:effectLst/>
              <a:uFillTx/>
              <a:latin typeface="Arial"/>
            </a:endParaRPr>
          </a:p>
        </p:txBody>
      </p:sp>
      <p:sp>
        <p:nvSpPr>
          <p:cNvPr id="987" name="PlaceHolder 3"/>
          <p:cNvSpPr>
            <a:spLocks noGrp="1"/>
          </p:cNvSpPr>
          <p:nvPr>
            <p:ph type="sldNum" idx="6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E7CBF44-4B6E-4D0D-B584-88960381348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8" name="PlaceHolder 1"/>
          <p:cNvSpPr>
            <a:spLocks noGrp="1"/>
          </p:cNvSpPr>
          <p:nvPr>
            <p:ph type="sldImg"/>
          </p:nvPr>
        </p:nvSpPr>
        <p:spPr>
          <a:xfrm>
            <a:off x="1143000" y="685800"/>
            <a:ext cx="4571640" cy="3428640"/>
          </a:xfrm>
          <a:prstGeom prst="rect">
            <a:avLst/>
          </a:prstGeom>
          <a:ln w="0">
            <a:noFill/>
          </a:ln>
        </p:spPr>
      </p:sp>
      <p:sp>
        <p:nvSpPr>
          <p:cNvPr id="98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90" name="PlaceHolder 3"/>
          <p:cNvSpPr>
            <a:spLocks noGrp="1"/>
          </p:cNvSpPr>
          <p:nvPr>
            <p:ph type="sldNum" idx="6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8AB4AFD-BA61-4073-B3BD-B9BA0461B8F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1" name="PlaceHolder 1"/>
          <p:cNvSpPr>
            <a:spLocks noGrp="1"/>
          </p:cNvSpPr>
          <p:nvPr>
            <p:ph type="sldImg"/>
          </p:nvPr>
        </p:nvSpPr>
        <p:spPr>
          <a:xfrm>
            <a:off x="1143000" y="685800"/>
            <a:ext cx="4571640" cy="3428640"/>
          </a:xfrm>
          <a:prstGeom prst="rect">
            <a:avLst/>
          </a:prstGeom>
          <a:ln w="0">
            <a:noFill/>
          </a:ln>
        </p:spPr>
      </p:sp>
      <p:sp>
        <p:nvSpPr>
          <p:cNvPr id="99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a:t>
            </a:r>
            <a:r>
              <a:rPr lang="zh-CN" sz="2000" b="0" u="none" strike="noStrike">
                <a:solidFill>
                  <a:srgbClr val="000000"/>
                </a:solidFill>
                <a:effectLst/>
                <a:uFillTx/>
                <a:latin typeface="+mn-ea"/>
              </a:rPr>
              <a:t>用户记录在</a:t>
            </a:r>
            <a:r>
              <a:rPr lang="en-US" sz="2000" b="0" u="none" strike="noStrike">
                <a:solidFill>
                  <a:srgbClr val="000000"/>
                </a:solidFill>
                <a:effectLst/>
                <a:uFillTx/>
                <a:latin typeface="+mn-ea"/>
              </a:rPr>
              <a:t>Beta</a:t>
            </a:r>
            <a:r>
              <a:rPr lang="zh-CN" sz="2000" b="0" u="none" strike="noStrike">
                <a:solidFill>
                  <a:srgbClr val="000000"/>
                </a:solidFill>
                <a:effectLst/>
                <a:uFillTx/>
                <a:latin typeface="+mn-ea"/>
              </a:rPr>
              <a:t>测试过程中遇到的一切问题（真实的或想象的），并且定期把这些问题报告给开发者。接收到在</a:t>
            </a:r>
            <a:r>
              <a:rPr lang="en-US" sz="2000" b="0" u="none" strike="noStrike">
                <a:solidFill>
                  <a:srgbClr val="000000"/>
                </a:solidFill>
                <a:effectLst/>
                <a:uFillTx/>
                <a:latin typeface="+mn-ea"/>
              </a:rPr>
              <a:t>Beta</a:t>
            </a:r>
            <a:r>
              <a:rPr lang="zh-CN" sz="2000" b="0" u="none" strike="noStrike">
                <a:solidFill>
                  <a:srgbClr val="000000"/>
                </a:solidFill>
                <a:effectLst/>
                <a:uFillTx/>
                <a:latin typeface="+mn-ea"/>
              </a:rPr>
              <a:t>测试期间报告的问题之后，开发者对软件产品进行必要的修改，并准备向全体客户发布最终的软件产品。</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
        <p:nvSpPr>
          <p:cNvPr id="993" name="PlaceHolder 3"/>
          <p:cNvSpPr>
            <a:spLocks noGrp="1"/>
          </p:cNvSpPr>
          <p:nvPr>
            <p:ph type="sldNum" idx="6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7B97305-50DC-4A6C-BE04-0BEF89E0AF5F}"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4" name="PlaceHolder 1"/>
          <p:cNvSpPr>
            <a:spLocks noGrp="1"/>
          </p:cNvSpPr>
          <p:nvPr>
            <p:ph type="sldImg"/>
          </p:nvPr>
        </p:nvSpPr>
        <p:spPr>
          <a:xfrm>
            <a:off x="1143000" y="685800"/>
            <a:ext cx="4571640" cy="3428640"/>
          </a:xfrm>
          <a:prstGeom prst="rect">
            <a:avLst/>
          </a:prstGeom>
          <a:ln w="0">
            <a:noFill/>
          </a:ln>
        </p:spPr>
      </p:sp>
      <p:sp>
        <p:nvSpPr>
          <p:cNvPr id="99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96" name="PlaceHolder 3"/>
          <p:cNvSpPr>
            <a:spLocks noGrp="1"/>
          </p:cNvSpPr>
          <p:nvPr>
            <p:ph type="sldNum" idx="7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A93B891-EB7B-40AC-9344-62BAFD79FCB9}"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7" name="PlaceHolder 1"/>
          <p:cNvSpPr>
            <a:spLocks noGrp="1"/>
          </p:cNvSpPr>
          <p:nvPr>
            <p:ph type="sldImg"/>
          </p:nvPr>
        </p:nvSpPr>
        <p:spPr>
          <a:xfrm>
            <a:off x="1143000" y="685800"/>
            <a:ext cx="4571640" cy="3428640"/>
          </a:xfrm>
          <a:prstGeom prst="rect">
            <a:avLst/>
          </a:prstGeom>
          <a:ln w="0">
            <a:noFill/>
          </a:ln>
        </p:spPr>
      </p:sp>
      <p:sp>
        <p:nvSpPr>
          <p:cNvPr id="99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99" name="PlaceHolder 3"/>
          <p:cNvSpPr>
            <a:spLocks noGrp="1"/>
          </p:cNvSpPr>
          <p:nvPr>
            <p:ph type="sldNum" idx="7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8C219DA-4EF6-4EE5-AA4C-A8067F9CBF85}"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0" name="PlaceHolder 1"/>
          <p:cNvSpPr>
            <a:spLocks noGrp="1"/>
          </p:cNvSpPr>
          <p:nvPr>
            <p:ph type="sldImg"/>
          </p:nvPr>
        </p:nvSpPr>
        <p:spPr>
          <a:xfrm>
            <a:off x="1143000" y="685800"/>
            <a:ext cx="4571640" cy="3428640"/>
          </a:xfrm>
          <a:prstGeom prst="rect">
            <a:avLst/>
          </a:prstGeom>
          <a:ln w="0">
            <a:noFill/>
          </a:ln>
        </p:spPr>
      </p:sp>
      <p:sp>
        <p:nvSpPr>
          <p:cNvPr id="100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02" name="PlaceHolder 3"/>
          <p:cNvSpPr>
            <a:spLocks noGrp="1"/>
          </p:cNvSpPr>
          <p:nvPr>
            <p:ph type="sldNum" idx="7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8CDCF42-F5DC-42A5-977D-D9CD604BC4F3}"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3" name="PlaceHolder 1"/>
          <p:cNvSpPr>
            <a:spLocks noGrp="1"/>
          </p:cNvSpPr>
          <p:nvPr>
            <p:ph type="sldImg"/>
          </p:nvPr>
        </p:nvSpPr>
        <p:spPr>
          <a:xfrm>
            <a:off x="1143000" y="685800"/>
            <a:ext cx="4571640" cy="3428640"/>
          </a:xfrm>
          <a:prstGeom prst="rect">
            <a:avLst/>
          </a:prstGeom>
          <a:ln w="0">
            <a:noFill/>
          </a:ln>
        </p:spPr>
      </p:sp>
      <p:sp>
        <p:nvSpPr>
          <p:cNvPr id="100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05" name="PlaceHolder 3"/>
          <p:cNvSpPr>
            <a:spLocks noGrp="1"/>
          </p:cNvSpPr>
          <p:nvPr>
            <p:ph type="sldNum" idx="7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F2CE860-6A6B-4DAB-94F0-F2CE87EA0611}"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6" name="PlaceHolder 1"/>
          <p:cNvSpPr>
            <a:spLocks noGrp="1"/>
          </p:cNvSpPr>
          <p:nvPr>
            <p:ph type="sldImg"/>
          </p:nvPr>
        </p:nvSpPr>
        <p:spPr>
          <a:xfrm>
            <a:off x="1143000" y="685800"/>
            <a:ext cx="4571640" cy="3428640"/>
          </a:xfrm>
          <a:prstGeom prst="rect">
            <a:avLst/>
          </a:prstGeom>
          <a:ln w="0">
            <a:noFill/>
          </a:ln>
        </p:spPr>
      </p:sp>
      <p:sp>
        <p:nvSpPr>
          <p:cNvPr id="100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08" name="PlaceHolder 3"/>
          <p:cNvSpPr>
            <a:spLocks noGrp="1"/>
          </p:cNvSpPr>
          <p:nvPr>
            <p:ph type="sldNum" idx="7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F5CAEA1-FE44-4A9E-8371-532A94314E7E}"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9" name="PlaceHolder 1"/>
          <p:cNvSpPr>
            <a:spLocks noGrp="1"/>
          </p:cNvSpPr>
          <p:nvPr>
            <p:ph type="sldImg"/>
          </p:nvPr>
        </p:nvSpPr>
        <p:spPr>
          <a:xfrm>
            <a:off x="1143000" y="685800"/>
            <a:ext cx="4571640" cy="3428640"/>
          </a:xfrm>
          <a:prstGeom prst="rect">
            <a:avLst/>
          </a:prstGeom>
          <a:ln w="0">
            <a:noFill/>
          </a:ln>
        </p:spPr>
      </p:sp>
      <p:sp>
        <p:nvSpPr>
          <p:cNvPr id="101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11" name="PlaceHolder 3"/>
          <p:cNvSpPr>
            <a:spLocks noGrp="1"/>
          </p:cNvSpPr>
          <p:nvPr>
            <p:ph type="sldNum" idx="7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D1A746C-DA4D-4BC5-8E57-9CF5D37A7E6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2" name="PlaceHolder 1"/>
          <p:cNvSpPr>
            <a:spLocks noGrp="1"/>
          </p:cNvSpPr>
          <p:nvPr>
            <p:ph type="sldImg"/>
          </p:nvPr>
        </p:nvSpPr>
        <p:spPr>
          <a:xfrm>
            <a:off x="1143000" y="685800"/>
            <a:ext cx="4571640" cy="3428640"/>
          </a:xfrm>
          <a:prstGeom prst="rect">
            <a:avLst/>
          </a:prstGeom>
          <a:ln w="0">
            <a:noFill/>
          </a:ln>
        </p:spPr>
      </p:sp>
      <p:sp>
        <p:nvSpPr>
          <p:cNvPr id="101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14" name="PlaceHolder 3"/>
          <p:cNvSpPr>
            <a:spLocks noGrp="1"/>
          </p:cNvSpPr>
          <p:nvPr>
            <p:ph type="sldNum" idx="7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5FC0DC9-376E-4FA8-9BE4-5BEADF1EDB5E}"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5" name="PlaceHolder 1"/>
          <p:cNvSpPr>
            <a:spLocks noGrp="1"/>
          </p:cNvSpPr>
          <p:nvPr>
            <p:ph type="sldImg"/>
          </p:nvPr>
        </p:nvSpPr>
        <p:spPr>
          <a:xfrm>
            <a:off x="1143000" y="685800"/>
            <a:ext cx="4571640" cy="3428640"/>
          </a:xfrm>
          <a:prstGeom prst="rect">
            <a:avLst/>
          </a:prstGeom>
          <a:ln w="0">
            <a:noFill/>
          </a:ln>
        </p:spPr>
      </p:sp>
      <p:sp>
        <p:nvSpPr>
          <p:cNvPr id="101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17" name="PlaceHolder 3"/>
          <p:cNvSpPr>
            <a:spLocks noGrp="1"/>
          </p:cNvSpPr>
          <p:nvPr>
            <p:ph type="sldNum" idx="7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CD8FD86-16B6-4558-B401-05707DF29695}"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8" name="PlaceHolder 1"/>
          <p:cNvSpPr>
            <a:spLocks noGrp="1"/>
          </p:cNvSpPr>
          <p:nvPr>
            <p:ph type="sldImg"/>
          </p:nvPr>
        </p:nvSpPr>
        <p:spPr>
          <a:xfrm>
            <a:off x="1143000" y="685800"/>
            <a:ext cx="4571640" cy="3428640"/>
          </a:xfrm>
          <a:prstGeom prst="rect">
            <a:avLst/>
          </a:prstGeom>
          <a:ln w="0">
            <a:noFill/>
          </a:ln>
        </p:spPr>
      </p:sp>
      <p:sp>
        <p:nvSpPr>
          <p:cNvPr id="101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20" name="PlaceHolder 3"/>
          <p:cNvSpPr>
            <a:spLocks noGrp="1"/>
          </p:cNvSpPr>
          <p:nvPr>
            <p:ph type="sldNum" idx="7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1258A1F-FAFF-4672-95DB-3485DC8C4161}"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1" name="PlaceHolder 1"/>
          <p:cNvSpPr>
            <a:spLocks noGrp="1"/>
          </p:cNvSpPr>
          <p:nvPr>
            <p:ph type="sldImg"/>
          </p:nvPr>
        </p:nvSpPr>
        <p:spPr>
          <a:xfrm>
            <a:off x="1143000" y="685800"/>
            <a:ext cx="4571640" cy="3428640"/>
          </a:xfrm>
          <a:prstGeom prst="rect">
            <a:avLst/>
          </a:prstGeom>
          <a:ln w="0">
            <a:noFill/>
          </a:ln>
        </p:spPr>
      </p:sp>
      <p:sp>
        <p:nvSpPr>
          <p:cNvPr id="102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23" name="PlaceHolder 3"/>
          <p:cNvSpPr>
            <a:spLocks noGrp="1"/>
          </p:cNvSpPr>
          <p:nvPr>
            <p:ph type="sldNum" idx="7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8494723-EC40-4C45-B5A9-1B9AE2554C6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4" name="PlaceHolder 1"/>
          <p:cNvSpPr>
            <a:spLocks noGrp="1"/>
          </p:cNvSpPr>
          <p:nvPr>
            <p:ph type="sldImg"/>
          </p:nvPr>
        </p:nvSpPr>
        <p:spPr>
          <a:xfrm>
            <a:off x="1143000" y="685800"/>
            <a:ext cx="4571640" cy="3428640"/>
          </a:xfrm>
          <a:prstGeom prst="rect">
            <a:avLst/>
          </a:prstGeom>
          <a:ln w="0">
            <a:noFill/>
          </a:ln>
        </p:spPr>
      </p:sp>
      <p:sp>
        <p:nvSpPr>
          <p:cNvPr id="102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26" name="PlaceHolder 3"/>
          <p:cNvSpPr>
            <a:spLocks noGrp="1"/>
          </p:cNvSpPr>
          <p:nvPr>
            <p:ph type="sldNum" idx="8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5060C9D-FC9F-4DFA-B594-66BA43867D29}"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7" name="PlaceHolder 1"/>
          <p:cNvSpPr>
            <a:spLocks noGrp="1"/>
          </p:cNvSpPr>
          <p:nvPr>
            <p:ph type="sldImg"/>
          </p:nvPr>
        </p:nvSpPr>
        <p:spPr>
          <a:xfrm>
            <a:off x="1143000" y="685800"/>
            <a:ext cx="4571640" cy="3428640"/>
          </a:xfrm>
          <a:prstGeom prst="rect">
            <a:avLst/>
          </a:prstGeom>
          <a:ln w="0">
            <a:noFill/>
          </a:ln>
        </p:spPr>
      </p:sp>
      <p:sp>
        <p:nvSpPr>
          <p:cNvPr id="102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29" name="PlaceHolder 3"/>
          <p:cNvSpPr>
            <a:spLocks noGrp="1"/>
          </p:cNvSpPr>
          <p:nvPr>
            <p:ph type="sldNum" idx="8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FC83B04-4F7A-4566-A52F-07D16BA1D86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0" name="PlaceHolder 1"/>
          <p:cNvSpPr>
            <a:spLocks noGrp="1"/>
          </p:cNvSpPr>
          <p:nvPr>
            <p:ph type="sldImg"/>
          </p:nvPr>
        </p:nvSpPr>
        <p:spPr>
          <a:xfrm>
            <a:off x="1143000" y="685800"/>
            <a:ext cx="4571640" cy="3428640"/>
          </a:xfrm>
          <a:prstGeom prst="rect">
            <a:avLst/>
          </a:prstGeom>
          <a:ln w="0">
            <a:noFill/>
          </a:ln>
        </p:spPr>
      </p:sp>
      <p:sp>
        <p:nvSpPr>
          <p:cNvPr id="103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32" name="PlaceHolder 3"/>
          <p:cNvSpPr>
            <a:spLocks noGrp="1"/>
          </p:cNvSpPr>
          <p:nvPr>
            <p:ph type="sldNum" idx="8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061E7EB-CA72-4CA6-8EDD-21E7961B2B3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3" name="PlaceHolder 1"/>
          <p:cNvSpPr>
            <a:spLocks noGrp="1"/>
          </p:cNvSpPr>
          <p:nvPr>
            <p:ph type="sldImg"/>
          </p:nvPr>
        </p:nvSpPr>
        <p:spPr>
          <a:xfrm>
            <a:off x="1143000" y="685800"/>
            <a:ext cx="4571640" cy="3428640"/>
          </a:xfrm>
          <a:prstGeom prst="rect">
            <a:avLst/>
          </a:prstGeom>
          <a:ln w="0">
            <a:noFill/>
          </a:ln>
        </p:spPr>
      </p:sp>
      <p:sp>
        <p:nvSpPr>
          <p:cNvPr id="103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35" name="PlaceHolder 3"/>
          <p:cNvSpPr>
            <a:spLocks noGrp="1"/>
          </p:cNvSpPr>
          <p:nvPr>
            <p:ph type="sldNum" idx="8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7887242-70BD-47E7-B3E8-FC0F60D52101}"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6" name="PlaceHolder 1"/>
          <p:cNvSpPr>
            <a:spLocks noGrp="1"/>
          </p:cNvSpPr>
          <p:nvPr>
            <p:ph type="sldImg"/>
          </p:nvPr>
        </p:nvSpPr>
        <p:spPr>
          <a:xfrm>
            <a:off x="1143000" y="685800"/>
            <a:ext cx="4571640" cy="3428640"/>
          </a:xfrm>
          <a:prstGeom prst="rect">
            <a:avLst/>
          </a:prstGeom>
          <a:ln w="0">
            <a:noFill/>
          </a:ln>
        </p:spPr>
      </p:sp>
      <p:sp>
        <p:nvSpPr>
          <p:cNvPr id="103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38" name="PlaceHolder 3"/>
          <p:cNvSpPr>
            <a:spLocks noGrp="1"/>
          </p:cNvSpPr>
          <p:nvPr>
            <p:ph type="sldNum" idx="8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1673CDD-A822-4854-9C0F-BDB8BC48EDF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9" name="PlaceHolder 1"/>
          <p:cNvSpPr>
            <a:spLocks noGrp="1"/>
          </p:cNvSpPr>
          <p:nvPr>
            <p:ph type="sldImg"/>
          </p:nvPr>
        </p:nvSpPr>
        <p:spPr>
          <a:xfrm>
            <a:off x="1143000" y="685800"/>
            <a:ext cx="4571640" cy="3428640"/>
          </a:xfrm>
          <a:prstGeom prst="rect">
            <a:avLst/>
          </a:prstGeom>
          <a:ln w="0">
            <a:noFill/>
          </a:ln>
        </p:spPr>
      </p:sp>
      <p:sp>
        <p:nvSpPr>
          <p:cNvPr id="104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zh-CN" sz="2000" b="0" u="none" strike="noStrike">
                <a:solidFill>
                  <a:srgbClr val="000000"/>
                </a:solidFill>
                <a:effectLst/>
                <a:uFillTx/>
                <a:latin typeface="+mn-ea"/>
              </a:rPr>
              <a:t>通常在设计测试用例时，识别出判定结点是很有必要的。本例中结点</a:t>
            </a:r>
            <a:r>
              <a:rPr lang="en-US" sz="2000" b="0" u="none" strike="noStrike">
                <a:solidFill>
                  <a:srgbClr val="000000"/>
                </a:solidFill>
                <a:effectLst/>
                <a:uFillTx/>
                <a:latin typeface="+mn-ea"/>
              </a:rPr>
              <a:t>2</a:t>
            </a:r>
            <a:r>
              <a:rPr lang="zh-CN" sz="2000" b="0" u="none" strike="noStrike">
                <a:solidFill>
                  <a:srgbClr val="000000"/>
                </a:solidFill>
                <a:effectLst/>
                <a:uFillTx/>
                <a:latin typeface="+mn-ea"/>
              </a:rPr>
              <a:t>、</a:t>
            </a:r>
            <a:r>
              <a:rPr lang="en-US" sz="2000" b="0" u="none" strike="noStrike">
                <a:solidFill>
                  <a:srgbClr val="000000"/>
                </a:solidFill>
                <a:effectLst/>
                <a:uFillTx/>
                <a:latin typeface="+mn-ea"/>
              </a:rPr>
              <a:t>3</a:t>
            </a:r>
            <a:r>
              <a:rPr lang="zh-CN" sz="2000" b="0" u="none" strike="noStrike">
                <a:solidFill>
                  <a:srgbClr val="000000"/>
                </a:solidFill>
                <a:effectLst/>
                <a:uFillTx/>
                <a:latin typeface="+mn-ea"/>
              </a:rPr>
              <a:t>、</a:t>
            </a:r>
            <a:r>
              <a:rPr lang="en-US" sz="2000" b="0" u="none" strike="noStrike">
                <a:solidFill>
                  <a:srgbClr val="000000"/>
                </a:solidFill>
                <a:effectLst/>
                <a:uFillTx/>
                <a:latin typeface="+mn-ea"/>
              </a:rPr>
              <a:t>5</a:t>
            </a:r>
            <a:r>
              <a:rPr lang="zh-CN" sz="2000" b="0" u="none" strike="noStrike">
                <a:solidFill>
                  <a:srgbClr val="000000"/>
                </a:solidFill>
                <a:effectLst/>
                <a:uFillTx/>
                <a:latin typeface="+mn-ea"/>
              </a:rPr>
              <a:t>、</a:t>
            </a:r>
            <a:r>
              <a:rPr lang="en-US" sz="2000" b="0" u="none" strike="noStrike">
                <a:solidFill>
                  <a:srgbClr val="000000"/>
                </a:solidFill>
                <a:effectLst/>
                <a:uFillTx/>
                <a:latin typeface="+mn-ea"/>
              </a:rPr>
              <a:t>6</a:t>
            </a:r>
            <a:r>
              <a:rPr lang="zh-CN" sz="2000" b="0" u="none" strike="noStrike">
                <a:solidFill>
                  <a:srgbClr val="000000"/>
                </a:solidFill>
                <a:effectLst/>
                <a:uFillTx/>
                <a:latin typeface="+mn-ea"/>
              </a:rPr>
              <a:t>和</a:t>
            </a:r>
            <a:r>
              <a:rPr lang="en-US" sz="2000" b="0" u="none" strike="noStrike">
                <a:solidFill>
                  <a:srgbClr val="000000"/>
                </a:solidFill>
                <a:effectLst/>
                <a:uFillTx/>
                <a:latin typeface="+mn-ea"/>
              </a:rPr>
              <a:t>10</a:t>
            </a:r>
            <a:r>
              <a:rPr lang="zh-CN" sz="2000" b="0" u="none" strike="noStrike">
                <a:solidFill>
                  <a:srgbClr val="000000"/>
                </a:solidFill>
                <a:effectLst/>
                <a:uFillTx/>
                <a:latin typeface="+mn-ea"/>
              </a:rPr>
              <a:t>是判定结点。</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
        <p:nvSpPr>
          <p:cNvPr id="1041" name="PlaceHolder 3"/>
          <p:cNvSpPr>
            <a:spLocks noGrp="1"/>
          </p:cNvSpPr>
          <p:nvPr>
            <p:ph type="sldNum" idx="8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5AC889E-9CFC-4D6E-B817-034B311FE2B5}"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2" name="PlaceHolder 1"/>
          <p:cNvSpPr>
            <a:spLocks noGrp="1"/>
          </p:cNvSpPr>
          <p:nvPr>
            <p:ph type="sldImg"/>
          </p:nvPr>
        </p:nvSpPr>
        <p:spPr>
          <a:xfrm>
            <a:off x="1143000" y="685800"/>
            <a:ext cx="4571640" cy="3428640"/>
          </a:xfrm>
          <a:prstGeom prst="rect">
            <a:avLst/>
          </a:prstGeom>
          <a:ln w="0">
            <a:noFill/>
          </a:ln>
        </p:spPr>
      </p:sp>
      <p:sp>
        <p:nvSpPr>
          <p:cNvPr id="104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zh-CN" sz="2000" b="0" u="none" strike="noStrike">
                <a:solidFill>
                  <a:srgbClr val="000000"/>
                </a:solidFill>
                <a:effectLst/>
                <a:uFillTx/>
                <a:latin typeface="+mn-ea"/>
              </a:rPr>
              <a:t>通常在设计测试用例时，识别出判定结点是很有必要的。本例中结点</a:t>
            </a:r>
            <a:r>
              <a:rPr lang="en-US" sz="2000" b="0" u="none" strike="noStrike">
                <a:solidFill>
                  <a:srgbClr val="000000"/>
                </a:solidFill>
                <a:effectLst/>
                <a:uFillTx/>
                <a:latin typeface="+mn-ea"/>
              </a:rPr>
              <a:t>2</a:t>
            </a:r>
            <a:r>
              <a:rPr lang="zh-CN" sz="2000" b="0" u="none" strike="noStrike">
                <a:solidFill>
                  <a:srgbClr val="000000"/>
                </a:solidFill>
                <a:effectLst/>
                <a:uFillTx/>
                <a:latin typeface="+mn-ea"/>
              </a:rPr>
              <a:t>、</a:t>
            </a:r>
            <a:r>
              <a:rPr lang="en-US" sz="2000" b="0" u="none" strike="noStrike">
                <a:solidFill>
                  <a:srgbClr val="000000"/>
                </a:solidFill>
                <a:effectLst/>
                <a:uFillTx/>
                <a:latin typeface="+mn-ea"/>
              </a:rPr>
              <a:t>3</a:t>
            </a:r>
            <a:r>
              <a:rPr lang="zh-CN" sz="2000" b="0" u="none" strike="noStrike">
                <a:solidFill>
                  <a:srgbClr val="000000"/>
                </a:solidFill>
                <a:effectLst/>
                <a:uFillTx/>
                <a:latin typeface="+mn-ea"/>
              </a:rPr>
              <a:t>、</a:t>
            </a:r>
            <a:r>
              <a:rPr lang="en-US" sz="2000" b="0" u="none" strike="noStrike">
                <a:solidFill>
                  <a:srgbClr val="000000"/>
                </a:solidFill>
                <a:effectLst/>
                <a:uFillTx/>
                <a:latin typeface="+mn-ea"/>
              </a:rPr>
              <a:t>5</a:t>
            </a:r>
            <a:r>
              <a:rPr lang="zh-CN" sz="2000" b="0" u="none" strike="noStrike">
                <a:solidFill>
                  <a:srgbClr val="000000"/>
                </a:solidFill>
                <a:effectLst/>
                <a:uFillTx/>
                <a:latin typeface="+mn-ea"/>
              </a:rPr>
              <a:t>、</a:t>
            </a:r>
            <a:r>
              <a:rPr lang="en-US" sz="2000" b="0" u="none" strike="noStrike">
                <a:solidFill>
                  <a:srgbClr val="000000"/>
                </a:solidFill>
                <a:effectLst/>
                <a:uFillTx/>
                <a:latin typeface="+mn-ea"/>
              </a:rPr>
              <a:t>6</a:t>
            </a:r>
            <a:r>
              <a:rPr lang="zh-CN" sz="2000" b="0" u="none" strike="noStrike">
                <a:solidFill>
                  <a:srgbClr val="000000"/>
                </a:solidFill>
                <a:effectLst/>
                <a:uFillTx/>
                <a:latin typeface="+mn-ea"/>
              </a:rPr>
              <a:t>和</a:t>
            </a:r>
            <a:r>
              <a:rPr lang="en-US" sz="2000" b="0" u="none" strike="noStrike">
                <a:solidFill>
                  <a:srgbClr val="000000"/>
                </a:solidFill>
                <a:effectLst/>
                <a:uFillTx/>
                <a:latin typeface="+mn-ea"/>
              </a:rPr>
              <a:t>10</a:t>
            </a:r>
            <a:r>
              <a:rPr lang="zh-CN" sz="2000" b="0" u="none" strike="noStrike">
                <a:solidFill>
                  <a:srgbClr val="000000"/>
                </a:solidFill>
                <a:effectLst/>
                <a:uFillTx/>
                <a:latin typeface="+mn-ea"/>
              </a:rPr>
              <a:t>是判定结点。</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
        <p:nvSpPr>
          <p:cNvPr id="1044" name="PlaceHolder 3"/>
          <p:cNvSpPr>
            <a:spLocks noGrp="1"/>
          </p:cNvSpPr>
          <p:nvPr>
            <p:ph type="sldNum" idx="8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7251416-7343-40B0-BF1E-EBC805B05FF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5" name="PlaceHolder 1"/>
          <p:cNvSpPr>
            <a:spLocks noGrp="1"/>
          </p:cNvSpPr>
          <p:nvPr>
            <p:ph type="sldImg"/>
          </p:nvPr>
        </p:nvSpPr>
        <p:spPr>
          <a:xfrm>
            <a:off x="1143000" y="685800"/>
            <a:ext cx="4571640" cy="3428640"/>
          </a:xfrm>
          <a:prstGeom prst="rect">
            <a:avLst/>
          </a:prstGeom>
          <a:ln w="0">
            <a:noFill/>
          </a:ln>
        </p:spPr>
      </p:sp>
      <p:sp>
        <p:nvSpPr>
          <p:cNvPr id="104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47" name="PlaceHolder 3"/>
          <p:cNvSpPr>
            <a:spLocks noGrp="1"/>
          </p:cNvSpPr>
          <p:nvPr>
            <p:ph type="sldNum" idx="8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A430EEA-D7DB-4E3D-86BF-DEFBBD600063}"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8" name="PlaceHolder 1"/>
          <p:cNvSpPr>
            <a:spLocks noGrp="1"/>
          </p:cNvSpPr>
          <p:nvPr>
            <p:ph type="sldImg"/>
          </p:nvPr>
        </p:nvSpPr>
        <p:spPr>
          <a:xfrm>
            <a:off x="1143000" y="685800"/>
            <a:ext cx="4571640" cy="3428640"/>
          </a:xfrm>
          <a:prstGeom prst="rect">
            <a:avLst/>
          </a:prstGeom>
          <a:ln w="0">
            <a:noFill/>
          </a:ln>
        </p:spPr>
      </p:sp>
      <p:sp>
        <p:nvSpPr>
          <p:cNvPr id="104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50" name="PlaceHolder 3"/>
          <p:cNvSpPr>
            <a:spLocks noGrp="1"/>
          </p:cNvSpPr>
          <p:nvPr>
            <p:ph type="sldNum" idx="8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8DA5AC4-62D2-4363-A218-5A4A1BB00080}"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1" name="PlaceHolder 1"/>
          <p:cNvSpPr>
            <a:spLocks noGrp="1"/>
          </p:cNvSpPr>
          <p:nvPr>
            <p:ph type="sldImg"/>
          </p:nvPr>
        </p:nvSpPr>
        <p:spPr>
          <a:xfrm>
            <a:off x="1143000" y="685800"/>
            <a:ext cx="4571640" cy="3428640"/>
          </a:xfrm>
          <a:prstGeom prst="rect">
            <a:avLst/>
          </a:prstGeom>
          <a:ln w="0">
            <a:noFill/>
          </a:ln>
        </p:spPr>
      </p:sp>
      <p:sp>
        <p:nvSpPr>
          <p:cNvPr id="105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53" name="PlaceHolder 3"/>
          <p:cNvSpPr>
            <a:spLocks noGrp="1"/>
          </p:cNvSpPr>
          <p:nvPr>
            <p:ph type="sldNum" idx="8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CFA18F4-3E33-478D-AF38-E690EBFE384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4" name="PlaceHolder 1"/>
          <p:cNvSpPr>
            <a:spLocks noGrp="1"/>
          </p:cNvSpPr>
          <p:nvPr>
            <p:ph type="sldImg"/>
          </p:nvPr>
        </p:nvSpPr>
        <p:spPr>
          <a:xfrm>
            <a:off x="1143000" y="685800"/>
            <a:ext cx="4571640" cy="3428640"/>
          </a:xfrm>
          <a:prstGeom prst="rect">
            <a:avLst/>
          </a:prstGeom>
          <a:ln w="0">
            <a:noFill/>
          </a:ln>
        </p:spPr>
      </p:sp>
      <p:sp>
        <p:nvSpPr>
          <p:cNvPr id="105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56" name="PlaceHolder 3"/>
          <p:cNvSpPr>
            <a:spLocks noGrp="1"/>
          </p:cNvSpPr>
          <p:nvPr>
            <p:ph type="sldNum" idx="9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401A83A-6040-4C5C-A37D-C8B451EE609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7" name="PlaceHolder 1"/>
          <p:cNvSpPr>
            <a:spLocks noGrp="1"/>
          </p:cNvSpPr>
          <p:nvPr>
            <p:ph type="sldImg"/>
          </p:nvPr>
        </p:nvSpPr>
        <p:spPr>
          <a:xfrm>
            <a:off x="1143000" y="685800"/>
            <a:ext cx="4571640" cy="3428640"/>
          </a:xfrm>
          <a:prstGeom prst="rect">
            <a:avLst/>
          </a:prstGeom>
          <a:ln w="0">
            <a:noFill/>
          </a:ln>
        </p:spPr>
      </p:sp>
      <p:sp>
        <p:nvSpPr>
          <p:cNvPr id="105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59" name="PlaceHolder 3"/>
          <p:cNvSpPr>
            <a:spLocks noGrp="1"/>
          </p:cNvSpPr>
          <p:nvPr>
            <p:ph type="sldNum" idx="9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6CBFE8A-4A89-4569-A231-B0A9E3DA610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0" name="PlaceHolder 1"/>
          <p:cNvSpPr>
            <a:spLocks noGrp="1"/>
          </p:cNvSpPr>
          <p:nvPr>
            <p:ph type="sldImg"/>
          </p:nvPr>
        </p:nvSpPr>
        <p:spPr>
          <a:xfrm>
            <a:off x="1143000" y="685800"/>
            <a:ext cx="4571640" cy="3428640"/>
          </a:xfrm>
          <a:prstGeom prst="rect">
            <a:avLst/>
          </a:prstGeom>
          <a:ln w="0">
            <a:noFill/>
          </a:ln>
        </p:spPr>
      </p:sp>
      <p:sp>
        <p:nvSpPr>
          <p:cNvPr id="106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62" name="PlaceHolder 3"/>
          <p:cNvSpPr>
            <a:spLocks noGrp="1"/>
          </p:cNvSpPr>
          <p:nvPr>
            <p:ph type="sldNum" idx="9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6CD08EE-7BB6-4ECB-A147-D871807EFBD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3" name="PlaceHolder 1"/>
          <p:cNvSpPr>
            <a:spLocks noGrp="1"/>
          </p:cNvSpPr>
          <p:nvPr>
            <p:ph type="sldImg"/>
          </p:nvPr>
        </p:nvSpPr>
        <p:spPr>
          <a:xfrm>
            <a:off x="1143000" y="685800"/>
            <a:ext cx="4571640" cy="3428640"/>
          </a:xfrm>
          <a:prstGeom prst="rect">
            <a:avLst/>
          </a:prstGeom>
          <a:ln w="0">
            <a:noFill/>
          </a:ln>
        </p:spPr>
      </p:sp>
      <p:sp>
        <p:nvSpPr>
          <p:cNvPr id="106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65" name="PlaceHolder 3"/>
          <p:cNvSpPr>
            <a:spLocks noGrp="1"/>
          </p:cNvSpPr>
          <p:nvPr>
            <p:ph type="sldNum" idx="9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B40CAC8-2375-4F05-B8AC-DE0ED9ECE1D1}"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6" name="PlaceHolder 1"/>
          <p:cNvSpPr>
            <a:spLocks noGrp="1"/>
          </p:cNvSpPr>
          <p:nvPr>
            <p:ph type="sldImg"/>
          </p:nvPr>
        </p:nvSpPr>
        <p:spPr>
          <a:xfrm>
            <a:off x="1143000" y="685800"/>
            <a:ext cx="4571640" cy="3428640"/>
          </a:xfrm>
          <a:prstGeom prst="rect">
            <a:avLst/>
          </a:prstGeom>
          <a:ln w="0">
            <a:noFill/>
          </a:ln>
        </p:spPr>
      </p:sp>
      <p:sp>
        <p:nvSpPr>
          <p:cNvPr id="106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68" name="PlaceHolder 3"/>
          <p:cNvSpPr>
            <a:spLocks noGrp="1"/>
          </p:cNvSpPr>
          <p:nvPr>
            <p:ph type="sldNum" idx="9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7A4D3BC-7E3C-4CA7-AE1D-E4676942FF6F}"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8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9" name="PlaceHolder 1"/>
          <p:cNvSpPr>
            <a:spLocks noGrp="1"/>
          </p:cNvSpPr>
          <p:nvPr>
            <p:ph type="sldImg"/>
          </p:nvPr>
        </p:nvSpPr>
        <p:spPr>
          <a:xfrm>
            <a:off x="1143000" y="685800"/>
            <a:ext cx="4571640" cy="3428640"/>
          </a:xfrm>
          <a:prstGeom prst="rect">
            <a:avLst/>
          </a:prstGeom>
          <a:ln w="0">
            <a:noFill/>
          </a:ln>
        </p:spPr>
      </p:sp>
      <p:sp>
        <p:nvSpPr>
          <p:cNvPr id="107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71" name="PlaceHolder 3"/>
          <p:cNvSpPr>
            <a:spLocks noGrp="1"/>
          </p:cNvSpPr>
          <p:nvPr>
            <p:ph type="sldNum" idx="9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D192757-ADAF-4485-8220-E845120CB171}"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8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2" name="PlaceHolder 1"/>
          <p:cNvSpPr>
            <a:spLocks noGrp="1"/>
          </p:cNvSpPr>
          <p:nvPr>
            <p:ph type="sldImg"/>
          </p:nvPr>
        </p:nvSpPr>
        <p:spPr>
          <a:xfrm>
            <a:off x="1143000" y="685800"/>
            <a:ext cx="4571640" cy="3428640"/>
          </a:xfrm>
          <a:prstGeom prst="rect">
            <a:avLst/>
          </a:prstGeom>
          <a:ln w="0">
            <a:noFill/>
          </a:ln>
        </p:spPr>
      </p:sp>
      <p:sp>
        <p:nvSpPr>
          <p:cNvPr id="107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、分支测试：分支测试可能是最简单的条件测试策略：对于复合条件</a:t>
            </a:r>
            <a:r>
              <a:rPr lang="en-US" sz="2000" b="0" u="none" strike="noStrike">
                <a:solidFill>
                  <a:srgbClr val="000000"/>
                </a:solidFill>
                <a:effectLst/>
                <a:uFillTx/>
                <a:latin typeface="Arial"/>
              </a:rPr>
              <a:t>C</a:t>
            </a:r>
            <a:r>
              <a:rPr lang="zh-CN" sz="2000" b="0" u="none" strike="noStrike">
                <a:solidFill>
                  <a:srgbClr val="000000"/>
                </a:solidFill>
                <a:effectLst/>
                <a:uFillTx/>
                <a:latin typeface="Arial"/>
              </a:rPr>
              <a:t>来说，</a:t>
            </a:r>
            <a:r>
              <a:rPr lang="en-US" sz="2000" b="0" u="none" strike="noStrike">
                <a:solidFill>
                  <a:srgbClr val="000000"/>
                </a:solidFill>
                <a:effectLst/>
                <a:uFillTx/>
                <a:latin typeface="Arial"/>
              </a:rPr>
              <a:t>C</a:t>
            </a:r>
            <a:r>
              <a:rPr lang="zh-CN" sz="2000" b="0" u="none" strike="noStrike">
                <a:solidFill>
                  <a:srgbClr val="000000"/>
                </a:solidFill>
                <a:effectLst/>
                <a:uFillTx/>
                <a:latin typeface="Arial"/>
              </a:rPr>
              <a:t>的真分支和假分支以及</a:t>
            </a:r>
            <a:r>
              <a:rPr lang="en-US" sz="2000" b="0" u="none" strike="noStrike">
                <a:solidFill>
                  <a:srgbClr val="000000"/>
                </a:solidFill>
                <a:effectLst/>
                <a:uFillTx/>
                <a:latin typeface="Arial"/>
              </a:rPr>
              <a:t>C</a:t>
            </a:r>
            <a:r>
              <a:rPr lang="zh-CN" sz="2000" b="0" u="none" strike="noStrike">
                <a:solidFill>
                  <a:srgbClr val="000000"/>
                </a:solidFill>
                <a:effectLst/>
                <a:uFillTx/>
                <a:latin typeface="Arial"/>
              </a:rPr>
              <a:t>中的每个简单条件，都应该至少执行一次。</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2</a:t>
            </a:r>
            <a:r>
              <a:rPr lang="zh-CN" sz="2000" b="0" u="none" strike="noStrike">
                <a:solidFill>
                  <a:srgbClr val="000000"/>
                </a:solidFill>
                <a:effectLst/>
                <a:uFillTx/>
                <a:latin typeface="Arial"/>
              </a:rPr>
              <a:t>、域测试：域测试要求对一个关系表达式执行</a:t>
            </a:r>
            <a:r>
              <a:rPr lang="en-US" sz="2000" b="0" u="none" strike="noStrike">
                <a:solidFill>
                  <a:srgbClr val="000000"/>
                </a:solidFill>
                <a:effectLst/>
                <a:uFillTx/>
                <a:latin typeface="Arial"/>
              </a:rPr>
              <a:t>3</a:t>
            </a:r>
            <a:r>
              <a:rPr lang="zh-CN" sz="2000" b="0" u="none" strike="noStrike">
                <a:solidFill>
                  <a:srgbClr val="000000"/>
                </a:solidFill>
                <a:effectLst/>
                <a:uFillTx/>
                <a:latin typeface="Arial"/>
              </a:rPr>
              <a:t>个或</a:t>
            </a:r>
            <a:r>
              <a:rPr lang="en-US" sz="2000" b="0" u="none" strike="noStrike">
                <a:solidFill>
                  <a:srgbClr val="000000"/>
                </a:solidFill>
                <a:effectLst/>
                <a:uFillTx/>
                <a:latin typeface="Arial"/>
              </a:rPr>
              <a:t>4</a:t>
            </a:r>
            <a:r>
              <a:rPr lang="zh-CN" sz="2000" b="0" u="none" strike="noStrike">
                <a:solidFill>
                  <a:srgbClr val="000000"/>
                </a:solidFill>
                <a:effectLst/>
                <a:uFillTx/>
                <a:latin typeface="Arial"/>
              </a:rPr>
              <a:t>个测试。对于形式为“</a:t>
            </a:r>
            <a:r>
              <a:rPr lang="en-US" sz="2000" b="0" u="none" strike="noStrike">
                <a:solidFill>
                  <a:srgbClr val="000000"/>
                </a:solidFill>
                <a:effectLst/>
                <a:uFillTx/>
                <a:latin typeface="Arial"/>
              </a:rPr>
              <a:t>E1&lt;</a:t>
            </a:r>
            <a:r>
              <a:rPr lang="zh-CN" sz="2000" b="0" u="none" strike="noStrike">
                <a:solidFill>
                  <a:srgbClr val="000000"/>
                </a:solidFill>
                <a:effectLst/>
                <a:uFillTx/>
                <a:latin typeface="Arial"/>
              </a:rPr>
              <a:t>关系算符</a:t>
            </a:r>
            <a:r>
              <a:rPr lang="en-US" sz="2000" b="0" u="none" strike="noStrike">
                <a:solidFill>
                  <a:srgbClr val="000000"/>
                </a:solidFill>
                <a:effectLst/>
                <a:uFillTx/>
                <a:latin typeface="Arial"/>
              </a:rPr>
              <a:t>&gt;E2”</a:t>
            </a:r>
            <a:r>
              <a:rPr lang="zh-CN" sz="2000" b="0" u="none" strike="noStrike">
                <a:solidFill>
                  <a:srgbClr val="000000"/>
                </a:solidFill>
                <a:effectLst/>
                <a:uFillTx/>
                <a:latin typeface="Arial"/>
              </a:rPr>
              <a:t>的关系表达式来说，需要</a:t>
            </a:r>
            <a:r>
              <a:rPr lang="en-US" sz="2000" b="0" u="none" strike="noStrike">
                <a:solidFill>
                  <a:srgbClr val="000000"/>
                </a:solidFill>
                <a:effectLst/>
                <a:uFillTx/>
                <a:latin typeface="Arial"/>
              </a:rPr>
              <a:t>3</a:t>
            </a:r>
            <a:r>
              <a:rPr lang="zh-CN" sz="2000" b="0" u="none" strike="noStrike">
                <a:solidFill>
                  <a:srgbClr val="000000"/>
                </a:solidFill>
                <a:effectLst/>
                <a:uFillTx/>
                <a:latin typeface="Arial"/>
              </a:rPr>
              <a:t>个测试分别使</a:t>
            </a:r>
            <a:r>
              <a:rPr lang="en-US" sz="2000" b="0" u="none" strike="noStrike">
                <a:solidFill>
                  <a:srgbClr val="000000"/>
                </a:solidFill>
                <a:effectLst/>
                <a:uFillTx/>
                <a:latin typeface="Arial"/>
              </a:rPr>
              <a:t>E1</a:t>
            </a:r>
            <a:r>
              <a:rPr lang="zh-CN" sz="2000" b="0" u="none" strike="noStrike">
                <a:solidFill>
                  <a:srgbClr val="000000"/>
                </a:solidFill>
                <a:effectLst/>
                <a:uFillTx/>
                <a:latin typeface="Arial"/>
              </a:rPr>
              <a:t>的值大于、等于或小于</a:t>
            </a:r>
            <a:r>
              <a:rPr lang="en-US" sz="2000" b="0" u="none" strike="noStrike">
                <a:solidFill>
                  <a:srgbClr val="000000"/>
                </a:solidFill>
                <a:effectLst/>
                <a:uFillTx/>
                <a:latin typeface="Arial"/>
              </a:rPr>
              <a:t>E2</a:t>
            </a:r>
            <a:r>
              <a:rPr lang="zh-CN" sz="2000" b="0" u="none" strike="noStrike">
                <a:solidFill>
                  <a:srgbClr val="000000"/>
                </a:solidFill>
                <a:effectLst/>
                <a:uFillTx/>
                <a:latin typeface="Arial"/>
              </a:rPr>
              <a:t>的值。如果</a:t>
            </a:r>
            <a:r>
              <a:rPr lang="en-US" sz="2000" b="0" u="none" strike="noStrike">
                <a:solidFill>
                  <a:srgbClr val="000000"/>
                </a:solidFill>
                <a:effectLst/>
                <a:uFillTx/>
                <a:latin typeface="Arial"/>
              </a:rPr>
              <a:t>&lt;</a:t>
            </a:r>
            <a:r>
              <a:rPr lang="zh-CN" sz="2000" b="0" u="none" strike="noStrike">
                <a:solidFill>
                  <a:srgbClr val="000000"/>
                </a:solidFill>
                <a:effectLst/>
                <a:uFillTx/>
                <a:latin typeface="Arial"/>
              </a:rPr>
              <a:t>关系算符</a:t>
            </a:r>
            <a:r>
              <a:rPr lang="en-US" sz="2000" b="0" u="none" strike="noStrike">
                <a:solidFill>
                  <a:srgbClr val="000000"/>
                </a:solidFill>
                <a:effectLst/>
                <a:uFillTx/>
                <a:latin typeface="Arial"/>
              </a:rPr>
              <a:t>&gt;</a:t>
            </a:r>
            <a:r>
              <a:rPr lang="zh-CN" sz="2000" b="0" u="none" strike="noStrike">
                <a:solidFill>
                  <a:srgbClr val="000000"/>
                </a:solidFill>
                <a:effectLst/>
                <a:uFillTx/>
                <a:latin typeface="Arial"/>
              </a:rPr>
              <a:t>错误而</a:t>
            </a:r>
            <a:r>
              <a:rPr lang="en-US" sz="2000" b="0" u="none" strike="noStrike">
                <a:solidFill>
                  <a:srgbClr val="000000"/>
                </a:solidFill>
                <a:effectLst/>
                <a:uFillTx/>
                <a:latin typeface="Arial"/>
              </a:rPr>
              <a:t>E1</a:t>
            </a:r>
            <a:r>
              <a:rPr lang="zh-CN" sz="2000" b="0" u="none" strike="noStrike">
                <a:solidFill>
                  <a:srgbClr val="000000"/>
                </a:solidFill>
                <a:effectLst/>
                <a:uFillTx/>
                <a:latin typeface="Arial"/>
              </a:rPr>
              <a:t>和</a:t>
            </a:r>
            <a:r>
              <a:rPr lang="en-US" sz="2000" b="0" u="none" strike="noStrike">
                <a:solidFill>
                  <a:srgbClr val="000000"/>
                </a:solidFill>
                <a:effectLst/>
                <a:uFillTx/>
                <a:latin typeface="Arial"/>
              </a:rPr>
              <a:t>E2</a:t>
            </a:r>
            <a:r>
              <a:rPr lang="zh-CN" sz="2000" b="0" u="none" strike="noStrike">
                <a:solidFill>
                  <a:srgbClr val="000000"/>
                </a:solidFill>
                <a:effectLst/>
                <a:uFillTx/>
                <a:latin typeface="Arial"/>
              </a:rPr>
              <a:t>正确，则这</a:t>
            </a:r>
            <a:r>
              <a:rPr lang="en-US" sz="2000" b="0" u="none" strike="noStrike">
                <a:solidFill>
                  <a:srgbClr val="000000"/>
                </a:solidFill>
                <a:effectLst/>
                <a:uFillTx/>
                <a:latin typeface="Arial"/>
              </a:rPr>
              <a:t>3</a:t>
            </a:r>
            <a:r>
              <a:rPr lang="zh-CN" sz="2000" b="0" u="none" strike="noStrike">
                <a:solidFill>
                  <a:srgbClr val="000000"/>
                </a:solidFill>
                <a:effectLst/>
                <a:uFillTx/>
                <a:latin typeface="Arial"/>
              </a:rPr>
              <a:t>个测试能够发现关系算符的错误。为了发现</a:t>
            </a:r>
            <a:r>
              <a:rPr lang="en-US" sz="2000" b="0" u="none" strike="noStrike">
                <a:solidFill>
                  <a:srgbClr val="000000"/>
                </a:solidFill>
                <a:effectLst/>
                <a:uFillTx/>
                <a:latin typeface="Arial"/>
              </a:rPr>
              <a:t>E1</a:t>
            </a:r>
            <a:r>
              <a:rPr lang="zh-CN" sz="2000" b="0" u="none" strike="noStrike">
                <a:solidFill>
                  <a:srgbClr val="000000"/>
                </a:solidFill>
                <a:effectLst/>
                <a:uFillTx/>
                <a:latin typeface="Arial"/>
              </a:rPr>
              <a:t>和</a:t>
            </a:r>
            <a:r>
              <a:rPr lang="en-US" sz="2000" b="0" u="none" strike="noStrike">
                <a:solidFill>
                  <a:srgbClr val="000000"/>
                </a:solidFill>
                <a:effectLst/>
                <a:uFillTx/>
                <a:latin typeface="Arial"/>
              </a:rPr>
              <a:t>E2</a:t>
            </a:r>
            <a:r>
              <a:rPr lang="zh-CN" sz="2000" b="0" u="none" strike="noStrike">
                <a:solidFill>
                  <a:srgbClr val="000000"/>
                </a:solidFill>
                <a:effectLst/>
                <a:uFillTx/>
                <a:latin typeface="Arial"/>
              </a:rPr>
              <a:t>中的错误，让</a:t>
            </a:r>
            <a:r>
              <a:rPr lang="en-US" sz="2000" b="0" u="none" strike="noStrike">
                <a:solidFill>
                  <a:srgbClr val="000000"/>
                </a:solidFill>
                <a:effectLst/>
                <a:uFillTx/>
                <a:latin typeface="Arial"/>
              </a:rPr>
              <a:t>E1</a:t>
            </a:r>
            <a:r>
              <a:rPr lang="zh-CN" sz="2000" b="0" u="none" strike="noStrike">
                <a:solidFill>
                  <a:srgbClr val="000000"/>
                </a:solidFill>
                <a:effectLst/>
                <a:uFillTx/>
                <a:latin typeface="Arial"/>
              </a:rPr>
              <a:t>值大于或小于</a:t>
            </a:r>
            <a:r>
              <a:rPr lang="en-US" sz="2000" b="0" u="none" strike="noStrike">
                <a:solidFill>
                  <a:srgbClr val="000000"/>
                </a:solidFill>
                <a:effectLst/>
                <a:uFillTx/>
                <a:latin typeface="Arial"/>
              </a:rPr>
              <a:t>E2</a:t>
            </a:r>
            <a:r>
              <a:rPr lang="zh-CN" sz="2000" b="0" u="none" strike="noStrike">
                <a:solidFill>
                  <a:srgbClr val="000000"/>
                </a:solidFill>
                <a:effectLst/>
                <a:uFillTx/>
                <a:latin typeface="Arial"/>
              </a:rPr>
              <a:t>值的测试数据应该使这两个值之间的差别尽可能小。</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
        <p:nvSpPr>
          <p:cNvPr id="1074" name="PlaceHolder 3"/>
          <p:cNvSpPr>
            <a:spLocks noGrp="1"/>
          </p:cNvSpPr>
          <p:nvPr>
            <p:ph type="sldNum" idx="9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EAC08FD-4DFE-4D63-9B9D-8B63C76D1F66}"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8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5" name="PlaceHolder 1"/>
          <p:cNvSpPr>
            <a:spLocks noGrp="1"/>
          </p:cNvSpPr>
          <p:nvPr>
            <p:ph type="sldImg"/>
          </p:nvPr>
        </p:nvSpPr>
        <p:spPr>
          <a:xfrm>
            <a:off x="1143000" y="685800"/>
            <a:ext cx="4571640" cy="3428640"/>
          </a:xfrm>
          <a:prstGeom prst="rect">
            <a:avLst/>
          </a:prstGeom>
          <a:ln w="0">
            <a:noFill/>
          </a:ln>
        </p:spPr>
      </p:sp>
      <p:sp>
        <p:nvSpPr>
          <p:cNvPr id="107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77" name="PlaceHolder 3"/>
          <p:cNvSpPr>
            <a:spLocks noGrp="1"/>
          </p:cNvSpPr>
          <p:nvPr>
            <p:ph type="sldNum" idx="9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987411E-0726-479F-B0C7-D10E325E3D6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8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8" name="PlaceHolder 1"/>
          <p:cNvSpPr>
            <a:spLocks noGrp="1"/>
          </p:cNvSpPr>
          <p:nvPr>
            <p:ph type="sldImg"/>
          </p:nvPr>
        </p:nvSpPr>
        <p:spPr>
          <a:xfrm>
            <a:off x="1143000" y="685800"/>
            <a:ext cx="4571640" cy="3428640"/>
          </a:xfrm>
          <a:prstGeom prst="rect">
            <a:avLst/>
          </a:prstGeom>
          <a:ln w="0">
            <a:noFill/>
          </a:ln>
        </p:spPr>
      </p:sp>
      <p:sp>
        <p:nvSpPr>
          <p:cNvPr id="107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80" name="PlaceHolder 3"/>
          <p:cNvSpPr>
            <a:spLocks noGrp="1"/>
          </p:cNvSpPr>
          <p:nvPr>
            <p:ph type="sldNum" idx="9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26B3039-E559-4D33-812E-9C76BC40116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9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1" name="PlaceHolder 1"/>
          <p:cNvSpPr>
            <a:spLocks noGrp="1"/>
          </p:cNvSpPr>
          <p:nvPr>
            <p:ph type="sldImg"/>
          </p:nvPr>
        </p:nvSpPr>
        <p:spPr>
          <a:xfrm>
            <a:off x="1143000" y="685800"/>
            <a:ext cx="4571640" cy="3428640"/>
          </a:xfrm>
          <a:prstGeom prst="rect">
            <a:avLst/>
          </a:prstGeom>
          <a:ln w="0">
            <a:noFill/>
          </a:ln>
        </p:spPr>
      </p:sp>
      <p:sp>
        <p:nvSpPr>
          <p:cNvPr id="108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83" name="PlaceHolder 3"/>
          <p:cNvSpPr>
            <a:spLocks noGrp="1"/>
          </p:cNvSpPr>
          <p:nvPr>
            <p:ph type="sldNum" idx="9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C2107FC-B550-43F0-AC03-E3C562A30CB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9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4" name="PlaceHolder 1"/>
          <p:cNvSpPr>
            <a:spLocks noGrp="1"/>
          </p:cNvSpPr>
          <p:nvPr>
            <p:ph type="sldImg"/>
          </p:nvPr>
        </p:nvSpPr>
        <p:spPr>
          <a:xfrm>
            <a:off x="1143000" y="685800"/>
            <a:ext cx="4571640" cy="3428640"/>
          </a:xfrm>
          <a:prstGeom prst="rect">
            <a:avLst/>
          </a:prstGeom>
          <a:ln w="0">
            <a:noFill/>
          </a:ln>
        </p:spPr>
      </p:sp>
      <p:sp>
        <p:nvSpPr>
          <p:cNvPr id="108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86" name="PlaceHolder 3"/>
          <p:cNvSpPr>
            <a:spLocks noGrp="1"/>
          </p:cNvSpPr>
          <p:nvPr>
            <p:ph type="sldNum" idx="10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1A364FA-E090-4B28-B984-A23756D61027}"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9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7" name="PlaceHolder 1"/>
          <p:cNvSpPr>
            <a:spLocks noGrp="1"/>
          </p:cNvSpPr>
          <p:nvPr>
            <p:ph type="sldImg"/>
          </p:nvPr>
        </p:nvSpPr>
        <p:spPr>
          <a:xfrm>
            <a:off x="1143000" y="685800"/>
            <a:ext cx="4571640" cy="3428640"/>
          </a:xfrm>
          <a:prstGeom prst="rect">
            <a:avLst/>
          </a:prstGeom>
          <a:ln w="0">
            <a:noFill/>
          </a:ln>
        </p:spPr>
      </p:sp>
      <p:sp>
        <p:nvSpPr>
          <p:cNvPr id="108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89" name="PlaceHolder 3"/>
          <p:cNvSpPr>
            <a:spLocks noGrp="1"/>
          </p:cNvSpPr>
          <p:nvPr>
            <p:ph type="sldNum" idx="10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335071C-48D4-41E4-97DB-666267417A09}"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9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0" name="PlaceHolder 1"/>
          <p:cNvSpPr>
            <a:spLocks noGrp="1"/>
          </p:cNvSpPr>
          <p:nvPr>
            <p:ph type="sldImg"/>
          </p:nvPr>
        </p:nvSpPr>
        <p:spPr>
          <a:xfrm>
            <a:off x="1143000" y="685800"/>
            <a:ext cx="4571640" cy="3428640"/>
          </a:xfrm>
          <a:prstGeom prst="rect">
            <a:avLst/>
          </a:prstGeom>
          <a:ln w="0">
            <a:noFill/>
          </a:ln>
        </p:spPr>
      </p:sp>
      <p:sp>
        <p:nvSpPr>
          <p:cNvPr id="109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92" name="PlaceHolder 3"/>
          <p:cNvSpPr>
            <a:spLocks noGrp="1"/>
          </p:cNvSpPr>
          <p:nvPr>
            <p:ph type="sldNum" idx="10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4F2158A-DAE5-47A4-920E-89F109ADB3C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9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3" name="PlaceHolder 1"/>
          <p:cNvSpPr>
            <a:spLocks noGrp="1"/>
          </p:cNvSpPr>
          <p:nvPr>
            <p:ph type="sldImg"/>
          </p:nvPr>
        </p:nvSpPr>
        <p:spPr>
          <a:xfrm>
            <a:off x="1143000" y="685800"/>
            <a:ext cx="4571640" cy="3428640"/>
          </a:xfrm>
          <a:prstGeom prst="rect">
            <a:avLst/>
          </a:prstGeom>
          <a:ln w="0">
            <a:noFill/>
          </a:ln>
        </p:spPr>
      </p:sp>
      <p:sp>
        <p:nvSpPr>
          <p:cNvPr id="109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95" name="PlaceHolder 3"/>
          <p:cNvSpPr>
            <a:spLocks noGrp="1"/>
          </p:cNvSpPr>
          <p:nvPr>
            <p:ph type="sldNum" idx="10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F7B87AB-FA44-4A28-9E52-CCA2CAD427A3}"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9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6" name="PlaceHolder 1"/>
          <p:cNvSpPr>
            <a:spLocks noGrp="1"/>
          </p:cNvSpPr>
          <p:nvPr>
            <p:ph type="sldImg"/>
          </p:nvPr>
        </p:nvSpPr>
        <p:spPr>
          <a:xfrm>
            <a:off x="1143000" y="685800"/>
            <a:ext cx="4571640" cy="3428640"/>
          </a:xfrm>
          <a:prstGeom prst="rect">
            <a:avLst/>
          </a:prstGeom>
          <a:ln w="0">
            <a:noFill/>
          </a:ln>
        </p:spPr>
      </p:sp>
      <p:sp>
        <p:nvSpPr>
          <p:cNvPr id="109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98" name="PlaceHolder 3"/>
          <p:cNvSpPr>
            <a:spLocks noGrp="1"/>
          </p:cNvSpPr>
          <p:nvPr>
            <p:ph type="sldNum" idx="10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FEBF4C0-96D8-43D7-96D9-70DB7D74EED1}"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9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9" name="PlaceHolder 1"/>
          <p:cNvSpPr>
            <a:spLocks noGrp="1"/>
          </p:cNvSpPr>
          <p:nvPr>
            <p:ph type="sldImg"/>
          </p:nvPr>
        </p:nvSpPr>
        <p:spPr>
          <a:xfrm>
            <a:off x="1143000" y="685800"/>
            <a:ext cx="4571640" cy="3428640"/>
          </a:xfrm>
          <a:prstGeom prst="rect">
            <a:avLst/>
          </a:prstGeom>
          <a:ln w="0">
            <a:noFill/>
          </a:ln>
        </p:spPr>
      </p:sp>
      <p:sp>
        <p:nvSpPr>
          <p:cNvPr id="110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01" name="PlaceHolder 3"/>
          <p:cNvSpPr>
            <a:spLocks noGrp="1"/>
          </p:cNvSpPr>
          <p:nvPr>
            <p:ph type="sldNum" idx="10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8974FF3-74E2-4D01-BC04-E249D313D419}"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9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2" name="PlaceHolder 1"/>
          <p:cNvSpPr>
            <a:spLocks noGrp="1"/>
          </p:cNvSpPr>
          <p:nvPr>
            <p:ph type="sldImg"/>
          </p:nvPr>
        </p:nvSpPr>
        <p:spPr>
          <a:xfrm>
            <a:off x="1143000" y="685800"/>
            <a:ext cx="4571640" cy="3428640"/>
          </a:xfrm>
          <a:prstGeom prst="rect">
            <a:avLst/>
          </a:prstGeom>
          <a:ln w="0">
            <a:noFill/>
          </a:ln>
        </p:spPr>
      </p:sp>
      <p:sp>
        <p:nvSpPr>
          <p:cNvPr id="110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04" name="PlaceHolder 3"/>
          <p:cNvSpPr>
            <a:spLocks noGrp="1"/>
          </p:cNvSpPr>
          <p:nvPr>
            <p:ph type="sldNum" idx="10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F14CE8E-AC2E-406A-A9B2-F27B98ED1240}"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9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5" name="PlaceHolder 1"/>
          <p:cNvSpPr>
            <a:spLocks noGrp="1"/>
          </p:cNvSpPr>
          <p:nvPr>
            <p:ph type="sldImg"/>
          </p:nvPr>
        </p:nvSpPr>
        <p:spPr>
          <a:xfrm>
            <a:off x="1143000" y="685800"/>
            <a:ext cx="4571640" cy="3428640"/>
          </a:xfrm>
          <a:prstGeom prst="rect">
            <a:avLst/>
          </a:prstGeom>
          <a:ln w="0">
            <a:noFill/>
          </a:ln>
        </p:spPr>
      </p:sp>
      <p:sp>
        <p:nvSpPr>
          <p:cNvPr id="110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07" name="PlaceHolder 3"/>
          <p:cNvSpPr>
            <a:spLocks noGrp="1"/>
          </p:cNvSpPr>
          <p:nvPr>
            <p:ph type="sldNum" idx="10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18C6114-507A-4D20-95B0-826469241ED6}"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9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8" name="PlaceHolder 1"/>
          <p:cNvSpPr>
            <a:spLocks noGrp="1"/>
          </p:cNvSpPr>
          <p:nvPr>
            <p:ph type="sldImg"/>
          </p:nvPr>
        </p:nvSpPr>
        <p:spPr>
          <a:xfrm>
            <a:off x="1143000" y="685800"/>
            <a:ext cx="4571640" cy="3428640"/>
          </a:xfrm>
          <a:prstGeom prst="rect">
            <a:avLst/>
          </a:prstGeom>
          <a:ln w="0">
            <a:noFill/>
          </a:ln>
        </p:spPr>
      </p:sp>
      <p:sp>
        <p:nvSpPr>
          <p:cNvPr id="110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10" name="PlaceHolder 3"/>
          <p:cNvSpPr>
            <a:spLocks noGrp="1"/>
          </p:cNvSpPr>
          <p:nvPr>
            <p:ph type="sldNum" idx="10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9D45CFE-C8B0-475D-A079-6DFA6274060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0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1" name="PlaceHolder 1"/>
          <p:cNvSpPr>
            <a:spLocks noGrp="1"/>
          </p:cNvSpPr>
          <p:nvPr>
            <p:ph type="sldImg"/>
          </p:nvPr>
        </p:nvSpPr>
        <p:spPr>
          <a:xfrm>
            <a:off x="1143000" y="685800"/>
            <a:ext cx="4571640" cy="3428640"/>
          </a:xfrm>
          <a:prstGeom prst="rect">
            <a:avLst/>
          </a:prstGeom>
          <a:ln w="0">
            <a:noFill/>
          </a:ln>
        </p:spPr>
      </p:sp>
      <p:sp>
        <p:nvSpPr>
          <p:cNvPr id="111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13" name="PlaceHolder 3"/>
          <p:cNvSpPr>
            <a:spLocks noGrp="1"/>
          </p:cNvSpPr>
          <p:nvPr>
            <p:ph type="sldNum" idx="10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50D334C-9147-45ED-8BBB-0FBB95914DA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0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4" name="PlaceHolder 1"/>
          <p:cNvSpPr>
            <a:spLocks noGrp="1"/>
          </p:cNvSpPr>
          <p:nvPr>
            <p:ph type="sldImg"/>
          </p:nvPr>
        </p:nvSpPr>
        <p:spPr>
          <a:xfrm>
            <a:off x="1143000" y="685800"/>
            <a:ext cx="4571640" cy="3428640"/>
          </a:xfrm>
          <a:prstGeom prst="rect">
            <a:avLst/>
          </a:prstGeom>
          <a:ln w="0">
            <a:noFill/>
          </a:ln>
        </p:spPr>
      </p:sp>
      <p:sp>
        <p:nvSpPr>
          <p:cNvPr id="111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以上列出的启发式规则只是测试时可能遇到的情况中的很小一部分，实际情况千变万化，根本无法一一列出。为了正确划分等价类，一是要注意积累经验，二是要正确分析被测程序的功能。此外，在划分无效的等价类时还必须考虑编译程序的检错功能，一般说来，不需要设计测试数据来暴露编译程序肯定能发现的错误。最后说明一点，上面列出的启发式规则虽然都是针对输入数据说的，但是其中绝大部分也同样适用于输出数据。</a:t>
            </a:r>
            <a:endParaRPr lang="en-US" sz="2000" b="0" u="none" strike="noStrike">
              <a:solidFill>
                <a:srgbClr val="000000"/>
              </a:solidFill>
              <a:effectLst/>
              <a:uFillTx/>
              <a:latin typeface="Arial"/>
            </a:endParaRPr>
          </a:p>
        </p:txBody>
      </p:sp>
      <p:sp>
        <p:nvSpPr>
          <p:cNvPr id="1116" name="PlaceHolder 3"/>
          <p:cNvSpPr>
            <a:spLocks noGrp="1"/>
          </p:cNvSpPr>
          <p:nvPr>
            <p:ph type="sldNum" idx="11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E0B26D7-1CDC-4489-8B73-BB5D0A9DF8F9}"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0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7" name="PlaceHolder 1"/>
          <p:cNvSpPr>
            <a:spLocks noGrp="1"/>
          </p:cNvSpPr>
          <p:nvPr>
            <p:ph type="sldImg"/>
          </p:nvPr>
        </p:nvSpPr>
        <p:spPr>
          <a:xfrm>
            <a:off x="1143000" y="685800"/>
            <a:ext cx="4571640" cy="3428640"/>
          </a:xfrm>
          <a:prstGeom prst="rect">
            <a:avLst/>
          </a:prstGeom>
          <a:ln w="0">
            <a:noFill/>
          </a:ln>
        </p:spPr>
      </p:sp>
      <p:sp>
        <p:nvSpPr>
          <p:cNvPr id="111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19" name="PlaceHolder 3"/>
          <p:cNvSpPr>
            <a:spLocks noGrp="1"/>
          </p:cNvSpPr>
          <p:nvPr>
            <p:ph type="sldNum" idx="11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4849486-D45D-481A-837F-0B7753BC401B}"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0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0" name="PlaceHolder 1"/>
          <p:cNvSpPr>
            <a:spLocks noGrp="1"/>
          </p:cNvSpPr>
          <p:nvPr>
            <p:ph type="sldImg"/>
          </p:nvPr>
        </p:nvSpPr>
        <p:spPr>
          <a:xfrm>
            <a:off x="1143000" y="685800"/>
            <a:ext cx="4571640" cy="3428640"/>
          </a:xfrm>
          <a:prstGeom prst="rect">
            <a:avLst/>
          </a:prstGeom>
          <a:ln w="0">
            <a:noFill/>
          </a:ln>
        </p:spPr>
      </p:sp>
      <p:sp>
        <p:nvSpPr>
          <p:cNvPr id="112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22" name="PlaceHolder 3"/>
          <p:cNvSpPr>
            <a:spLocks noGrp="1"/>
          </p:cNvSpPr>
          <p:nvPr>
            <p:ph type="sldNum" idx="11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1A88C8B-8A0A-4112-99DE-F9F69B0C673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0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3" name="PlaceHolder 1"/>
          <p:cNvSpPr>
            <a:spLocks noGrp="1"/>
          </p:cNvSpPr>
          <p:nvPr>
            <p:ph type="sldImg"/>
          </p:nvPr>
        </p:nvSpPr>
        <p:spPr>
          <a:xfrm>
            <a:off x="1143000" y="685800"/>
            <a:ext cx="4571640" cy="3428640"/>
          </a:xfrm>
          <a:prstGeom prst="rect">
            <a:avLst/>
          </a:prstGeom>
          <a:ln w="0">
            <a:noFill/>
          </a:ln>
        </p:spPr>
      </p:sp>
      <p:sp>
        <p:nvSpPr>
          <p:cNvPr id="112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25" name="PlaceHolder 3"/>
          <p:cNvSpPr>
            <a:spLocks noGrp="1"/>
          </p:cNvSpPr>
          <p:nvPr>
            <p:ph type="sldNum" idx="11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9DD2271-4945-4415-8378-641E3DEE619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0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6" name="PlaceHolder 1"/>
          <p:cNvSpPr>
            <a:spLocks noGrp="1"/>
          </p:cNvSpPr>
          <p:nvPr>
            <p:ph type="sldImg"/>
          </p:nvPr>
        </p:nvSpPr>
        <p:spPr>
          <a:xfrm>
            <a:off x="1143000" y="685800"/>
            <a:ext cx="4571640" cy="3428640"/>
          </a:xfrm>
          <a:prstGeom prst="rect">
            <a:avLst/>
          </a:prstGeom>
          <a:ln w="0">
            <a:noFill/>
          </a:ln>
        </p:spPr>
      </p:sp>
      <p:sp>
        <p:nvSpPr>
          <p:cNvPr id="112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28" name="PlaceHolder 3"/>
          <p:cNvSpPr>
            <a:spLocks noGrp="1"/>
          </p:cNvSpPr>
          <p:nvPr>
            <p:ph type="sldNum" idx="11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4371C14-F3FF-4265-A963-7E6DA4477D3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0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9" name="PlaceHolder 1"/>
          <p:cNvSpPr>
            <a:spLocks noGrp="1"/>
          </p:cNvSpPr>
          <p:nvPr>
            <p:ph type="sldImg"/>
          </p:nvPr>
        </p:nvSpPr>
        <p:spPr>
          <a:xfrm>
            <a:off x="1143000" y="685800"/>
            <a:ext cx="4571640" cy="3428640"/>
          </a:xfrm>
          <a:prstGeom prst="rect">
            <a:avLst/>
          </a:prstGeom>
          <a:ln w="0">
            <a:noFill/>
          </a:ln>
        </p:spPr>
      </p:sp>
      <p:sp>
        <p:nvSpPr>
          <p:cNvPr id="113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31" name="PlaceHolder 3"/>
          <p:cNvSpPr>
            <a:spLocks noGrp="1"/>
          </p:cNvSpPr>
          <p:nvPr>
            <p:ph type="sldNum" idx="11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AA617C8-5BED-4871-A74D-98D5DD50CF4F}"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0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2" name="PlaceHolder 1"/>
          <p:cNvSpPr>
            <a:spLocks noGrp="1"/>
          </p:cNvSpPr>
          <p:nvPr>
            <p:ph type="sldImg"/>
          </p:nvPr>
        </p:nvSpPr>
        <p:spPr>
          <a:xfrm>
            <a:off x="1143000" y="685800"/>
            <a:ext cx="4571640" cy="3428640"/>
          </a:xfrm>
          <a:prstGeom prst="rect">
            <a:avLst/>
          </a:prstGeom>
          <a:ln w="0">
            <a:noFill/>
          </a:ln>
        </p:spPr>
      </p:sp>
      <p:sp>
        <p:nvSpPr>
          <p:cNvPr id="113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34" name="PlaceHolder 3"/>
          <p:cNvSpPr>
            <a:spLocks noGrp="1"/>
          </p:cNvSpPr>
          <p:nvPr>
            <p:ph type="sldNum" idx="11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F68531A-5887-45F3-BBAF-D773CD88700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0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5" name="PlaceHolder 1"/>
          <p:cNvSpPr>
            <a:spLocks noGrp="1"/>
          </p:cNvSpPr>
          <p:nvPr>
            <p:ph type="sldImg"/>
          </p:nvPr>
        </p:nvSpPr>
        <p:spPr>
          <a:xfrm>
            <a:off x="1143000" y="685800"/>
            <a:ext cx="4571640" cy="3428640"/>
          </a:xfrm>
          <a:prstGeom prst="rect">
            <a:avLst/>
          </a:prstGeom>
          <a:ln w="0">
            <a:noFill/>
          </a:ln>
        </p:spPr>
      </p:sp>
      <p:sp>
        <p:nvSpPr>
          <p:cNvPr id="113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37" name="PlaceHolder 3"/>
          <p:cNvSpPr>
            <a:spLocks noGrp="1"/>
          </p:cNvSpPr>
          <p:nvPr>
            <p:ph type="sldNum" idx="11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A58F3C0-1C2F-4357-AFB8-1533F88BA0C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0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8" name="PlaceHolder 1"/>
          <p:cNvSpPr>
            <a:spLocks noGrp="1"/>
          </p:cNvSpPr>
          <p:nvPr>
            <p:ph type="sldImg"/>
          </p:nvPr>
        </p:nvSpPr>
        <p:spPr>
          <a:xfrm>
            <a:off x="1143000" y="685800"/>
            <a:ext cx="4571640" cy="3428640"/>
          </a:xfrm>
          <a:prstGeom prst="rect">
            <a:avLst/>
          </a:prstGeom>
          <a:ln w="0">
            <a:noFill/>
          </a:ln>
        </p:spPr>
      </p:sp>
      <p:sp>
        <p:nvSpPr>
          <p:cNvPr id="113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40" name="PlaceHolder 3"/>
          <p:cNvSpPr>
            <a:spLocks noGrp="1"/>
          </p:cNvSpPr>
          <p:nvPr>
            <p:ph type="sldNum" idx="11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9CD6273-8C8F-49B7-BBE5-AE2216298C9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1" name="PlaceHolder 1"/>
          <p:cNvSpPr>
            <a:spLocks noGrp="1"/>
          </p:cNvSpPr>
          <p:nvPr>
            <p:ph type="sldImg"/>
          </p:nvPr>
        </p:nvSpPr>
        <p:spPr>
          <a:xfrm>
            <a:off x="1143000" y="685800"/>
            <a:ext cx="4571640" cy="3428640"/>
          </a:xfrm>
          <a:prstGeom prst="rect">
            <a:avLst/>
          </a:prstGeom>
          <a:ln w="0">
            <a:noFill/>
          </a:ln>
        </p:spPr>
      </p:sp>
      <p:sp>
        <p:nvSpPr>
          <p:cNvPr id="114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43" name="PlaceHolder 3"/>
          <p:cNvSpPr>
            <a:spLocks noGrp="1"/>
          </p:cNvSpPr>
          <p:nvPr>
            <p:ph type="sldNum" idx="11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E91E03B-95DA-4B02-839C-FB6AE0E1FF5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4" name="PlaceHolder 1"/>
          <p:cNvSpPr>
            <a:spLocks noGrp="1"/>
          </p:cNvSpPr>
          <p:nvPr>
            <p:ph type="sldImg"/>
          </p:nvPr>
        </p:nvSpPr>
        <p:spPr>
          <a:xfrm>
            <a:off x="1143000" y="685800"/>
            <a:ext cx="4571640" cy="3428640"/>
          </a:xfrm>
          <a:prstGeom prst="rect">
            <a:avLst/>
          </a:prstGeom>
          <a:ln w="0">
            <a:noFill/>
          </a:ln>
        </p:spPr>
      </p:sp>
      <p:sp>
        <p:nvSpPr>
          <p:cNvPr id="114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、对于程序中容易出错的情况也有一些经验总结出来，例如，输入数据为零或输出数据为零往往容易发生错误；如果输入或输出的数目允许变化</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例如，被检索的或生成的表的项数</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，则输入或输出的数目为</a:t>
            </a:r>
            <a:r>
              <a:rPr lang="en-US" sz="2000" b="0" u="none" strike="noStrike">
                <a:solidFill>
                  <a:srgbClr val="000000"/>
                </a:solidFill>
                <a:effectLst/>
                <a:uFillTx/>
                <a:latin typeface="Arial"/>
              </a:rPr>
              <a:t>0</a:t>
            </a:r>
            <a:r>
              <a:rPr lang="zh-CN" sz="2000" b="0" u="none" strike="noStrike">
                <a:solidFill>
                  <a:srgbClr val="000000"/>
                </a:solidFill>
                <a:effectLst/>
                <a:uFillTx/>
                <a:latin typeface="Arial"/>
              </a:rPr>
              <a:t>和</a:t>
            </a: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的情况</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例如，表为空或只有一项</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是容易出错的情况。</a:t>
            </a:r>
            <a:endParaRPr lang="en-US" sz="2000" b="0" u="none" strike="noStrike">
              <a:solidFill>
                <a:srgbClr val="000000"/>
              </a:solidFill>
              <a:effectLst/>
              <a:uFillTx/>
              <a:latin typeface="Arial"/>
            </a:endParaRPr>
          </a:p>
        </p:txBody>
      </p:sp>
      <p:sp>
        <p:nvSpPr>
          <p:cNvPr id="1146" name="PlaceHolder 3"/>
          <p:cNvSpPr>
            <a:spLocks noGrp="1"/>
          </p:cNvSpPr>
          <p:nvPr>
            <p:ph type="sldNum" idx="12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37708E8-120C-425D-BF9B-7B7E5965533B}"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7" name="PlaceHolder 1"/>
          <p:cNvSpPr>
            <a:spLocks noGrp="1"/>
          </p:cNvSpPr>
          <p:nvPr>
            <p:ph type="sldImg"/>
          </p:nvPr>
        </p:nvSpPr>
        <p:spPr>
          <a:xfrm>
            <a:off x="1143000" y="685800"/>
            <a:ext cx="4571640" cy="3428640"/>
          </a:xfrm>
          <a:prstGeom prst="rect">
            <a:avLst/>
          </a:prstGeom>
          <a:ln w="0">
            <a:noFill/>
          </a:ln>
        </p:spPr>
      </p:sp>
      <p:sp>
        <p:nvSpPr>
          <p:cNvPr id="114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49" name="PlaceHolder 3"/>
          <p:cNvSpPr>
            <a:spLocks noGrp="1"/>
          </p:cNvSpPr>
          <p:nvPr>
            <p:ph type="sldNum" idx="12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C9762D1-8403-41E1-9514-34DDD2C72D83}"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0" name="PlaceHolder 1"/>
          <p:cNvSpPr>
            <a:spLocks noGrp="1"/>
          </p:cNvSpPr>
          <p:nvPr>
            <p:ph type="sldImg"/>
          </p:nvPr>
        </p:nvSpPr>
        <p:spPr>
          <a:xfrm>
            <a:off x="1143000" y="685800"/>
            <a:ext cx="4571640" cy="3428640"/>
          </a:xfrm>
          <a:prstGeom prst="rect">
            <a:avLst/>
          </a:prstGeom>
          <a:ln w="0">
            <a:noFill/>
          </a:ln>
        </p:spPr>
      </p:sp>
      <p:sp>
        <p:nvSpPr>
          <p:cNvPr id="115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52" name="PlaceHolder 3"/>
          <p:cNvSpPr>
            <a:spLocks noGrp="1"/>
          </p:cNvSpPr>
          <p:nvPr>
            <p:ph type="sldNum" idx="12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DD93D14-418D-4E58-B472-A6067541267E}"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3" name="PlaceHolder 1"/>
          <p:cNvSpPr>
            <a:spLocks noGrp="1"/>
          </p:cNvSpPr>
          <p:nvPr>
            <p:ph type="sldImg"/>
          </p:nvPr>
        </p:nvSpPr>
        <p:spPr>
          <a:xfrm>
            <a:off x="1143000" y="685800"/>
            <a:ext cx="4571640" cy="3428640"/>
          </a:xfrm>
          <a:prstGeom prst="rect">
            <a:avLst/>
          </a:prstGeom>
          <a:ln w="0">
            <a:noFill/>
          </a:ln>
        </p:spPr>
      </p:sp>
      <p:sp>
        <p:nvSpPr>
          <p:cNvPr id="115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55" name="PlaceHolder 3"/>
          <p:cNvSpPr>
            <a:spLocks noGrp="1"/>
          </p:cNvSpPr>
          <p:nvPr>
            <p:ph type="sldNum" idx="12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EC442C6-688B-4DFF-805B-CF1692CB99A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6" name="PlaceHolder 1"/>
          <p:cNvSpPr>
            <a:spLocks noGrp="1"/>
          </p:cNvSpPr>
          <p:nvPr>
            <p:ph type="sldImg"/>
          </p:nvPr>
        </p:nvSpPr>
        <p:spPr>
          <a:xfrm>
            <a:off x="1143000" y="685800"/>
            <a:ext cx="4571640" cy="3428640"/>
          </a:xfrm>
          <a:prstGeom prst="rect">
            <a:avLst/>
          </a:prstGeom>
          <a:ln w="0">
            <a:noFill/>
          </a:ln>
        </p:spPr>
      </p:sp>
      <p:sp>
        <p:nvSpPr>
          <p:cNvPr id="115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58" name="PlaceHolder 3"/>
          <p:cNvSpPr>
            <a:spLocks noGrp="1"/>
          </p:cNvSpPr>
          <p:nvPr>
            <p:ph type="sldNum" idx="12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F992F4F-2AE3-48D3-8C55-7DA66765124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9" name="PlaceHolder 1"/>
          <p:cNvSpPr>
            <a:spLocks noGrp="1"/>
          </p:cNvSpPr>
          <p:nvPr>
            <p:ph type="sldImg"/>
          </p:nvPr>
        </p:nvSpPr>
        <p:spPr>
          <a:xfrm>
            <a:off x="1143000" y="685800"/>
            <a:ext cx="4571640" cy="3428640"/>
          </a:xfrm>
          <a:prstGeom prst="rect">
            <a:avLst/>
          </a:prstGeom>
          <a:ln w="0">
            <a:noFill/>
          </a:ln>
        </p:spPr>
      </p:sp>
      <p:sp>
        <p:nvSpPr>
          <p:cNvPr id="116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61" name="PlaceHolder 3"/>
          <p:cNvSpPr>
            <a:spLocks noGrp="1"/>
          </p:cNvSpPr>
          <p:nvPr>
            <p:ph type="sldNum" idx="12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C8E0560-2A7F-40BC-AB8F-FB85F40D905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2" name="PlaceHolder 1"/>
          <p:cNvSpPr>
            <a:spLocks noGrp="1"/>
          </p:cNvSpPr>
          <p:nvPr>
            <p:ph type="sldImg"/>
          </p:nvPr>
        </p:nvSpPr>
        <p:spPr>
          <a:xfrm>
            <a:off x="1143000" y="685800"/>
            <a:ext cx="4571640" cy="3428640"/>
          </a:xfrm>
          <a:prstGeom prst="rect">
            <a:avLst/>
          </a:prstGeom>
          <a:ln w="0">
            <a:noFill/>
          </a:ln>
        </p:spPr>
      </p:sp>
      <p:sp>
        <p:nvSpPr>
          <p:cNvPr id="116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64" name="PlaceHolder 3"/>
          <p:cNvSpPr>
            <a:spLocks noGrp="1"/>
          </p:cNvSpPr>
          <p:nvPr>
            <p:ph type="sldNum" idx="12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A6FFD4E-FE81-487F-AB87-26B33268262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5" name="PlaceHolder 1"/>
          <p:cNvSpPr>
            <a:spLocks noGrp="1"/>
          </p:cNvSpPr>
          <p:nvPr>
            <p:ph type="sldImg"/>
          </p:nvPr>
        </p:nvSpPr>
        <p:spPr>
          <a:xfrm>
            <a:off x="1143000" y="685800"/>
            <a:ext cx="4571640" cy="3428640"/>
          </a:xfrm>
          <a:prstGeom prst="rect">
            <a:avLst/>
          </a:prstGeom>
          <a:ln w="0">
            <a:noFill/>
          </a:ln>
        </p:spPr>
      </p:sp>
      <p:sp>
        <p:nvSpPr>
          <p:cNvPr id="116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67" name="PlaceHolder 3"/>
          <p:cNvSpPr>
            <a:spLocks noGrp="1"/>
          </p:cNvSpPr>
          <p:nvPr>
            <p:ph type="sldNum" idx="12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9F75DFC-84F5-4E93-8477-A914E18389E1}"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8" name="PlaceHolder 1"/>
          <p:cNvSpPr>
            <a:spLocks noGrp="1"/>
          </p:cNvSpPr>
          <p:nvPr>
            <p:ph type="sldImg"/>
          </p:nvPr>
        </p:nvSpPr>
        <p:spPr>
          <a:xfrm>
            <a:off x="1143000" y="685800"/>
            <a:ext cx="4571640" cy="3428640"/>
          </a:xfrm>
          <a:prstGeom prst="rect">
            <a:avLst/>
          </a:prstGeom>
          <a:ln w="0">
            <a:noFill/>
          </a:ln>
        </p:spPr>
      </p:sp>
      <p:sp>
        <p:nvSpPr>
          <p:cNvPr id="116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70" name="PlaceHolder 3"/>
          <p:cNvSpPr>
            <a:spLocks noGrp="1"/>
          </p:cNvSpPr>
          <p:nvPr>
            <p:ph type="sldNum" idx="12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F12CCA6-B971-4B4E-ADAE-73A99E29FC17}"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1" name="PlaceHolder 1"/>
          <p:cNvSpPr>
            <a:spLocks noGrp="1"/>
          </p:cNvSpPr>
          <p:nvPr>
            <p:ph type="sldImg"/>
          </p:nvPr>
        </p:nvSpPr>
        <p:spPr>
          <a:xfrm>
            <a:off x="1143000" y="685800"/>
            <a:ext cx="4571640" cy="3428640"/>
          </a:xfrm>
          <a:prstGeom prst="rect">
            <a:avLst/>
          </a:prstGeom>
          <a:ln w="0">
            <a:noFill/>
          </a:ln>
        </p:spPr>
      </p:sp>
      <p:sp>
        <p:nvSpPr>
          <p:cNvPr id="117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73" name="PlaceHolder 3"/>
          <p:cNvSpPr>
            <a:spLocks noGrp="1"/>
          </p:cNvSpPr>
          <p:nvPr>
            <p:ph type="sldNum" idx="12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90CC04B-F292-403B-B3A8-15539A6BAA4F}"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4" name="PlaceHolder 1"/>
          <p:cNvSpPr>
            <a:spLocks noGrp="1"/>
          </p:cNvSpPr>
          <p:nvPr>
            <p:ph type="sldImg"/>
          </p:nvPr>
        </p:nvSpPr>
        <p:spPr>
          <a:xfrm>
            <a:off x="1143000" y="685800"/>
            <a:ext cx="4571640" cy="3428640"/>
          </a:xfrm>
          <a:prstGeom prst="rect">
            <a:avLst/>
          </a:prstGeom>
          <a:ln w="0">
            <a:noFill/>
          </a:ln>
        </p:spPr>
      </p:sp>
      <p:sp>
        <p:nvSpPr>
          <p:cNvPr id="117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76" name="PlaceHolder 3"/>
          <p:cNvSpPr>
            <a:spLocks noGrp="1"/>
          </p:cNvSpPr>
          <p:nvPr>
            <p:ph type="sldNum" idx="13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BF7F995-0BEA-47D6-9B1E-3060EB7120D5}"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7" name="PlaceHolder 1"/>
          <p:cNvSpPr>
            <a:spLocks noGrp="1"/>
          </p:cNvSpPr>
          <p:nvPr>
            <p:ph type="sldImg"/>
          </p:nvPr>
        </p:nvSpPr>
        <p:spPr>
          <a:xfrm>
            <a:off x="1143000" y="685800"/>
            <a:ext cx="4571640" cy="3428640"/>
          </a:xfrm>
          <a:prstGeom prst="rect">
            <a:avLst/>
          </a:prstGeom>
          <a:ln w="0">
            <a:noFill/>
          </a:ln>
        </p:spPr>
      </p:sp>
      <p:sp>
        <p:nvSpPr>
          <p:cNvPr id="117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、对分查找法：如果输出结果是正确的，则错误原因在程序的前半部分；反之，错误原因在程序的后半部分。对错误原因所在的那部分再重复使用这个方法，直到把出错范围缩小到容易诊断的程度为止。</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2</a:t>
            </a:r>
            <a:r>
              <a:rPr lang="zh-CN" sz="2000" b="0" u="none" strike="noStrike">
                <a:solidFill>
                  <a:srgbClr val="000000"/>
                </a:solidFill>
                <a:effectLst/>
                <a:uFillTx/>
                <a:latin typeface="Arial"/>
              </a:rPr>
              <a:t>、归纳法：如果已有的数据尚不足以证明或排除这些假设，则需设计并执行一些新的测试用例，以获得更多的数据。</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3</a:t>
            </a:r>
            <a:r>
              <a:rPr lang="zh-CN" sz="2000" b="0" u="none" strike="noStrike">
                <a:solidFill>
                  <a:srgbClr val="000000"/>
                </a:solidFill>
                <a:effectLst/>
                <a:uFillTx/>
                <a:latin typeface="Arial"/>
              </a:rPr>
              <a:t>、演绎法：如果测试表明某个假设的原因可能是真的原因，则对数据进行细化以准确定位错误。</a:t>
            </a:r>
            <a:endParaRPr lang="en-US" sz="2000" b="0" u="none" strike="noStrike">
              <a:solidFill>
                <a:srgbClr val="000000"/>
              </a:solidFill>
              <a:effectLst/>
              <a:uFillTx/>
              <a:latin typeface="Arial"/>
            </a:endParaRPr>
          </a:p>
        </p:txBody>
      </p:sp>
      <p:sp>
        <p:nvSpPr>
          <p:cNvPr id="1179" name="PlaceHolder 3"/>
          <p:cNvSpPr>
            <a:spLocks noGrp="1"/>
          </p:cNvSpPr>
          <p:nvPr>
            <p:ph type="sldNum" idx="13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0E8BC0D-270E-4DB1-AA6C-DEF807E464A3}"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0" name="PlaceHolder 1"/>
          <p:cNvSpPr>
            <a:spLocks noGrp="1"/>
          </p:cNvSpPr>
          <p:nvPr>
            <p:ph type="sldImg"/>
          </p:nvPr>
        </p:nvSpPr>
        <p:spPr>
          <a:xfrm>
            <a:off x="1143000" y="685800"/>
            <a:ext cx="4571640" cy="3428640"/>
          </a:xfrm>
          <a:prstGeom prst="rect">
            <a:avLst/>
          </a:prstGeom>
          <a:ln w="0">
            <a:noFill/>
          </a:ln>
        </p:spPr>
      </p:sp>
      <p:sp>
        <p:nvSpPr>
          <p:cNvPr id="118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82" name="PlaceHolder 3"/>
          <p:cNvSpPr>
            <a:spLocks noGrp="1"/>
          </p:cNvSpPr>
          <p:nvPr>
            <p:ph type="sldNum" idx="13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B324024-5DF5-405C-8BFF-306322C7840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3" name="PlaceHolder 1"/>
          <p:cNvSpPr>
            <a:spLocks noGrp="1"/>
          </p:cNvSpPr>
          <p:nvPr>
            <p:ph type="sldImg"/>
          </p:nvPr>
        </p:nvSpPr>
        <p:spPr>
          <a:xfrm>
            <a:off x="1143000" y="685800"/>
            <a:ext cx="4571640" cy="3428640"/>
          </a:xfrm>
          <a:prstGeom prst="rect">
            <a:avLst/>
          </a:prstGeom>
          <a:ln w="0">
            <a:noFill/>
          </a:ln>
        </p:spPr>
      </p:sp>
      <p:sp>
        <p:nvSpPr>
          <p:cNvPr id="118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、按照</a:t>
            </a:r>
            <a:r>
              <a:rPr lang="en-US" sz="2000" b="0" u="none" strike="noStrike">
                <a:solidFill>
                  <a:srgbClr val="000000"/>
                </a:solidFill>
                <a:effectLst/>
                <a:uFillTx/>
                <a:latin typeface="Arial"/>
              </a:rPr>
              <a:t>IEEE</a:t>
            </a:r>
            <a:r>
              <a:rPr lang="zh-CN" sz="2000" b="0" u="none" strike="noStrike">
                <a:solidFill>
                  <a:srgbClr val="000000"/>
                </a:solidFill>
                <a:effectLst/>
                <a:uFillTx/>
                <a:latin typeface="Arial"/>
              </a:rPr>
              <a:t>的规定，术语“错误”的含义是由开发人员造成的软件差错（</a:t>
            </a:r>
            <a:r>
              <a:rPr lang="en-US" sz="2000" b="0" u="none" strike="noStrike">
                <a:solidFill>
                  <a:srgbClr val="000000"/>
                </a:solidFill>
                <a:effectLst/>
                <a:uFillTx/>
                <a:latin typeface="Arial"/>
              </a:rPr>
              <a:t>bug</a:t>
            </a:r>
            <a:r>
              <a:rPr lang="zh-CN" sz="2000" b="0" u="none" strike="noStrike">
                <a:solidFill>
                  <a:srgbClr val="000000"/>
                </a:solidFill>
                <a:effectLst/>
                <a:uFillTx/>
                <a:latin typeface="Arial"/>
              </a:rPr>
              <a:t>），而术语“故障”的含义是由错误引起的软件的不正确行为。</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2</a:t>
            </a:r>
            <a:r>
              <a:rPr lang="zh-CN" sz="2000" b="0" u="none" strike="noStrike">
                <a:solidFill>
                  <a:srgbClr val="000000"/>
                </a:solidFill>
                <a:effectLst/>
                <a:uFillTx/>
                <a:latin typeface="Arial"/>
              </a:rPr>
              <a:t>、可靠性和可用性的差别：如果在时刻</a:t>
            </a:r>
            <a:r>
              <a:rPr lang="en-US" sz="2000" b="0" u="none" strike="noStrike">
                <a:solidFill>
                  <a:srgbClr val="000000"/>
                </a:solidFill>
                <a:effectLst/>
                <a:uFillTx/>
                <a:latin typeface="Arial"/>
              </a:rPr>
              <a:t>t</a:t>
            </a:r>
            <a:r>
              <a:rPr lang="zh-CN" sz="2000" b="0" u="none" strike="noStrike">
                <a:solidFill>
                  <a:srgbClr val="000000"/>
                </a:solidFill>
                <a:effectLst/>
                <a:uFillTx/>
                <a:latin typeface="Arial"/>
              </a:rPr>
              <a:t>系统是可用的，则有下述种种可能：在</a:t>
            </a:r>
            <a:r>
              <a:rPr lang="en-US" sz="2000" b="0" u="none" strike="noStrike">
                <a:solidFill>
                  <a:srgbClr val="000000"/>
                </a:solidFill>
                <a:effectLst/>
                <a:uFillTx/>
                <a:latin typeface="Arial"/>
              </a:rPr>
              <a:t>0</a:t>
            </a:r>
            <a:r>
              <a:rPr lang="zh-CN" sz="2000" b="0" u="none" strike="noStrike">
                <a:solidFill>
                  <a:srgbClr val="000000"/>
                </a:solidFill>
                <a:effectLst/>
                <a:uFillTx/>
                <a:latin typeface="Arial"/>
              </a:rPr>
              <a:t>到</a:t>
            </a:r>
            <a:r>
              <a:rPr lang="en-US" sz="2000" b="0" u="none" strike="noStrike">
                <a:solidFill>
                  <a:srgbClr val="000000"/>
                </a:solidFill>
                <a:effectLst/>
                <a:uFillTx/>
                <a:latin typeface="Arial"/>
              </a:rPr>
              <a:t>t</a:t>
            </a:r>
            <a:r>
              <a:rPr lang="zh-CN" sz="2000" b="0" u="none" strike="noStrike">
                <a:solidFill>
                  <a:srgbClr val="000000"/>
                </a:solidFill>
                <a:effectLst/>
                <a:uFillTx/>
                <a:latin typeface="Arial"/>
              </a:rPr>
              <a:t>这段时间内，系统一直没失效</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可靠</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；在这段时间内失效了一次，但是又修复了；在这段时间内失效了两次修复了两次；……</a:t>
            </a:r>
            <a:endParaRPr lang="en-US" sz="2000" b="0" u="none" strike="noStrike">
              <a:solidFill>
                <a:srgbClr val="000000"/>
              </a:solidFill>
              <a:effectLst/>
              <a:uFillTx/>
              <a:latin typeface="Arial"/>
            </a:endParaRPr>
          </a:p>
        </p:txBody>
      </p:sp>
      <p:sp>
        <p:nvSpPr>
          <p:cNvPr id="1185" name="PlaceHolder 3"/>
          <p:cNvSpPr>
            <a:spLocks noGrp="1"/>
          </p:cNvSpPr>
          <p:nvPr>
            <p:ph type="sldNum" idx="13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F13A066-89A2-499B-977D-908B92F71C2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6" name="PlaceHolder 1"/>
          <p:cNvSpPr>
            <a:spLocks noGrp="1"/>
          </p:cNvSpPr>
          <p:nvPr>
            <p:ph type="sldImg"/>
          </p:nvPr>
        </p:nvSpPr>
        <p:spPr>
          <a:xfrm>
            <a:off x="1143000" y="685800"/>
            <a:ext cx="4571640" cy="3428640"/>
          </a:xfrm>
          <a:prstGeom prst="rect">
            <a:avLst/>
          </a:prstGeom>
          <a:ln w="0">
            <a:noFill/>
          </a:ln>
        </p:spPr>
      </p:sp>
      <p:sp>
        <p:nvSpPr>
          <p:cNvPr id="118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88" name="PlaceHolder 3"/>
          <p:cNvSpPr>
            <a:spLocks noGrp="1"/>
          </p:cNvSpPr>
          <p:nvPr>
            <p:ph type="sldNum" idx="13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8E2C573-3D93-45FA-91EB-953980B7A689}"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9" name="PlaceHolder 1"/>
          <p:cNvSpPr>
            <a:spLocks noGrp="1"/>
          </p:cNvSpPr>
          <p:nvPr>
            <p:ph type="sldImg"/>
          </p:nvPr>
        </p:nvSpPr>
        <p:spPr>
          <a:xfrm>
            <a:off x="1143000" y="685800"/>
            <a:ext cx="4571640" cy="3428640"/>
          </a:xfrm>
          <a:prstGeom prst="rect">
            <a:avLst/>
          </a:prstGeom>
          <a:ln w="0">
            <a:noFill/>
          </a:ln>
        </p:spPr>
      </p:sp>
      <p:sp>
        <p:nvSpPr>
          <p:cNvPr id="119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91" name="PlaceHolder 3"/>
          <p:cNvSpPr>
            <a:spLocks noGrp="1"/>
          </p:cNvSpPr>
          <p:nvPr>
            <p:ph type="sldNum" idx="13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A00415D-4BFF-4B75-9440-DEE950425C74}"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2" name="PlaceHolder 1"/>
          <p:cNvSpPr>
            <a:spLocks noGrp="1"/>
          </p:cNvSpPr>
          <p:nvPr>
            <p:ph type="sldImg"/>
          </p:nvPr>
        </p:nvSpPr>
        <p:spPr>
          <a:xfrm>
            <a:off x="1143000" y="685800"/>
            <a:ext cx="4571640" cy="3428640"/>
          </a:xfrm>
          <a:prstGeom prst="rect">
            <a:avLst/>
          </a:prstGeom>
          <a:ln w="0">
            <a:noFill/>
          </a:ln>
        </p:spPr>
      </p:sp>
      <p:sp>
        <p:nvSpPr>
          <p:cNvPr id="119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94" name="PlaceHolder 3"/>
          <p:cNvSpPr>
            <a:spLocks noGrp="1"/>
          </p:cNvSpPr>
          <p:nvPr>
            <p:ph type="sldNum" idx="13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C7EAA1E-A878-4243-BAA8-F1EF51871DB0}"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5" name="PlaceHolder 1"/>
          <p:cNvSpPr>
            <a:spLocks noGrp="1"/>
          </p:cNvSpPr>
          <p:nvPr>
            <p:ph type="sldImg"/>
          </p:nvPr>
        </p:nvSpPr>
        <p:spPr>
          <a:xfrm>
            <a:off x="1143000" y="685800"/>
            <a:ext cx="4571640" cy="3428640"/>
          </a:xfrm>
          <a:prstGeom prst="rect">
            <a:avLst/>
          </a:prstGeom>
          <a:ln w="0">
            <a:noFill/>
          </a:ln>
        </p:spPr>
      </p:sp>
      <p:sp>
        <p:nvSpPr>
          <p:cNvPr id="119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、可以根据估算平均无障碍时间的公式，得出计算</a:t>
            </a:r>
            <a:r>
              <a:rPr lang="en-US" sz="2000" b="0" i="1" u="none" strike="noStrike">
                <a:solidFill>
                  <a:srgbClr val="000000"/>
                </a:solidFill>
                <a:effectLst/>
                <a:uFillTx/>
                <a:latin typeface="Arial"/>
              </a:rPr>
              <a:t>E</a:t>
            </a:r>
            <a:r>
              <a:rPr lang="en-US" sz="2000" b="0" i="1" u="none" strike="noStrike" baseline="-25000">
                <a:solidFill>
                  <a:srgbClr val="000000"/>
                </a:solidFill>
                <a:effectLst/>
                <a:uFillTx/>
                <a:latin typeface="Arial"/>
              </a:rPr>
              <a:t>c</a:t>
            </a:r>
            <a:r>
              <a:rPr lang="zh-CN" sz="2000" b="0" i="1" u="none" strike="noStrike">
                <a:solidFill>
                  <a:srgbClr val="000000"/>
                </a:solidFill>
                <a:effectLst/>
                <a:uFillTx/>
                <a:latin typeface="Arial"/>
              </a:rPr>
              <a:t>，则</a:t>
            </a:r>
            <a:r>
              <a:rPr lang="zh-CN" sz="2000" b="0" u="none" strike="noStrike">
                <a:solidFill>
                  <a:srgbClr val="000000"/>
                </a:solidFill>
                <a:effectLst/>
                <a:uFillTx/>
                <a:latin typeface="Arial"/>
              </a:rPr>
              <a:t>可以估计需要改正多少个错误之后，测试工作才能结束。</a:t>
            </a:r>
            <a:endParaRPr lang="en-US" sz="2000" b="0" u="none" strike="noStrike">
              <a:solidFill>
                <a:srgbClr val="000000"/>
              </a:solidFill>
              <a:effectLst/>
              <a:uFillTx/>
              <a:latin typeface="Arial"/>
            </a:endParaRPr>
          </a:p>
        </p:txBody>
      </p:sp>
      <p:sp>
        <p:nvSpPr>
          <p:cNvPr id="1197" name="PlaceHolder 3"/>
          <p:cNvSpPr>
            <a:spLocks noGrp="1"/>
          </p:cNvSpPr>
          <p:nvPr>
            <p:ph type="sldNum" idx="13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7955659-C8B4-4C53-A7B7-9AAC6FA9D6C9}"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8" name="PlaceHolder 1"/>
          <p:cNvSpPr>
            <a:spLocks noGrp="1"/>
          </p:cNvSpPr>
          <p:nvPr>
            <p:ph type="sldImg"/>
          </p:nvPr>
        </p:nvSpPr>
        <p:spPr>
          <a:xfrm>
            <a:off x="1143000" y="685800"/>
            <a:ext cx="4571640" cy="3428640"/>
          </a:xfrm>
          <a:prstGeom prst="rect">
            <a:avLst/>
          </a:prstGeom>
          <a:ln w="0">
            <a:noFill/>
          </a:ln>
        </p:spPr>
      </p:sp>
      <p:sp>
        <p:nvSpPr>
          <p:cNvPr id="119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200" name="PlaceHolder 3"/>
          <p:cNvSpPr>
            <a:spLocks noGrp="1"/>
          </p:cNvSpPr>
          <p:nvPr>
            <p:ph type="sldNum" idx="13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E97741A-0BC0-4600-9213-8038D0B3542F}"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1" name="PlaceHolder 1"/>
          <p:cNvSpPr>
            <a:spLocks noGrp="1"/>
          </p:cNvSpPr>
          <p:nvPr>
            <p:ph type="sldImg"/>
          </p:nvPr>
        </p:nvSpPr>
        <p:spPr>
          <a:xfrm>
            <a:off x="1143000" y="685800"/>
            <a:ext cx="4571640" cy="3428640"/>
          </a:xfrm>
          <a:prstGeom prst="rect">
            <a:avLst/>
          </a:prstGeom>
          <a:ln w="0">
            <a:noFill/>
          </a:ln>
        </p:spPr>
      </p:sp>
      <p:sp>
        <p:nvSpPr>
          <p:cNvPr id="120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、如果有办法随机地把程序中一部分原有的错误加上标记，然后根据测试过程中发现的有标记错误和无标记错误的比例，估计程序中的错误总数，则这样得出的结果比用植入错误法得到的结果更可信一些。</a:t>
            </a:r>
            <a:endParaRPr lang="en-US" sz="2000" b="0" u="none" strike="noStrike">
              <a:solidFill>
                <a:srgbClr val="000000"/>
              </a:solidFill>
              <a:effectLst/>
              <a:uFillTx/>
              <a:latin typeface="Arial"/>
            </a:endParaRPr>
          </a:p>
        </p:txBody>
      </p:sp>
      <p:sp>
        <p:nvSpPr>
          <p:cNvPr id="1203" name="PlaceHolder 3"/>
          <p:cNvSpPr>
            <a:spLocks noGrp="1"/>
          </p:cNvSpPr>
          <p:nvPr>
            <p:ph type="sldNum" idx="13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530177C-0D09-4407-A650-1338013F4C6E}"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4" name="PlaceHolder 1"/>
          <p:cNvSpPr>
            <a:spLocks noGrp="1"/>
          </p:cNvSpPr>
          <p:nvPr>
            <p:ph type="sldImg"/>
          </p:nvPr>
        </p:nvSpPr>
        <p:spPr>
          <a:xfrm>
            <a:off x="1143000" y="685800"/>
            <a:ext cx="4571640" cy="3428640"/>
          </a:xfrm>
          <a:prstGeom prst="rect">
            <a:avLst/>
          </a:prstGeom>
          <a:ln w="0">
            <a:noFill/>
          </a:ln>
        </p:spPr>
      </p:sp>
      <p:sp>
        <p:nvSpPr>
          <p:cNvPr id="120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、如果有办法随机地把程序中一部分原有的错误加上标记，然后根据测试过程中发现的有标记错误和无标记错误的比例，估计程序中的错误总数，则这样得出的结果比用植入错误法得到的结果更可信一些。</a:t>
            </a:r>
            <a:endParaRPr lang="en-US" sz="2000" b="0" u="none" strike="noStrike">
              <a:solidFill>
                <a:srgbClr val="000000"/>
              </a:solidFill>
              <a:effectLst/>
              <a:uFillTx/>
              <a:latin typeface="Arial"/>
            </a:endParaRPr>
          </a:p>
        </p:txBody>
      </p:sp>
      <p:sp>
        <p:nvSpPr>
          <p:cNvPr id="1206" name="PlaceHolder 3"/>
          <p:cNvSpPr>
            <a:spLocks noGrp="1"/>
          </p:cNvSpPr>
          <p:nvPr>
            <p:ph type="sldNum" idx="14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92BCF44-BE3F-42A8-B350-BC2FBA740A0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a de título">
    <p:bg>
      <p:bgPr>
        <a:blipFill rotWithShape="0">
          <a:blip r:embed="rId2"/>
          <a:stretch/>
        </a:blipFill>
      </p:bgPr>
    </p:bg>
    <p:spTree>
      <p:nvGrpSpPr>
        <p:cNvPr id="1" name=""/>
        <p:cNvGrpSpPr/>
        <p:nvPr/>
      </p:nvGrpSpPr>
      <p:grpSpPr>
        <a:xfrm>
          <a:off x="0" y="0"/>
          <a:ext cx="0" cy="0"/>
          <a:chOff x="0" y="0"/>
          <a:chExt cx="0" cy="0"/>
        </a:xfrm>
      </p:grpSpPr>
      <p:pic>
        <p:nvPicPr>
          <p:cNvPr id="2" name="Imagen 5" descr="C:\Users\Design\Documents\Edu\Product Launch\shadown.png"/>
          <p:cNvPicPr/>
          <p:nvPr/>
        </p:nvPicPr>
        <p:blipFill>
          <a:blip r:embed="rId3"/>
          <a:stretch/>
        </p:blipFill>
        <p:spPr>
          <a:xfrm>
            <a:off x="2411280" y="5875200"/>
            <a:ext cx="761760" cy="982440"/>
          </a:xfrm>
          <a:prstGeom prst="rect">
            <a:avLst/>
          </a:prstGeom>
          <a:noFill/>
          <a:ln w="9525">
            <a:noFill/>
          </a:ln>
        </p:spPr>
      </p:pic>
      <p:pic>
        <p:nvPicPr>
          <p:cNvPr id="3" name="Imagen 5" descr="C:\Users\Design\Documents\Edu\Product Launch\shadown.png"/>
          <p:cNvPicPr/>
          <p:nvPr/>
        </p:nvPicPr>
        <p:blipFill>
          <a:blip r:embed="rId4"/>
          <a:stretch/>
        </p:blipFill>
        <p:spPr>
          <a:xfrm>
            <a:off x="5969160" y="6021360"/>
            <a:ext cx="763200" cy="982440"/>
          </a:xfrm>
          <a:prstGeom prst="rect">
            <a:avLst/>
          </a:prstGeom>
          <a:noFill/>
          <a:ln w="9525">
            <a:noFill/>
          </a:ln>
        </p:spPr>
      </p:pic>
      <p:pic>
        <p:nvPicPr>
          <p:cNvPr id="4" name="Imagen 5" descr="C:\Users\Design\Documents\Edu\Product Launch\shadown.png"/>
          <p:cNvPicPr/>
          <p:nvPr/>
        </p:nvPicPr>
        <p:blipFill>
          <a:blip r:embed="rId5"/>
          <a:stretch/>
        </p:blipFill>
        <p:spPr>
          <a:xfrm>
            <a:off x="5969160" y="6021360"/>
            <a:ext cx="763200" cy="982440"/>
          </a:xfrm>
          <a:prstGeom prst="rect">
            <a:avLst/>
          </a:prstGeom>
          <a:noFill/>
          <a:ln w="9525">
            <a:noFill/>
          </a:ln>
        </p:spPr>
      </p:pic>
      <p:sp>
        <p:nvSpPr>
          <p:cNvPr id="5" name="PlaceHolder 1"/>
          <p:cNvSpPr>
            <a:spLocks noGrp="1"/>
          </p:cNvSpPr>
          <p:nvPr>
            <p:ph type="title"/>
          </p:nvPr>
        </p:nvSpPr>
        <p:spPr>
          <a:xfrm>
            <a:off x="685800" y="2130480"/>
            <a:ext cx="7772040" cy="1469520"/>
          </a:xfrm>
          <a:prstGeom prst="rect">
            <a:avLst/>
          </a:prstGeom>
          <a:noFill/>
          <a:ln w="9360">
            <a:noFill/>
          </a:ln>
        </p:spPr>
        <p:txBody>
          <a:bodyPr numCol="1" spcCol="0" lIns="91440" rIns="91440" tIns="45720" bIns="45720" anchor="ctr">
            <a:noAutofit/>
          </a:bodyPr>
          <a:p>
            <a:pPr indent="0" algn="ctr">
              <a:lnSpc>
                <a:spcPct val="100000"/>
              </a:lnSpc>
              <a:buNone/>
            </a:pPr>
            <a:r>
              <a:rPr lang="es-ES" sz="4400" b="0" u="none" strike="noStrike">
                <a:solidFill>
                  <a:schemeClr val="dk1"/>
                </a:solidFill>
                <a:effectLst/>
                <a:uFillTx/>
                <a:latin typeface="Calibri"/>
              </a:rPr>
              <a:t>Haga clic para modificar el estilo de título del patrón</a:t>
            </a:r>
            <a:endParaRPr lang="es-ES" sz="4400" b="0" u="none" strike="noStrike">
              <a:solidFill>
                <a:schemeClr val="dk1"/>
              </a:solidFill>
              <a:effectLst/>
              <a:uFillTx/>
              <a:latin typeface="Arial"/>
            </a:endParaRPr>
          </a:p>
        </p:txBody>
      </p:sp>
      <p:sp>
        <p:nvSpPr>
          <p:cNvPr id="6" name="PlaceHolder 2"/>
          <p:cNvSpPr>
            <a:spLocks noGrp="1"/>
          </p:cNvSpPr>
          <p:nvPr>
            <p:ph type="dt" idx="1"/>
          </p:nvPr>
        </p:nvSpPr>
        <p:spPr>
          <a:xfrm>
            <a:off x="457200" y="6356520"/>
            <a:ext cx="2133360" cy="364680"/>
          </a:xfrm>
          <a:prstGeom prst="rect">
            <a:avLst/>
          </a:prstGeom>
          <a:noFill/>
          <a:ln w="0">
            <a:noFill/>
          </a:ln>
        </p:spPr>
        <p:txBody>
          <a:bodyPr numCol="1" spcCol="0" lIns="91440" rIns="91440" tIns="45720" bIns="45720" anchor="ctr">
            <a:noAutofit/>
          </a:bodyPr>
          <a:lstStyle>
            <a:lvl1pPr indent="0">
              <a:lnSpc>
                <a:spcPct val="100000"/>
              </a:lnSpc>
              <a:buNone/>
              <a:defRPr lang="es-ES" sz="1200" b="0" u="none" strike="noStrike">
                <a:solidFill>
                  <a:srgbClr val="898989"/>
                </a:solidFill>
                <a:effectLst/>
                <a:uFillTx/>
                <a:latin typeface="Calibri"/>
                <a:ea typeface="宋体"/>
              </a:defRPr>
            </a:lvl1pPr>
          </a:lstStyle>
          <a:p>
            <a:pPr indent="0">
              <a:lnSpc>
                <a:spcPct val="100000"/>
              </a:lnSpc>
              <a:buNone/>
            </a:pPr>
            <a:r>
              <a:rPr lang="es-ES" sz="1200" b="0" u="none" strike="noStrike">
                <a:solidFill>
                  <a:srgbClr val="898989"/>
                </a:solidFill>
                <a:effectLst/>
                <a:uFillTx/>
                <a:latin typeface="Calibri"/>
                <a:ea typeface="宋体"/>
              </a:rPr>
              <a:t>&lt;日期/时间&gt;</a:t>
            </a:r>
            <a:endParaRPr lang="en-US" sz="1200" b="0" u="none" strike="noStrike">
              <a:solidFill>
                <a:srgbClr val="000000"/>
              </a:solidFill>
              <a:effectLst/>
              <a:uFillTx/>
              <a:latin typeface="Times New Roman"/>
            </a:endParaRPr>
          </a:p>
        </p:txBody>
      </p:sp>
      <p:sp>
        <p:nvSpPr>
          <p:cNvPr id="7" name="PlaceHolder 3"/>
          <p:cNvSpPr>
            <a:spLocks noGrp="1"/>
          </p:cNvSpPr>
          <p:nvPr>
            <p:ph type="ftr" idx="2"/>
          </p:nvPr>
        </p:nvSpPr>
        <p:spPr>
          <a:xfrm>
            <a:off x="3124080" y="6356520"/>
            <a:ext cx="2895120" cy="364680"/>
          </a:xfrm>
          <a:prstGeom prst="rect">
            <a:avLst/>
          </a:prstGeom>
          <a:noFill/>
          <a:ln w="0">
            <a:noFill/>
          </a:ln>
        </p:spPr>
        <p:txBody>
          <a:bodyPr numCol="1" spcCol="0"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&lt;页脚&gt;</a:t>
            </a:r>
            <a:endParaRPr lang="en-US" sz="1400" b="0" u="none" strike="noStrike">
              <a:solidFill>
                <a:srgbClr val="000000"/>
              </a:solidFill>
              <a:effectLst/>
              <a:uFillTx/>
              <a:latin typeface="Times New Roman"/>
            </a:endParaRPr>
          </a:p>
        </p:txBody>
      </p:sp>
      <p:sp>
        <p:nvSpPr>
          <p:cNvPr id="8" name="PlaceHolder 4"/>
          <p:cNvSpPr>
            <a:spLocks noGrp="1"/>
          </p:cNvSpPr>
          <p:nvPr>
            <p:ph type="sldNum" idx="3"/>
          </p:nvPr>
        </p:nvSpPr>
        <p:spPr>
          <a:xfrm>
            <a:off x="6553080" y="6356520"/>
            <a:ext cx="2133360" cy="364680"/>
          </a:xfrm>
          <a:prstGeom prst="rect">
            <a:avLst/>
          </a:prstGeom>
          <a:noFill/>
          <a:ln w="0">
            <a:noFill/>
          </a:ln>
        </p:spPr>
        <p:txBody>
          <a:bodyPr numCol="1" spcCol="0" lIns="91440" rIns="91440" tIns="45720" bIns="45720" anchor="ctr">
            <a:noAutofit/>
          </a:bodyPr>
          <a:lstStyle>
            <a:lvl1pPr indent="0" algn="r">
              <a:lnSpc>
                <a:spcPct val="100000"/>
              </a:lnSpc>
              <a:buNone/>
              <a:defRPr lang="es-ES" sz="1200" b="0" u="none" strike="noStrike">
                <a:solidFill>
                  <a:srgbClr val="898989"/>
                </a:solidFill>
                <a:effectLst/>
                <a:uFillTx/>
                <a:latin typeface="Calibri"/>
                <a:ea typeface="宋体"/>
              </a:defRPr>
            </a:lvl1pPr>
          </a:lstStyle>
          <a:p>
            <a:pPr indent="0" algn="r">
              <a:lnSpc>
                <a:spcPct val="100000"/>
              </a:lnSpc>
              <a:buNone/>
            </a:pPr>
            <a:fld id="{359AFC33-38D6-476C-A28C-201322510851}" type="slidenum">
              <a:rPr lang="es-ES" sz="1200" b="0" u="none" strike="noStrike">
                <a:solidFill>
                  <a:srgbClr val="898989"/>
                </a:solidFill>
                <a:effectLst/>
                <a:uFillTx/>
                <a:latin typeface="Calibri"/>
                <a:ea typeface="宋体"/>
              </a:rPr>
              <a:t>&lt;编号&gt;</a:t>
            </a:fld>
            <a:endParaRPr lang="en-US" sz="1200" b="0" u="none" strike="noStrike">
              <a:solidFill>
                <a:srgbClr val="000000"/>
              </a:solidFill>
              <a:effectLst/>
              <a:uFillTx/>
              <a:latin typeface="Times New Roman"/>
            </a:endParaRPr>
          </a:p>
        </p:txBody>
      </p:sp>
      <p:sp>
        <p:nvSpPr>
          <p:cNvPr id="9"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zh-CN" sz="3200" b="0" u="none" strike="noStrike">
                <a:solidFill>
                  <a:schemeClr val="dk1"/>
                </a:solidFill>
                <a:effectLst/>
                <a:uFillTx/>
                <a:latin typeface="Calibri"/>
              </a:rPr>
              <a:t>点击以编辑提纲文本格式</a:t>
            </a:r>
            <a:endParaRPr lang="es-ES" sz="3200" b="0" u="none" strike="noStrike">
              <a:solidFill>
                <a:schemeClr val="dk1"/>
              </a:solidFill>
              <a:effectLst/>
              <a:uFillTx/>
              <a:latin typeface="Calibri"/>
            </a:endParaRPr>
          </a:p>
          <a:p>
            <a:pPr marL="864000" lvl="1" indent="-324000">
              <a:spcBef>
                <a:spcPts val="1134"/>
              </a:spcBef>
              <a:buClr>
                <a:srgbClr val="000000"/>
              </a:buClr>
              <a:buSzPct val="75000"/>
              <a:buFont typeface="Symbol" charset="2"/>
              <a:buChar char=""/>
            </a:pPr>
            <a:r>
              <a:rPr lang="zh-CN" sz="2400" b="0" u="none" strike="noStrike">
                <a:solidFill>
                  <a:schemeClr val="dk1"/>
                </a:solidFill>
                <a:effectLst/>
                <a:uFillTx/>
                <a:latin typeface="Calibri"/>
              </a:rPr>
              <a:t>第二提纲级别</a:t>
            </a:r>
            <a:endParaRPr lang="es-ES" sz="2400" b="0" u="none" strike="noStrike">
              <a:solidFill>
                <a:schemeClr val="dk1"/>
              </a:solidFill>
              <a:effectLst/>
              <a:uFillTx/>
              <a:latin typeface="Calibri"/>
            </a:endParaRPr>
          </a:p>
          <a:p>
            <a:pPr marL="1296000" lvl="2" indent="-288000">
              <a:spcBef>
                <a:spcPts val="850"/>
              </a:spcBef>
              <a:buClr>
                <a:srgbClr val="000000"/>
              </a:buClr>
              <a:buSzPct val="45000"/>
              <a:buFont typeface="Wingdings" charset="2"/>
              <a:buChar char=""/>
            </a:pPr>
            <a:r>
              <a:rPr lang="zh-CN" sz="2000" b="0" u="none" strike="noStrike">
                <a:solidFill>
                  <a:schemeClr val="dk1"/>
                </a:solidFill>
                <a:effectLst/>
                <a:uFillTx/>
                <a:latin typeface="Calibri"/>
              </a:rPr>
              <a:t>第三提纲级别</a:t>
            </a:r>
            <a:endParaRPr lang="es-ES" sz="2000" b="0" u="none" strike="noStrike">
              <a:solidFill>
                <a:schemeClr val="dk1"/>
              </a:solidFill>
              <a:effectLst/>
              <a:uFillTx/>
              <a:latin typeface="Calibri"/>
            </a:endParaRPr>
          </a:p>
          <a:p>
            <a:pPr marL="1728000" lvl="3" indent="-216000">
              <a:spcBef>
                <a:spcPts val="567"/>
              </a:spcBef>
              <a:buClr>
                <a:srgbClr val="000000"/>
              </a:buClr>
              <a:buSzPct val="75000"/>
              <a:buFont typeface="Symbol" charset="2"/>
              <a:buChar char=""/>
            </a:pPr>
            <a:r>
              <a:rPr lang="zh-CN" sz="2000" b="0" u="none" strike="noStrike">
                <a:solidFill>
                  <a:schemeClr val="dk1"/>
                </a:solidFill>
                <a:effectLst/>
                <a:uFillTx/>
                <a:latin typeface="Calibri"/>
              </a:rPr>
              <a:t>第四提纲级别</a:t>
            </a:r>
            <a:endParaRPr lang="es-ES" sz="2000" b="0" u="none" strike="noStrike">
              <a:solidFill>
                <a:schemeClr val="dk1"/>
              </a:solidFill>
              <a:effectLst/>
              <a:uFillTx/>
              <a:latin typeface="Calibri"/>
            </a:endParaRPr>
          </a:p>
          <a:p>
            <a:pPr marL="2160000" lvl="4" indent="-216000">
              <a:spcBef>
                <a:spcPts val="283"/>
              </a:spcBef>
              <a:buClr>
                <a:srgbClr val="000000"/>
              </a:buClr>
              <a:buSzPct val="45000"/>
              <a:buFont typeface="Wingdings" charset="2"/>
              <a:buChar char=""/>
            </a:pPr>
            <a:r>
              <a:rPr lang="zh-CN" sz="2000" b="0" u="none" strike="noStrike">
                <a:solidFill>
                  <a:schemeClr val="dk1"/>
                </a:solidFill>
                <a:effectLst/>
                <a:uFillTx/>
                <a:latin typeface="Calibri"/>
              </a:rPr>
              <a:t>第五提纲级别</a:t>
            </a:r>
            <a:endParaRPr lang="es-ES" sz="2000" b="0" u="none" strike="noStrike">
              <a:solidFill>
                <a:schemeClr val="dk1"/>
              </a:solidFill>
              <a:effectLst/>
              <a:uFillTx/>
              <a:latin typeface="Calibri"/>
            </a:endParaRPr>
          </a:p>
          <a:p>
            <a:pPr marL="2592000" lvl="5" indent="-216000">
              <a:spcBef>
                <a:spcPts val="283"/>
              </a:spcBef>
              <a:buClr>
                <a:srgbClr val="000000"/>
              </a:buClr>
              <a:buSzPct val="45000"/>
              <a:buFont typeface="Wingdings" charset="2"/>
              <a:buChar char=""/>
            </a:pPr>
            <a:r>
              <a:rPr lang="zh-CN" sz="2000" b="0" u="none" strike="noStrike">
                <a:solidFill>
                  <a:schemeClr val="dk1"/>
                </a:solidFill>
                <a:effectLst/>
                <a:uFillTx/>
                <a:latin typeface="Calibri"/>
              </a:rPr>
              <a:t>第六提纲级别</a:t>
            </a:r>
            <a:endParaRPr lang="es-ES" sz="2000" b="0" u="none" strike="noStrike">
              <a:solidFill>
                <a:schemeClr val="dk1"/>
              </a:solidFill>
              <a:effectLst/>
              <a:uFillTx/>
              <a:latin typeface="Calibri"/>
            </a:endParaRPr>
          </a:p>
          <a:p>
            <a:pPr marL="3024000" lvl="6" indent="-216000">
              <a:spcBef>
                <a:spcPts val="283"/>
              </a:spcBef>
              <a:buClr>
                <a:srgbClr val="000000"/>
              </a:buClr>
              <a:buSzPct val="45000"/>
              <a:buFont typeface="Wingdings" charset="2"/>
              <a:buChar char=""/>
            </a:pPr>
            <a:r>
              <a:rPr lang="zh-CN" sz="2000" b="0" u="none" strike="noStrike">
                <a:solidFill>
                  <a:schemeClr val="dk1"/>
                </a:solidFill>
                <a:effectLst/>
                <a:uFillTx/>
                <a:latin typeface="Calibri"/>
              </a:rPr>
              <a:t>第七提纲级别</a:t>
            </a:r>
            <a:endParaRPr lang="es-ES" sz="20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ítulo y objetos">
    <p:bg>
      <p:bgPr>
        <a:blipFill rotWithShape="0">
          <a:blip r:embed="rId2"/>
          <a:stretch/>
        </a:blipFill>
      </p:bgPr>
    </p:bg>
    <p:spTree>
      <p:nvGrpSpPr>
        <p:cNvPr id="1" name=""/>
        <p:cNvGrpSpPr/>
        <p:nvPr/>
      </p:nvGrpSpPr>
      <p:grpSpPr>
        <a:xfrm>
          <a:off x="0" y="0"/>
          <a:ext cx="0" cy="0"/>
          <a:chOff x="0" y="0"/>
          <a:chExt cx="0" cy="0"/>
        </a:xfrm>
      </p:grpSpPr>
      <p:pic>
        <p:nvPicPr>
          <p:cNvPr id="10" name="Imagen 5" descr="C:\Users\Design\Documents\Edu\Product Launch\shadown.png"/>
          <p:cNvPicPr/>
          <p:nvPr/>
        </p:nvPicPr>
        <p:blipFill>
          <a:blip r:embed="rId3"/>
          <a:stretch/>
        </p:blipFill>
        <p:spPr>
          <a:xfrm>
            <a:off x="2411280" y="5875200"/>
            <a:ext cx="761760" cy="982440"/>
          </a:xfrm>
          <a:prstGeom prst="rect">
            <a:avLst/>
          </a:prstGeom>
          <a:noFill/>
          <a:ln w="9525">
            <a:noFill/>
          </a:ln>
        </p:spPr>
      </p:pic>
      <p:pic>
        <p:nvPicPr>
          <p:cNvPr id="11" name="Imagen 5" descr="C:\Users\Design\Documents\Edu\Product Launch\shadown.png"/>
          <p:cNvPicPr/>
          <p:nvPr/>
        </p:nvPicPr>
        <p:blipFill>
          <a:blip r:embed="rId4"/>
          <a:stretch/>
        </p:blipFill>
        <p:spPr>
          <a:xfrm>
            <a:off x="5969160" y="6021360"/>
            <a:ext cx="763200" cy="982440"/>
          </a:xfrm>
          <a:prstGeom prst="rect">
            <a:avLst/>
          </a:prstGeom>
          <a:noFill/>
          <a:ln w="9525">
            <a:noFill/>
          </a:ln>
        </p:spPr>
      </p:pic>
      <p:sp>
        <p:nvSpPr>
          <p:cNvPr id="12" name="46 Recortar rectángulo de esquina del mismo lado"/>
          <p:cNvSpPr/>
          <p:nvPr/>
        </p:nvSpPr>
        <p:spPr>
          <a:xfrm>
            <a:off x="8348760" y="0"/>
            <a:ext cx="431280" cy="433080"/>
          </a:xfrm>
          <a:prstGeom prst="snip2SameRect">
            <a:avLst>
              <a:gd name="adj1" fmla="val 16667"/>
              <a:gd name="adj2" fmla="val 0"/>
            </a:avLst>
          </a:prstGeom>
          <a:gradFill rotWithShape="0">
            <a:gsLst>
              <a:gs pos="0">
                <a:srgbClr val="c00000"/>
              </a:gs>
              <a:gs pos="80000">
                <a:srgbClr val="70201e"/>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nSpc>
                <a:spcPct val="100000"/>
              </a:lnSpc>
            </a:pPr>
            <a:endParaRPr lang="es-ES" sz="1800" b="0" u="none" strike="noStrike">
              <a:solidFill>
                <a:schemeClr val="lt1"/>
              </a:solidFill>
              <a:effectLst/>
              <a:uFillTx/>
              <a:latin typeface="Calibri"/>
              <a:ea typeface="宋体"/>
            </a:endParaRPr>
          </a:p>
        </p:txBody>
      </p:sp>
      <p:sp>
        <p:nvSpPr>
          <p:cNvPr id="13" name="5 Marcador de número de diapositiva"/>
          <p:cNvSpPr/>
          <p:nvPr/>
        </p:nvSpPr>
        <p:spPr>
          <a:xfrm>
            <a:off x="8204040" y="68400"/>
            <a:ext cx="576000" cy="36468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pPr>
            <a:fld id="{76625E87-F661-43D8-A068-5A410B8B8494}" type="slidenum">
              <a:rPr lang="es-ES" sz="2000" b="1" u="none" strike="noStrike">
                <a:solidFill>
                  <a:schemeClr val="lt1"/>
                </a:solidFill>
                <a:effectLst/>
                <a:uFillTx/>
                <a:latin typeface="Calibri"/>
                <a:ea typeface="宋体"/>
              </a:rPr>
              <a:t>&lt;编号&gt;</a:t>
            </a:fld>
            <a:endParaRPr lang="en-US" sz="2000" b="0" u="none" strike="noStrike">
              <a:solidFill>
                <a:srgbClr val="000000"/>
              </a:solidFill>
              <a:effectLst/>
              <a:uFillTx/>
              <a:latin typeface="Arial"/>
            </a:endParaRPr>
          </a:p>
        </p:txBody>
      </p:sp>
      <p:pic>
        <p:nvPicPr>
          <p:cNvPr id="14" name="Imagen 5" descr="C:\Users\Design\Documents\Edu\Product Launch\shadown.png"/>
          <p:cNvPicPr/>
          <p:nvPr/>
        </p:nvPicPr>
        <p:blipFill>
          <a:blip r:embed="rId5"/>
          <a:stretch/>
        </p:blipFill>
        <p:spPr>
          <a:xfrm>
            <a:off x="5969160" y="6021360"/>
            <a:ext cx="763200" cy="982440"/>
          </a:xfrm>
          <a:prstGeom prst="rect">
            <a:avLst/>
          </a:prstGeom>
          <a:noFill/>
          <a:ln w="9525">
            <a:noFill/>
          </a:ln>
        </p:spPr>
      </p:pic>
      <p:sp>
        <p:nvSpPr>
          <p:cNvPr id="15" name="PlaceHolder 1"/>
          <p:cNvSpPr>
            <a:spLocks noGrp="1"/>
          </p:cNvSpPr>
          <p:nvPr>
            <p:ph type="title"/>
          </p:nvPr>
        </p:nvSpPr>
        <p:spPr>
          <a:xfrm>
            <a:off x="457200" y="2746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s-ES" sz="4400" b="0" u="none" strike="noStrike">
                <a:solidFill>
                  <a:schemeClr val="dk1"/>
                </a:solidFill>
                <a:effectLst/>
                <a:uFillTx/>
                <a:latin typeface="Calibri"/>
              </a:rPr>
              <a:t>Haga clic para modificar el estilo de título del patrón</a:t>
            </a:r>
            <a:endParaRPr lang="es-ES" sz="4400" b="0" u="none" strike="noStrike">
              <a:solidFill>
                <a:schemeClr val="dk1"/>
              </a:solidFill>
              <a:effectLst/>
              <a:uFillTx/>
              <a:latin typeface="Arial"/>
            </a:endParaRPr>
          </a:p>
        </p:txBody>
      </p:sp>
      <p:sp>
        <p:nvSpPr>
          <p:cNvPr id="16" name="PlaceHolder 2"/>
          <p:cNvSpPr>
            <a:spLocks noGrp="1"/>
          </p:cNvSpPr>
          <p:nvPr>
            <p:ph type="body"/>
          </p:nvPr>
        </p:nvSpPr>
        <p:spPr>
          <a:xfrm>
            <a:off x="457200" y="1600200"/>
            <a:ext cx="8229240" cy="4525560"/>
          </a:xfrm>
          <a:prstGeom prst="rect">
            <a:avLst/>
          </a:prstGeom>
          <a:noFill/>
          <a:ln w="9360">
            <a:noFill/>
          </a:ln>
        </p:spPr>
        <p:txBody>
          <a:bodyPr numCol="1" spcCol="0" lIns="91440" rIns="91440" tIns="45720" bIns="45720" anchor="t">
            <a:noAutofit/>
          </a:bodyPr>
          <a:p>
            <a:pPr marL="343080" indent="-343080">
              <a:lnSpc>
                <a:spcPct val="100000"/>
              </a:lnSpc>
              <a:spcBef>
                <a:spcPts val="641"/>
              </a:spcBef>
              <a:buClr>
                <a:srgbClr val="000000"/>
              </a:buClr>
              <a:buFont typeface="Arial"/>
              <a:buChar char="•"/>
            </a:pPr>
            <a:r>
              <a:rPr lang="es-ES" sz="3200" b="0" u="none" strike="noStrike">
                <a:solidFill>
                  <a:schemeClr val="dk1"/>
                </a:solidFill>
                <a:effectLst/>
                <a:uFillTx/>
                <a:latin typeface="Calibri"/>
              </a:rPr>
              <a:t>Haga clic para modificar el estilo de texto del patrón</a:t>
            </a:r>
            <a:endParaRPr lang="es-ES" sz="3200" b="0" u="none" strike="noStrike">
              <a:solidFill>
                <a:schemeClr val="dk1"/>
              </a:solidFill>
              <a:effectLst/>
              <a:uFillTx/>
              <a:latin typeface="Calibri"/>
            </a:endParaRPr>
          </a:p>
          <a:p>
            <a:pPr marL="743040" lvl="1" indent="-285840">
              <a:lnSpc>
                <a:spcPct val="100000"/>
              </a:lnSpc>
              <a:spcBef>
                <a:spcPts val="561"/>
              </a:spcBef>
              <a:buClr>
                <a:srgbClr val="000000"/>
              </a:buClr>
              <a:buFont typeface="Arial"/>
              <a:buChar char="–"/>
            </a:pPr>
            <a:r>
              <a:rPr lang="es-ES" sz="2800" b="0" u="none" strike="noStrike">
                <a:solidFill>
                  <a:schemeClr val="dk1"/>
                </a:solidFill>
                <a:effectLst/>
                <a:uFillTx/>
                <a:latin typeface="Calibri"/>
              </a:rPr>
              <a:t>Segundo nivel</a:t>
            </a:r>
            <a:endParaRPr lang="es-ES" sz="2800" b="0" u="none" strike="noStrike">
              <a:solidFill>
                <a:schemeClr val="dk1"/>
              </a:solidFill>
              <a:effectLst/>
              <a:uFillTx/>
              <a:latin typeface="Calibri"/>
            </a:endParaRPr>
          </a:p>
          <a:p>
            <a:pPr marL="1143000" lvl="2" indent="-228600">
              <a:lnSpc>
                <a:spcPct val="100000"/>
              </a:lnSpc>
              <a:spcBef>
                <a:spcPts val="479"/>
              </a:spcBef>
              <a:buClr>
                <a:srgbClr val="000000"/>
              </a:buClr>
              <a:buFont typeface="Arial"/>
              <a:buChar char="•"/>
            </a:pPr>
            <a:r>
              <a:rPr lang="es-ES" sz="2400" b="0" u="none" strike="noStrike">
                <a:solidFill>
                  <a:schemeClr val="dk1"/>
                </a:solidFill>
                <a:effectLst/>
                <a:uFillTx/>
                <a:latin typeface="Calibri"/>
              </a:rPr>
              <a:t>Tercer nivel</a:t>
            </a:r>
            <a:endParaRPr lang="es-ES" sz="2400" b="0" u="none" strike="noStrike">
              <a:solidFill>
                <a:schemeClr val="dk1"/>
              </a:solidFill>
              <a:effectLst/>
              <a:uFillTx/>
              <a:latin typeface="Calibri"/>
            </a:endParaRPr>
          </a:p>
          <a:p>
            <a:pPr marL="1600200" lvl="3" indent="-228600">
              <a:lnSpc>
                <a:spcPct val="100000"/>
              </a:lnSpc>
              <a:spcBef>
                <a:spcPts val="400"/>
              </a:spcBef>
              <a:buClr>
                <a:srgbClr val="000000"/>
              </a:buClr>
              <a:buFont typeface="Arial"/>
              <a:buChar char="–"/>
            </a:pPr>
            <a:r>
              <a:rPr lang="es-ES" sz="2000" b="0" u="none" strike="noStrike">
                <a:solidFill>
                  <a:schemeClr val="dk1"/>
                </a:solidFill>
                <a:effectLst/>
                <a:uFillTx/>
                <a:latin typeface="Calibri"/>
              </a:rPr>
              <a:t>Cuarto nivel</a:t>
            </a:r>
            <a:endParaRPr lang="es-ES" sz="2000" b="0" u="none" strike="noStrike">
              <a:solidFill>
                <a:schemeClr val="dk1"/>
              </a:solidFill>
              <a:effectLst/>
              <a:uFillTx/>
              <a:latin typeface="Calibri"/>
            </a:endParaRPr>
          </a:p>
          <a:p>
            <a:pPr marL="2057400" lvl="4" indent="-228600">
              <a:lnSpc>
                <a:spcPct val="100000"/>
              </a:lnSpc>
              <a:spcBef>
                <a:spcPts val="400"/>
              </a:spcBef>
              <a:buClr>
                <a:srgbClr val="000000"/>
              </a:buClr>
              <a:buFont typeface="Arial"/>
              <a:buChar char="»"/>
            </a:pPr>
            <a:r>
              <a:rPr lang="es-ES" sz="2000" b="0" u="none" strike="noStrike">
                <a:solidFill>
                  <a:schemeClr val="dk1"/>
                </a:solidFill>
                <a:effectLst/>
                <a:uFillTx/>
                <a:latin typeface="Calibri"/>
              </a:rPr>
              <a:t>Quinto nivel</a:t>
            </a:r>
            <a:endParaRPr lang="es-ES" sz="2000" b="0" u="none" strike="noStrike">
              <a:solidFill>
                <a:schemeClr val="dk1"/>
              </a:solidFill>
              <a:effectLst/>
              <a:uFillTx/>
              <a:latin typeface="Calibri"/>
            </a:endParaRPr>
          </a:p>
        </p:txBody>
      </p:sp>
      <p:sp>
        <p:nvSpPr>
          <p:cNvPr id="17" name="PlaceHolder 3"/>
          <p:cNvSpPr>
            <a:spLocks noGrp="1"/>
          </p:cNvSpPr>
          <p:nvPr>
            <p:ph type="dt" idx="4"/>
          </p:nvPr>
        </p:nvSpPr>
        <p:spPr>
          <a:xfrm>
            <a:off x="457200" y="6356520"/>
            <a:ext cx="2133360" cy="364680"/>
          </a:xfrm>
          <a:prstGeom prst="rect">
            <a:avLst/>
          </a:prstGeom>
          <a:noFill/>
          <a:ln w="0">
            <a:noFill/>
          </a:ln>
        </p:spPr>
        <p:txBody>
          <a:bodyPr numCol="1" spcCol="0" lIns="91440" rIns="91440" tIns="45720" bIns="45720" anchor="ctr">
            <a:noAutofit/>
          </a:bodyPr>
          <a:lstStyle>
            <a:lvl1pPr indent="0">
              <a:lnSpc>
                <a:spcPct val="100000"/>
              </a:lnSpc>
              <a:buNone/>
              <a:defRPr lang="es-ES" sz="1200" b="0" u="none" strike="noStrike">
                <a:solidFill>
                  <a:srgbClr val="898989"/>
                </a:solidFill>
                <a:effectLst/>
                <a:uFillTx/>
                <a:latin typeface="Calibri"/>
                <a:ea typeface="宋体"/>
              </a:defRPr>
            </a:lvl1pPr>
          </a:lstStyle>
          <a:p>
            <a:pPr indent="0">
              <a:lnSpc>
                <a:spcPct val="100000"/>
              </a:lnSpc>
              <a:buNone/>
            </a:pPr>
            <a:r>
              <a:rPr lang="es-ES" sz="1200" b="0" u="none" strike="noStrike">
                <a:solidFill>
                  <a:srgbClr val="898989"/>
                </a:solidFill>
                <a:effectLst/>
                <a:uFillTx/>
                <a:latin typeface="Calibri"/>
                <a:ea typeface="宋体"/>
              </a:rPr>
              <a:t>&lt;日期/时间&gt;</a:t>
            </a:r>
            <a:endParaRPr lang="en-US" sz="1200" b="0" u="none" strike="noStrike">
              <a:solidFill>
                <a:srgbClr val="000000"/>
              </a:solidFill>
              <a:effectLst/>
              <a:uFillTx/>
              <a:latin typeface="Times New Roman"/>
            </a:endParaRPr>
          </a:p>
        </p:txBody>
      </p:sp>
      <p:sp>
        <p:nvSpPr>
          <p:cNvPr id="18" name="PlaceHolder 4"/>
          <p:cNvSpPr>
            <a:spLocks noGrp="1"/>
          </p:cNvSpPr>
          <p:nvPr>
            <p:ph type="ftr" idx="5"/>
          </p:nvPr>
        </p:nvSpPr>
        <p:spPr>
          <a:xfrm>
            <a:off x="3124080" y="6356520"/>
            <a:ext cx="2895120" cy="364680"/>
          </a:xfrm>
          <a:prstGeom prst="rect">
            <a:avLst/>
          </a:prstGeom>
          <a:noFill/>
          <a:ln w="0">
            <a:noFill/>
          </a:ln>
        </p:spPr>
        <p:txBody>
          <a:bodyPr numCol="1" spcCol="0"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&lt;页脚&gt;</a:t>
            </a:r>
            <a:endParaRPr lang="en-US" sz="14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ítulo y objetos">
    <p:bg>
      <p:bgPr>
        <a:blipFill rotWithShape="0">
          <a:blip r:embed="rId2"/>
          <a:stretch/>
        </a:blipFill>
      </p:bgPr>
    </p:bg>
    <p:spTree>
      <p:nvGrpSpPr>
        <p:cNvPr id="1" name=""/>
        <p:cNvGrpSpPr/>
        <p:nvPr/>
      </p:nvGrpSpPr>
      <p:grpSpPr>
        <a:xfrm>
          <a:off x="0" y="0"/>
          <a:ext cx="0" cy="0"/>
          <a:chOff x="0" y="0"/>
          <a:chExt cx="0" cy="0"/>
        </a:xfrm>
      </p:grpSpPr>
      <p:pic>
        <p:nvPicPr>
          <p:cNvPr id="19" name="Imagen 5" descr="C:\Users\Design\Documents\Edu\Product Launch\shadown.png"/>
          <p:cNvPicPr/>
          <p:nvPr/>
        </p:nvPicPr>
        <p:blipFill>
          <a:blip r:embed="rId3"/>
          <a:stretch/>
        </p:blipFill>
        <p:spPr>
          <a:xfrm>
            <a:off x="2411280" y="5875200"/>
            <a:ext cx="761760" cy="982440"/>
          </a:xfrm>
          <a:prstGeom prst="rect">
            <a:avLst/>
          </a:prstGeom>
          <a:noFill/>
          <a:ln w="9525">
            <a:noFill/>
          </a:ln>
        </p:spPr>
      </p:pic>
      <p:pic>
        <p:nvPicPr>
          <p:cNvPr id="20" name="Imagen 5" descr="C:\Users\Design\Documents\Edu\Product Launch\shadown.png"/>
          <p:cNvPicPr/>
          <p:nvPr/>
        </p:nvPicPr>
        <p:blipFill>
          <a:blip r:embed="rId4"/>
          <a:stretch/>
        </p:blipFill>
        <p:spPr>
          <a:xfrm>
            <a:off x="5969160" y="6021360"/>
            <a:ext cx="763200" cy="982440"/>
          </a:xfrm>
          <a:prstGeom prst="rect">
            <a:avLst/>
          </a:prstGeom>
          <a:noFill/>
          <a:ln w="9525">
            <a:noFill/>
          </a:ln>
        </p:spPr>
      </p:pic>
      <p:sp>
        <p:nvSpPr>
          <p:cNvPr id="21" name="46 Recortar rectángulo de esquina del mismo lado"/>
          <p:cNvSpPr/>
          <p:nvPr/>
        </p:nvSpPr>
        <p:spPr>
          <a:xfrm>
            <a:off x="8348760" y="0"/>
            <a:ext cx="431280" cy="433080"/>
          </a:xfrm>
          <a:prstGeom prst="snip2SameRect">
            <a:avLst>
              <a:gd name="adj1" fmla="val 16667"/>
              <a:gd name="adj2" fmla="val 0"/>
            </a:avLst>
          </a:prstGeom>
          <a:gradFill rotWithShape="0">
            <a:gsLst>
              <a:gs pos="0">
                <a:srgbClr val="c00000"/>
              </a:gs>
              <a:gs pos="80000">
                <a:srgbClr val="70201e"/>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nSpc>
                <a:spcPct val="100000"/>
              </a:lnSpc>
            </a:pPr>
            <a:endParaRPr lang="es-ES" sz="1800" b="0" u="none" strike="noStrike">
              <a:solidFill>
                <a:schemeClr val="lt1"/>
              </a:solidFill>
              <a:effectLst/>
              <a:uFillTx/>
              <a:latin typeface="Calibri"/>
              <a:ea typeface="宋体"/>
            </a:endParaRPr>
          </a:p>
        </p:txBody>
      </p:sp>
      <p:sp>
        <p:nvSpPr>
          <p:cNvPr id="22" name="5 Marcador de número de diapositiva"/>
          <p:cNvSpPr/>
          <p:nvPr/>
        </p:nvSpPr>
        <p:spPr>
          <a:xfrm>
            <a:off x="8204040" y="66600"/>
            <a:ext cx="576000" cy="36468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pPr>
            <a:fld id="{2BE72CBB-75F5-42CA-BD8D-10D8D050E69B}" type="slidenum">
              <a:rPr lang="es-ES" sz="2000" b="1" u="none" strike="noStrike">
                <a:solidFill>
                  <a:schemeClr val="lt1"/>
                </a:solidFill>
                <a:effectLst/>
                <a:uFillTx/>
                <a:latin typeface="Calibri"/>
                <a:ea typeface="宋体"/>
              </a:rPr>
              <a:t>&lt;编号&gt;</a:t>
            </a:fld>
            <a:endParaRPr lang="en-US" sz="2000" b="0" u="none" strike="noStrike">
              <a:solidFill>
                <a:srgbClr val="000000"/>
              </a:solidFill>
              <a:effectLst/>
              <a:uFillTx/>
              <a:latin typeface="Arial"/>
            </a:endParaRPr>
          </a:p>
        </p:txBody>
      </p:sp>
      <p:pic>
        <p:nvPicPr>
          <p:cNvPr id="23" name="Imagen 5" descr="C:\Users\Design\Documents\Edu\Product Launch\shadown.png"/>
          <p:cNvPicPr/>
          <p:nvPr/>
        </p:nvPicPr>
        <p:blipFill>
          <a:blip r:embed="rId5"/>
          <a:stretch/>
        </p:blipFill>
        <p:spPr>
          <a:xfrm>
            <a:off x="5969160" y="6021360"/>
            <a:ext cx="763200" cy="982440"/>
          </a:xfrm>
          <a:prstGeom prst="rect">
            <a:avLst/>
          </a:prstGeom>
          <a:noFill/>
          <a:ln w="9525">
            <a:noFill/>
          </a:ln>
        </p:spPr>
      </p:pic>
      <p:sp>
        <p:nvSpPr>
          <p:cNvPr id="24" name="PlaceHolder 1"/>
          <p:cNvSpPr>
            <a:spLocks noGrp="1"/>
          </p:cNvSpPr>
          <p:nvPr>
            <p:ph type="dt" idx="6"/>
          </p:nvPr>
        </p:nvSpPr>
        <p:spPr>
          <a:xfrm>
            <a:off x="457200" y="6356520"/>
            <a:ext cx="2133360" cy="364680"/>
          </a:xfrm>
          <a:prstGeom prst="rect">
            <a:avLst/>
          </a:prstGeom>
          <a:noFill/>
          <a:ln w="0">
            <a:noFill/>
          </a:ln>
        </p:spPr>
        <p:txBody>
          <a:bodyPr numCol="1" spcCol="0" lIns="91440" rIns="91440" tIns="45720" bIns="45720" anchor="ctr">
            <a:noAutofit/>
          </a:bodyPr>
          <a:lstStyle>
            <a:lvl1pPr indent="0">
              <a:lnSpc>
                <a:spcPct val="100000"/>
              </a:lnSpc>
              <a:buNone/>
              <a:defRPr lang="es-ES" sz="1200" b="0" u="none" strike="noStrike">
                <a:solidFill>
                  <a:srgbClr val="898989"/>
                </a:solidFill>
                <a:effectLst/>
                <a:uFillTx/>
                <a:latin typeface="Calibri"/>
                <a:ea typeface="宋体"/>
              </a:defRPr>
            </a:lvl1pPr>
          </a:lstStyle>
          <a:p>
            <a:pPr indent="0">
              <a:lnSpc>
                <a:spcPct val="100000"/>
              </a:lnSpc>
              <a:buNone/>
            </a:pPr>
            <a:r>
              <a:rPr lang="es-ES" sz="1200" b="0" u="none" strike="noStrike">
                <a:solidFill>
                  <a:srgbClr val="898989"/>
                </a:solidFill>
                <a:effectLst/>
                <a:uFillTx/>
                <a:latin typeface="Calibri"/>
                <a:ea typeface="宋体"/>
              </a:rPr>
              <a:t>&lt;日期/时间&gt;</a:t>
            </a:r>
            <a:endParaRPr lang="en-US" sz="1200" b="0" u="none" strike="noStrike">
              <a:solidFill>
                <a:srgbClr val="000000"/>
              </a:solidFill>
              <a:effectLst/>
              <a:uFillTx/>
              <a:latin typeface="Times New Roman"/>
            </a:endParaRPr>
          </a:p>
        </p:txBody>
      </p:sp>
      <p:sp>
        <p:nvSpPr>
          <p:cNvPr id="25" name="PlaceHolder 2"/>
          <p:cNvSpPr>
            <a:spLocks noGrp="1"/>
          </p:cNvSpPr>
          <p:nvPr>
            <p:ph type="ftr" idx="7"/>
          </p:nvPr>
        </p:nvSpPr>
        <p:spPr>
          <a:xfrm>
            <a:off x="3124080" y="6356520"/>
            <a:ext cx="2895120" cy="364680"/>
          </a:xfrm>
          <a:prstGeom prst="rect">
            <a:avLst/>
          </a:prstGeom>
          <a:noFill/>
          <a:ln w="0">
            <a:noFill/>
          </a:ln>
        </p:spPr>
        <p:txBody>
          <a:bodyPr numCol="1" spcCol="0"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&lt;页脚&gt;</a:t>
            </a:r>
            <a:endParaRPr lang="en-US" sz="1400" b="0" u="none" strike="noStrike">
              <a:solidFill>
                <a:srgbClr val="000000"/>
              </a:solidFill>
              <a:effectLst/>
              <a:uFillTx/>
              <a:latin typeface="Times New Roman"/>
            </a:endParaRPr>
          </a:p>
        </p:txBody>
      </p:sp>
      <p:sp>
        <p:nvSpPr>
          <p:cNvPr id="26" name="PlaceHolder 3"/>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lang="zh-CN" sz="4400" b="0" u="none" strike="noStrike">
                <a:solidFill>
                  <a:schemeClr val="dk1"/>
                </a:solidFill>
                <a:effectLst/>
                <a:uFillTx/>
                <a:latin typeface="Arial"/>
              </a:rPr>
              <a:t>单击以编辑标题文本格式</a:t>
            </a:r>
            <a:endParaRPr lang="es-ES" sz="4400" b="0" u="none" strike="noStrike">
              <a:solidFill>
                <a:schemeClr val="dk1"/>
              </a:solidFill>
              <a:effectLst/>
              <a:uFillTx/>
              <a:latin typeface="Arial"/>
            </a:endParaRPr>
          </a:p>
        </p:txBody>
      </p:sp>
      <p:sp>
        <p:nvSpPr>
          <p:cNvPr id="27" name="PlaceHolder 4"/>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zh-CN" sz="3200" b="0" u="none" strike="noStrike">
                <a:solidFill>
                  <a:schemeClr val="dk1"/>
                </a:solidFill>
                <a:effectLst/>
                <a:uFillTx/>
                <a:latin typeface="Calibri"/>
              </a:rPr>
              <a:t>点击以编辑提纲文本格式</a:t>
            </a:r>
            <a:endParaRPr lang="es-ES" sz="3200" b="0" u="none" strike="noStrike">
              <a:solidFill>
                <a:schemeClr val="dk1"/>
              </a:solidFill>
              <a:effectLst/>
              <a:uFillTx/>
              <a:latin typeface="Calibri"/>
            </a:endParaRPr>
          </a:p>
          <a:p>
            <a:pPr marL="864000" lvl="1" indent="-324000">
              <a:spcBef>
                <a:spcPts val="1134"/>
              </a:spcBef>
              <a:buClr>
                <a:srgbClr val="000000"/>
              </a:buClr>
              <a:buSzPct val="75000"/>
              <a:buFont typeface="Symbol" charset="2"/>
              <a:buChar char=""/>
            </a:pPr>
            <a:r>
              <a:rPr lang="zh-CN" sz="2400" b="0" u="none" strike="noStrike">
                <a:solidFill>
                  <a:schemeClr val="dk1"/>
                </a:solidFill>
                <a:effectLst/>
                <a:uFillTx/>
                <a:latin typeface="Calibri"/>
              </a:rPr>
              <a:t>第二提纲级别</a:t>
            </a:r>
            <a:endParaRPr lang="es-ES" sz="2400" b="0" u="none" strike="noStrike">
              <a:solidFill>
                <a:schemeClr val="dk1"/>
              </a:solidFill>
              <a:effectLst/>
              <a:uFillTx/>
              <a:latin typeface="Calibri"/>
            </a:endParaRPr>
          </a:p>
          <a:p>
            <a:pPr marL="1296000" lvl="2" indent="-288000">
              <a:spcBef>
                <a:spcPts val="850"/>
              </a:spcBef>
              <a:buClr>
                <a:srgbClr val="000000"/>
              </a:buClr>
              <a:buSzPct val="45000"/>
              <a:buFont typeface="Wingdings" charset="2"/>
              <a:buChar char=""/>
            </a:pPr>
            <a:r>
              <a:rPr lang="zh-CN" sz="2000" b="0" u="none" strike="noStrike">
                <a:solidFill>
                  <a:schemeClr val="dk1"/>
                </a:solidFill>
                <a:effectLst/>
                <a:uFillTx/>
                <a:latin typeface="Calibri"/>
              </a:rPr>
              <a:t>第三提纲级别</a:t>
            </a:r>
            <a:endParaRPr lang="es-ES" sz="2000" b="0" u="none" strike="noStrike">
              <a:solidFill>
                <a:schemeClr val="dk1"/>
              </a:solidFill>
              <a:effectLst/>
              <a:uFillTx/>
              <a:latin typeface="Calibri"/>
            </a:endParaRPr>
          </a:p>
          <a:p>
            <a:pPr marL="1728000" lvl="3" indent="-216000">
              <a:spcBef>
                <a:spcPts val="567"/>
              </a:spcBef>
              <a:buClr>
                <a:srgbClr val="000000"/>
              </a:buClr>
              <a:buSzPct val="75000"/>
              <a:buFont typeface="Symbol" charset="2"/>
              <a:buChar char=""/>
            </a:pPr>
            <a:r>
              <a:rPr lang="zh-CN" sz="2000" b="0" u="none" strike="noStrike">
                <a:solidFill>
                  <a:schemeClr val="dk1"/>
                </a:solidFill>
                <a:effectLst/>
                <a:uFillTx/>
                <a:latin typeface="Calibri"/>
              </a:rPr>
              <a:t>第四提纲级别</a:t>
            </a:r>
            <a:endParaRPr lang="es-ES" sz="2000" b="0" u="none" strike="noStrike">
              <a:solidFill>
                <a:schemeClr val="dk1"/>
              </a:solidFill>
              <a:effectLst/>
              <a:uFillTx/>
              <a:latin typeface="Calibri"/>
            </a:endParaRPr>
          </a:p>
          <a:p>
            <a:pPr marL="2160000" lvl="4" indent="-216000">
              <a:spcBef>
                <a:spcPts val="283"/>
              </a:spcBef>
              <a:buClr>
                <a:srgbClr val="000000"/>
              </a:buClr>
              <a:buSzPct val="45000"/>
              <a:buFont typeface="Wingdings" charset="2"/>
              <a:buChar char=""/>
            </a:pPr>
            <a:r>
              <a:rPr lang="zh-CN" sz="2000" b="0" u="none" strike="noStrike">
                <a:solidFill>
                  <a:schemeClr val="dk1"/>
                </a:solidFill>
                <a:effectLst/>
                <a:uFillTx/>
                <a:latin typeface="Calibri"/>
              </a:rPr>
              <a:t>第五提纲级别</a:t>
            </a:r>
            <a:endParaRPr lang="es-ES" sz="2000" b="0" u="none" strike="noStrike">
              <a:solidFill>
                <a:schemeClr val="dk1"/>
              </a:solidFill>
              <a:effectLst/>
              <a:uFillTx/>
              <a:latin typeface="Calibri"/>
            </a:endParaRPr>
          </a:p>
          <a:p>
            <a:pPr marL="2592000" lvl="5" indent="-216000">
              <a:spcBef>
                <a:spcPts val="283"/>
              </a:spcBef>
              <a:buClr>
                <a:srgbClr val="000000"/>
              </a:buClr>
              <a:buSzPct val="45000"/>
              <a:buFont typeface="Wingdings" charset="2"/>
              <a:buChar char=""/>
            </a:pPr>
            <a:r>
              <a:rPr lang="zh-CN" sz="2000" b="0" u="none" strike="noStrike">
                <a:solidFill>
                  <a:schemeClr val="dk1"/>
                </a:solidFill>
                <a:effectLst/>
                <a:uFillTx/>
                <a:latin typeface="Calibri"/>
              </a:rPr>
              <a:t>第六提纲级别</a:t>
            </a:r>
            <a:endParaRPr lang="es-ES" sz="2000" b="0" u="none" strike="noStrike">
              <a:solidFill>
                <a:schemeClr val="dk1"/>
              </a:solidFill>
              <a:effectLst/>
              <a:uFillTx/>
              <a:latin typeface="Calibri"/>
            </a:endParaRPr>
          </a:p>
          <a:p>
            <a:pPr marL="3024000" lvl="6" indent="-216000">
              <a:spcBef>
                <a:spcPts val="283"/>
              </a:spcBef>
              <a:buClr>
                <a:srgbClr val="000000"/>
              </a:buClr>
              <a:buSzPct val="45000"/>
              <a:buFont typeface="Wingdings" charset="2"/>
              <a:buChar char=""/>
            </a:pPr>
            <a:r>
              <a:rPr lang="zh-CN" sz="2000" b="0" u="none" strike="noStrike">
                <a:solidFill>
                  <a:schemeClr val="dk1"/>
                </a:solidFill>
                <a:effectLst/>
                <a:uFillTx/>
                <a:latin typeface="Calibri"/>
              </a:rPr>
              <a:t>第七提纲级别</a:t>
            </a:r>
            <a:endParaRPr lang="es-ES" sz="2000" b="0" u="none" strike="noStrike">
              <a:solidFill>
                <a:schemeClr val="dk1"/>
              </a:solidFill>
              <a:effectLst/>
              <a:uFillTx/>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diagramData" Target="../diagrams/data1.xml"/><Relationship Id="rId2" Type="http://schemas.openxmlformats.org/officeDocument/2006/relationships/diagramLayout" Target="../diagrams/layout1.xml"/><Relationship Id="rId3" Type="http://schemas.openxmlformats.org/officeDocument/2006/relationships/diagramQuickStyle" Target="../diagrams/quickStyle1.xml"/><Relationship Id="rId4" Type="http://schemas.openxmlformats.org/officeDocument/2006/relationships/diagramColors" Target="../diagrams/colors1.xml"/><Relationship Id="rId5" Type="http://schemas.openxmlformats.org/officeDocument/2006/relationships/diagramData" Target="../diagrams/data2.xml"/><Relationship Id="rId6" Type="http://schemas.openxmlformats.org/officeDocument/2006/relationships/diagramLayout" Target="../diagrams/layout2.xml"/><Relationship Id="rId7" Type="http://schemas.openxmlformats.org/officeDocument/2006/relationships/diagramQuickStyle" Target="../diagrams/quickStyle2.xml"/><Relationship Id="rId8" Type="http://schemas.openxmlformats.org/officeDocument/2006/relationships/diagramColors" Target="../diagrams/colors2.xml"/><Relationship Id="rId9" Type="http://schemas.openxmlformats.org/officeDocument/2006/relationships/slideLayout" Target="../slideLayouts/slideLayout2.xml"/><Relationship Id="rId10"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 Id="rId3"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 Id="rId3"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 Id="rId3"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 Id="rId3"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 Id="rId3"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xml"/><Relationship Id="rId3"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 Id="rId3"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xml"/><Relationship Id="rId3"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 Id="rId3"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 Id="rId3"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75.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
</Relationships>
</file>

<file path=ppt/slides/_rels/slide7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77.xml"/>
</Relationships>
</file>

<file path=ppt/slides/_rels/slide7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
</Relationships>
</file>

<file path=ppt/slides/_rels/slide8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
</Relationships>
</file>

<file path=ppt/slides/_rels/slide8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
</Relationships>
</file>

<file path=ppt/slides/_rels/slide8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
</Relationships>
</file>

<file path=ppt/slides/_rels/slide8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
</Relationships>
</file>

<file path=ppt/slides/_rels/slide8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
</Relationships>
</file>

<file path=ppt/slides/_rels/slide8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
</Relationships>
</file>

<file path=ppt/slides/_rels/slide8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
</Relationships>
</file>

<file path=ppt/slides/_rels/slide8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
</Relationships>
</file>

<file path=ppt/slides/_rels/slide8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
</Relationships>
</file>

<file path=ppt/slides/_rels/slide9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
</Relationships>
</file>

<file path=ppt/slides/_rels/slide9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
</Relationships>
</file>

<file path=ppt/slides/_rels/slide92.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xml"/><Relationship Id="rId3" Type="http://schemas.openxmlformats.org/officeDocument/2006/relationships/notesSlide" Target="../notesSlides/notesSlide92.xml"/>
</Relationships>
</file>

<file path=ppt/slides/_rels/slide9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
</Relationships>
</file>

<file path=ppt/slides/_rels/slide9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
</Relationships>
</file>

<file path=ppt/slides/_rels/slide9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
</Relationships>
</file>

<file path=ppt/slides/_rels/slide9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96.xml"/>
</Relationships>
</file>

<file path=ppt/slides/_rels/slide9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
</Relationships>
</file>

<file path=ppt/slides/_rels/slide9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
</Relationships>
</file>

<file path=ppt/slides/_rels/slide9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
</Relationships>
</file>

<file path=ppt/slides/_rels/slide10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
</Relationships>
</file>

<file path=ppt/slides/_rels/slide10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
</Relationships>
</file>

<file path=ppt/slides/_rels/slide10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
</Relationships>
</file>

<file path=ppt/slides/_rels/slide10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
</Relationships>
</file>

<file path=ppt/slides/_rels/slide10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
</Relationships>
</file>

<file path=ppt/slides/_rels/slide10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
</Relationships>
</file>

<file path=ppt/slides/_rels/slide10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
</Relationships>
</file>

<file path=ppt/slides/_rels/slide10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
</Relationships>
</file>

<file path=ppt/slides/_rels/slide1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
</Relationships>
</file>

<file path=ppt/slides/_rels/slide1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
</Relationships>
</file>

<file path=ppt/slides/_rels/slide1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
</Relationships>
</file>

<file path=ppt/slides/_rels/slide1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113.xml"/>
</Relationships>
</file>

<file path=ppt/slides/_rels/slide1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
</Relationships>
</file>

<file path=ppt/slides/_rels/slide1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
</Relationships>
</file>

<file path=ppt/slides/_rels/slide116.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2.xml"/><Relationship Id="rId3" Type="http://schemas.openxmlformats.org/officeDocument/2006/relationships/notesSlide" Target="../notesSlides/notesSlide116.xml"/>
</Relationships>
</file>

<file path=ppt/slides/_rels/slide1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
</Relationships>
</file>

<file path=ppt/slides/_rels/slide1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
</Relationships>
</file>

<file path=ppt/slides/_rels/slide1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
</Relationships>
</file>

<file path=ppt/slides/_rels/slide1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
</Relationships>
</file>

<file path=ppt/slides/_rels/slide1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
</Relationships>
</file>

<file path=ppt/slides/_rels/slide1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
</Relationships>
</file>

<file path=ppt/slides/_rels/slide12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123.xml"/>
</Relationships>
</file>

<file path=ppt/slides/_rels/slide1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
</Relationships>
</file>

<file path=ppt/slides/_rels/slide12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2.xml"/><Relationship Id="rId4" Type="http://schemas.openxmlformats.org/officeDocument/2006/relationships/notesSlide" Target="../notesSlides/notesSlide125.xml"/>
</Relationships>
</file>

<file path=ppt/slides/_rels/slide12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
</Relationships>
</file>

<file path=ppt/slides/_rels/slide12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
</Relationships>
</file>

<file path=ppt/slides/_rels/slide128.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2.xml"/><Relationship Id="rId3" Type="http://schemas.openxmlformats.org/officeDocument/2006/relationships/notesSlide" Target="../notesSlides/notesSlide128.xml"/>
</Relationships>
</file>

<file path=ppt/slides/_rels/slide12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2.xml"/><Relationship Id="rId3" Type="http://schemas.openxmlformats.org/officeDocument/2006/relationships/notesSlide" Target="../notesSlides/notesSlide129.xml"/>
</Relationships>
</file>

<file path=ppt/slides/_rels/slide13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
</Relationships>
</file>

<file path=ppt/slides/_rels/slide131.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2.xml"/><Relationship Id="rId3" Type="http://schemas.openxmlformats.org/officeDocument/2006/relationships/notesSlide" Target="../notesSlides/notesSlide131.xml"/>
</Relationships>
</file>

<file path=ppt/slides/_rels/slide132.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 name="PlaceHolder 1"/>
          <p:cNvSpPr>
            <a:spLocks noGrp="1"/>
          </p:cNvSpPr>
          <p:nvPr>
            <p:ph type="subTitle"/>
          </p:nvPr>
        </p:nvSpPr>
        <p:spPr>
          <a:xfrm>
            <a:off x="1187280" y="1916280"/>
            <a:ext cx="7488000" cy="791640"/>
          </a:xfrm>
          <a:prstGeom prst="rect">
            <a:avLst/>
          </a:prstGeom>
          <a:noFill/>
          <a:ln w="9360">
            <a:noFill/>
          </a:ln>
        </p:spPr>
        <p:txBody>
          <a:bodyPr numCol="1" spcCol="0" lIns="91440" rIns="91440" tIns="45720" bIns="45720" anchor="t">
            <a:noAutofit/>
          </a:bodyPr>
          <a:p>
            <a:pPr algn="ctr">
              <a:lnSpc>
                <a:spcPct val="100000"/>
              </a:lnSpc>
              <a:spcBef>
                <a:spcPts val="1080"/>
              </a:spcBef>
              <a:tabLst>
                <a:tab algn="l" pos="0"/>
              </a:tabLst>
            </a:pPr>
            <a:r>
              <a:rPr lang="zh-CN" sz="5400" b="1" u="none" strike="noStrike">
                <a:solidFill>
                  <a:schemeClr val="dk1"/>
                </a:solidFill>
                <a:effectLst/>
                <a:uFillTx/>
                <a:latin typeface="Bodoni MT Black"/>
              </a:rPr>
              <a:t>软件工程导论（第</a:t>
            </a:r>
            <a:r>
              <a:rPr lang="en-US" sz="5400" b="1" u="none" strike="noStrike">
                <a:solidFill>
                  <a:schemeClr val="dk1"/>
                </a:solidFill>
                <a:effectLst/>
                <a:uFillTx/>
                <a:latin typeface="Bodoni MT Black"/>
              </a:rPr>
              <a:t>6</a:t>
            </a:r>
            <a:r>
              <a:rPr lang="zh-CN" sz="5400" b="1" u="none" strike="noStrike">
                <a:solidFill>
                  <a:schemeClr val="dk1"/>
                </a:solidFill>
                <a:effectLst/>
                <a:uFillTx/>
                <a:latin typeface="Bodoni MT Black"/>
              </a:rPr>
              <a:t>版）</a:t>
            </a:r>
            <a:endParaRPr lang="en-US" sz="5400" b="0" u="none" strike="noStrike">
              <a:solidFill>
                <a:srgbClr val="000000"/>
              </a:solidFill>
              <a:effectLst/>
              <a:uFillTx/>
              <a:latin typeface="Arial"/>
            </a:endParaRPr>
          </a:p>
        </p:txBody>
      </p:sp>
      <p:sp>
        <p:nvSpPr>
          <p:cNvPr id="35" name="1 Título"/>
          <p:cNvSpPr/>
          <p:nvPr/>
        </p:nvSpPr>
        <p:spPr>
          <a:xfrm>
            <a:off x="3132000" y="6275520"/>
            <a:ext cx="2390400" cy="474480"/>
          </a:xfrm>
          <a:prstGeom prst="rect">
            <a:avLst/>
          </a:prstGeom>
          <a:noFill/>
          <a:ln w="9525">
            <a:noFill/>
          </a:ln>
        </p:spPr>
        <p:style>
          <a:lnRef idx="0"/>
          <a:fillRef idx="0"/>
          <a:effectRef idx="0"/>
          <a:fontRef idx="minor"/>
        </p:style>
        <p:txBody>
          <a:bodyPr lIns="90000" rIns="90000" tIns="45000" bIns="45000" anchor="ctr">
            <a:noAutofit/>
          </a:bodyPr>
          <a:p>
            <a:pPr algn="r">
              <a:lnSpc>
                <a:spcPct val="100000"/>
              </a:lnSpc>
            </a:pPr>
            <a:r>
              <a:rPr lang="zh-CN" sz="2000" b="0" u="none" strike="noStrike">
                <a:solidFill>
                  <a:schemeClr val="lt1"/>
                </a:solidFill>
                <a:effectLst/>
                <a:uFillTx/>
                <a:latin typeface="Bodoni MT Black"/>
                <a:ea typeface="宋体"/>
              </a:rPr>
              <a:t>清华大学出版社</a:t>
            </a:r>
            <a:endParaRPr lang="en-US" sz="2000" b="0" u="none" strike="noStrike">
              <a:solidFill>
                <a:srgbClr val="000000"/>
              </a:solidFill>
              <a:effectLst/>
              <a:uFillTx/>
              <a:latin typeface="Arial"/>
            </a:endParaRPr>
          </a:p>
        </p:txBody>
      </p:sp>
      <p:sp>
        <p:nvSpPr>
          <p:cNvPr id="36" name="5 CuadroTexto"/>
          <p:cNvSpPr/>
          <p:nvPr/>
        </p:nvSpPr>
        <p:spPr>
          <a:xfrm>
            <a:off x="1979640" y="3629160"/>
            <a:ext cx="5616360" cy="7077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lang="zh-CN" sz="4000" b="1" u="none" strike="noStrike">
                <a:solidFill>
                  <a:schemeClr val="dk1"/>
                </a:solidFill>
                <a:effectLst/>
                <a:uFillTx/>
                <a:latin typeface="Bodoni MT Black"/>
              </a:rPr>
              <a:t>第</a:t>
            </a:r>
            <a:r>
              <a:rPr lang="en-US" sz="4000" b="1" u="none" strike="noStrike">
                <a:solidFill>
                  <a:schemeClr val="dk1"/>
                </a:solidFill>
                <a:effectLst/>
                <a:uFillTx/>
                <a:latin typeface="Bodoni MT Black"/>
              </a:rPr>
              <a:t>7</a:t>
            </a:r>
            <a:r>
              <a:rPr lang="zh-CN" sz="4000" b="1" u="none" strike="noStrike">
                <a:solidFill>
                  <a:schemeClr val="dk1"/>
                </a:solidFill>
                <a:effectLst/>
                <a:uFillTx/>
                <a:latin typeface="Bodoni MT Black"/>
              </a:rPr>
              <a:t>章  实现</a:t>
            </a:r>
            <a:endParaRPr lang="en-US" sz="4000" b="0" u="none" strike="noStrike">
              <a:solidFill>
                <a:srgbClr val="000000"/>
              </a:solidFill>
              <a:effectLst/>
              <a:uFillTx/>
              <a:latin typeface="Arial"/>
            </a:endParaRPr>
          </a:p>
        </p:txBody>
      </p:sp>
      <p:sp>
        <p:nvSpPr>
          <p:cNvPr id="37" name="1 Título"/>
          <p:cNvSpPr/>
          <p:nvPr/>
        </p:nvSpPr>
        <p:spPr>
          <a:xfrm>
            <a:off x="-36360" y="127080"/>
            <a:ext cx="5544720" cy="3488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000" b="0" u="none" strike="noStrike">
                <a:solidFill>
                  <a:schemeClr val="dk1"/>
                </a:solidFill>
                <a:effectLst/>
                <a:uFillTx/>
                <a:latin typeface="Bodoni MT Black"/>
              </a:rPr>
              <a:t>“十二五”普通高等教育本科国家级规划教材</a:t>
            </a:r>
            <a:endParaRPr lang="en-US" sz="2000" b="0" u="none" strike="noStrike">
              <a:solidFill>
                <a:srgbClr val="000000"/>
              </a:solidFill>
              <a:effectLst/>
              <a:uFillTx/>
              <a:latin typeface="Arial"/>
            </a:endParaRPr>
          </a:p>
        </p:txBody>
      </p:sp>
      <p:sp>
        <p:nvSpPr>
          <p:cNvPr id="38" name="文本框 1"/>
          <p:cNvSpPr/>
          <p:nvPr/>
        </p:nvSpPr>
        <p:spPr>
          <a:xfrm>
            <a:off x="285840" y="6311880"/>
            <a:ext cx="2493720" cy="39960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lang="zh-CN" sz="2000" b="0" u="none" strike="noStrike">
                <a:solidFill>
                  <a:schemeClr val="lt1"/>
                </a:solidFill>
                <a:effectLst/>
                <a:uFillTx/>
                <a:latin typeface="Bodoni MT Black"/>
                <a:ea typeface="宋体"/>
              </a:rPr>
              <a:t>张海藩，牟永敏编著</a:t>
            </a:r>
            <a:endParaRPr lang="en-US" sz="2000" b="0" u="none" strike="noStrike">
              <a:solidFill>
                <a:srgbClr val="000000"/>
              </a:solidFill>
              <a:effectLst/>
              <a:uFillTx/>
              <a:latin typeface="Arial"/>
            </a:endParaRPr>
          </a:p>
        </p:txBody>
      </p:sp>
      <p:sp>
        <p:nvSpPr>
          <p:cNvPr id="39" name="1 Título"/>
          <p:cNvSpPr/>
          <p:nvPr/>
        </p:nvSpPr>
        <p:spPr>
          <a:xfrm>
            <a:off x="-36360" y="476280"/>
            <a:ext cx="3227040" cy="431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000" b="0" u="none" strike="noStrike">
                <a:solidFill>
                  <a:schemeClr val="dk1"/>
                </a:solidFill>
                <a:effectLst/>
                <a:uFillTx/>
                <a:latin typeface="Bodoni MT Black"/>
              </a:rPr>
              <a:t>北京高等教育精品教材</a:t>
            </a:r>
            <a:endParaRPr lang="en-US" sz="2000" b="0" u="none" strike="noStrike">
              <a:solidFill>
                <a:srgbClr val="000000"/>
              </a:solidFill>
              <a:effectLst/>
              <a:uFillTx/>
              <a:latin typeface="Arial"/>
            </a:endParaRPr>
          </a:p>
        </p:txBody>
      </p:sp>
      <p:sp>
        <p:nvSpPr>
          <p:cNvPr id="40" name="1 Título"/>
          <p:cNvSpPr/>
          <p:nvPr/>
        </p:nvSpPr>
        <p:spPr>
          <a:xfrm>
            <a:off x="0" y="1063800"/>
            <a:ext cx="9143640" cy="564840"/>
          </a:xfrm>
          <a:prstGeom prst="rect">
            <a:avLst/>
          </a:prstGeom>
          <a:solidFill>
            <a:schemeClr val="bg1"/>
          </a:solid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c00000"/>
                </a:solidFill>
                <a:effectLst/>
                <a:uFillTx/>
                <a:latin typeface="Bodoni MT Black"/>
              </a:rPr>
              <a:t>21</a:t>
            </a:r>
            <a:r>
              <a:rPr lang="zh-CN" sz="2400" b="0" u="none" strike="noStrike">
                <a:solidFill>
                  <a:srgbClr val="c00000"/>
                </a:solidFill>
                <a:effectLst/>
                <a:uFillTx/>
                <a:latin typeface="Bodoni MT Black"/>
              </a:rPr>
              <a:t>世纪软件工程专业规划教材</a:t>
            </a:r>
            <a:endParaRPr lang="en-US" sz="2400" b="0" u="none" strike="noStrike">
              <a:solidFill>
                <a:srgbClr val="000000"/>
              </a:solidFill>
              <a:effectLst/>
              <a:uFillTx/>
              <a:latin typeface="Arial"/>
            </a:endParaRPr>
          </a:p>
        </p:txBody>
      </p:sp>
      <p:sp>
        <p:nvSpPr>
          <p:cNvPr id="41" name="等腰三角形 3"/>
          <p:cNvSpPr/>
          <p:nvPr/>
        </p:nvSpPr>
        <p:spPr>
          <a:xfrm rot="5400000">
            <a:off x="1351080" y="3718080"/>
            <a:ext cx="772920" cy="626760"/>
          </a:xfrm>
          <a:prstGeom prst="triangle">
            <a:avLst>
              <a:gd name="adj" fmla="val 50000"/>
            </a:avLst>
          </a:prstGeom>
          <a:solidFill>
            <a:schemeClr val="accent1"/>
          </a:solidFill>
          <a:ln>
            <a:solidFill>
              <a:srgbClr val="ffffff"/>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43"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引言</a:t>
            </a:r>
            <a:endParaRPr lang="en-US" sz="2400" b="0" u="none" strike="noStrike">
              <a:solidFill>
                <a:srgbClr val="000000"/>
              </a:solidFill>
              <a:effectLst/>
              <a:uFillTx/>
              <a:latin typeface="Arial"/>
            </a:endParaRPr>
          </a:p>
        </p:txBody>
      </p:sp>
      <p:sp>
        <p:nvSpPr>
          <p:cNvPr id="44" name="PlaceHolder 1"/>
          <p:cNvSpPr>
            <a:spLocks noGrp="1"/>
          </p:cNvSpPr>
          <p:nvPr>
            <p:ph type="title"/>
          </p:nvPr>
        </p:nvSpPr>
        <p:spPr>
          <a:xfrm>
            <a:off x="324000" y="126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zh-CN" sz="4400" b="1" u="none" strike="noStrike">
                <a:solidFill>
                  <a:schemeClr val="dk1"/>
                </a:solidFill>
                <a:effectLst/>
                <a:uFillTx/>
                <a:latin typeface="Bodoni MT Black"/>
              </a:rPr>
              <a:t>第</a:t>
            </a:r>
            <a:r>
              <a:rPr lang="en-US" sz="4400" b="1" u="none" strike="noStrike">
                <a:solidFill>
                  <a:schemeClr val="dk1"/>
                </a:solidFill>
                <a:effectLst/>
                <a:uFillTx/>
                <a:latin typeface="Bodoni MT Black"/>
              </a:rPr>
              <a:t>7</a:t>
            </a:r>
            <a:r>
              <a:rPr lang="zh-CN" sz="4400" b="1" u="none" strike="noStrike">
                <a:solidFill>
                  <a:schemeClr val="dk1"/>
                </a:solidFill>
                <a:effectLst/>
                <a:uFillTx/>
                <a:latin typeface="Bodoni MT Black"/>
              </a:rPr>
              <a:t>章 实现</a:t>
            </a:r>
            <a:endParaRPr lang="es-ES" sz="4400" b="0" u="none" strike="noStrike">
              <a:solidFill>
                <a:schemeClr val="dk1"/>
              </a:solidFill>
              <a:effectLst/>
              <a:uFillTx/>
              <a:latin typeface="Arial"/>
            </a:endParaRPr>
          </a:p>
        </p:txBody>
      </p:sp>
      <p:graphicFrame>
        <p:nvGraphicFramePr>
          <p:cNvPr id="45" name="Diagram1"/>
          <p:cNvGraphicFramePr/>
          <p:nvPr>
            <p:extLst>
              <p:ext uri="{D42A27DB-BD31-4B8C-83A1-F6EECF244321}">
                <p14:modId xmlns:p14="http://schemas.microsoft.com/office/powerpoint/2010/main" val="1606974644"/>
              </p:ext>
            </p:extLst>
          </p:nvPr>
        </p:nvGraphicFramePr>
        <p:xfrm>
          <a:off x="2792520" y="2493000"/>
          <a:ext cx="5893920" cy="363276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46" name="Diagram2"/>
          <p:cNvGraphicFramePr/>
          <p:nvPr>
            <p:extLst>
              <p:ext uri="{D42A27DB-BD31-4B8C-83A1-F6EECF244321}">
                <p14:modId xmlns:p14="http://schemas.microsoft.com/office/powerpoint/2010/main" val="397194808"/>
              </p:ext>
            </p:extLst>
          </p:nvPr>
        </p:nvGraphicFramePr>
        <p:xfrm>
          <a:off x="457200" y="1201680"/>
          <a:ext cx="8229240" cy="431532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47" name="文本框 8"/>
          <p:cNvSpPr/>
          <p:nvPr/>
        </p:nvSpPr>
        <p:spPr>
          <a:xfrm>
            <a:off x="3851280" y="1963440"/>
            <a:ext cx="5040720" cy="1477080"/>
          </a:xfrm>
          <a:prstGeom prst="rect">
            <a:avLst/>
          </a:prstGeom>
          <a:noFill/>
          <a:ln w="25400">
            <a:solidFill>
              <a:schemeClr val="dk2">
                <a:alpha val="99000"/>
              </a:schemeClr>
            </a:solidFill>
            <a:round/>
          </a:ln>
        </p:spPr>
        <p:style>
          <a:lnRef idx="0"/>
          <a:fillRef idx="0"/>
          <a:effectRef idx="0"/>
          <a:fontRef idx="minor"/>
        </p:style>
        <p:txBody>
          <a:bodyPr lIns="90000" rIns="90000" tIns="45000" bIns="45000" anchor="t">
            <a:spAutoFit/>
          </a:bodyPr>
          <a:p>
            <a:pPr>
              <a:lnSpc>
                <a:spcPct val="125000"/>
              </a:lnSpc>
            </a:pPr>
            <a:r>
              <a:rPr lang="zh-CN" sz="2400" b="1" u="none" strike="noStrike">
                <a:solidFill>
                  <a:schemeClr val="accent2"/>
                </a:solidFill>
                <a:effectLst/>
                <a:uFillTx/>
                <a:latin typeface="Bodoni MT Black"/>
                <a:ea typeface="宋体"/>
              </a:rPr>
              <a:t>编码</a:t>
            </a:r>
            <a:r>
              <a:rPr lang="zh-CN" sz="2400" b="0" u="none" strike="noStrike">
                <a:solidFill>
                  <a:schemeClr val="dk1"/>
                </a:solidFill>
                <a:effectLst/>
                <a:uFillTx/>
                <a:latin typeface="Bodoni MT Black"/>
                <a:ea typeface="宋体"/>
              </a:rPr>
              <a:t>就是把软件设计结果翻译成用某种程序设计语言书写的程序，是对设计的进一步具体化。</a:t>
            </a:r>
            <a:endParaRPr lang="en-US" sz="2400" b="0" u="none" strike="noStrike">
              <a:solidFill>
                <a:srgbClr val="000000"/>
              </a:solidFill>
              <a:effectLst/>
              <a:uFillTx/>
              <a:latin typeface="Arial"/>
            </a:endParaRPr>
          </a:p>
        </p:txBody>
      </p:sp>
      <p:sp>
        <p:nvSpPr>
          <p:cNvPr id="48" name="文本框 12"/>
          <p:cNvSpPr/>
          <p:nvPr/>
        </p:nvSpPr>
        <p:spPr>
          <a:xfrm>
            <a:off x="3851280" y="3547800"/>
            <a:ext cx="5040720" cy="1897200"/>
          </a:xfrm>
          <a:prstGeom prst="rect">
            <a:avLst/>
          </a:prstGeom>
          <a:noFill/>
          <a:ln w="25400">
            <a:solidFill>
              <a:schemeClr val="dk2">
                <a:alpha val="99000"/>
              </a:schemeClr>
            </a:solidFill>
            <a:round/>
          </a:ln>
        </p:spPr>
        <p:style>
          <a:lnRef idx="0"/>
          <a:fillRef idx="0"/>
          <a:effectRef idx="0"/>
          <a:fontRef idx="minor"/>
        </p:style>
        <p:txBody>
          <a:bodyPr lIns="90000" rIns="90000" tIns="45000" bIns="45000" anchor="t">
            <a:spAutoFit/>
          </a:bodyPr>
          <a:p>
            <a:pPr>
              <a:lnSpc>
                <a:spcPct val="125000"/>
              </a:lnSpc>
            </a:pPr>
            <a:r>
              <a:rPr lang="zh-CN" sz="2400" b="0" u="none" strike="noStrike">
                <a:solidFill>
                  <a:schemeClr val="dk1"/>
                </a:solidFill>
                <a:effectLst/>
                <a:uFillTx/>
                <a:latin typeface="Bodoni MT Black"/>
                <a:ea typeface="宋体"/>
              </a:rPr>
              <a:t>程序的质量主要取决于软件设计的质量。软件</a:t>
            </a:r>
            <a:r>
              <a:rPr lang="zh-CN" sz="2400" b="1" u="none" strike="noStrike">
                <a:solidFill>
                  <a:schemeClr val="accent2"/>
                </a:solidFill>
                <a:effectLst/>
                <a:uFillTx/>
                <a:latin typeface="Bodoni MT Black"/>
                <a:ea typeface="宋体"/>
              </a:rPr>
              <a:t>测试</a:t>
            </a:r>
            <a:r>
              <a:rPr lang="zh-CN" sz="2400" b="0" u="none" strike="noStrike">
                <a:solidFill>
                  <a:schemeClr val="dk1"/>
                </a:solidFill>
                <a:effectLst/>
                <a:uFillTx/>
                <a:latin typeface="Bodoni MT Black"/>
                <a:ea typeface="宋体"/>
              </a:rPr>
              <a:t>是保证软件质量的关键步骤，是对软件规格说明、设计和编码的最后复审。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1 Título"/>
          <p:cNvSpPr/>
          <p:nvPr/>
        </p:nvSpPr>
        <p:spPr>
          <a:xfrm>
            <a:off x="835200" y="332640"/>
            <a:ext cx="7648200" cy="863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5760"/>
              </a:lnSpc>
            </a:pPr>
            <a:r>
              <a:rPr lang="zh-CN" sz="4400" b="1" u="none" strike="noStrike">
                <a:solidFill>
                  <a:schemeClr val="dk1"/>
                </a:solidFill>
                <a:effectLst/>
                <a:uFillTx/>
                <a:latin typeface="Bodoni MT Black"/>
              </a:rPr>
              <a:t>主要内容</a:t>
            </a:r>
            <a:endParaRPr lang="en-US" sz="4400" b="0" u="none" strike="noStrike">
              <a:solidFill>
                <a:srgbClr val="000000"/>
              </a:solidFill>
              <a:effectLst/>
              <a:uFillTx/>
              <a:latin typeface="Arial"/>
            </a:endParaRPr>
          </a:p>
        </p:txBody>
      </p:sp>
      <p:sp>
        <p:nvSpPr>
          <p:cNvPr id="50"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sp>
        <p:nvSpPr>
          <p:cNvPr id="51"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主要内容</a:t>
            </a:r>
            <a:endParaRPr lang="en-US" sz="2400" b="0" u="none" strike="noStrike">
              <a:solidFill>
                <a:srgbClr val="000000"/>
              </a:solidFill>
              <a:effectLst/>
              <a:uFillTx/>
              <a:latin typeface="Arial"/>
            </a:endParaRPr>
          </a:p>
        </p:txBody>
      </p:sp>
      <p:pic>
        <p:nvPicPr>
          <p:cNvPr id="52"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53"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54" name="TextBox 3">
            <a:hlinkClick r:id="rId3" action="ppaction://hlinksldjump"/>
          </p:cNvPr>
          <p:cNvSpPr/>
          <p:nvPr/>
        </p:nvSpPr>
        <p:spPr>
          <a:xfrm>
            <a:off x="1071720" y="1927440"/>
            <a:ext cx="192852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55" name="TextBox 4"/>
          <p:cNvSpPr/>
          <p:nvPr/>
        </p:nvSpPr>
        <p:spPr>
          <a:xfrm>
            <a:off x="1000080" y="257040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56" name="TextBox 5"/>
          <p:cNvSpPr/>
          <p:nvPr/>
        </p:nvSpPr>
        <p:spPr>
          <a:xfrm>
            <a:off x="1000080" y="314208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57" name="TextBox 6"/>
          <p:cNvSpPr/>
          <p:nvPr/>
        </p:nvSpPr>
        <p:spPr>
          <a:xfrm>
            <a:off x="1000080" y="371340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58" name="Rectangle 3"/>
          <p:cNvSpPr/>
          <p:nvPr/>
        </p:nvSpPr>
        <p:spPr>
          <a:xfrm>
            <a:off x="250920" y="1227240"/>
            <a:ext cx="8032320" cy="4512960"/>
          </a:xfrm>
          <a:prstGeom prst="rect">
            <a:avLst/>
          </a:prstGeom>
          <a:noFill/>
          <a:ln w="0">
            <a:noFill/>
          </a:ln>
        </p:spPr>
        <p:style>
          <a:lnRef idx="0"/>
          <a:fillRef idx="0"/>
          <a:effectRef idx="0"/>
          <a:fontRef idx="minor"/>
        </p:style>
        <p:txBody>
          <a:bodyPr lIns="90000" rIns="90000" tIns="45000" bIns="45000" anchor="t">
            <a:noAutofit/>
          </a:bodyPr>
          <a:p>
            <a:pPr>
              <a:lnSpc>
                <a:spcPts val="2599"/>
              </a:lnSpc>
              <a:spcBef>
                <a:spcPts val="1199"/>
              </a:spcBef>
              <a:tabLst>
                <a:tab algn="l" pos="0"/>
              </a:tabLst>
            </a:pPr>
            <a:r>
              <a:rPr lang="en-US" sz="2400" b="0" u="none" strike="noStrike">
                <a:solidFill>
                  <a:srgbClr val="3c3c77"/>
                </a:solidFill>
                <a:effectLst/>
                <a:uFillTx/>
                <a:latin typeface="Bodoni MT Black"/>
              </a:rPr>
              <a:t>   </a:t>
            </a:r>
            <a:r>
              <a:rPr lang="en-US" sz="2400" b="1" u="none" strike="noStrike">
                <a:solidFill>
                  <a:schemeClr val="dk1"/>
                </a:solidFill>
                <a:effectLst/>
                <a:uFillTx/>
                <a:latin typeface="Bodoni MT Black"/>
              </a:rPr>
              <a:t>7.1   </a:t>
            </a:r>
            <a:r>
              <a:rPr lang="zh-CN" sz="2400" b="1" u="none" strike="noStrike">
                <a:solidFill>
                  <a:schemeClr val="dk1"/>
                </a:solidFill>
                <a:effectLst/>
                <a:uFillTx/>
                <a:latin typeface="Bodoni MT Black"/>
              </a:rPr>
              <a:t>编码</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rPr>
              <a:t>   7.2   </a:t>
            </a:r>
            <a:r>
              <a:rPr lang="zh-CN" sz="2400" b="1" u="none" strike="noStrike">
                <a:solidFill>
                  <a:schemeClr val="dk1"/>
                </a:solidFill>
                <a:effectLst/>
                <a:uFillTx/>
                <a:latin typeface="Bodoni MT Black"/>
              </a:rPr>
              <a:t>软件测试基础</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rPr>
              <a:t>   7.3   </a:t>
            </a:r>
            <a:r>
              <a:rPr lang="zh-CN" sz="2400" b="1" u="none" strike="noStrike">
                <a:solidFill>
                  <a:schemeClr val="dk1"/>
                </a:solidFill>
                <a:effectLst/>
                <a:uFillTx/>
                <a:latin typeface="Bodoni MT Black"/>
              </a:rPr>
              <a:t>单元测试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rPr>
              <a:t>   7.4   </a:t>
            </a:r>
            <a:r>
              <a:rPr lang="zh-CN" sz="2400" b="1" u="none" strike="noStrike">
                <a:solidFill>
                  <a:schemeClr val="dk1"/>
                </a:solidFill>
                <a:effectLst/>
                <a:uFillTx/>
                <a:latin typeface="Bodoni MT Black"/>
              </a:rPr>
              <a:t>集成测试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rPr>
              <a:t>   7.5   </a:t>
            </a:r>
            <a:r>
              <a:rPr lang="zh-CN" sz="2400" b="1" u="none" strike="noStrike">
                <a:solidFill>
                  <a:schemeClr val="dk1"/>
                </a:solidFill>
                <a:effectLst/>
                <a:uFillTx/>
                <a:latin typeface="Bodoni MT Black"/>
              </a:rPr>
              <a:t>确认测试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rPr>
              <a:t>   7.6   </a:t>
            </a:r>
            <a:r>
              <a:rPr lang="zh-CN" sz="2400" b="1" u="none" strike="noStrike">
                <a:solidFill>
                  <a:schemeClr val="dk1"/>
                </a:solidFill>
                <a:effectLst/>
                <a:uFillTx/>
                <a:latin typeface="Bodoni MT Black"/>
              </a:rPr>
              <a:t>白盒测试技术</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rPr>
              <a:t>   7.7   </a:t>
            </a:r>
            <a:r>
              <a:rPr lang="zh-CN" sz="2400" b="1" u="none" strike="noStrike">
                <a:solidFill>
                  <a:schemeClr val="dk1"/>
                </a:solidFill>
                <a:effectLst/>
                <a:uFillTx/>
                <a:latin typeface="Bodoni MT Black"/>
              </a:rPr>
              <a:t>黑盒测试技术</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rPr>
              <a:t>   7.8   </a:t>
            </a:r>
            <a:r>
              <a:rPr lang="zh-CN" sz="2400" b="1" u="none" strike="noStrike">
                <a:solidFill>
                  <a:schemeClr val="dk1"/>
                </a:solidFill>
                <a:effectLst/>
                <a:uFillTx/>
                <a:latin typeface="Bodoni MT Black"/>
              </a:rPr>
              <a:t>调试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rPr>
              <a:t>   7.9   </a:t>
            </a:r>
            <a:r>
              <a:rPr lang="zh-CN" sz="2400" b="1" u="none" strike="noStrike">
                <a:solidFill>
                  <a:schemeClr val="dk1"/>
                </a:solidFill>
                <a:effectLst/>
                <a:uFillTx/>
                <a:latin typeface="Bodoni MT Black"/>
              </a:rPr>
              <a:t>软件可靠性</a:t>
            </a:r>
            <a:endParaRPr lang="en-US" sz="2400" b="0" u="none" strike="noStrike">
              <a:solidFill>
                <a:srgbClr val="000000"/>
              </a:solidFill>
              <a:effectLst/>
              <a:uFillTx/>
              <a:latin typeface="Arial"/>
            </a:endParaRPr>
          </a:p>
        </p:txBody>
      </p:sp>
      <p:sp>
        <p:nvSpPr>
          <p:cNvPr id="59" name="1 Título"/>
          <p:cNvSpPr/>
          <p:nvPr/>
        </p:nvSpPr>
        <p:spPr>
          <a:xfrm>
            <a:off x="0" y="6300720"/>
            <a:ext cx="231588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7</a:t>
            </a:r>
            <a:r>
              <a:rPr lang="zh-CN" sz="2400" b="0" u="none" strike="noStrike">
                <a:solidFill>
                  <a:srgbClr val="d9d9d9"/>
                </a:solidFill>
                <a:effectLst/>
                <a:uFillTx/>
                <a:latin typeface="Bodoni MT Black"/>
                <a:ea typeface="宋体"/>
              </a:rPr>
              <a:t>章　实现</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1 Título"/>
          <p:cNvSpPr/>
          <p:nvPr/>
        </p:nvSpPr>
        <p:spPr>
          <a:xfrm>
            <a:off x="684360" y="355680"/>
            <a:ext cx="7703640" cy="863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5760"/>
              </a:lnSpc>
            </a:pPr>
            <a:r>
              <a:rPr lang="zh-CN" sz="4400" b="1" u="none" strike="noStrike">
                <a:solidFill>
                  <a:schemeClr val="dk1"/>
                </a:solidFill>
                <a:effectLst/>
                <a:uFillTx/>
                <a:latin typeface="Bodoni MT Black"/>
              </a:rPr>
              <a:t>主要内容</a:t>
            </a:r>
            <a:endParaRPr lang="en-US" sz="4400" b="0" u="none" strike="noStrike">
              <a:solidFill>
                <a:srgbClr val="000000"/>
              </a:solidFill>
              <a:effectLst/>
              <a:uFillTx/>
              <a:latin typeface="Arial"/>
            </a:endParaRPr>
          </a:p>
        </p:txBody>
      </p:sp>
      <p:sp>
        <p:nvSpPr>
          <p:cNvPr id="61"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sp>
        <p:nvSpPr>
          <p:cNvPr id="62"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7.1 </a:t>
            </a:r>
            <a:r>
              <a:rPr lang="zh-CN" sz="2400" b="0" u="none" strike="noStrike">
                <a:solidFill>
                  <a:srgbClr val="d9d9d9"/>
                </a:solidFill>
                <a:effectLst/>
                <a:uFillTx/>
                <a:latin typeface="Bodoni MT Black"/>
                <a:ea typeface="宋体"/>
              </a:rPr>
              <a:t>编码</a:t>
            </a:r>
            <a:endParaRPr lang="en-US" sz="2400" b="0" u="none" strike="noStrike">
              <a:solidFill>
                <a:srgbClr val="000000"/>
              </a:solidFill>
              <a:effectLst/>
              <a:uFillTx/>
              <a:latin typeface="Arial"/>
            </a:endParaRPr>
          </a:p>
        </p:txBody>
      </p:sp>
      <p:pic>
        <p:nvPicPr>
          <p:cNvPr id="63"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64"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65" name="TextBox 3">
            <a:hlinkClick r:id="rId3" action="ppaction://hlinksldjump"/>
          </p:cNvPr>
          <p:cNvSpPr/>
          <p:nvPr/>
        </p:nvSpPr>
        <p:spPr>
          <a:xfrm>
            <a:off x="1071720" y="2071800"/>
            <a:ext cx="192852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66" name="TextBox 4"/>
          <p:cNvSpPr/>
          <p:nvPr/>
        </p:nvSpPr>
        <p:spPr>
          <a:xfrm>
            <a:off x="1000080" y="2714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67" name="TextBox 5"/>
          <p:cNvSpPr/>
          <p:nvPr/>
        </p:nvSpPr>
        <p:spPr>
          <a:xfrm>
            <a:off x="1000080" y="328608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68" name="TextBox 6"/>
          <p:cNvSpPr/>
          <p:nvPr/>
        </p:nvSpPr>
        <p:spPr>
          <a:xfrm>
            <a:off x="1000080" y="3857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69" name="Rectangle 3"/>
          <p:cNvSpPr/>
          <p:nvPr/>
        </p:nvSpPr>
        <p:spPr>
          <a:xfrm>
            <a:off x="539640" y="1292400"/>
            <a:ext cx="8135640" cy="4512960"/>
          </a:xfrm>
          <a:prstGeom prst="rect">
            <a:avLst/>
          </a:prstGeom>
          <a:noFill/>
          <a:ln w="0">
            <a:noFill/>
          </a:ln>
        </p:spPr>
        <p:style>
          <a:lnRef idx="0"/>
          <a:fillRef idx="0"/>
          <a:effectRef idx="0"/>
          <a:fontRef idx="minor"/>
        </p:style>
        <p:txBody>
          <a:bodyPr lIns="90000" rIns="90000" tIns="45000" bIns="45000" anchor="t">
            <a:noAutofit/>
          </a:bodyPr>
          <a:p>
            <a:pPr>
              <a:lnSpc>
                <a:spcPts val="2599"/>
              </a:lnSpc>
              <a:spcBef>
                <a:spcPts val="1199"/>
              </a:spcBef>
              <a:tabLst>
                <a:tab algn="l" pos="0"/>
              </a:tabLst>
            </a:pPr>
            <a:r>
              <a:rPr lang="en-US" sz="2400" b="0" u="none" strike="noStrike">
                <a:solidFill>
                  <a:srgbClr val="3c3c77"/>
                </a:solidFill>
                <a:effectLst/>
                <a:uFillTx/>
                <a:latin typeface="Bodoni MT Black"/>
                <a:ea typeface="黑体"/>
              </a:rPr>
              <a:t>   </a:t>
            </a:r>
            <a:r>
              <a:rPr lang="en-US" sz="2400" b="1" u="none" strike="noStrike">
                <a:solidFill>
                  <a:schemeClr val="dk1"/>
                </a:solidFill>
                <a:effectLst/>
                <a:uFillTx/>
                <a:latin typeface="Bodoni MT Black"/>
                <a:ea typeface="黑体"/>
              </a:rPr>
              <a:t>7.1   </a:t>
            </a:r>
            <a:r>
              <a:rPr lang="zh-CN" sz="2400" b="1" u="none" strike="noStrike">
                <a:solidFill>
                  <a:schemeClr val="dk1"/>
                </a:solidFill>
                <a:effectLst/>
                <a:uFillTx/>
                <a:latin typeface="Bodoni MT Black"/>
                <a:ea typeface="黑体"/>
              </a:rPr>
              <a:t>编码</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7.2   </a:t>
            </a:r>
            <a:r>
              <a:rPr lang="zh-CN" sz="2400" b="1" u="none" strike="noStrike">
                <a:solidFill>
                  <a:schemeClr val="dk1"/>
                </a:solidFill>
                <a:effectLst/>
                <a:uFillTx/>
                <a:latin typeface="Bodoni MT Black"/>
                <a:ea typeface="黑体"/>
              </a:rPr>
              <a:t>软件测试基础</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7.3   </a:t>
            </a:r>
            <a:r>
              <a:rPr lang="zh-CN" sz="2400" b="1" u="none" strike="noStrike">
                <a:solidFill>
                  <a:schemeClr val="dk1"/>
                </a:solidFill>
                <a:effectLst/>
                <a:uFillTx/>
                <a:latin typeface="Bodoni MT Black"/>
                <a:ea typeface="黑体"/>
              </a:rPr>
              <a:t>单元测试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7.4   </a:t>
            </a:r>
            <a:r>
              <a:rPr lang="zh-CN" sz="2400" b="1" u="none" strike="noStrike">
                <a:solidFill>
                  <a:schemeClr val="dk1"/>
                </a:solidFill>
                <a:effectLst/>
                <a:uFillTx/>
                <a:latin typeface="Bodoni MT Black"/>
                <a:ea typeface="黑体"/>
              </a:rPr>
              <a:t>集成测试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7.5   </a:t>
            </a:r>
            <a:r>
              <a:rPr lang="zh-CN" sz="2400" b="1" u="none" strike="noStrike">
                <a:solidFill>
                  <a:schemeClr val="dk1"/>
                </a:solidFill>
                <a:effectLst/>
                <a:uFillTx/>
                <a:latin typeface="Bodoni MT Black"/>
                <a:ea typeface="黑体"/>
              </a:rPr>
              <a:t>确认测试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7.6   </a:t>
            </a:r>
            <a:r>
              <a:rPr lang="zh-CN" sz="2400" b="1" u="none" strike="noStrike">
                <a:solidFill>
                  <a:schemeClr val="dk1"/>
                </a:solidFill>
                <a:effectLst/>
                <a:uFillTx/>
                <a:latin typeface="Bodoni MT Black"/>
                <a:ea typeface="黑体"/>
              </a:rPr>
              <a:t>白盒测试技术</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7.7   </a:t>
            </a:r>
            <a:r>
              <a:rPr lang="zh-CN" sz="2400" b="1" u="none" strike="noStrike">
                <a:solidFill>
                  <a:schemeClr val="dk1"/>
                </a:solidFill>
                <a:effectLst/>
                <a:uFillTx/>
                <a:latin typeface="Bodoni MT Black"/>
                <a:ea typeface="黑体"/>
              </a:rPr>
              <a:t>黑盒测试技术</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7.8   </a:t>
            </a:r>
            <a:r>
              <a:rPr lang="zh-CN" sz="2400" b="1" u="none" strike="noStrike">
                <a:solidFill>
                  <a:schemeClr val="dk1"/>
                </a:solidFill>
                <a:effectLst/>
                <a:uFillTx/>
                <a:latin typeface="Bodoni MT Black"/>
                <a:ea typeface="黑体"/>
              </a:rPr>
              <a:t>调试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7.9   </a:t>
            </a:r>
            <a:r>
              <a:rPr lang="zh-CN" sz="2400" b="1" u="none" strike="noStrike">
                <a:solidFill>
                  <a:schemeClr val="dk1"/>
                </a:solidFill>
                <a:effectLst/>
                <a:uFillTx/>
                <a:latin typeface="Bodoni MT Black"/>
                <a:ea typeface="黑体"/>
              </a:rPr>
              <a:t>软件可靠性</a:t>
            </a:r>
            <a:endParaRPr lang="en-US" sz="2400" b="0" u="none" strike="noStrike">
              <a:solidFill>
                <a:srgbClr val="000000"/>
              </a:solidFill>
              <a:effectLst/>
              <a:uFillTx/>
              <a:latin typeface="Arial"/>
            </a:endParaRPr>
          </a:p>
        </p:txBody>
      </p:sp>
      <p:sp>
        <p:nvSpPr>
          <p:cNvPr id="70" name="1 Título"/>
          <p:cNvSpPr/>
          <p:nvPr/>
        </p:nvSpPr>
        <p:spPr>
          <a:xfrm>
            <a:off x="0" y="6300720"/>
            <a:ext cx="231588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7</a:t>
            </a:r>
            <a:r>
              <a:rPr lang="zh-CN" sz="2400" b="0" u="none" strike="noStrike">
                <a:solidFill>
                  <a:srgbClr val="d9d9d9"/>
                </a:solidFill>
                <a:effectLst/>
                <a:uFillTx/>
                <a:latin typeface="Bodoni MT Black"/>
                <a:ea typeface="宋体"/>
              </a:rPr>
              <a:t>章　实现</a:t>
            </a:r>
            <a:endParaRPr lang="en-US" sz="2400" b="0" u="none" strike="noStrike">
              <a:solidFill>
                <a:srgbClr val="000000"/>
              </a:solidFill>
              <a:effectLst/>
              <a:uFillTx/>
              <a:latin typeface="Arial"/>
            </a:endParaRPr>
          </a:p>
        </p:txBody>
      </p:sp>
      <p:sp>
        <p:nvSpPr>
          <p:cNvPr id="71" name="矩形 12"/>
          <p:cNvSpPr/>
          <p:nvPr/>
        </p:nvSpPr>
        <p:spPr>
          <a:xfrm>
            <a:off x="861840" y="119700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72" name="等腰三角形 13"/>
          <p:cNvSpPr/>
          <p:nvPr/>
        </p:nvSpPr>
        <p:spPr>
          <a:xfrm rot="5400000">
            <a:off x="270000" y="1282680"/>
            <a:ext cx="537840" cy="4330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7.1.1 </a:t>
            </a:r>
            <a:r>
              <a:rPr lang="zh-CN" sz="2400" b="0" u="none" strike="noStrike">
                <a:solidFill>
                  <a:srgbClr val="d9d9d9"/>
                </a:solidFill>
                <a:effectLst/>
                <a:uFillTx/>
                <a:latin typeface="Bodoni MT Black"/>
                <a:ea typeface="宋体"/>
              </a:rPr>
              <a:t>选择程序设计语言</a:t>
            </a:r>
            <a:endParaRPr lang="en-US" sz="2400" b="0" u="none" strike="noStrike">
              <a:solidFill>
                <a:srgbClr val="000000"/>
              </a:solidFill>
              <a:effectLst/>
              <a:uFillTx/>
              <a:latin typeface="Arial"/>
            </a:endParaRPr>
          </a:p>
        </p:txBody>
      </p:sp>
      <p:sp>
        <p:nvSpPr>
          <p:cNvPr id="74" name="PlaceHolder 1"/>
          <p:cNvSpPr>
            <a:spLocks noGrp="1"/>
          </p:cNvSpPr>
          <p:nvPr>
            <p:ph type="title"/>
          </p:nvPr>
        </p:nvSpPr>
        <p:spPr>
          <a:xfrm>
            <a:off x="395280" y="936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7.1 </a:t>
            </a:r>
            <a:r>
              <a:rPr lang="zh-CN" sz="4400" b="1" u="none" strike="noStrike">
                <a:solidFill>
                  <a:schemeClr val="dk1"/>
                </a:solidFill>
                <a:effectLst/>
                <a:uFillTx/>
                <a:latin typeface="Bodoni MT Black"/>
              </a:rPr>
              <a:t>编码</a:t>
            </a:r>
            <a:endParaRPr lang="es-ES" sz="4400" b="0" u="none" strike="noStrike">
              <a:solidFill>
                <a:schemeClr val="dk1"/>
              </a:solidFill>
              <a:effectLst/>
              <a:uFillTx/>
              <a:latin typeface="Arial"/>
            </a:endParaRPr>
          </a:p>
        </p:txBody>
      </p:sp>
      <p:sp>
        <p:nvSpPr>
          <p:cNvPr id="75" name="PlaceHolder 2"/>
          <p:cNvSpPr>
            <a:spLocks noGrp="1"/>
          </p:cNvSpPr>
          <p:nvPr>
            <p:ph/>
          </p:nvPr>
        </p:nvSpPr>
        <p:spPr>
          <a:xfrm>
            <a:off x="395280" y="126828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7.1.1 </a:t>
            </a:r>
            <a:r>
              <a:rPr lang="zh-CN" sz="3200" b="1" u="none" strike="noStrike">
                <a:solidFill>
                  <a:schemeClr val="dk1"/>
                </a:solidFill>
                <a:effectLst/>
                <a:uFillTx/>
                <a:latin typeface="Bodoni MT Black"/>
              </a:rPr>
              <a:t>选择程序设计语言</a:t>
            </a:r>
            <a:endParaRPr lang="es-ES" sz="3200" b="0" u="none" strike="noStrike">
              <a:solidFill>
                <a:schemeClr val="dk1"/>
              </a:solidFill>
              <a:effectLst/>
              <a:uFillTx/>
              <a:latin typeface="Calibri"/>
            </a:endParaRPr>
          </a:p>
        </p:txBody>
      </p:sp>
      <p:sp>
        <p:nvSpPr>
          <p:cNvPr id="76" name="TextBox 7"/>
          <p:cNvSpPr/>
          <p:nvPr/>
        </p:nvSpPr>
        <p:spPr>
          <a:xfrm>
            <a:off x="251640" y="1933560"/>
            <a:ext cx="8640720" cy="340056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0" u="none" strike="noStrike">
                <a:solidFill>
                  <a:srgbClr val="ff0000"/>
                </a:solidFill>
                <a:effectLst/>
                <a:uFillTx/>
                <a:latin typeface="Bodoni MT Black"/>
              </a:rPr>
              <a:t>     程序设计语言</a:t>
            </a:r>
            <a:r>
              <a:rPr lang="zh-CN" sz="2400" b="0" u="none" strike="noStrike">
                <a:solidFill>
                  <a:schemeClr val="dk1"/>
                </a:solidFill>
                <a:effectLst/>
                <a:uFillTx/>
                <a:latin typeface="Bodoni MT Black"/>
              </a:rPr>
              <a:t>是人和计算机通信的最基本的工具，会影响人的思维和解题方式，影响人和计算机通信的方式和质量，影响其他人阅读和理解程序的难易程度。</a:t>
            </a:r>
            <a:endParaRPr lang="en-US" sz="2400" b="0" u="none" strike="noStrike">
              <a:solidFill>
                <a:srgbClr val="000000"/>
              </a:solidFill>
              <a:effectLst/>
              <a:uFillTx/>
              <a:latin typeface="Arial"/>
            </a:endParaRPr>
          </a:p>
          <a:p>
            <a:pPr>
              <a:lnSpc>
                <a:spcPct val="125000"/>
              </a:lnSpc>
              <a:spcBef>
                <a:spcPts val="601"/>
              </a:spcBef>
              <a:tabLst>
                <a:tab algn="l" pos="0"/>
              </a:tabLst>
            </a:pPr>
            <a:r>
              <a:rPr lang="en-US" sz="2400" b="1" u="none" strike="noStrike">
                <a:solidFill>
                  <a:schemeClr val="dk1"/>
                </a:solidFill>
                <a:effectLst/>
                <a:uFillTx/>
                <a:latin typeface="Bodoni MT Black"/>
              </a:rPr>
              <a:t>    选择</a:t>
            </a:r>
            <a:r>
              <a:rPr lang="zh-CN" sz="2400" b="1" u="none" strike="noStrike">
                <a:solidFill>
                  <a:srgbClr val="ff0000"/>
                </a:solidFill>
                <a:effectLst/>
                <a:uFillTx/>
                <a:latin typeface="Bodoni MT Black"/>
              </a:rPr>
              <a:t>适宜的</a:t>
            </a:r>
            <a:r>
              <a:rPr lang="zh-CN" sz="2400" b="1" u="none" strike="noStrike">
                <a:solidFill>
                  <a:schemeClr val="dk1"/>
                </a:solidFill>
                <a:effectLst/>
                <a:uFillTx/>
                <a:latin typeface="Bodoni MT Black"/>
              </a:rPr>
              <a:t>程序设计语言的原因：</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根据设计去完成编码时，困难最少；</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可以减少需要的程序测试量；</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可以得到更容易阅读和更容易维护的程序。</a:t>
            </a:r>
            <a:endParaRPr lang="en-US" sz="2400" b="0" u="none" strike="noStrike">
              <a:solidFill>
                <a:srgbClr val="000000"/>
              </a:solidFill>
              <a:effectLst/>
              <a:uFillTx/>
              <a:latin typeface="Arial"/>
            </a:endParaRPr>
          </a:p>
        </p:txBody>
      </p:sp>
      <p:sp>
        <p:nvSpPr>
          <p:cNvPr id="77" name="1 Título"/>
          <p:cNvSpPr/>
          <p:nvPr/>
        </p:nvSpPr>
        <p:spPr>
          <a:xfrm>
            <a:off x="0" y="6291360"/>
            <a:ext cx="2315880" cy="46008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7</a:t>
            </a:r>
            <a:r>
              <a:rPr lang="zh-CN" sz="2400" b="0" u="none" strike="noStrike">
                <a:solidFill>
                  <a:srgbClr val="d9d9d9"/>
                </a:solidFill>
                <a:effectLst/>
                <a:uFillTx/>
                <a:latin typeface="Bodoni MT Black"/>
                <a:ea typeface="宋体"/>
              </a:rPr>
              <a:t>章　实现</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7.1 </a:t>
            </a:r>
            <a:r>
              <a:rPr lang="zh-CN" sz="4400" b="1" u="none" strike="noStrike">
                <a:solidFill>
                  <a:schemeClr val="dk1"/>
                </a:solidFill>
                <a:effectLst/>
                <a:uFillTx/>
                <a:latin typeface="Bodoni MT Black"/>
              </a:rPr>
              <a:t>编码</a:t>
            </a:r>
            <a:endParaRPr lang="es-ES" sz="4400" b="0" u="none" strike="noStrike">
              <a:solidFill>
                <a:schemeClr val="dk1"/>
              </a:solidFill>
              <a:effectLst/>
              <a:uFillTx/>
              <a:latin typeface="Arial"/>
            </a:endParaRPr>
          </a:p>
        </p:txBody>
      </p:sp>
      <p:sp>
        <p:nvSpPr>
          <p:cNvPr id="79" name="TextBox 7"/>
          <p:cNvSpPr/>
          <p:nvPr/>
        </p:nvSpPr>
        <p:spPr>
          <a:xfrm>
            <a:off x="323640" y="1268640"/>
            <a:ext cx="8496720" cy="2862000"/>
          </a:xfrm>
          <a:prstGeom prst="rect">
            <a:avLst/>
          </a:prstGeom>
          <a:noFill/>
          <a:ln w="0">
            <a:noFill/>
          </a:ln>
        </p:spPr>
        <p:style>
          <a:lnRef idx="0"/>
          <a:fillRef idx="0"/>
          <a:effectRef idx="0"/>
          <a:fontRef idx="minor"/>
        </p:style>
        <p:txBody>
          <a:bodyPr lIns="90000" rIns="90000" tIns="45000" bIns="45000" anchor="t">
            <a:spAutoFit/>
          </a:bodyPr>
          <a:p>
            <a:pPr>
              <a:lnSpc>
                <a:spcPct val="125000"/>
              </a:lnSpc>
              <a:spcBef>
                <a:spcPts val="601"/>
              </a:spcBef>
              <a:tabLst>
                <a:tab algn="l" pos="0"/>
              </a:tabLst>
            </a:pPr>
            <a:r>
              <a:rPr lang="zh-CN" sz="2400" b="0" u="none" strike="noStrike">
                <a:solidFill>
                  <a:srgbClr val="ff0000"/>
                </a:solidFill>
                <a:effectLst/>
                <a:uFillTx/>
                <a:latin typeface="Bodoni MT Black"/>
              </a:rPr>
              <a:t>高级语言</a:t>
            </a:r>
            <a:r>
              <a:rPr lang="zh-CN" sz="2400" b="0" u="none" strike="noStrike">
                <a:solidFill>
                  <a:schemeClr val="dk1"/>
                </a:solidFill>
                <a:effectLst/>
                <a:uFillTx/>
                <a:latin typeface="Bodoni MT Black"/>
              </a:rPr>
              <a:t>优于汇编语言：</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汇编语言编码需要把软件设计翻译成机器操作的序列，既困难又容易出差错；</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高级语言写程序比用汇编语言写程序生产率可以提高好几倍；</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用高级语言写的程序容易阅读、容易测试、容易调试、容易维护。</a:t>
            </a:r>
            <a:endParaRPr lang="en-US" sz="2400" b="0" u="none" strike="noStrike">
              <a:solidFill>
                <a:srgbClr val="000000"/>
              </a:solidFill>
              <a:effectLst/>
              <a:uFillTx/>
              <a:latin typeface="Arial"/>
            </a:endParaRPr>
          </a:p>
        </p:txBody>
      </p:sp>
      <p:sp>
        <p:nvSpPr>
          <p:cNvPr id="80"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7.1.1 </a:t>
            </a:r>
            <a:r>
              <a:rPr lang="zh-CN" sz="2400" b="0" u="none" strike="noStrike">
                <a:solidFill>
                  <a:srgbClr val="d9d9d9"/>
                </a:solidFill>
                <a:effectLst/>
                <a:uFillTx/>
                <a:latin typeface="Bodoni MT Black"/>
                <a:ea typeface="宋体"/>
              </a:rPr>
              <a:t>选择程序设计语言</a:t>
            </a:r>
            <a:endParaRPr lang="en-US" sz="2400" b="0" u="none" strike="noStrike">
              <a:solidFill>
                <a:srgbClr val="000000"/>
              </a:solidFill>
              <a:effectLst/>
              <a:uFillTx/>
              <a:latin typeface="Arial"/>
            </a:endParaRPr>
          </a:p>
        </p:txBody>
      </p:sp>
      <p:sp>
        <p:nvSpPr>
          <p:cNvPr id="81" name="1 Título"/>
          <p:cNvSpPr/>
          <p:nvPr/>
        </p:nvSpPr>
        <p:spPr>
          <a:xfrm>
            <a:off x="0" y="6291360"/>
            <a:ext cx="2315880" cy="46008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7</a:t>
            </a:r>
            <a:r>
              <a:rPr lang="zh-CN" sz="2400" b="0" u="none" strike="noStrike">
                <a:solidFill>
                  <a:srgbClr val="d9d9d9"/>
                </a:solidFill>
                <a:effectLst/>
                <a:uFillTx/>
                <a:latin typeface="Bodoni MT Black"/>
                <a:ea typeface="宋体"/>
              </a:rPr>
              <a:t>章　实现</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7.1 </a:t>
            </a:r>
            <a:r>
              <a:rPr lang="zh-CN" sz="4400" b="1" u="none" strike="noStrike">
                <a:solidFill>
                  <a:schemeClr val="dk1"/>
                </a:solidFill>
                <a:effectLst/>
                <a:uFillTx/>
                <a:latin typeface="Bodoni MT Black"/>
              </a:rPr>
              <a:t>编码</a:t>
            </a:r>
            <a:endParaRPr lang="es-ES" sz="4400" b="0" u="none" strike="noStrike">
              <a:solidFill>
                <a:schemeClr val="dk1"/>
              </a:solidFill>
              <a:effectLst/>
              <a:uFillTx/>
              <a:latin typeface="Arial"/>
            </a:endParaRPr>
          </a:p>
        </p:txBody>
      </p:sp>
      <p:sp>
        <p:nvSpPr>
          <p:cNvPr id="83" name="TextBox 7"/>
          <p:cNvSpPr/>
          <p:nvPr/>
        </p:nvSpPr>
        <p:spPr>
          <a:xfrm>
            <a:off x="598320" y="1582560"/>
            <a:ext cx="3901680" cy="3862080"/>
          </a:xfrm>
          <a:prstGeom prst="rect">
            <a:avLst/>
          </a:prstGeom>
          <a:noFill/>
          <a:ln w="0">
            <a:noFill/>
          </a:ln>
        </p:spPr>
        <p:style>
          <a:lnRef idx="0"/>
          <a:fillRef idx="0"/>
          <a:effectRef idx="0"/>
          <a:fontRef idx="minor"/>
        </p:style>
        <p:txBody>
          <a:bodyPr lIns="90000" rIns="90000" tIns="45000" bIns="45000" anchor="t">
            <a:spAutoFit/>
          </a:bodyPr>
          <a:p>
            <a:pPr>
              <a:lnSpc>
                <a:spcPts val="4201"/>
              </a:lnSpc>
              <a:spcBef>
                <a:spcPts val="601"/>
              </a:spcBef>
              <a:tabLst>
                <a:tab algn="l" pos="0"/>
              </a:tabLst>
            </a:pPr>
            <a:r>
              <a:rPr lang="zh-CN" sz="2400" b="1" u="none" strike="noStrike">
                <a:solidFill>
                  <a:schemeClr val="dk1"/>
                </a:solidFill>
                <a:effectLst/>
                <a:uFillTx/>
                <a:latin typeface="Bodoni MT Black"/>
                <a:ea typeface="宋体"/>
              </a:rPr>
              <a:t>理想标准：</a:t>
            </a:r>
            <a:endParaRPr lang="en-US" sz="2400" b="0" u="none" strike="noStrike">
              <a:solidFill>
                <a:srgbClr val="000000"/>
              </a:solidFill>
              <a:effectLst/>
              <a:uFillTx/>
              <a:latin typeface="Arial"/>
            </a:endParaRPr>
          </a:p>
          <a:p>
            <a:pPr marL="343080" indent="-343080">
              <a:lnSpc>
                <a:spcPct val="125000"/>
              </a:lnSpc>
              <a:buClr>
                <a:srgbClr val="000000"/>
              </a:buClr>
              <a:buSzPct val="70000"/>
              <a:buFont typeface="Wingdings" charset="2"/>
              <a:buChar char=""/>
              <a:tabLst>
                <a:tab algn="l" pos="0"/>
              </a:tabLst>
            </a:pPr>
            <a:r>
              <a:rPr lang="zh-CN" sz="2400" b="0" u="none" strike="noStrike">
                <a:solidFill>
                  <a:schemeClr val="dk1"/>
                </a:solidFill>
                <a:effectLst/>
                <a:uFillTx/>
                <a:latin typeface="Bodoni MT Black"/>
                <a:ea typeface="宋体"/>
              </a:rPr>
              <a:t>应该有理想的</a:t>
            </a:r>
            <a:r>
              <a:rPr lang="zh-CN" sz="2400" b="0" u="none" strike="noStrike">
                <a:solidFill>
                  <a:srgbClr val="ff0000"/>
                </a:solidFill>
                <a:effectLst/>
                <a:uFillTx/>
                <a:latin typeface="Bodoni MT Black"/>
                <a:ea typeface="宋体"/>
              </a:rPr>
              <a:t>模块化</a:t>
            </a:r>
            <a:r>
              <a:rPr lang="zh-CN" sz="2400" b="0" u="none" strike="noStrike">
                <a:solidFill>
                  <a:schemeClr val="dk1"/>
                </a:solidFill>
                <a:effectLst/>
                <a:uFillTx/>
                <a:latin typeface="Bodoni MT Black"/>
                <a:ea typeface="宋体"/>
              </a:rPr>
              <a:t>机制，以及可读性好的</a:t>
            </a:r>
            <a:r>
              <a:rPr lang="zh-CN" sz="2400" b="0" u="none" strike="noStrike">
                <a:solidFill>
                  <a:srgbClr val="ff0000"/>
                </a:solidFill>
                <a:effectLst/>
                <a:uFillTx/>
                <a:latin typeface="Bodoni MT Black"/>
                <a:ea typeface="宋体"/>
              </a:rPr>
              <a:t>控制结构</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数据结构</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marL="343080" indent="-343080">
              <a:lnSpc>
                <a:spcPct val="125000"/>
              </a:lnSpc>
              <a:buClr>
                <a:srgbClr val="000000"/>
              </a:buClr>
              <a:buSzPct val="70000"/>
              <a:buFont typeface="Wingdings" charset="2"/>
              <a:buChar char=""/>
              <a:tabLst>
                <a:tab algn="l" pos="0"/>
              </a:tabLst>
            </a:pPr>
            <a:r>
              <a:rPr lang="zh-CN" sz="2400" b="0" u="none" strike="noStrike">
                <a:solidFill>
                  <a:schemeClr val="dk1"/>
                </a:solidFill>
                <a:effectLst/>
                <a:uFillTx/>
                <a:latin typeface="Bodoni MT Black"/>
                <a:ea typeface="宋体"/>
              </a:rPr>
              <a:t>使编译程序能够尽可能多地发现程序中的错误；</a:t>
            </a:r>
            <a:endParaRPr lang="en-US" sz="2400" b="0" u="none" strike="noStrike">
              <a:solidFill>
                <a:srgbClr val="000000"/>
              </a:solidFill>
              <a:effectLst/>
              <a:uFillTx/>
              <a:latin typeface="Arial"/>
            </a:endParaRPr>
          </a:p>
          <a:p>
            <a:pPr marL="343080" indent="-343080">
              <a:lnSpc>
                <a:spcPct val="125000"/>
              </a:lnSpc>
              <a:buClr>
                <a:srgbClr val="000000"/>
              </a:buClr>
              <a:buSzPct val="70000"/>
              <a:buFont typeface="Wingdings" charset="2"/>
              <a:buChar char=""/>
              <a:tabLst>
                <a:tab algn="l" pos="0"/>
              </a:tabLst>
            </a:pPr>
            <a:r>
              <a:rPr lang="zh-CN" sz="2400" b="0" u="none" strike="noStrike">
                <a:solidFill>
                  <a:schemeClr val="dk1"/>
                </a:solidFill>
                <a:effectLst/>
                <a:uFillTx/>
                <a:latin typeface="Bodoni MT Black"/>
                <a:ea typeface="宋体"/>
              </a:rPr>
              <a:t>应该有良好的独立编译机制。</a:t>
            </a:r>
            <a:endParaRPr lang="en-US" sz="2400" b="0" u="none" strike="noStrike">
              <a:solidFill>
                <a:srgbClr val="000000"/>
              </a:solidFill>
              <a:effectLst/>
              <a:uFillTx/>
              <a:latin typeface="Arial"/>
            </a:endParaRPr>
          </a:p>
        </p:txBody>
      </p:sp>
      <p:sp>
        <p:nvSpPr>
          <p:cNvPr id="84" name="TextBox 7"/>
          <p:cNvSpPr/>
          <p:nvPr/>
        </p:nvSpPr>
        <p:spPr>
          <a:xfrm>
            <a:off x="4991040" y="1582560"/>
            <a:ext cx="3828600" cy="3862080"/>
          </a:xfrm>
          <a:prstGeom prst="rect">
            <a:avLst/>
          </a:prstGeom>
          <a:noFill/>
          <a:ln w="0">
            <a:noFill/>
          </a:ln>
        </p:spPr>
        <p:style>
          <a:lnRef idx="0"/>
          <a:fillRef idx="0"/>
          <a:effectRef idx="0"/>
          <a:fontRef idx="minor"/>
        </p:style>
        <p:txBody>
          <a:bodyPr lIns="90000" rIns="90000" tIns="45000" bIns="45000" anchor="t">
            <a:spAutoFit/>
          </a:bodyPr>
          <a:p>
            <a:pPr>
              <a:lnSpc>
                <a:spcPts val="4201"/>
              </a:lnSpc>
              <a:spcBef>
                <a:spcPts val="601"/>
              </a:spcBef>
              <a:tabLst>
                <a:tab algn="l" pos="0"/>
              </a:tabLst>
            </a:pPr>
            <a:r>
              <a:rPr lang="zh-CN" sz="2400" b="1" u="none" strike="noStrike">
                <a:solidFill>
                  <a:schemeClr val="dk1"/>
                </a:solidFill>
                <a:effectLst/>
                <a:uFillTx/>
                <a:latin typeface="Bodoni MT Black"/>
                <a:ea typeface="宋体"/>
              </a:rPr>
              <a:t>实用标准：</a:t>
            </a:r>
            <a:endParaRPr lang="en-US" sz="2400" b="0" u="none" strike="noStrike">
              <a:solidFill>
                <a:srgbClr val="000000"/>
              </a:solidFill>
              <a:effectLst/>
              <a:uFillTx/>
              <a:latin typeface="Arial"/>
            </a:endParaRPr>
          </a:p>
          <a:p>
            <a:pPr marL="343080" indent="-343080">
              <a:lnSpc>
                <a:spcPct val="125000"/>
              </a:lnSpc>
              <a:buClr>
                <a:srgbClr val="000000"/>
              </a:buClr>
              <a:buSzPct val="70000"/>
              <a:buFont typeface="Wingdings" charset="2"/>
              <a:buChar char=""/>
              <a:tabLst>
                <a:tab algn="l" pos="0"/>
              </a:tabLst>
            </a:pPr>
            <a:r>
              <a:rPr lang="zh-CN" sz="2400" b="0" u="none" strike="noStrike">
                <a:solidFill>
                  <a:schemeClr val="dk1"/>
                </a:solidFill>
                <a:effectLst/>
                <a:uFillTx/>
                <a:latin typeface="Bodoni MT Black"/>
                <a:ea typeface="宋体"/>
              </a:rPr>
              <a:t>系统用户的要求；</a:t>
            </a:r>
            <a:endParaRPr lang="en-US" sz="2400" b="0" u="none" strike="noStrike">
              <a:solidFill>
                <a:srgbClr val="000000"/>
              </a:solidFill>
              <a:effectLst/>
              <a:uFillTx/>
              <a:latin typeface="Arial"/>
            </a:endParaRPr>
          </a:p>
          <a:p>
            <a:pPr marL="343080" indent="-343080">
              <a:lnSpc>
                <a:spcPct val="125000"/>
              </a:lnSpc>
              <a:buClr>
                <a:srgbClr val="000000"/>
              </a:buClr>
              <a:buSzPct val="70000"/>
              <a:buFont typeface="Wingdings" charset="2"/>
              <a:buChar char=""/>
              <a:tabLst>
                <a:tab algn="l" pos="0"/>
              </a:tabLst>
            </a:pPr>
            <a:r>
              <a:rPr lang="zh-CN" sz="2400" b="0" u="none" strike="noStrike">
                <a:solidFill>
                  <a:schemeClr val="dk1"/>
                </a:solidFill>
                <a:effectLst/>
                <a:uFillTx/>
                <a:latin typeface="Bodoni MT Black"/>
                <a:ea typeface="宋体"/>
              </a:rPr>
              <a:t>可以使用的编译程序；</a:t>
            </a:r>
            <a:endParaRPr lang="en-US" sz="2400" b="0" u="none" strike="noStrike">
              <a:solidFill>
                <a:srgbClr val="000000"/>
              </a:solidFill>
              <a:effectLst/>
              <a:uFillTx/>
              <a:latin typeface="Arial"/>
            </a:endParaRPr>
          </a:p>
          <a:p>
            <a:pPr marL="343080" indent="-343080">
              <a:lnSpc>
                <a:spcPct val="125000"/>
              </a:lnSpc>
              <a:buClr>
                <a:srgbClr val="000000"/>
              </a:buClr>
              <a:buSzPct val="70000"/>
              <a:buFont typeface="Wingdings" charset="2"/>
              <a:buChar char=""/>
              <a:tabLst>
                <a:tab algn="l" pos="0"/>
              </a:tabLst>
            </a:pPr>
            <a:r>
              <a:rPr lang="zh-CN" sz="2400" b="0" u="none" strike="noStrike">
                <a:solidFill>
                  <a:schemeClr val="dk1"/>
                </a:solidFill>
                <a:effectLst/>
                <a:uFillTx/>
                <a:latin typeface="Bodoni MT Black"/>
                <a:ea typeface="宋体"/>
              </a:rPr>
              <a:t>可以得到的软件工具；</a:t>
            </a:r>
            <a:endParaRPr lang="en-US" sz="2400" b="0" u="none" strike="noStrike">
              <a:solidFill>
                <a:srgbClr val="000000"/>
              </a:solidFill>
              <a:effectLst/>
              <a:uFillTx/>
              <a:latin typeface="Arial"/>
            </a:endParaRPr>
          </a:p>
          <a:p>
            <a:pPr marL="343080" indent="-343080">
              <a:lnSpc>
                <a:spcPct val="125000"/>
              </a:lnSpc>
              <a:buClr>
                <a:srgbClr val="000000"/>
              </a:buClr>
              <a:buSzPct val="70000"/>
              <a:buFont typeface="Wingdings" charset="2"/>
              <a:buChar char=""/>
              <a:tabLst>
                <a:tab algn="l" pos="0"/>
              </a:tabLst>
            </a:pPr>
            <a:r>
              <a:rPr lang="zh-CN" sz="2400" b="0" u="none" strike="noStrike">
                <a:solidFill>
                  <a:schemeClr val="dk1"/>
                </a:solidFill>
                <a:effectLst/>
                <a:uFillTx/>
                <a:latin typeface="Bodoni MT Black"/>
                <a:ea typeface="宋体"/>
              </a:rPr>
              <a:t>工程规模；</a:t>
            </a:r>
            <a:endParaRPr lang="en-US" sz="2400" b="0" u="none" strike="noStrike">
              <a:solidFill>
                <a:srgbClr val="000000"/>
              </a:solidFill>
              <a:effectLst/>
              <a:uFillTx/>
              <a:latin typeface="Arial"/>
            </a:endParaRPr>
          </a:p>
          <a:p>
            <a:pPr marL="343080" indent="-343080">
              <a:lnSpc>
                <a:spcPct val="125000"/>
              </a:lnSpc>
              <a:buClr>
                <a:srgbClr val="000000"/>
              </a:buClr>
              <a:buSzPct val="70000"/>
              <a:buFont typeface="Wingdings" charset="2"/>
              <a:buChar char=""/>
              <a:tabLst>
                <a:tab algn="l" pos="0"/>
              </a:tabLst>
            </a:pPr>
            <a:r>
              <a:rPr lang="zh-CN" sz="2400" b="0" u="none" strike="noStrike">
                <a:solidFill>
                  <a:schemeClr val="dk1"/>
                </a:solidFill>
                <a:effectLst/>
                <a:uFillTx/>
                <a:latin typeface="Bodoni MT Black"/>
                <a:ea typeface="宋体"/>
              </a:rPr>
              <a:t>程序员的知识；</a:t>
            </a:r>
            <a:endParaRPr lang="en-US" sz="2400" b="0" u="none" strike="noStrike">
              <a:solidFill>
                <a:srgbClr val="000000"/>
              </a:solidFill>
              <a:effectLst/>
              <a:uFillTx/>
              <a:latin typeface="Arial"/>
            </a:endParaRPr>
          </a:p>
          <a:p>
            <a:pPr marL="343080" indent="-343080">
              <a:lnSpc>
                <a:spcPct val="125000"/>
              </a:lnSpc>
              <a:buClr>
                <a:srgbClr val="000000"/>
              </a:buClr>
              <a:buSzPct val="70000"/>
              <a:buFont typeface="Wingdings" charset="2"/>
              <a:buChar char=""/>
              <a:tabLst>
                <a:tab algn="l" pos="0"/>
              </a:tabLst>
            </a:pPr>
            <a:r>
              <a:rPr lang="zh-CN" sz="2400" b="0" u="none" strike="noStrike">
                <a:solidFill>
                  <a:schemeClr val="dk1"/>
                </a:solidFill>
                <a:effectLst/>
                <a:uFillTx/>
                <a:latin typeface="Bodoni MT Black"/>
                <a:ea typeface="宋体"/>
              </a:rPr>
              <a:t>软件可移植性要求；</a:t>
            </a:r>
            <a:endParaRPr lang="en-US" sz="2400" b="0" u="none" strike="noStrike">
              <a:solidFill>
                <a:srgbClr val="000000"/>
              </a:solidFill>
              <a:effectLst/>
              <a:uFillTx/>
              <a:latin typeface="Arial"/>
            </a:endParaRPr>
          </a:p>
          <a:p>
            <a:pPr marL="343080" indent="-343080">
              <a:lnSpc>
                <a:spcPct val="125000"/>
              </a:lnSpc>
              <a:buClr>
                <a:srgbClr val="000000"/>
              </a:buClr>
              <a:buSzPct val="70000"/>
              <a:buFont typeface="Wingdings" charset="2"/>
              <a:buChar char=""/>
              <a:tabLst>
                <a:tab algn="l" pos="0"/>
              </a:tabLst>
            </a:pPr>
            <a:r>
              <a:rPr lang="zh-CN" sz="2400" b="0" u="none" strike="noStrike">
                <a:solidFill>
                  <a:schemeClr val="dk1"/>
                </a:solidFill>
                <a:effectLst/>
                <a:uFillTx/>
                <a:latin typeface="Bodoni MT Black"/>
                <a:ea typeface="宋体"/>
              </a:rPr>
              <a:t>软件的应用领域。</a:t>
            </a:r>
            <a:endParaRPr lang="en-US" sz="2400" b="0" u="none" strike="noStrike">
              <a:solidFill>
                <a:srgbClr val="000000"/>
              </a:solidFill>
              <a:effectLst/>
              <a:uFillTx/>
              <a:latin typeface="Arial"/>
            </a:endParaRPr>
          </a:p>
        </p:txBody>
      </p:sp>
      <p:cxnSp>
        <p:nvCxnSpPr>
          <p:cNvPr id="85" name="直接连接符 2"/>
          <p:cNvCxnSpPr/>
          <p:nvPr/>
        </p:nvCxnSpPr>
        <p:spPr>
          <a:xfrm>
            <a:off x="4773600" y="2420640"/>
            <a:ext cx="360" cy="2952720"/>
          </a:xfrm>
          <a:prstGeom prst="straightConnector1">
            <a:avLst/>
          </a:prstGeom>
          <a:ln w="22225">
            <a:solidFill>
              <a:srgbClr val="000000"/>
            </a:solidFill>
            <a:round/>
          </a:ln>
        </p:spPr>
      </p:cxnSp>
      <p:sp>
        <p:nvSpPr>
          <p:cNvPr id="86"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7.1.1 </a:t>
            </a:r>
            <a:r>
              <a:rPr lang="zh-CN" sz="2400" b="0" u="none" strike="noStrike">
                <a:solidFill>
                  <a:srgbClr val="d9d9d9"/>
                </a:solidFill>
                <a:effectLst/>
                <a:uFillTx/>
                <a:latin typeface="Bodoni MT Black"/>
                <a:ea typeface="宋体"/>
              </a:rPr>
              <a:t>选择程序设计语言</a:t>
            </a:r>
            <a:endParaRPr lang="en-US" sz="2400" b="0" u="none" strike="noStrike">
              <a:solidFill>
                <a:srgbClr val="000000"/>
              </a:solidFill>
              <a:effectLst/>
              <a:uFillTx/>
              <a:latin typeface="Arial"/>
            </a:endParaRPr>
          </a:p>
        </p:txBody>
      </p:sp>
      <p:sp>
        <p:nvSpPr>
          <p:cNvPr id="87" name="1 Título"/>
          <p:cNvSpPr/>
          <p:nvPr/>
        </p:nvSpPr>
        <p:spPr>
          <a:xfrm>
            <a:off x="0" y="6291360"/>
            <a:ext cx="2315880" cy="46008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7</a:t>
            </a:r>
            <a:r>
              <a:rPr lang="zh-CN" sz="2400" b="0" u="none" strike="noStrike">
                <a:solidFill>
                  <a:srgbClr val="d9d9d9"/>
                </a:solidFill>
                <a:effectLst/>
                <a:uFillTx/>
                <a:latin typeface="Bodoni MT Black"/>
                <a:ea typeface="宋体"/>
              </a:rPr>
              <a:t>章　实现</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7.1 </a:t>
            </a:r>
            <a:r>
              <a:rPr lang="zh-CN" sz="4400" b="1" u="none" strike="noStrike">
                <a:solidFill>
                  <a:schemeClr val="dk1"/>
                </a:solidFill>
                <a:effectLst/>
                <a:uFillTx/>
                <a:latin typeface="Bodoni MT Black"/>
              </a:rPr>
              <a:t>编码</a:t>
            </a:r>
            <a:endParaRPr lang="es-ES" sz="4400" b="0" u="none" strike="noStrike">
              <a:solidFill>
                <a:schemeClr val="dk1"/>
              </a:solidFill>
              <a:effectLst/>
              <a:uFillTx/>
              <a:latin typeface="Arial"/>
            </a:endParaRPr>
          </a:p>
        </p:txBody>
      </p:sp>
      <p:sp>
        <p:nvSpPr>
          <p:cNvPr id="89" name="PlaceHolder 2"/>
          <p:cNvSpPr>
            <a:spLocks noGrp="1"/>
          </p:cNvSpPr>
          <p:nvPr>
            <p:ph/>
          </p:nvPr>
        </p:nvSpPr>
        <p:spPr>
          <a:xfrm>
            <a:off x="395280" y="98100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7.1.2 </a:t>
            </a:r>
            <a:r>
              <a:rPr lang="zh-CN" sz="3200" b="1" u="none" strike="noStrike">
                <a:solidFill>
                  <a:schemeClr val="dk1"/>
                </a:solidFill>
                <a:effectLst/>
                <a:uFillTx/>
                <a:latin typeface="Bodoni MT Black"/>
              </a:rPr>
              <a:t>编码风格</a:t>
            </a:r>
            <a:endParaRPr lang="es-ES" sz="3200" b="0" u="none" strike="noStrike">
              <a:solidFill>
                <a:schemeClr val="dk1"/>
              </a:solidFill>
              <a:effectLst/>
              <a:uFillTx/>
              <a:latin typeface="Calibri"/>
            </a:endParaRPr>
          </a:p>
        </p:txBody>
      </p:sp>
      <p:sp>
        <p:nvSpPr>
          <p:cNvPr id="90" name="TextBox 7"/>
          <p:cNvSpPr/>
          <p:nvPr/>
        </p:nvSpPr>
        <p:spPr>
          <a:xfrm>
            <a:off x="323640" y="1557360"/>
            <a:ext cx="8496720" cy="4233960"/>
          </a:xfrm>
          <a:prstGeom prst="rect">
            <a:avLst/>
          </a:prstGeom>
          <a:noFill/>
          <a:ln w="0">
            <a:noFill/>
          </a:ln>
        </p:spPr>
        <p:style>
          <a:lnRef idx="0"/>
          <a:fillRef idx="0"/>
          <a:effectRef idx="0"/>
          <a:fontRef idx="minor"/>
        </p:style>
        <p:txBody>
          <a:bodyPr lIns="90000" rIns="90000" tIns="45000" bIns="45000" anchor="t">
            <a:spAutoFit/>
          </a:bodyPr>
          <a:p>
            <a:pPr>
              <a:lnSpc>
                <a:spcPct val="125000"/>
              </a:lnSpc>
              <a:spcBef>
                <a:spcPts val="601"/>
              </a:spcBef>
              <a:tabLst>
                <a:tab algn="l" pos="0"/>
              </a:tabLst>
            </a:pPr>
            <a:r>
              <a:rPr lang="en-US" sz="2400" b="0" u="none" strike="noStrike">
                <a:solidFill>
                  <a:schemeClr val="dk1"/>
                </a:solidFill>
                <a:effectLst/>
                <a:uFillTx/>
                <a:latin typeface="Bodoni MT Black"/>
              </a:rPr>
              <a:t>    </a:t>
            </a:r>
            <a:r>
              <a:rPr lang="zh-CN" sz="2400" b="0" u="none" strike="noStrike">
                <a:solidFill>
                  <a:schemeClr val="dk1"/>
                </a:solidFill>
                <a:effectLst/>
                <a:uFillTx/>
                <a:latin typeface="Bodoni MT Black"/>
              </a:rPr>
              <a:t>源程序代码的逻辑简明清晰、易读易懂是好程序的一个重要标准，为了做到这一点，应该遵循下述规则。</a:t>
            </a:r>
            <a:endParaRPr lang="en-US" sz="2400" b="0" u="none" strike="noStrike">
              <a:solidFill>
                <a:srgbClr val="000000"/>
              </a:solidFill>
              <a:effectLst/>
              <a:uFillTx/>
              <a:latin typeface="Arial"/>
            </a:endParaRPr>
          </a:p>
          <a:p>
            <a:pPr>
              <a:lnSpc>
                <a:spcPts val="2900"/>
              </a:lnSpc>
              <a:spcBef>
                <a:spcPts val="601"/>
              </a:spcBef>
              <a:tabLst>
                <a:tab algn="l" pos="0"/>
              </a:tabLst>
            </a:pPr>
            <a:r>
              <a:rPr lang="en-US" sz="2400" b="1" u="none" strike="noStrike">
                <a:solidFill>
                  <a:srgbClr val="0070c0"/>
                </a:solidFill>
                <a:effectLst/>
                <a:uFillTx/>
                <a:latin typeface="Bodoni MT Black"/>
              </a:rPr>
              <a:t>1. </a:t>
            </a:r>
            <a:r>
              <a:rPr lang="zh-CN" sz="2400" b="1" u="none" strike="noStrike">
                <a:solidFill>
                  <a:srgbClr val="0070c0"/>
                </a:solidFill>
                <a:effectLst/>
                <a:uFillTx/>
                <a:latin typeface="Bodoni MT Black"/>
              </a:rPr>
              <a:t>程序内部的文档</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所谓程序内部的文档包括恰当的标识符、适当的注解和程序的视觉组织等。</a:t>
            </a:r>
            <a:endParaRPr lang="en-US" sz="2400" b="0" u="none" strike="noStrike">
              <a:solidFill>
                <a:srgbClr val="000000"/>
              </a:solidFill>
              <a:effectLst/>
              <a:uFillTx/>
              <a:latin typeface="Arial"/>
            </a:endParaRPr>
          </a:p>
          <a:p>
            <a:pPr marL="343080" indent="-343080">
              <a:lnSpc>
                <a:spcPct val="125000"/>
              </a:lnSpc>
              <a:buClr>
                <a:srgbClr val="ff0000"/>
              </a:buClr>
              <a:buFont typeface="Wingdings" charset="2"/>
              <a:buChar char=""/>
              <a:tabLst>
                <a:tab algn="l" pos="0"/>
              </a:tabLst>
            </a:pPr>
            <a:r>
              <a:rPr lang="zh-CN" sz="2400" b="0" u="none" strike="noStrike">
                <a:solidFill>
                  <a:srgbClr val="ff0000"/>
                </a:solidFill>
                <a:effectLst/>
                <a:uFillTx/>
                <a:latin typeface="Bodoni MT Black"/>
              </a:rPr>
              <a:t>标识符</a:t>
            </a:r>
            <a:r>
              <a:rPr lang="zh-CN" sz="2400" b="0" u="none" strike="noStrike">
                <a:solidFill>
                  <a:schemeClr val="dk1"/>
                </a:solidFill>
                <a:effectLst/>
                <a:uFillTx/>
                <a:latin typeface="Bodoni MT Black"/>
              </a:rPr>
              <a:t>：含义鲜明的名字、缩写规则一致、为名字加注解；</a:t>
            </a:r>
            <a:endParaRPr lang="en-US" sz="2400" b="0" u="none" strike="noStrike">
              <a:solidFill>
                <a:srgbClr val="000000"/>
              </a:solidFill>
              <a:effectLst/>
              <a:uFillTx/>
              <a:latin typeface="Arial"/>
            </a:endParaRPr>
          </a:p>
          <a:p>
            <a:pPr marL="343080" indent="-343080">
              <a:lnSpc>
                <a:spcPct val="125000"/>
              </a:lnSpc>
              <a:buClr>
                <a:srgbClr val="ff0000"/>
              </a:buClr>
              <a:buFont typeface="Wingdings" charset="2"/>
              <a:buChar char=""/>
              <a:tabLst>
                <a:tab algn="l" pos="0"/>
              </a:tabLst>
            </a:pPr>
            <a:r>
              <a:rPr lang="zh-CN" sz="2400" b="0" u="none" strike="noStrike">
                <a:solidFill>
                  <a:srgbClr val="ff0000"/>
                </a:solidFill>
                <a:effectLst/>
                <a:uFillTx/>
                <a:latin typeface="Bodoni MT Black"/>
              </a:rPr>
              <a:t>注解</a:t>
            </a:r>
            <a:r>
              <a:rPr lang="zh-CN" sz="2400" b="0" u="none" strike="noStrike">
                <a:solidFill>
                  <a:schemeClr val="dk1"/>
                </a:solidFill>
                <a:effectLst/>
                <a:uFillTx/>
                <a:latin typeface="Bodoni MT Black"/>
              </a:rPr>
              <a:t>：正确性，简要描述模块的功能、主要算法、接口特点、重要数据以及开发简史或解释包含这段代码的必要性；</a:t>
            </a:r>
            <a:endParaRPr lang="en-US" sz="2400" b="0" u="none" strike="noStrike">
              <a:solidFill>
                <a:srgbClr val="000000"/>
              </a:solidFill>
              <a:effectLst/>
              <a:uFillTx/>
              <a:latin typeface="Arial"/>
            </a:endParaRPr>
          </a:p>
          <a:p>
            <a:pPr marL="343080" indent="-343080">
              <a:lnSpc>
                <a:spcPct val="125000"/>
              </a:lnSpc>
              <a:buClr>
                <a:srgbClr val="ff0000"/>
              </a:buClr>
              <a:buFont typeface="Wingdings" charset="2"/>
              <a:buChar char=""/>
              <a:tabLst>
                <a:tab algn="l" pos="0"/>
              </a:tabLst>
            </a:pPr>
            <a:r>
              <a:rPr lang="zh-CN" sz="2400" b="0" u="none" strike="noStrike">
                <a:solidFill>
                  <a:srgbClr val="ff0000"/>
                </a:solidFill>
                <a:effectLst/>
                <a:uFillTx/>
                <a:latin typeface="Bodoni MT Black"/>
              </a:rPr>
              <a:t>视觉组织</a:t>
            </a:r>
            <a:r>
              <a:rPr lang="zh-CN" sz="2400" b="0" u="none" strike="noStrike">
                <a:solidFill>
                  <a:schemeClr val="dk1"/>
                </a:solidFill>
                <a:effectLst/>
                <a:uFillTx/>
                <a:latin typeface="Bodoni MT Black"/>
              </a:rPr>
              <a:t>：适当的阶梯形式使程序的层次结构清晰明显。</a:t>
            </a:r>
            <a:endParaRPr lang="en-US" sz="2400" b="0" u="none" strike="noStrike">
              <a:solidFill>
                <a:srgbClr val="000000"/>
              </a:solidFill>
              <a:effectLst/>
              <a:uFillTx/>
              <a:latin typeface="Arial"/>
            </a:endParaRPr>
          </a:p>
        </p:txBody>
      </p:sp>
      <p:sp>
        <p:nvSpPr>
          <p:cNvPr id="91"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92"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7.1.2 </a:t>
            </a:r>
            <a:r>
              <a:rPr lang="zh-CN" sz="2400" b="0" u="none" strike="noStrike">
                <a:solidFill>
                  <a:srgbClr val="d9d9d9"/>
                </a:solidFill>
                <a:effectLst/>
                <a:uFillTx/>
                <a:latin typeface="Bodoni MT Black"/>
              </a:rPr>
              <a:t>编码风格</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457200" y="54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7.1 </a:t>
            </a:r>
            <a:r>
              <a:rPr lang="zh-CN" sz="4400" b="1" u="none" strike="noStrike">
                <a:solidFill>
                  <a:schemeClr val="dk1"/>
                </a:solidFill>
                <a:effectLst/>
                <a:uFillTx/>
                <a:latin typeface="Bodoni MT Black"/>
              </a:rPr>
              <a:t>编码</a:t>
            </a:r>
            <a:endParaRPr lang="es-ES" sz="4400" b="0" u="none" strike="noStrike">
              <a:solidFill>
                <a:schemeClr val="dk1"/>
              </a:solidFill>
              <a:effectLst/>
              <a:uFillTx/>
              <a:latin typeface="Arial"/>
            </a:endParaRPr>
          </a:p>
        </p:txBody>
      </p:sp>
      <p:sp>
        <p:nvSpPr>
          <p:cNvPr id="94" name="TextBox 7"/>
          <p:cNvSpPr/>
          <p:nvPr/>
        </p:nvSpPr>
        <p:spPr>
          <a:xfrm>
            <a:off x="457200" y="1340640"/>
            <a:ext cx="8290800" cy="3387600"/>
          </a:xfrm>
          <a:prstGeom prst="rect">
            <a:avLst/>
          </a:prstGeom>
          <a:noFill/>
          <a:ln w="0">
            <a:noFill/>
          </a:ln>
        </p:spPr>
        <p:style>
          <a:lnRef idx="0"/>
          <a:fillRef idx="0"/>
          <a:effectRef idx="0"/>
          <a:fontRef idx="minor"/>
        </p:style>
        <p:txBody>
          <a:bodyPr lIns="90000" rIns="90000" tIns="45000" bIns="45000" anchor="t">
            <a:spAutoFit/>
          </a:bodyPr>
          <a:p>
            <a:pPr>
              <a:lnSpc>
                <a:spcPts val="3501"/>
              </a:lnSpc>
              <a:spcBef>
                <a:spcPts val="601"/>
              </a:spcBef>
              <a:tabLst>
                <a:tab algn="l" pos="0"/>
              </a:tabLst>
            </a:pPr>
            <a:r>
              <a:rPr lang="en-US" sz="2400" b="1" u="none" strike="noStrike">
                <a:solidFill>
                  <a:srgbClr val="0070c0"/>
                </a:solidFill>
                <a:effectLst/>
                <a:uFillTx/>
                <a:latin typeface="Bodoni MT Black"/>
              </a:rPr>
              <a:t>2. </a:t>
            </a:r>
            <a:r>
              <a:rPr lang="zh-CN" sz="2400" b="1" u="none" strike="noStrike">
                <a:solidFill>
                  <a:srgbClr val="0070c0"/>
                </a:solidFill>
                <a:effectLst/>
                <a:uFillTx/>
                <a:latin typeface="Bodoni MT Black"/>
              </a:rPr>
              <a:t>数据说明</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数据说明的原则：</a:t>
            </a:r>
            <a:endParaRPr lang="en-US" sz="2400" b="0" u="none" strike="noStrike">
              <a:solidFill>
                <a:srgbClr val="000000"/>
              </a:solidFill>
              <a:effectLst/>
              <a:uFillTx/>
              <a:latin typeface="Arial"/>
            </a:endParaRPr>
          </a:p>
          <a:p>
            <a:pPr marL="343080" indent="-343080">
              <a:lnSpc>
                <a:spcPct val="125000"/>
              </a:lnSpc>
              <a:buClr>
                <a:srgbClr val="ff0000"/>
              </a:buClr>
              <a:buFont typeface="Wingdings" charset="2"/>
              <a:buChar char=""/>
              <a:tabLst>
                <a:tab algn="l" pos="0"/>
              </a:tabLst>
            </a:pPr>
            <a:r>
              <a:rPr lang="zh-CN" sz="2400" b="0" u="none" strike="noStrike">
                <a:solidFill>
                  <a:srgbClr val="ff0000"/>
                </a:solidFill>
                <a:effectLst/>
                <a:uFillTx/>
                <a:latin typeface="Bodoni MT Black"/>
              </a:rPr>
              <a:t>数据说明的次序</a:t>
            </a:r>
            <a:r>
              <a:rPr lang="zh-CN" sz="2400" b="0" u="none" strike="noStrike">
                <a:solidFill>
                  <a:schemeClr val="dk1"/>
                </a:solidFill>
                <a:effectLst/>
                <a:uFillTx/>
                <a:latin typeface="Bodoni MT Black"/>
              </a:rPr>
              <a:t>应该标准化；</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当多个变量名在一个语句中说明时，应该按</a:t>
            </a:r>
            <a:r>
              <a:rPr lang="zh-CN" sz="2400" b="0" u="none" strike="noStrike">
                <a:solidFill>
                  <a:srgbClr val="ff0000"/>
                </a:solidFill>
                <a:effectLst/>
                <a:uFillTx/>
                <a:latin typeface="Bodoni MT Black"/>
              </a:rPr>
              <a:t>字母顺序排列</a:t>
            </a:r>
            <a:r>
              <a:rPr lang="zh-CN" sz="2400" b="0" u="none" strike="noStrike">
                <a:solidFill>
                  <a:schemeClr val="dk1"/>
                </a:solidFill>
                <a:effectLst/>
                <a:uFillTx/>
                <a:latin typeface="Bodoni MT Black"/>
              </a:rPr>
              <a:t>这些变量；</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如果设计时使用了一个</a:t>
            </a:r>
            <a:r>
              <a:rPr lang="zh-CN" sz="2400" b="0" u="none" strike="noStrike">
                <a:solidFill>
                  <a:srgbClr val="ff0000"/>
                </a:solidFill>
                <a:effectLst/>
                <a:uFillTx/>
                <a:latin typeface="Bodoni MT Black"/>
              </a:rPr>
              <a:t>复杂的数据结构</a:t>
            </a:r>
            <a:r>
              <a:rPr lang="zh-CN" sz="2400" b="0" u="none" strike="noStrike">
                <a:solidFill>
                  <a:schemeClr val="dk1"/>
                </a:solidFill>
                <a:effectLst/>
                <a:uFillTx/>
                <a:latin typeface="Bodoni MT Black"/>
              </a:rPr>
              <a:t>，则应该用</a:t>
            </a:r>
            <a:r>
              <a:rPr lang="zh-CN" sz="2400" b="0" u="none" strike="noStrike">
                <a:solidFill>
                  <a:srgbClr val="ff0000"/>
                </a:solidFill>
                <a:effectLst/>
                <a:uFillTx/>
                <a:latin typeface="Bodoni MT Black"/>
              </a:rPr>
              <a:t>注解</a:t>
            </a:r>
            <a:r>
              <a:rPr lang="zh-CN" sz="2400" b="0" u="none" strike="noStrike">
                <a:solidFill>
                  <a:schemeClr val="dk1"/>
                </a:solidFill>
                <a:effectLst/>
                <a:uFillTx/>
                <a:latin typeface="Bodoni MT Black"/>
              </a:rPr>
              <a:t>说明用程序设计语言实现这个数据结构的方法和特点。</a:t>
            </a:r>
            <a:endParaRPr lang="en-US" sz="2400" b="0" u="none" strike="noStrike">
              <a:solidFill>
                <a:srgbClr val="000000"/>
              </a:solidFill>
              <a:effectLst/>
              <a:uFillTx/>
              <a:latin typeface="Arial"/>
            </a:endParaRPr>
          </a:p>
        </p:txBody>
      </p:sp>
      <p:sp>
        <p:nvSpPr>
          <p:cNvPr id="95"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96"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7.1.2 </a:t>
            </a:r>
            <a:r>
              <a:rPr lang="zh-CN" sz="2400" b="0" u="none" strike="noStrike">
                <a:solidFill>
                  <a:srgbClr val="d9d9d9"/>
                </a:solidFill>
                <a:effectLst/>
                <a:uFillTx/>
                <a:latin typeface="Bodoni MT Black"/>
              </a:rPr>
              <a:t>编码风格</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54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7.1 </a:t>
            </a:r>
            <a:r>
              <a:rPr lang="zh-CN" sz="4400" b="1" u="none" strike="noStrike">
                <a:solidFill>
                  <a:schemeClr val="dk1"/>
                </a:solidFill>
                <a:effectLst/>
                <a:uFillTx/>
                <a:latin typeface="Bodoni MT Black"/>
              </a:rPr>
              <a:t>编码</a:t>
            </a:r>
            <a:endParaRPr lang="es-ES" sz="4400" b="0" u="none" strike="noStrike">
              <a:solidFill>
                <a:schemeClr val="dk1"/>
              </a:solidFill>
              <a:effectLst/>
              <a:uFillTx/>
              <a:latin typeface="Arial"/>
            </a:endParaRPr>
          </a:p>
        </p:txBody>
      </p:sp>
      <p:sp>
        <p:nvSpPr>
          <p:cNvPr id="98" name="TextBox 7"/>
          <p:cNvSpPr/>
          <p:nvPr/>
        </p:nvSpPr>
        <p:spPr>
          <a:xfrm>
            <a:off x="567360" y="1340640"/>
            <a:ext cx="8192880" cy="3323520"/>
          </a:xfrm>
          <a:prstGeom prst="rect">
            <a:avLst/>
          </a:prstGeom>
          <a:noFill/>
          <a:ln w="0">
            <a:noFill/>
          </a:ln>
        </p:spPr>
        <p:style>
          <a:lnRef idx="0"/>
          <a:fillRef idx="0"/>
          <a:effectRef idx="0"/>
          <a:fontRef idx="minor"/>
        </p:style>
        <p:txBody>
          <a:bodyPr lIns="90000" rIns="90000" tIns="45000" bIns="45000" anchor="t">
            <a:spAutoFit/>
          </a:bodyPr>
          <a:p>
            <a:pPr>
              <a:lnSpc>
                <a:spcPts val="3600"/>
              </a:lnSpc>
              <a:spcBef>
                <a:spcPts val="601"/>
              </a:spcBef>
              <a:tabLst>
                <a:tab algn="l" pos="0"/>
              </a:tabLst>
            </a:pPr>
            <a:r>
              <a:rPr lang="en-US" sz="2400" b="1" u="none" strike="noStrike">
                <a:solidFill>
                  <a:srgbClr val="0070c0"/>
                </a:solidFill>
                <a:effectLst/>
                <a:uFillTx/>
                <a:latin typeface="Bodoni MT Black"/>
              </a:rPr>
              <a:t>3. </a:t>
            </a:r>
            <a:r>
              <a:rPr lang="zh-CN" sz="2400" b="1" u="none" strike="noStrike">
                <a:solidFill>
                  <a:srgbClr val="0070c0"/>
                </a:solidFill>
                <a:effectLst/>
                <a:uFillTx/>
                <a:latin typeface="Bodoni MT Black"/>
              </a:rPr>
              <a:t>语句构造</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下述语句构造的原则有助于使语句简单明了：</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不要为了节省空间而把多个语句写在同一行；</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尽量避免复杂的条件测试；</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尽量减少对</a:t>
            </a:r>
            <a:r>
              <a:rPr lang="en-US" sz="2400" b="0" u="none" strike="noStrike">
                <a:solidFill>
                  <a:srgbClr val="ff0000"/>
                </a:solidFill>
                <a:effectLst/>
                <a:uFillTx/>
                <a:latin typeface="Bodoni MT Black"/>
              </a:rPr>
              <a:t>“非”条件</a:t>
            </a:r>
            <a:r>
              <a:rPr lang="zh-CN" sz="2400" b="0" u="none" strike="noStrike">
                <a:solidFill>
                  <a:schemeClr val="dk1"/>
                </a:solidFill>
                <a:effectLst/>
                <a:uFillTx/>
                <a:latin typeface="Bodoni MT Black"/>
              </a:rPr>
              <a:t>的测试；</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避免大量使用</a:t>
            </a:r>
            <a:r>
              <a:rPr lang="zh-CN" sz="2400" b="0" u="none" strike="noStrike">
                <a:solidFill>
                  <a:srgbClr val="ff0000"/>
                </a:solidFill>
                <a:effectLst/>
                <a:uFillTx/>
                <a:latin typeface="Bodoni MT Black"/>
              </a:rPr>
              <a:t>循环嵌套</a:t>
            </a:r>
            <a:r>
              <a:rPr lang="zh-CN" sz="2400" b="0" u="none" strike="noStrike">
                <a:solidFill>
                  <a:schemeClr val="dk1"/>
                </a:solidFill>
                <a:effectLst/>
                <a:uFillTx/>
                <a:latin typeface="Bodoni MT Black"/>
              </a:rPr>
              <a:t>和</a:t>
            </a:r>
            <a:r>
              <a:rPr lang="zh-CN" sz="2400" b="0" u="none" strike="noStrike">
                <a:solidFill>
                  <a:srgbClr val="ff0000"/>
                </a:solidFill>
                <a:effectLst/>
                <a:uFillTx/>
                <a:latin typeface="Bodoni MT Black"/>
              </a:rPr>
              <a:t>条件嵌套</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利用</a:t>
            </a:r>
            <a:r>
              <a:rPr lang="zh-CN" sz="2400" b="0" u="none" strike="noStrike">
                <a:solidFill>
                  <a:srgbClr val="ff0000"/>
                </a:solidFill>
                <a:effectLst/>
                <a:uFillTx/>
                <a:latin typeface="Bodoni MT Black"/>
              </a:rPr>
              <a:t>括号</a:t>
            </a:r>
            <a:r>
              <a:rPr lang="zh-CN" sz="2400" b="0" u="none" strike="noStrike">
                <a:solidFill>
                  <a:schemeClr val="dk1"/>
                </a:solidFill>
                <a:effectLst/>
                <a:uFillTx/>
                <a:latin typeface="Bodoni MT Black"/>
              </a:rPr>
              <a:t>使逻辑表达式或算术表达式的运算次序清晰直观。</a:t>
            </a:r>
            <a:endParaRPr lang="en-US" sz="2400" b="0" u="none" strike="noStrike">
              <a:solidFill>
                <a:srgbClr val="000000"/>
              </a:solidFill>
              <a:effectLst/>
              <a:uFillTx/>
              <a:latin typeface="Arial"/>
            </a:endParaRPr>
          </a:p>
        </p:txBody>
      </p:sp>
      <p:sp>
        <p:nvSpPr>
          <p:cNvPr id="99"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100"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7.1.2 </a:t>
            </a:r>
            <a:r>
              <a:rPr lang="zh-CN" sz="2400" b="0" u="none" strike="noStrike">
                <a:solidFill>
                  <a:srgbClr val="d9d9d9"/>
                </a:solidFill>
                <a:effectLst/>
                <a:uFillTx/>
                <a:latin typeface="Bodoni MT Black"/>
              </a:rPr>
              <a:t>编码风格</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7.1 </a:t>
            </a:r>
            <a:r>
              <a:rPr lang="zh-CN" sz="4400" b="1" u="none" strike="noStrike">
                <a:solidFill>
                  <a:schemeClr val="dk1"/>
                </a:solidFill>
                <a:effectLst/>
                <a:uFillTx/>
                <a:latin typeface="Bodoni MT Black"/>
              </a:rPr>
              <a:t>编码</a:t>
            </a:r>
            <a:endParaRPr lang="es-ES" sz="4400" b="0" u="none" strike="noStrike">
              <a:solidFill>
                <a:schemeClr val="dk1"/>
              </a:solidFill>
              <a:effectLst/>
              <a:uFillTx/>
              <a:latin typeface="Arial"/>
            </a:endParaRPr>
          </a:p>
        </p:txBody>
      </p:sp>
      <p:sp>
        <p:nvSpPr>
          <p:cNvPr id="102" name="TextBox 7"/>
          <p:cNvSpPr/>
          <p:nvPr/>
        </p:nvSpPr>
        <p:spPr>
          <a:xfrm>
            <a:off x="467640" y="980640"/>
            <a:ext cx="8352720" cy="5093280"/>
          </a:xfrm>
          <a:prstGeom prst="rect">
            <a:avLst/>
          </a:prstGeom>
          <a:noFill/>
          <a:ln w="0">
            <a:noFill/>
          </a:ln>
        </p:spPr>
        <p:style>
          <a:lnRef idx="0"/>
          <a:fillRef idx="0"/>
          <a:effectRef idx="0"/>
          <a:fontRef idx="minor"/>
        </p:style>
        <p:txBody>
          <a:bodyPr lIns="90000" rIns="90000" tIns="45000" bIns="45000" anchor="t">
            <a:spAutoFit/>
          </a:bodyPr>
          <a:p>
            <a:pPr>
              <a:lnSpc>
                <a:spcPts val="2999"/>
              </a:lnSpc>
              <a:spcBef>
                <a:spcPts val="601"/>
              </a:spcBef>
              <a:tabLst>
                <a:tab algn="l" pos="0"/>
              </a:tabLst>
            </a:pPr>
            <a:r>
              <a:rPr lang="en-US" sz="2400" b="1" u="none" strike="noStrike">
                <a:solidFill>
                  <a:srgbClr val="0070c0"/>
                </a:solidFill>
                <a:effectLst/>
                <a:uFillTx/>
                <a:latin typeface="Bodoni MT Black"/>
              </a:rPr>
              <a:t>4. </a:t>
            </a:r>
            <a:r>
              <a:rPr lang="zh-CN" sz="2400" b="1" u="none" strike="noStrike">
                <a:solidFill>
                  <a:srgbClr val="0070c0"/>
                </a:solidFill>
                <a:effectLst/>
                <a:uFillTx/>
                <a:latin typeface="Bodoni MT Black"/>
              </a:rPr>
              <a:t>输入输出</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在设计和编写程序时需考虑有关输入输出风格的规则</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对所有输入数据都进行检验；</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检查</a:t>
            </a:r>
            <a:r>
              <a:rPr lang="zh-CN" sz="2400" b="0" u="none" strike="noStrike">
                <a:solidFill>
                  <a:srgbClr val="ff0000"/>
                </a:solidFill>
                <a:effectLst/>
                <a:uFillTx/>
                <a:latin typeface="Bodoni MT Black"/>
              </a:rPr>
              <a:t>输入项</a:t>
            </a:r>
            <a:r>
              <a:rPr lang="zh-CN" sz="2400" b="0" u="none" strike="noStrike">
                <a:solidFill>
                  <a:schemeClr val="dk1"/>
                </a:solidFill>
                <a:effectLst/>
                <a:uFillTx/>
                <a:latin typeface="Bodoni MT Black"/>
              </a:rPr>
              <a:t>重要组合的</a:t>
            </a:r>
            <a:r>
              <a:rPr lang="zh-CN" sz="2400" b="0" u="none" strike="noStrike">
                <a:solidFill>
                  <a:srgbClr val="ff0000"/>
                </a:solidFill>
                <a:effectLst/>
                <a:uFillTx/>
                <a:latin typeface="Bodoni MT Black"/>
              </a:rPr>
              <a:t>合法性</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保持输入格式简单；</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使用</a:t>
            </a:r>
            <a:r>
              <a:rPr lang="zh-CN" sz="2400" b="0" u="none" strike="noStrike">
                <a:solidFill>
                  <a:srgbClr val="ff0000"/>
                </a:solidFill>
                <a:effectLst/>
                <a:uFillTx/>
                <a:latin typeface="Bodoni MT Black"/>
              </a:rPr>
              <a:t>数据结束标记</a:t>
            </a:r>
            <a:r>
              <a:rPr lang="zh-CN" sz="2400" b="0" u="none" strike="noStrike">
                <a:solidFill>
                  <a:schemeClr val="dk1"/>
                </a:solidFill>
                <a:effectLst/>
                <a:uFillTx/>
                <a:latin typeface="Bodoni MT Black"/>
              </a:rPr>
              <a:t>，不要要求用户指定数据的数目；</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明确提示交互式输入的请求，详细说明</a:t>
            </a:r>
            <a:r>
              <a:rPr lang="zh-CN" sz="2400" b="0" u="none" strike="noStrike">
                <a:solidFill>
                  <a:srgbClr val="ff0000"/>
                </a:solidFill>
                <a:effectLst/>
                <a:uFillTx/>
                <a:latin typeface="Bodoni MT Black"/>
              </a:rPr>
              <a:t>可用的选择</a:t>
            </a:r>
            <a:r>
              <a:rPr lang="zh-CN" sz="2400" b="0" u="none" strike="noStrike">
                <a:solidFill>
                  <a:schemeClr val="dk1"/>
                </a:solidFill>
                <a:effectLst/>
                <a:uFillTx/>
                <a:latin typeface="Bodoni MT Black"/>
              </a:rPr>
              <a:t>或</a:t>
            </a:r>
            <a:r>
              <a:rPr lang="zh-CN" sz="2400" b="0" u="none" strike="noStrike">
                <a:solidFill>
                  <a:srgbClr val="ff0000"/>
                </a:solidFill>
                <a:effectLst/>
                <a:uFillTx/>
                <a:latin typeface="Bodoni MT Black"/>
              </a:rPr>
              <a:t>边界数值</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程序设计语言对格式有严格要求时，应保持</a:t>
            </a:r>
            <a:r>
              <a:rPr lang="zh-CN" sz="2400" b="0" u="none" strike="noStrike">
                <a:solidFill>
                  <a:srgbClr val="ff0000"/>
                </a:solidFill>
                <a:effectLst/>
                <a:uFillTx/>
                <a:latin typeface="Bodoni MT Black"/>
              </a:rPr>
              <a:t>输入格式一致</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设计良好的</a:t>
            </a:r>
            <a:r>
              <a:rPr lang="zh-CN" sz="2400" b="0" u="none" strike="noStrike">
                <a:solidFill>
                  <a:srgbClr val="ff0000"/>
                </a:solidFill>
                <a:effectLst/>
                <a:uFillTx/>
                <a:latin typeface="Bodoni MT Black"/>
              </a:rPr>
              <a:t>输出报表</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给所有输出数据加标志。</a:t>
            </a:r>
            <a:endParaRPr lang="en-US" sz="2400" b="0" u="none" strike="noStrike">
              <a:solidFill>
                <a:srgbClr val="000000"/>
              </a:solidFill>
              <a:effectLst/>
              <a:uFillTx/>
              <a:latin typeface="Arial"/>
            </a:endParaRPr>
          </a:p>
        </p:txBody>
      </p:sp>
      <p:sp>
        <p:nvSpPr>
          <p:cNvPr id="103"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104"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7.1.2 </a:t>
            </a:r>
            <a:r>
              <a:rPr lang="zh-CN" sz="2400" b="0" u="none" strike="noStrike">
                <a:solidFill>
                  <a:srgbClr val="d9d9d9"/>
                </a:solidFill>
                <a:effectLst/>
                <a:uFillTx/>
                <a:latin typeface="Bodoni MT Black"/>
              </a:rPr>
              <a:t>编码风格</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7.1 </a:t>
            </a:r>
            <a:r>
              <a:rPr lang="zh-CN" sz="4400" b="1" u="none" strike="noStrike">
                <a:solidFill>
                  <a:schemeClr val="dk1"/>
                </a:solidFill>
                <a:effectLst/>
                <a:uFillTx/>
                <a:latin typeface="Bodoni MT Black"/>
              </a:rPr>
              <a:t>编码</a:t>
            </a:r>
            <a:endParaRPr lang="es-ES" sz="4400" b="0" u="none" strike="noStrike">
              <a:solidFill>
                <a:schemeClr val="dk1"/>
              </a:solidFill>
              <a:effectLst/>
              <a:uFillTx/>
              <a:latin typeface="Arial"/>
            </a:endParaRPr>
          </a:p>
        </p:txBody>
      </p:sp>
      <p:sp>
        <p:nvSpPr>
          <p:cNvPr id="106" name="TextBox 7"/>
          <p:cNvSpPr/>
          <p:nvPr/>
        </p:nvSpPr>
        <p:spPr>
          <a:xfrm>
            <a:off x="590400" y="1739880"/>
            <a:ext cx="8084880" cy="3297960"/>
          </a:xfrm>
          <a:prstGeom prst="rect">
            <a:avLst/>
          </a:prstGeom>
          <a:noFill/>
          <a:ln w="0">
            <a:noFill/>
          </a:ln>
        </p:spPr>
        <p:style>
          <a:lnRef idx="0"/>
          <a:fillRef idx="0"/>
          <a:effectRef idx="0"/>
          <a:fontRef idx="minor"/>
        </p:style>
        <p:txBody>
          <a:bodyPr lIns="90000" rIns="90000" tIns="45000" bIns="45000" anchor="t">
            <a:spAutoFit/>
          </a:bodyPr>
          <a:p>
            <a:pPr>
              <a:lnSpc>
                <a:spcPts val="3200"/>
              </a:lnSpc>
              <a:spcBef>
                <a:spcPts val="601"/>
              </a:spcBef>
              <a:tabLst>
                <a:tab algn="l" pos="0"/>
              </a:tabLst>
            </a:pPr>
            <a:r>
              <a:rPr lang="en-US" sz="2400" b="1" u="none" strike="noStrike">
                <a:solidFill>
                  <a:srgbClr val="0070c0"/>
                </a:solidFill>
                <a:effectLst/>
                <a:uFillTx/>
                <a:latin typeface="Bodoni MT Black"/>
              </a:rPr>
              <a:t>5. </a:t>
            </a:r>
            <a:r>
              <a:rPr lang="zh-CN" sz="2400" b="1" u="none" strike="noStrike">
                <a:solidFill>
                  <a:srgbClr val="0070c0"/>
                </a:solidFill>
                <a:effectLst/>
                <a:uFillTx/>
                <a:latin typeface="Bodoni MT Black"/>
              </a:rPr>
              <a:t>效率</a:t>
            </a:r>
            <a:endParaRPr lang="en-US" sz="2400" b="0" u="none" strike="noStrike">
              <a:solidFill>
                <a:srgbClr val="000000"/>
              </a:solidFill>
              <a:effectLst/>
              <a:uFillTx/>
              <a:latin typeface="Arial"/>
            </a:endParaRPr>
          </a:p>
          <a:p>
            <a:pPr>
              <a:lnSpc>
                <a:spcPts val="3200"/>
              </a:lnSpc>
              <a:spcBef>
                <a:spcPts val="601"/>
              </a:spcBef>
              <a:tabLst>
                <a:tab algn="l" pos="0"/>
              </a:tabLst>
            </a:pPr>
            <a:r>
              <a:rPr lang="en-US" sz="2400" b="0" u="none" strike="noStrike">
                <a:solidFill>
                  <a:schemeClr val="dk1"/>
                </a:solidFill>
                <a:effectLst/>
                <a:uFillTx/>
                <a:latin typeface="Bodoni MT Black"/>
              </a:rPr>
              <a:t>   </a:t>
            </a:r>
            <a:r>
              <a:rPr lang="zh-CN" sz="2400" b="1" u="none" strike="noStrike">
                <a:solidFill>
                  <a:schemeClr val="accent2"/>
                </a:solidFill>
                <a:effectLst/>
                <a:uFillTx/>
                <a:latin typeface="Bodoni MT Black"/>
              </a:rPr>
              <a:t>效率</a:t>
            </a:r>
            <a:r>
              <a:rPr lang="zh-CN" sz="2400" b="0" u="none" strike="noStrike">
                <a:solidFill>
                  <a:schemeClr val="dk1"/>
                </a:solidFill>
                <a:effectLst/>
                <a:uFillTx/>
                <a:latin typeface="Bodoni MT Black"/>
              </a:rPr>
              <a:t>主要指</a:t>
            </a:r>
            <a:r>
              <a:rPr lang="zh-CN" sz="2400" b="0" u="none" strike="noStrike">
                <a:solidFill>
                  <a:srgbClr val="ff0000"/>
                </a:solidFill>
                <a:effectLst/>
                <a:uFillTx/>
                <a:latin typeface="Bodoni MT Black"/>
              </a:rPr>
              <a:t>处理机时间</a:t>
            </a:r>
            <a:r>
              <a:rPr lang="zh-CN" sz="2400" b="0" u="none" strike="noStrike">
                <a:solidFill>
                  <a:schemeClr val="dk1"/>
                </a:solidFill>
                <a:effectLst/>
                <a:uFillTx/>
                <a:latin typeface="Bodoni MT Black"/>
              </a:rPr>
              <a:t>和</a:t>
            </a:r>
            <a:r>
              <a:rPr lang="zh-CN" sz="2400" b="0" u="none" strike="noStrike">
                <a:solidFill>
                  <a:srgbClr val="ff0000"/>
                </a:solidFill>
                <a:effectLst/>
                <a:uFillTx/>
                <a:latin typeface="Bodoni MT Black"/>
              </a:rPr>
              <a:t>存储器容量</a:t>
            </a:r>
            <a:r>
              <a:rPr lang="zh-CN" sz="2400" b="0" u="none" strike="noStrike">
                <a:solidFill>
                  <a:schemeClr val="dk1"/>
                </a:solidFill>
                <a:effectLst/>
                <a:uFillTx/>
                <a:latin typeface="Bodoni MT Black"/>
              </a:rPr>
              <a:t>两个方面。</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效率是性能要求，因此应该在需求分析阶段确定效率方面的要求；</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效率是靠好设计来提高的；</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程序的效率和程序的简单程度是一致的，不要牺牲程序的清晰性和可读性来不必要地提高效率。</a:t>
            </a:r>
            <a:endParaRPr lang="en-US" sz="2400" b="0" u="none" strike="noStrike">
              <a:solidFill>
                <a:srgbClr val="000000"/>
              </a:solidFill>
              <a:effectLst/>
              <a:uFillTx/>
              <a:latin typeface="Arial"/>
            </a:endParaRPr>
          </a:p>
        </p:txBody>
      </p:sp>
      <p:sp>
        <p:nvSpPr>
          <p:cNvPr id="107"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108"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7.1.2 </a:t>
            </a:r>
            <a:r>
              <a:rPr lang="zh-CN" sz="2400" b="0" u="none" strike="noStrike">
                <a:solidFill>
                  <a:srgbClr val="d9d9d9"/>
                </a:solidFill>
                <a:effectLst/>
                <a:uFillTx/>
                <a:latin typeface="Bodoni MT Black"/>
              </a:rPr>
              <a:t>编码风格</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7.1 </a:t>
            </a:r>
            <a:r>
              <a:rPr lang="zh-CN" sz="4400" b="1" u="none" strike="noStrike">
                <a:solidFill>
                  <a:schemeClr val="dk1"/>
                </a:solidFill>
                <a:effectLst/>
                <a:uFillTx/>
                <a:latin typeface="Bodoni MT Black"/>
              </a:rPr>
              <a:t>编码</a:t>
            </a:r>
            <a:endParaRPr lang="es-ES" sz="4400" b="0" u="none" strike="noStrike">
              <a:solidFill>
                <a:schemeClr val="dk1"/>
              </a:solidFill>
              <a:effectLst/>
              <a:uFillTx/>
              <a:latin typeface="Arial"/>
            </a:endParaRPr>
          </a:p>
        </p:txBody>
      </p:sp>
      <p:sp>
        <p:nvSpPr>
          <p:cNvPr id="110" name="TextBox 7"/>
          <p:cNvSpPr/>
          <p:nvPr/>
        </p:nvSpPr>
        <p:spPr>
          <a:xfrm>
            <a:off x="539640" y="1125360"/>
            <a:ext cx="8280000" cy="4631760"/>
          </a:xfrm>
          <a:prstGeom prst="rect">
            <a:avLst/>
          </a:prstGeom>
          <a:noFill/>
          <a:ln w="0">
            <a:noFill/>
          </a:ln>
        </p:spPr>
        <p:style>
          <a:lnRef idx="0"/>
          <a:fillRef idx="0"/>
          <a:effectRef idx="0"/>
          <a:fontRef idx="minor"/>
        </p:style>
        <p:txBody>
          <a:bodyPr lIns="90000" rIns="90000" tIns="45000" bIns="45000" anchor="t">
            <a:spAutoFit/>
          </a:bodyPr>
          <a:p>
            <a:pPr>
              <a:lnSpc>
                <a:spcPts val="2999"/>
              </a:lnSpc>
              <a:spcBef>
                <a:spcPts val="601"/>
              </a:spcBef>
              <a:tabLst>
                <a:tab algn="l" pos="0"/>
              </a:tabLst>
            </a:pPr>
            <a:r>
              <a:rPr lang="en-US" sz="2400" b="1" u="none" strike="noStrike">
                <a:solidFill>
                  <a:srgbClr val="0070c0"/>
                </a:solidFill>
                <a:effectLst/>
                <a:uFillTx/>
                <a:latin typeface="Bodoni MT Black"/>
              </a:rPr>
              <a:t>5. </a:t>
            </a:r>
            <a:r>
              <a:rPr lang="zh-CN" sz="2400" b="1" u="none" strike="noStrike">
                <a:solidFill>
                  <a:srgbClr val="0070c0"/>
                </a:solidFill>
                <a:effectLst/>
                <a:uFillTx/>
                <a:latin typeface="Bodoni MT Black"/>
              </a:rPr>
              <a:t>效率</a:t>
            </a:r>
            <a:endParaRPr lang="en-US" sz="2400" b="0" u="none" strike="noStrike">
              <a:solidFill>
                <a:srgbClr val="000000"/>
              </a:solidFill>
              <a:effectLst/>
              <a:uFillTx/>
              <a:latin typeface="Arial"/>
            </a:endParaRPr>
          </a:p>
          <a:p>
            <a:pPr>
              <a:lnSpc>
                <a:spcPts val="2999"/>
              </a:lnSpc>
              <a:spcBef>
                <a:spcPts val="601"/>
              </a:spcBef>
              <a:tabLst>
                <a:tab algn="l" pos="0"/>
              </a:tabLst>
            </a:pPr>
            <a:r>
              <a:rPr lang="en-US" sz="2400" b="1" u="none" strike="noStrike">
                <a:solidFill>
                  <a:srgbClr val="ff0000"/>
                </a:solidFill>
                <a:effectLst/>
                <a:uFillTx/>
                <a:latin typeface="Bodoni MT Black"/>
              </a:rPr>
              <a:t>   ①</a:t>
            </a:r>
            <a:r>
              <a:rPr lang="en-US" sz="2400" b="1" u="none" strike="noStrike">
                <a:solidFill>
                  <a:schemeClr val="dk1"/>
                </a:solidFill>
                <a:effectLst/>
                <a:uFillTx/>
                <a:latin typeface="Bodoni MT Black"/>
              </a:rPr>
              <a:t> </a:t>
            </a:r>
            <a:r>
              <a:rPr lang="zh-CN" sz="2400" b="1" u="none" strike="noStrike">
                <a:solidFill>
                  <a:srgbClr val="ff0000"/>
                </a:solidFill>
                <a:effectLst/>
                <a:uFillTx/>
                <a:latin typeface="Bodoni MT Black"/>
              </a:rPr>
              <a:t>程序运行时间</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写程序之前先简化算术的和逻辑的表达式；</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仔细研究</a:t>
            </a:r>
            <a:r>
              <a:rPr lang="zh-CN" sz="2400" b="0" u="none" strike="noStrike">
                <a:solidFill>
                  <a:srgbClr val="ff0000"/>
                </a:solidFill>
                <a:effectLst/>
                <a:uFillTx/>
                <a:latin typeface="Bodoni MT Black"/>
              </a:rPr>
              <a:t>嵌套的循环</a:t>
            </a:r>
            <a:r>
              <a:rPr lang="zh-CN" sz="2400" b="0" u="none" strike="noStrike">
                <a:solidFill>
                  <a:schemeClr val="dk1"/>
                </a:solidFill>
                <a:effectLst/>
                <a:uFillTx/>
                <a:latin typeface="Bodoni MT Black"/>
              </a:rPr>
              <a:t>，以确定是否有语句可以从内层往外移；</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尽量</a:t>
            </a:r>
            <a:r>
              <a:rPr lang="zh-CN" sz="2400" b="0" u="none" strike="noStrike">
                <a:solidFill>
                  <a:srgbClr val="ff0000"/>
                </a:solidFill>
                <a:effectLst/>
                <a:uFillTx/>
                <a:latin typeface="Bodoni MT Black"/>
              </a:rPr>
              <a:t>避免</a:t>
            </a:r>
            <a:r>
              <a:rPr lang="zh-CN" sz="2400" b="0" u="none" strike="noStrike">
                <a:solidFill>
                  <a:schemeClr val="dk1"/>
                </a:solidFill>
                <a:effectLst/>
                <a:uFillTx/>
                <a:latin typeface="Bodoni MT Black"/>
              </a:rPr>
              <a:t>使用</a:t>
            </a:r>
            <a:r>
              <a:rPr lang="zh-CN" sz="2400" b="0" u="none" strike="noStrike">
                <a:solidFill>
                  <a:srgbClr val="ff0000"/>
                </a:solidFill>
                <a:effectLst/>
                <a:uFillTx/>
                <a:latin typeface="Bodoni MT Black"/>
              </a:rPr>
              <a:t>多维数组</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尽量</a:t>
            </a:r>
            <a:r>
              <a:rPr lang="zh-CN" sz="2400" b="0" u="none" strike="noStrike">
                <a:solidFill>
                  <a:srgbClr val="ff0000"/>
                </a:solidFill>
                <a:effectLst/>
                <a:uFillTx/>
                <a:latin typeface="Bodoni MT Black"/>
              </a:rPr>
              <a:t>避免</a:t>
            </a:r>
            <a:r>
              <a:rPr lang="zh-CN" sz="2400" b="0" u="none" strike="noStrike">
                <a:solidFill>
                  <a:schemeClr val="dk1"/>
                </a:solidFill>
                <a:effectLst/>
                <a:uFillTx/>
                <a:latin typeface="Bodoni MT Black"/>
              </a:rPr>
              <a:t>使用</a:t>
            </a:r>
            <a:r>
              <a:rPr lang="zh-CN" sz="2400" b="0" u="none" strike="noStrike">
                <a:solidFill>
                  <a:srgbClr val="ff0000"/>
                </a:solidFill>
                <a:effectLst/>
                <a:uFillTx/>
                <a:latin typeface="Bodoni MT Black"/>
              </a:rPr>
              <a:t>指针</a:t>
            </a:r>
            <a:r>
              <a:rPr lang="zh-CN" sz="2400" b="0" u="none" strike="noStrike">
                <a:solidFill>
                  <a:schemeClr val="dk1"/>
                </a:solidFill>
                <a:effectLst/>
                <a:uFillTx/>
                <a:latin typeface="Bodoni MT Black"/>
              </a:rPr>
              <a:t>和</a:t>
            </a:r>
            <a:r>
              <a:rPr lang="zh-CN" sz="2400" b="0" u="none" strike="noStrike">
                <a:solidFill>
                  <a:srgbClr val="ff0000"/>
                </a:solidFill>
                <a:effectLst/>
                <a:uFillTx/>
                <a:latin typeface="Bodoni MT Black"/>
              </a:rPr>
              <a:t>复杂的表</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使用执行时间短的算术运算；</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不要混合使用不同的数据类型；</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尽量使用</a:t>
            </a:r>
            <a:r>
              <a:rPr lang="zh-CN" sz="2400" b="0" u="none" strike="noStrike">
                <a:solidFill>
                  <a:srgbClr val="ff0000"/>
                </a:solidFill>
                <a:effectLst/>
                <a:uFillTx/>
                <a:latin typeface="Bodoni MT Black"/>
              </a:rPr>
              <a:t>整数运算</a:t>
            </a:r>
            <a:r>
              <a:rPr lang="zh-CN" sz="2400" b="0" u="none" strike="noStrike">
                <a:solidFill>
                  <a:schemeClr val="dk1"/>
                </a:solidFill>
                <a:effectLst/>
                <a:uFillTx/>
                <a:latin typeface="Bodoni MT Black"/>
              </a:rPr>
              <a:t>和</a:t>
            </a:r>
            <a:r>
              <a:rPr lang="zh-CN" sz="2400" b="0" u="none" strike="noStrike">
                <a:solidFill>
                  <a:srgbClr val="ff0000"/>
                </a:solidFill>
                <a:effectLst/>
                <a:uFillTx/>
                <a:latin typeface="Bodoni MT Black"/>
              </a:rPr>
              <a:t>布尔表达式</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p:txBody>
      </p:sp>
      <p:sp>
        <p:nvSpPr>
          <p:cNvPr id="111"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112"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7.1.2 </a:t>
            </a:r>
            <a:r>
              <a:rPr lang="zh-CN" sz="2400" b="0" u="none" strike="noStrike">
                <a:solidFill>
                  <a:srgbClr val="d9d9d9"/>
                </a:solidFill>
                <a:effectLst/>
                <a:uFillTx/>
                <a:latin typeface="Bodoni MT Black"/>
              </a:rPr>
              <a:t>编码风格</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7.1 </a:t>
            </a:r>
            <a:r>
              <a:rPr lang="zh-CN" sz="4400" b="1" u="none" strike="noStrike">
                <a:solidFill>
                  <a:schemeClr val="dk1"/>
                </a:solidFill>
                <a:effectLst/>
                <a:uFillTx/>
                <a:latin typeface="Bodoni MT Black"/>
              </a:rPr>
              <a:t>编码</a:t>
            </a:r>
            <a:endParaRPr lang="es-ES" sz="4400" b="0" u="none" strike="noStrike">
              <a:solidFill>
                <a:schemeClr val="dk1"/>
              </a:solidFill>
              <a:effectLst/>
              <a:uFillTx/>
              <a:latin typeface="Arial"/>
            </a:endParaRPr>
          </a:p>
        </p:txBody>
      </p:sp>
      <p:sp>
        <p:nvSpPr>
          <p:cNvPr id="114" name="TextBox 7"/>
          <p:cNvSpPr/>
          <p:nvPr/>
        </p:nvSpPr>
        <p:spPr>
          <a:xfrm>
            <a:off x="323640" y="1260360"/>
            <a:ext cx="8424720" cy="4272480"/>
          </a:xfrm>
          <a:prstGeom prst="rect">
            <a:avLst/>
          </a:prstGeom>
          <a:noFill/>
          <a:ln w="0">
            <a:noFill/>
          </a:ln>
        </p:spPr>
        <p:style>
          <a:lnRef idx="0"/>
          <a:fillRef idx="0"/>
          <a:effectRef idx="0"/>
          <a:fontRef idx="minor"/>
        </p:style>
        <p:txBody>
          <a:bodyPr lIns="90000" rIns="90000" tIns="45000" bIns="45000" anchor="t">
            <a:spAutoFit/>
          </a:bodyPr>
          <a:p>
            <a:pPr>
              <a:lnSpc>
                <a:spcPts val="3399"/>
              </a:lnSpc>
              <a:spcBef>
                <a:spcPts val="601"/>
              </a:spcBef>
              <a:tabLst>
                <a:tab algn="l" pos="0"/>
              </a:tabLst>
            </a:pPr>
            <a:r>
              <a:rPr lang="en-US" sz="2400" b="1" u="none" strike="noStrike">
                <a:solidFill>
                  <a:srgbClr val="0070c0"/>
                </a:solidFill>
                <a:effectLst/>
                <a:uFillTx/>
                <a:latin typeface="Bodoni MT Black"/>
              </a:rPr>
              <a:t>5. </a:t>
            </a:r>
            <a:r>
              <a:rPr lang="zh-CN" sz="2400" b="1" u="none" strike="noStrike">
                <a:solidFill>
                  <a:srgbClr val="0070c0"/>
                </a:solidFill>
                <a:effectLst/>
                <a:uFillTx/>
                <a:latin typeface="Bodoni MT Black"/>
              </a:rPr>
              <a:t>效率</a:t>
            </a:r>
            <a:endParaRPr lang="en-US" sz="2400" b="0" u="none" strike="noStrike">
              <a:solidFill>
                <a:srgbClr val="000000"/>
              </a:solidFill>
              <a:effectLst/>
              <a:uFillTx/>
              <a:latin typeface="Arial"/>
            </a:endParaRPr>
          </a:p>
          <a:p>
            <a:pPr>
              <a:lnSpc>
                <a:spcPts val="3399"/>
              </a:lnSpc>
              <a:spcBef>
                <a:spcPts val="601"/>
              </a:spcBef>
              <a:tabLst>
                <a:tab algn="l" pos="0"/>
              </a:tabLst>
            </a:pPr>
            <a:r>
              <a:rPr lang="en-US" sz="2400" b="1" u="none" strike="noStrike">
                <a:solidFill>
                  <a:srgbClr val="ff0000"/>
                </a:solidFill>
                <a:effectLst/>
                <a:uFillTx/>
                <a:latin typeface="Bodoni MT Black"/>
              </a:rPr>
              <a:t>    ② 存储器效率</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在大型计算机中必须考虑</a:t>
            </a:r>
            <a:r>
              <a:rPr lang="zh-CN" sz="2400" b="0" u="none" strike="noStrike">
                <a:solidFill>
                  <a:srgbClr val="ff0000"/>
                </a:solidFill>
                <a:effectLst/>
                <a:uFillTx/>
                <a:latin typeface="Bodoni MT Black"/>
              </a:rPr>
              <a:t>操作系统页式调度</a:t>
            </a:r>
            <a:r>
              <a:rPr lang="zh-CN" sz="2400" b="0" u="none" strike="noStrike">
                <a:solidFill>
                  <a:schemeClr val="dk1"/>
                </a:solidFill>
                <a:effectLst/>
                <a:uFillTx/>
                <a:latin typeface="Bodoni MT Black"/>
              </a:rPr>
              <a:t>的特点，使用能</a:t>
            </a:r>
            <a:r>
              <a:rPr lang="zh-CN" sz="2400" b="0" u="none" strike="noStrike">
                <a:solidFill>
                  <a:srgbClr val="ff0000"/>
                </a:solidFill>
                <a:effectLst/>
                <a:uFillTx/>
                <a:latin typeface="Bodoni MT Black"/>
              </a:rPr>
              <a:t>保持功能域的结构化控制结构</a:t>
            </a:r>
            <a:r>
              <a:rPr lang="zh-CN" sz="2400" b="0" u="none" strike="noStrike">
                <a:solidFill>
                  <a:schemeClr val="dk1"/>
                </a:solidFill>
                <a:effectLst/>
                <a:uFillTx/>
                <a:latin typeface="Bodoni MT Black"/>
              </a:rPr>
              <a:t>，是提高效率的好方法。</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在微处理机中如果要求使用最少的存储单元，则应选用有</a:t>
            </a:r>
            <a:r>
              <a:rPr lang="zh-CN" sz="2400" b="0" u="none" strike="noStrike">
                <a:solidFill>
                  <a:srgbClr val="ff0000"/>
                </a:solidFill>
                <a:effectLst/>
                <a:uFillTx/>
                <a:latin typeface="Bodoni MT Black"/>
              </a:rPr>
              <a:t>紧缩存储器特性</a:t>
            </a:r>
            <a:r>
              <a:rPr lang="zh-CN" sz="2400" b="0" u="none" strike="noStrike">
                <a:solidFill>
                  <a:schemeClr val="dk1"/>
                </a:solidFill>
                <a:effectLst/>
                <a:uFillTx/>
                <a:latin typeface="Bodoni MT Black"/>
              </a:rPr>
              <a:t>的</a:t>
            </a:r>
            <a:r>
              <a:rPr lang="zh-CN" sz="2400" b="0" u="none" strike="noStrike">
                <a:solidFill>
                  <a:srgbClr val="ff0000"/>
                </a:solidFill>
                <a:effectLst/>
                <a:uFillTx/>
                <a:latin typeface="Bodoni MT Black"/>
              </a:rPr>
              <a:t>编译程序</a:t>
            </a:r>
            <a:r>
              <a:rPr lang="zh-CN" sz="2400" b="0" u="none" strike="noStrike">
                <a:solidFill>
                  <a:schemeClr val="dk1"/>
                </a:solidFill>
                <a:effectLst/>
                <a:uFillTx/>
                <a:latin typeface="Bodoni MT Black"/>
              </a:rPr>
              <a:t>，在非常必要时可以使用汇编语言。</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提高执行效率的技术通常也能提高存储器效率。提高存储器效率的关键同样是“简单”。</a:t>
            </a:r>
            <a:endParaRPr lang="en-US" sz="2400" b="0" u="none" strike="noStrike">
              <a:solidFill>
                <a:srgbClr val="000000"/>
              </a:solidFill>
              <a:effectLst/>
              <a:uFillTx/>
              <a:latin typeface="Arial"/>
            </a:endParaRPr>
          </a:p>
        </p:txBody>
      </p:sp>
      <p:sp>
        <p:nvSpPr>
          <p:cNvPr id="115"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116"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7.1.2 </a:t>
            </a:r>
            <a:r>
              <a:rPr lang="zh-CN" sz="2400" b="0" u="none" strike="noStrike">
                <a:solidFill>
                  <a:srgbClr val="d9d9d9"/>
                </a:solidFill>
                <a:effectLst/>
                <a:uFillTx/>
                <a:latin typeface="Bodoni MT Black"/>
              </a:rPr>
              <a:t>编码风格</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7.1 </a:t>
            </a:r>
            <a:r>
              <a:rPr lang="zh-CN" sz="4400" b="1" u="none" strike="noStrike">
                <a:solidFill>
                  <a:schemeClr val="dk1"/>
                </a:solidFill>
                <a:effectLst/>
                <a:uFillTx/>
                <a:latin typeface="Bodoni MT Black"/>
              </a:rPr>
              <a:t>编码</a:t>
            </a:r>
            <a:endParaRPr lang="es-ES" sz="4400" b="0" u="none" strike="noStrike">
              <a:solidFill>
                <a:schemeClr val="dk1"/>
              </a:solidFill>
              <a:effectLst/>
              <a:uFillTx/>
              <a:latin typeface="Arial"/>
            </a:endParaRPr>
          </a:p>
        </p:txBody>
      </p:sp>
      <p:sp>
        <p:nvSpPr>
          <p:cNvPr id="118" name="TextBox 7"/>
          <p:cNvSpPr/>
          <p:nvPr/>
        </p:nvSpPr>
        <p:spPr>
          <a:xfrm>
            <a:off x="385920" y="1116000"/>
            <a:ext cx="8300520" cy="4657320"/>
          </a:xfrm>
          <a:prstGeom prst="rect">
            <a:avLst/>
          </a:prstGeom>
          <a:noFill/>
          <a:ln w="0">
            <a:noFill/>
          </a:ln>
        </p:spPr>
        <p:style>
          <a:lnRef idx="0"/>
          <a:fillRef idx="0"/>
          <a:effectRef idx="0"/>
          <a:fontRef idx="minor"/>
        </p:style>
        <p:txBody>
          <a:bodyPr lIns="90000" rIns="90000" tIns="45000" bIns="45000" anchor="t">
            <a:spAutoFit/>
          </a:bodyPr>
          <a:p>
            <a:pPr>
              <a:lnSpc>
                <a:spcPts val="3101"/>
              </a:lnSpc>
              <a:spcBef>
                <a:spcPts val="601"/>
              </a:spcBef>
              <a:tabLst>
                <a:tab algn="l" pos="0"/>
              </a:tabLst>
            </a:pPr>
            <a:r>
              <a:rPr lang="en-US" sz="2400" b="1" u="none" strike="noStrike">
                <a:solidFill>
                  <a:srgbClr val="0070c0"/>
                </a:solidFill>
                <a:effectLst/>
                <a:uFillTx/>
                <a:latin typeface="Bodoni MT Black"/>
              </a:rPr>
              <a:t>5. </a:t>
            </a:r>
            <a:r>
              <a:rPr lang="zh-CN" sz="2400" b="1" u="none" strike="noStrike">
                <a:solidFill>
                  <a:srgbClr val="0070c0"/>
                </a:solidFill>
                <a:effectLst/>
                <a:uFillTx/>
                <a:latin typeface="Bodoni MT Black"/>
              </a:rPr>
              <a:t>效率</a:t>
            </a:r>
            <a:endParaRPr lang="en-US" sz="2400" b="0" u="none" strike="noStrike">
              <a:solidFill>
                <a:srgbClr val="000000"/>
              </a:solidFill>
              <a:effectLst/>
              <a:uFillTx/>
              <a:latin typeface="Arial"/>
            </a:endParaRPr>
          </a:p>
          <a:p>
            <a:pPr>
              <a:lnSpc>
                <a:spcPts val="3101"/>
              </a:lnSpc>
              <a:spcBef>
                <a:spcPts val="601"/>
              </a:spcBef>
              <a:tabLst>
                <a:tab algn="l" pos="0"/>
              </a:tabLst>
            </a:pPr>
            <a:r>
              <a:rPr lang="en-US" sz="2400" b="1" u="none" strike="noStrike">
                <a:solidFill>
                  <a:srgbClr val="ff0000"/>
                </a:solidFill>
                <a:effectLst/>
                <a:uFillTx/>
                <a:latin typeface="Bodoni MT Black"/>
              </a:rPr>
              <a:t>    ③ 输入输出的效率</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简单清晰是提高人机通信效率的关键。从写程序的角度看，有些简单的原则可以提高输入输出的效率。</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所有输入输出都应该有</a:t>
            </a:r>
            <a:r>
              <a:rPr lang="zh-CN" sz="2400" b="0" u="none" strike="noStrike">
                <a:solidFill>
                  <a:srgbClr val="ff0000"/>
                </a:solidFill>
                <a:effectLst/>
                <a:uFillTx/>
                <a:latin typeface="Bodoni MT Black"/>
              </a:rPr>
              <a:t>缓冲</a:t>
            </a:r>
            <a:r>
              <a:rPr lang="zh-CN" sz="2400" b="0" u="none" strike="noStrike">
                <a:solidFill>
                  <a:schemeClr val="dk1"/>
                </a:solidFill>
                <a:effectLst/>
                <a:uFillTx/>
                <a:latin typeface="Bodoni MT Black"/>
              </a:rPr>
              <a:t>，以减少用于通信的额外开销；</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对二级存储器（</a:t>
            </a:r>
            <a:r>
              <a:rPr lang="zh-CN" sz="2400" b="0" u="none" strike="noStrike">
                <a:solidFill>
                  <a:schemeClr val="dk1"/>
                </a:solidFill>
                <a:effectLst/>
                <a:uFillTx/>
                <a:latin typeface="Bodoni MT Black"/>
                <a:ea typeface="宋体"/>
              </a:rPr>
              <a:t>如磁盘）应选用最简单的访问方法；</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二级存储器的输入输出应该以</a:t>
            </a:r>
            <a:r>
              <a:rPr lang="zh-CN" sz="2400" b="0" u="none" strike="noStrike">
                <a:solidFill>
                  <a:srgbClr val="ff0000"/>
                </a:solidFill>
                <a:effectLst/>
                <a:uFillTx/>
                <a:latin typeface="Bodoni MT Black"/>
                <a:ea typeface="宋体"/>
              </a:rPr>
              <a:t>信息组</a:t>
            </a:r>
            <a:r>
              <a:rPr lang="zh-CN" sz="2400" b="0" u="none" strike="noStrike">
                <a:solidFill>
                  <a:schemeClr val="dk1"/>
                </a:solidFill>
                <a:effectLst/>
                <a:uFillTx/>
                <a:latin typeface="Bodoni MT Black"/>
                <a:ea typeface="宋体"/>
              </a:rPr>
              <a:t>为单位进行；</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如果“超高效的”输入输出很难被人理解，则不应采用这种方法。</a:t>
            </a:r>
            <a:endParaRPr lang="en-US" sz="2400" b="0" u="none" strike="noStrike">
              <a:solidFill>
                <a:srgbClr val="000000"/>
              </a:solidFill>
              <a:effectLst/>
              <a:uFillTx/>
              <a:latin typeface="Arial"/>
            </a:endParaRPr>
          </a:p>
          <a:p>
            <a:pPr marL="343080" indent="-343080">
              <a:lnSpc>
                <a:spcPct val="125000"/>
              </a:lnSpc>
              <a:tabLst>
                <a:tab algn="l" pos="0"/>
              </a:tabLst>
            </a:pPr>
            <a:r>
              <a:rPr lang="en-US" sz="2400" b="0" u="none" strike="noStrike">
                <a:solidFill>
                  <a:schemeClr val="dk1"/>
                </a:solidFill>
                <a:effectLst/>
                <a:uFillTx/>
                <a:latin typeface="Bodoni MT Black"/>
                <a:ea typeface="宋体"/>
              </a:rPr>
              <a:t>    </a:t>
            </a:r>
            <a:r>
              <a:rPr lang="zh-CN" sz="2400" b="0" u="none" strike="noStrike">
                <a:solidFill>
                  <a:srgbClr val="ff0000"/>
                </a:solidFill>
                <a:effectLst/>
                <a:uFillTx/>
                <a:latin typeface="Bodoni MT Black"/>
                <a:ea typeface="宋体"/>
              </a:rPr>
              <a:t>这些原则对于软件工程的设计和编码两个阶段都适用。</a:t>
            </a:r>
            <a:endParaRPr lang="en-US" sz="2400" b="0" u="none" strike="noStrike">
              <a:solidFill>
                <a:srgbClr val="000000"/>
              </a:solidFill>
              <a:effectLst/>
              <a:uFillTx/>
              <a:latin typeface="Arial"/>
            </a:endParaRPr>
          </a:p>
        </p:txBody>
      </p:sp>
      <p:sp>
        <p:nvSpPr>
          <p:cNvPr id="119"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120"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7.1.2 </a:t>
            </a:r>
            <a:r>
              <a:rPr lang="zh-CN" sz="2400" b="0" u="none" strike="noStrike">
                <a:solidFill>
                  <a:srgbClr val="d9d9d9"/>
                </a:solidFill>
                <a:effectLst/>
                <a:uFillTx/>
                <a:latin typeface="Bodoni MT Black"/>
              </a:rPr>
              <a:t>编码风格</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1 Título"/>
          <p:cNvSpPr/>
          <p:nvPr/>
        </p:nvSpPr>
        <p:spPr>
          <a:xfrm>
            <a:off x="684360" y="355680"/>
            <a:ext cx="7703640" cy="863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5760"/>
              </a:lnSpc>
            </a:pPr>
            <a:r>
              <a:rPr lang="zh-CN" sz="4400" b="1" u="none" strike="noStrike">
                <a:solidFill>
                  <a:schemeClr val="dk1"/>
                </a:solidFill>
                <a:effectLst/>
                <a:uFillTx/>
                <a:latin typeface="Bodoni MT Black"/>
              </a:rPr>
              <a:t>主要内容</a:t>
            </a:r>
            <a:endParaRPr lang="en-US" sz="4400" b="0" u="none" strike="noStrike">
              <a:solidFill>
                <a:srgbClr val="000000"/>
              </a:solidFill>
              <a:effectLst/>
              <a:uFillTx/>
              <a:latin typeface="Arial"/>
            </a:endParaRPr>
          </a:p>
        </p:txBody>
      </p:sp>
      <p:sp>
        <p:nvSpPr>
          <p:cNvPr id="122"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sp>
        <p:nvSpPr>
          <p:cNvPr id="123"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7.2 </a:t>
            </a:r>
            <a:r>
              <a:rPr lang="zh-CN" sz="2400" b="0" u="none" strike="noStrike">
                <a:solidFill>
                  <a:srgbClr val="d9d9d9"/>
                </a:solidFill>
                <a:effectLst/>
                <a:uFillTx/>
                <a:latin typeface="Bodoni MT Black"/>
                <a:ea typeface="宋体"/>
              </a:rPr>
              <a:t>软件测试基础</a:t>
            </a:r>
            <a:endParaRPr lang="en-US" sz="2400" b="0" u="none" strike="noStrike">
              <a:solidFill>
                <a:srgbClr val="000000"/>
              </a:solidFill>
              <a:effectLst/>
              <a:uFillTx/>
              <a:latin typeface="Arial"/>
            </a:endParaRPr>
          </a:p>
        </p:txBody>
      </p:sp>
      <p:pic>
        <p:nvPicPr>
          <p:cNvPr id="124"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125"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126" name="TextBox 3">
            <a:hlinkClick r:id="rId3" action="ppaction://hlinksldjump"/>
          </p:cNvPr>
          <p:cNvSpPr/>
          <p:nvPr/>
        </p:nvSpPr>
        <p:spPr>
          <a:xfrm>
            <a:off x="1071720" y="2071800"/>
            <a:ext cx="192852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127" name="TextBox 4"/>
          <p:cNvSpPr/>
          <p:nvPr/>
        </p:nvSpPr>
        <p:spPr>
          <a:xfrm>
            <a:off x="1000080" y="2714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128" name="TextBox 5"/>
          <p:cNvSpPr/>
          <p:nvPr/>
        </p:nvSpPr>
        <p:spPr>
          <a:xfrm>
            <a:off x="1000080" y="328608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129" name="TextBox 6"/>
          <p:cNvSpPr/>
          <p:nvPr/>
        </p:nvSpPr>
        <p:spPr>
          <a:xfrm>
            <a:off x="1000080" y="3857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130" name="Rectangle 3"/>
          <p:cNvSpPr/>
          <p:nvPr/>
        </p:nvSpPr>
        <p:spPr>
          <a:xfrm>
            <a:off x="539640" y="1292400"/>
            <a:ext cx="8135640" cy="4512960"/>
          </a:xfrm>
          <a:prstGeom prst="rect">
            <a:avLst/>
          </a:prstGeom>
          <a:noFill/>
          <a:ln w="0">
            <a:noFill/>
          </a:ln>
        </p:spPr>
        <p:style>
          <a:lnRef idx="0"/>
          <a:fillRef idx="0"/>
          <a:effectRef idx="0"/>
          <a:fontRef idx="minor"/>
        </p:style>
        <p:txBody>
          <a:bodyPr lIns="90000" rIns="90000" tIns="45000" bIns="45000" anchor="t">
            <a:noAutofit/>
          </a:bodyPr>
          <a:p>
            <a:pPr>
              <a:lnSpc>
                <a:spcPts val="2599"/>
              </a:lnSpc>
              <a:spcBef>
                <a:spcPts val="1199"/>
              </a:spcBef>
              <a:tabLst>
                <a:tab algn="l" pos="0"/>
              </a:tabLst>
            </a:pPr>
            <a:r>
              <a:rPr lang="en-US" sz="2400" b="0" u="none" strike="noStrike">
                <a:solidFill>
                  <a:srgbClr val="3c3c77"/>
                </a:solidFill>
                <a:effectLst/>
                <a:uFillTx/>
                <a:latin typeface="Bodoni MT Black"/>
                <a:ea typeface="黑体"/>
              </a:rPr>
              <a:t>   </a:t>
            </a:r>
            <a:r>
              <a:rPr lang="en-US" sz="2400" b="1" u="none" strike="noStrike">
                <a:solidFill>
                  <a:schemeClr val="dk1"/>
                </a:solidFill>
                <a:effectLst/>
                <a:uFillTx/>
                <a:latin typeface="Bodoni MT Black"/>
                <a:ea typeface="黑体"/>
              </a:rPr>
              <a:t>7.1   </a:t>
            </a:r>
            <a:r>
              <a:rPr lang="zh-CN" sz="2400" b="1" u="none" strike="noStrike">
                <a:solidFill>
                  <a:schemeClr val="dk1"/>
                </a:solidFill>
                <a:effectLst/>
                <a:uFillTx/>
                <a:latin typeface="Bodoni MT Black"/>
                <a:ea typeface="黑体"/>
              </a:rPr>
              <a:t>编码</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7.2   </a:t>
            </a:r>
            <a:r>
              <a:rPr lang="zh-CN" sz="2400" b="1" u="none" strike="noStrike">
                <a:solidFill>
                  <a:schemeClr val="dk1"/>
                </a:solidFill>
                <a:effectLst/>
                <a:uFillTx/>
                <a:latin typeface="Bodoni MT Black"/>
                <a:ea typeface="黑体"/>
              </a:rPr>
              <a:t>软件测试基础</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7.3   </a:t>
            </a:r>
            <a:r>
              <a:rPr lang="zh-CN" sz="2400" b="1" u="none" strike="noStrike">
                <a:solidFill>
                  <a:schemeClr val="dk1"/>
                </a:solidFill>
                <a:effectLst/>
                <a:uFillTx/>
                <a:latin typeface="Bodoni MT Black"/>
                <a:ea typeface="黑体"/>
              </a:rPr>
              <a:t>单元测试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7.4   </a:t>
            </a:r>
            <a:r>
              <a:rPr lang="zh-CN" sz="2400" b="1" u="none" strike="noStrike">
                <a:solidFill>
                  <a:schemeClr val="dk1"/>
                </a:solidFill>
                <a:effectLst/>
                <a:uFillTx/>
                <a:latin typeface="Bodoni MT Black"/>
                <a:ea typeface="黑体"/>
              </a:rPr>
              <a:t>集成测试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7.5   </a:t>
            </a:r>
            <a:r>
              <a:rPr lang="zh-CN" sz="2400" b="1" u="none" strike="noStrike">
                <a:solidFill>
                  <a:schemeClr val="dk1"/>
                </a:solidFill>
                <a:effectLst/>
                <a:uFillTx/>
                <a:latin typeface="Bodoni MT Black"/>
                <a:ea typeface="黑体"/>
              </a:rPr>
              <a:t>确认测试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7.6   </a:t>
            </a:r>
            <a:r>
              <a:rPr lang="zh-CN" sz="2400" b="1" u="none" strike="noStrike">
                <a:solidFill>
                  <a:schemeClr val="dk1"/>
                </a:solidFill>
                <a:effectLst/>
                <a:uFillTx/>
                <a:latin typeface="Bodoni MT Black"/>
                <a:ea typeface="黑体"/>
              </a:rPr>
              <a:t>白盒测试技术</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7.7   </a:t>
            </a:r>
            <a:r>
              <a:rPr lang="zh-CN" sz="2400" b="1" u="none" strike="noStrike">
                <a:solidFill>
                  <a:schemeClr val="dk1"/>
                </a:solidFill>
                <a:effectLst/>
                <a:uFillTx/>
                <a:latin typeface="Bodoni MT Black"/>
                <a:ea typeface="黑体"/>
              </a:rPr>
              <a:t>黑盒测试技术</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7.8   </a:t>
            </a:r>
            <a:r>
              <a:rPr lang="zh-CN" sz="2400" b="1" u="none" strike="noStrike">
                <a:solidFill>
                  <a:schemeClr val="dk1"/>
                </a:solidFill>
                <a:effectLst/>
                <a:uFillTx/>
                <a:latin typeface="Bodoni MT Black"/>
                <a:ea typeface="黑体"/>
              </a:rPr>
              <a:t>调试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7.9   </a:t>
            </a:r>
            <a:r>
              <a:rPr lang="zh-CN" sz="2400" b="1" u="none" strike="noStrike">
                <a:solidFill>
                  <a:schemeClr val="dk1"/>
                </a:solidFill>
                <a:effectLst/>
                <a:uFillTx/>
                <a:latin typeface="Bodoni MT Black"/>
                <a:ea typeface="黑体"/>
              </a:rPr>
              <a:t>软件可靠性</a:t>
            </a:r>
            <a:endParaRPr lang="en-US" sz="2400" b="0" u="none" strike="noStrike">
              <a:solidFill>
                <a:srgbClr val="000000"/>
              </a:solidFill>
              <a:effectLst/>
              <a:uFillTx/>
              <a:latin typeface="Arial"/>
            </a:endParaRPr>
          </a:p>
        </p:txBody>
      </p:sp>
      <p:sp>
        <p:nvSpPr>
          <p:cNvPr id="131" name="1 Título"/>
          <p:cNvSpPr/>
          <p:nvPr/>
        </p:nvSpPr>
        <p:spPr>
          <a:xfrm>
            <a:off x="0" y="6300720"/>
            <a:ext cx="231588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7</a:t>
            </a:r>
            <a:r>
              <a:rPr lang="zh-CN" sz="2400" b="0" u="none" strike="noStrike">
                <a:solidFill>
                  <a:srgbClr val="d9d9d9"/>
                </a:solidFill>
                <a:effectLst/>
                <a:uFillTx/>
                <a:latin typeface="Bodoni MT Black"/>
                <a:ea typeface="宋体"/>
              </a:rPr>
              <a:t>章　实现</a:t>
            </a:r>
            <a:endParaRPr lang="en-US" sz="2400" b="0" u="none" strike="noStrike">
              <a:solidFill>
                <a:srgbClr val="000000"/>
              </a:solidFill>
              <a:effectLst/>
              <a:uFillTx/>
              <a:latin typeface="Arial"/>
            </a:endParaRPr>
          </a:p>
        </p:txBody>
      </p:sp>
      <p:sp>
        <p:nvSpPr>
          <p:cNvPr id="132" name="矩形 12"/>
          <p:cNvSpPr/>
          <p:nvPr/>
        </p:nvSpPr>
        <p:spPr>
          <a:xfrm>
            <a:off x="861840" y="170028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133" name="等腰三角形 13"/>
          <p:cNvSpPr/>
          <p:nvPr/>
        </p:nvSpPr>
        <p:spPr>
          <a:xfrm rot="5400000">
            <a:off x="270000" y="1785600"/>
            <a:ext cx="537840" cy="4330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7.2 </a:t>
            </a:r>
            <a:r>
              <a:rPr lang="zh-CN" sz="4400" b="1" u="none" strike="noStrike">
                <a:solidFill>
                  <a:schemeClr val="dk1"/>
                </a:solidFill>
                <a:effectLst/>
                <a:uFillTx/>
                <a:latin typeface="Bodoni MT Black"/>
              </a:rPr>
              <a:t>软件测试基础</a:t>
            </a:r>
            <a:endParaRPr lang="es-ES" sz="4400" b="0" u="none" strike="noStrike">
              <a:solidFill>
                <a:schemeClr val="dk1"/>
              </a:solidFill>
              <a:effectLst/>
              <a:uFillTx/>
              <a:latin typeface="Arial"/>
            </a:endParaRPr>
          </a:p>
        </p:txBody>
      </p:sp>
      <p:sp>
        <p:nvSpPr>
          <p:cNvPr id="135" name="PlaceHolder 2"/>
          <p:cNvSpPr>
            <a:spLocks noGrp="1"/>
          </p:cNvSpPr>
          <p:nvPr>
            <p:ph/>
          </p:nvPr>
        </p:nvSpPr>
        <p:spPr>
          <a:xfrm>
            <a:off x="395280" y="105264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7.2.1 </a:t>
            </a:r>
            <a:r>
              <a:rPr lang="zh-CN" sz="3200" b="1" u="none" strike="noStrike">
                <a:solidFill>
                  <a:schemeClr val="dk1"/>
                </a:solidFill>
                <a:effectLst/>
                <a:uFillTx/>
                <a:latin typeface="Bodoni MT Black"/>
              </a:rPr>
              <a:t>软件测试的目标</a:t>
            </a:r>
            <a:endParaRPr lang="es-ES" sz="3200" b="0" u="none" strike="noStrike">
              <a:solidFill>
                <a:schemeClr val="dk1"/>
              </a:solidFill>
              <a:effectLst/>
              <a:uFillTx/>
              <a:latin typeface="Calibri"/>
            </a:endParaRPr>
          </a:p>
        </p:txBody>
      </p:sp>
      <p:sp>
        <p:nvSpPr>
          <p:cNvPr id="136" name="TextBox 7"/>
          <p:cNvSpPr/>
          <p:nvPr/>
        </p:nvSpPr>
        <p:spPr>
          <a:xfrm>
            <a:off x="324000" y="1700640"/>
            <a:ext cx="8516520" cy="4657320"/>
          </a:xfrm>
          <a:prstGeom prst="rect">
            <a:avLst/>
          </a:prstGeom>
          <a:noFill/>
          <a:ln w="0">
            <a:noFill/>
          </a:ln>
        </p:spPr>
        <p:style>
          <a:lnRef idx="0"/>
          <a:fillRef idx="0"/>
          <a:effectRef idx="0"/>
          <a:fontRef idx="minor"/>
        </p:style>
        <p:txBody>
          <a:bodyPr lIns="90000" rIns="90000" tIns="45000" bIns="45000" anchor="t">
            <a:spAutoFit/>
          </a:bodyPr>
          <a:p>
            <a:pPr>
              <a:lnSpc>
                <a:spcPts val="3200"/>
              </a:lnSpc>
              <a:spcBef>
                <a:spcPts val="601"/>
              </a:spcBef>
              <a:tabLst>
                <a:tab algn="l" pos="0"/>
              </a:tabLst>
            </a:pPr>
            <a:r>
              <a:rPr lang="en-US" sz="2400" b="0" u="none" strike="noStrike">
                <a:solidFill>
                  <a:schemeClr val="dk1"/>
                </a:solidFill>
                <a:effectLst/>
                <a:uFillTx/>
                <a:latin typeface="Times New Roman"/>
                <a:ea typeface="隶书"/>
              </a:rPr>
              <a:t>    G.Myers</a:t>
            </a:r>
            <a:r>
              <a:rPr lang="zh-CN" sz="2400" b="0" u="none" strike="noStrike">
                <a:solidFill>
                  <a:schemeClr val="dk1"/>
                </a:solidFill>
                <a:effectLst/>
                <a:uFillTx/>
                <a:latin typeface="Bodoni MT Black"/>
                <a:ea typeface="隶书"/>
              </a:rPr>
              <a:t>给出的关于测试的一些规则：</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隶书"/>
              </a:rPr>
              <a:t>测试是为了发现程序中的错误而执行程序的过程。</a:t>
            </a:r>
            <a:endParaRPr lang="en-US" sz="2400" b="0" u="none" strike="noStrike">
              <a:solidFill>
                <a:srgbClr val="000000"/>
              </a:solidFill>
              <a:effectLst/>
              <a:uFillTx/>
              <a:latin typeface="Arial"/>
            </a:endParaRPr>
          </a:p>
          <a:p>
            <a:pPr marL="343080" indent="-343080">
              <a:lnSpc>
                <a:spcPct val="125000"/>
              </a:lnSpc>
              <a:buClr>
                <a:srgbClr val="0070c0"/>
              </a:buClr>
              <a:buFont typeface="Wingdings" charset="2"/>
              <a:buChar char=""/>
              <a:tabLst>
                <a:tab algn="l" pos="0"/>
              </a:tabLst>
            </a:pPr>
            <a:r>
              <a:rPr lang="zh-CN" sz="2400" b="0" u="none" strike="noStrike">
                <a:solidFill>
                  <a:srgbClr val="0070c0"/>
                </a:solidFill>
                <a:effectLst/>
                <a:uFillTx/>
                <a:latin typeface="Bodoni MT Black"/>
                <a:ea typeface="隶书"/>
              </a:rPr>
              <a:t>好的测试方案</a:t>
            </a:r>
            <a:r>
              <a:rPr lang="zh-CN" sz="2400" b="0" u="none" strike="noStrike">
                <a:solidFill>
                  <a:schemeClr val="dk1"/>
                </a:solidFill>
                <a:effectLst/>
                <a:uFillTx/>
                <a:latin typeface="Bodoni MT Black"/>
                <a:ea typeface="隶书"/>
              </a:rPr>
              <a:t>是极可能发现迄今为止尚未发现的错误的测试方案。</a:t>
            </a:r>
            <a:endParaRPr lang="en-US" sz="2400" b="0" u="none" strike="noStrike">
              <a:solidFill>
                <a:srgbClr val="000000"/>
              </a:solidFill>
              <a:effectLst/>
              <a:uFillTx/>
              <a:latin typeface="Arial"/>
            </a:endParaRPr>
          </a:p>
          <a:p>
            <a:pPr marL="343080" indent="-343080">
              <a:lnSpc>
                <a:spcPct val="125000"/>
              </a:lnSpc>
              <a:buClr>
                <a:srgbClr val="0070c0"/>
              </a:buClr>
              <a:buFont typeface="Wingdings" charset="2"/>
              <a:buChar char=""/>
              <a:tabLst>
                <a:tab algn="l" pos="0"/>
              </a:tabLst>
            </a:pPr>
            <a:r>
              <a:rPr lang="zh-CN" sz="2400" b="0" u="none" strike="noStrike">
                <a:solidFill>
                  <a:srgbClr val="0070c0"/>
                </a:solidFill>
                <a:effectLst/>
                <a:uFillTx/>
                <a:latin typeface="Bodoni MT Black"/>
                <a:ea typeface="隶书"/>
              </a:rPr>
              <a:t>成功的测试</a:t>
            </a:r>
            <a:r>
              <a:rPr lang="zh-CN" sz="2400" b="0" u="none" strike="noStrike">
                <a:solidFill>
                  <a:schemeClr val="dk1"/>
                </a:solidFill>
                <a:effectLst/>
                <a:uFillTx/>
                <a:latin typeface="Bodoni MT Black"/>
                <a:ea typeface="隶书"/>
              </a:rPr>
              <a:t>是发现了至今为止尚未发现的错误的测试。</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隶书"/>
              </a:rPr>
              <a:t>    </a:t>
            </a:r>
            <a:r>
              <a:rPr lang="zh-CN" sz="2400" b="1" u="none" strike="noStrike">
                <a:solidFill>
                  <a:schemeClr val="accent2"/>
                </a:solidFill>
                <a:effectLst/>
                <a:uFillTx/>
                <a:latin typeface="Bodoni MT Black"/>
                <a:ea typeface="隶书"/>
              </a:rPr>
              <a:t>测试</a:t>
            </a:r>
            <a:r>
              <a:rPr lang="zh-CN" sz="2400" b="0" u="none" strike="noStrike">
                <a:solidFill>
                  <a:schemeClr val="dk1"/>
                </a:solidFill>
                <a:effectLst/>
                <a:uFillTx/>
                <a:latin typeface="Bodoni MT Black"/>
                <a:ea typeface="隶书"/>
              </a:rPr>
              <a:t>的正确定义是“</a:t>
            </a:r>
            <a:r>
              <a:rPr lang="zh-CN" sz="2400" b="0" u="none" strike="noStrike">
                <a:solidFill>
                  <a:srgbClr val="ff0000"/>
                </a:solidFill>
                <a:effectLst/>
                <a:uFillTx/>
                <a:latin typeface="Bodoni MT Black"/>
                <a:ea typeface="隶书"/>
              </a:rPr>
              <a:t>为了发现程序中的错误而执行程序的过程</a:t>
            </a:r>
            <a:r>
              <a:rPr lang="en-US" sz="2400" b="0" u="none" strike="noStrike">
                <a:solidFill>
                  <a:schemeClr val="dk1"/>
                </a:solidFill>
                <a:effectLst/>
                <a:uFillTx/>
                <a:latin typeface="Bodoni MT Black"/>
                <a:ea typeface="隶书"/>
              </a:rPr>
              <a:t>”。应该认识到测试决不能证明程序是正确的。即使经过了最严格的测试之后，仍然可能还有没被发现的错误潜藏在程序中。另外，</a:t>
            </a:r>
            <a:r>
              <a:rPr lang="zh-CN" sz="2400" b="0" u="none" strike="noStrike">
                <a:solidFill>
                  <a:schemeClr val="dk1"/>
                </a:solidFill>
                <a:effectLst/>
                <a:uFillTx/>
                <a:latin typeface="Bodoni MT Black"/>
                <a:ea typeface="宋体"/>
              </a:rPr>
              <a:t>在综合测试阶段通常由</a:t>
            </a:r>
            <a:r>
              <a:rPr lang="zh-CN" sz="2400" b="0" u="none" strike="noStrike">
                <a:solidFill>
                  <a:srgbClr val="ff0000"/>
                </a:solidFill>
                <a:effectLst/>
                <a:uFillTx/>
                <a:latin typeface="Bodoni MT Black"/>
                <a:ea typeface="宋体"/>
              </a:rPr>
              <a:t>其他人员组成测试小组</a:t>
            </a:r>
            <a:r>
              <a:rPr lang="zh-CN" sz="2400" b="0" u="none" strike="noStrike">
                <a:solidFill>
                  <a:schemeClr val="dk1"/>
                </a:solidFill>
                <a:effectLst/>
                <a:uFillTx/>
                <a:latin typeface="Bodoni MT Black"/>
                <a:ea typeface="宋体"/>
              </a:rPr>
              <a:t>来完成测试工作。</a:t>
            </a:r>
            <a:endParaRPr lang="en-US" sz="2400" b="0" u="none" strike="noStrike">
              <a:solidFill>
                <a:srgbClr val="000000"/>
              </a:solidFill>
              <a:effectLst/>
              <a:uFillTx/>
              <a:latin typeface="Arial"/>
            </a:endParaRPr>
          </a:p>
        </p:txBody>
      </p:sp>
      <p:sp>
        <p:nvSpPr>
          <p:cNvPr id="137"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138"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7.2.1 </a:t>
            </a:r>
            <a:r>
              <a:rPr lang="zh-CN" sz="2400" b="0" u="none" strike="noStrike">
                <a:solidFill>
                  <a:srgbClr val="d9d9d9"/>
                </a:solidFill>
                <a:effectLst/>
                <a:uFillTx/>
                <a:latin typeface="Bodoni MT Black"/>
              </a:rPr>
              <a:t>软件测试的目标</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7.2 </a:t>
            </a:r>
            <a:r>
              <a:rPr lang="zh-CN" sz="4400" b="1" u="none" strike="noStrike">
                <a:solidFill>
                  <a:schemeClr val="dk1"/>
                </a:solidFill>
                <a:effectLst/>
                <a:uFillTx/>
                <a:latin typeface="Bodoni MT Black"/>
              </a:rPr>
              <a:t>软件测试基础</a:t>
            </a:r>
            <a:endParaRPr lang="es-ES" sz="4400" b="0" u="none" strike="noStrike">
              <a:solidFill>
                <a:schemeClr val="dk1"/>
              </a:solidFill>
              <a:effectLst/>
              <a:uFillTx/>
              <a:latin typeface="Arial"/>
            </a:endParaRPr>
          </a:p>
        </p:txBody>
      </p:sp>
      <p:sp>
        <p:nvSpPr>
          <p:cNvPr id="140" name="PlaceHolder 2"/>
          <p:cNvSpPr>
            <a:spLocks noGrp="1"/>
          </p:cNvSpPr>
          <p:nvPr>
            <p:ph/>
          </p:nvPr>
        </p:nvSpPr>
        <p:spPr>
          <a:xfrm>
            <a:off x="395280" y="1125360"/>
            <a:ext cx="8229240" cy="60300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7.2.2 </a:t>
            </a:r>
            <a:r>
              <a:rPr lang="zh-CN" sz="3200" b="1" u="none" strike="noStrike">
                <a:solidFill>
                  <a:schemeClr val="dk1"/>
                </a:solidFill>
                <a:effectLst/>
                <a:uFillTx/>
                <a:latin typeface="Bodoni MT Black"/>
              </a:rPr>
              <a:t>软件测试准则</a:t>
            </a:r>
            <a:endParaRPr lang="es-ES" sz="3200" b="0" u="none" strike="noStrike">
              <a:solidFill>
                <a:schemeClr val="dk1"/>
              </a:solidFill>
              <a:effectLst/>
              <a:uFillTx/>
              <a:latin typeface="Calibri"/>
            </a:endParaRPr>
          </a:p>
        </p:txBody>
      </p:sp>
      <p:sp>
        <p:nvSpPr>
          <p:cNvPr id="141" name="TextBox 7"/>
          <p:cNvSpPr/>
          <p:nvPr/>
        </p:nvSpPr>
        <p:spPr>
          <a:xfrm>
            <a:off x="324000" y="1989000"/>
            <a:ext cx="8568360" cy="38365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0" u="none" strike="noStrike">
                <a:solidFill>
                  <a:schemeClr val="dk1"/>
                </a:solidFill>
                <a:effectLst/>
                <a:uFillTx/>
                <a:latin typeface="Bodoni MT Black"/>
              </a:rPr>
              <a:t>    主要的软件测试准则如下：</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所有测试都应该能</a:t>
            </a:r>
            <a:r>
              <a:rPr lang="zh-CN" sz="2400" b="0" u="none" strike="noStrike">
                <a:solidFill>
                  <a:srgbClr val="ff0000"/>
                </a:solidFill>
                <a:effectLst/>
                <a:uFillTx/>
                <a:latin typeface="Bodoni MT Black"/>
              </a:rPr>
              <a:t>追溯到用户需求</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应该远在测试开始之前就制定出</a:t>
            </a:r>
            <a:r>
              <a:rPr lang="zh-CN" sz="2400" b="0" u="none" strike="noStrike">
                <a:solidFill>
                  <a:srgbClr val="ff0000"/>
                </a:solidFill>
                <a:effectLst/>
                <a:uFillTx/>
                <a:latin typeface="Bodoni MT Black"/>
              </a:rPr>
              <a:t>测试计划</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把</a:t>
            </a:r>
            <a:r>
              <a:rPr lang="en-US" sz="2400" b="0" u="none" strike="noStrike">
                <a:solidFill>
                  <a:srgbClr val="ff0000"/>
                </a:solidFill>
                <a:effectLst/>
                <a:uFillTx/>
                <a:latin typeface="Bodoni MT Black"/>
              </a:rPr>
              <a:t>Pareto</a:t>
            </a:r>
            <a:r>
              <a:rPr lang="zh-CN" sz="2400" b="0" u="none" strike="noStrike">
                <a:solidFill>
                  <a:srgbClr val="ff0000"/>
                </a:solidFill>
                <a:effectLst/>
                <a:uFillTx/>
                <a:latin typeface="Bodoni MT Black"/>
              </a:rPr>
              <a:t>原理（二八原理）</a:t>
            </a:r>
            <a:r>
              <a:rPr lang="zh-CN" sz="2400" b="0" u="none" strike="noStrike">
                <a:solidFill>
                  <a:schemeClr val="dk1"/>
                </a:solidFill>
                <a:effectLst/>
                <a:uFillTx/>
                <a:latin typeface="Bodoni MT Black"/>
              </a:rPr>
              <a:t>应用到软件测试中；</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应该从“</a:t>
            </a:r>
            <a:r>
              <a:rPr lang="zh-CN" sz="2400" b="0" u="none" strike="noStrike">
                <a:solidFill>
                  <a:srgbClr val="ff0000"/>
                </a:solidFill>
                <a:effectLst/>
                <a:uFillTx/>
                <a:latin typeface="Bodoni MT Black"/>
              </a:rPr>
              <a:t>小规模</a:t>
            </a:r>
            <a:r>
              <a:rPr lang="en-US" sz="2400" b="0" u="none" strike="noStrike">
                <a:solidFill>
                  <a:schemeClr val="dk1"/>
                </a:solidFill>
                <a:effectLst/>
                <a:uFillTx/>
                <a:latin typeface="Bodoni MT Black"/>
              </a:rPr>
              <a:t>”测试开始，并逐步进行“大规模”测试；</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穷举测试是不可能的；</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为了达到最佳的测试效果，应该由</a:t>
            </a:r>
            <a:r>
              <a:rPr lang="zh-CN" sz="2400" b="0" u="none" strike="noStrike">
                <a:solidFill>
                  <a:srgbClr val="ff0000"/>
                </a:solidFill>
                <a:effectLst/>
                <a:uFillTx/>
                <a:latin typeface="Bodoni MT Black"/>
              </a:rPr>
              <a:t>独立的第三方</a:t>
            </a:r>
            <a:r>
              <a:rPr lang="zh-CN" sz="2400" b="0" u="none" strike="noStrike">
                <a:solidFill>
                  <a:schemeClr val="dk1"/>
                </a:solidFill>
                <a:effectLst/>
                <a:uFillTx/>
                <a:latin typeface="Bodoni MT Black"/>
              </a:rPr>
              <a:t>从事测试工作。  </a:t>
            </a:r>
            <a:endParaRPr lang="en-US" sz="2400" b="0" u="none" strike="noStrike">
              <a:solidFill>
                <a:srgbClr val="000000"/>
              </a:solidFill>
              <a:effectLst/>
              <a:uFillTx/>
              <a:latin typeface="Arial"/>
            </a:endParaRPr>
          </a:p>
        </p:txBody>
      </p:sp>
      <p:sp>
        <p:nvSpPr>
          <p:cNvPr id="142"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143"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7.2.2 </a:t>
            </a:r>
            <a:r>
              <a:rPr lang="zh-CN" sz="2400" b="0" u="none" strike="noStrike">
                <a:solidFill>
                  <a:srgbClr val="d9d9d9"/>
                </a:solidFill>
                <a:effectLst/>
                <a:uFillTx/>
                <a:latin typeface="Bodoni MT Black"/>
              </a:rPr>
              <a:t>软件测试准则</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7.2 </a:t>
            </a:r>
            <a:r>
              <a:rPr lang="zh-CN" sz="4400" b="1" u="none" strike="noStrike">
                <a:solidFill>
                  <a:schemeClr val="dk1"/>
                </a:solidFill>
                <a:effectLst/>
                <a:uFillTx/>
                <a:latin typeface="Bodoni MT Black"/>
              </a:rPr>
              <a:t>软件测试基础</a:t>
            </a:r>
            <a:endParaRPr lang="es-ES" sz="4400" b="0" u="none" strike="noStrike">
              <a:solidFill>
                <a:schemeClr val="dk1"/>
              </a:solidFill>
              <a:effectLst/>
              <a:uFillTx/>
              <a:latin typeface="Arial"/>
            </a:endParaRPr>
          </a:p>
        </p:txBody>
      </p:sp>
      <p:sp>
        <p:nvSpPr>
          <p:cNvPr id="145" name="PlaceHolder 2"/>
          <p:cNvSpPr>
            <a:spLocks noGrp="1"/>
          </p:cNvSpPr>
          <p:nvPr>
            <p:ph/>
          </p:nvPr>
        </p:nvSpPr>
        <p:spPr>
          <a:xfrm>
            <a:off x="395280" y="119700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7.2.3 </a:t>
            </a:r>
            <a:r>
              <a:rPr lang="zh-CN" sz="3200" b="1" u="none" strike="noStrike">
                <a:solidFill>
                  <a:schemeClr val="dk1"/>
                </a:solidFill>
                <a:effectLst/>
                <a:uFillTx/>
                <a:latin typeface="Bodoni MT Black"/>
              </a:rPr>
              <a:t>测试方法</a:t>
            </a:r>
            <a:endParaRPr lang="es-ES" sz="3200" b="0" u="none" strike="noStrike">
              <a:solidFill>
                <a:schemeClr val="dk1"/>
              </a:solidFill>
              <a:effectLst/>
              <a:uFillTx/>
              <a:latin typeface="Calibri"/>
            </a:endParaRPr>
          </a:p>
        </p:txBody>
      </p:sp>
      <p:sp>
        <p:nvSpPr>
          <p:cNvPr id="146" name="TextBox 7"/>
          <p:cNvSpPr/>
          <p:nvPr/>
        </p:nvSpPr>
        <p:spPr>
          <a:xfrm>
            <a:off x="258840" y="1801800"/>
            <a:ext cx="5392800" cy="4246920"/>
          </a:xfrm>
          <a:prstGeom prst="rect">
            <a:avLst/>
          </a:prstGeom>
          <a:noFill/>
          <a:ln w="0">
            <a:noFill/>
          </a:ln>
        </p:spPr>
        <p:style>
          <a:lnRef idx="0"/>
          <a:fillRef idx="0"/>
          <a:effectRef idx="0"/>
          <a:fontRef idx="minor"/>
        </p:style>
        <p:txBody>
          <a:bodyPr lIns="90000" rIns="90000" tIns="45000" bIns="45000" anchor="t">
            <a:spAutoFit/>
          </a:bodyPr>
          <a:p>
            <a:pPr>
              <a:lnSpc>
                <a:spcPct val="125000"/>
              </a:lnSpc>
              <a:spcBef>
                <a:spcPts val="601"/>
              </a:spcBef>
              <a:tabLst>
                <a:tab algn="l" pos="0"/>
              </a:tabLst>
            </a:pPr>
            <a:r>
              <a:rPr lang="en-US" sz="2400" b="1" u="none" strike="noStrike">
                <a:solidFill>
                  <a:srgbClr val="c00000"/>
                </a:solidFill>
                <a:effectLst/>
                <a:uFillTx/>
                <a:latin typeface="Bodoni MT Black"/>
              </a:rPr>
              <a:t>     </a:t>
            </a:r>
            <a:r>
              <a:rPr lang="zh-CN" sz="2400" b="1" u="none" strike="noStrike">
                <a:solidFill>
                  <a:srgbClr val="c00000"/>
                </a:solidFill>
                <a:effectLst/>
                <a:uFillTx/>
                <a:latin typeface="Bodoni MT Black"/>
              </a:rPr>
              <a:t>黑盒测试</a:t>
            </a:r>
            <a:r>
              <a:rPr lang="zh-CN" sz="2400" b="0" u="none" strike="noStrike">
                <a:solidFill>
                  <a:schemeClr val="dk1"/>
                </a:solidFill>
                <a:effectLst/>
                <a:uFillTx/>
                <a:latin typeface="Bodoni MT Black"/>
              </a:rPr>
              <a:t>（又称</a:t>
            </a:r>
            <a:r>
              <a:rPr lang="zh-CN" sz="2400" b="0" u="none" strike="noStrike">
                <a:solidFill>
                  <a:srgbClr val="ff0000"/>
                </a:solidFill>
                <a:effectLst/>
                <a:uFillTx/>
                <a:latin typeface="Bodoni MT Black"/>
              </a:rPr>
              <a:t>功能测试</a:t>
            </a:r>
            <a:r>
              <a:rPr lang="zh-CN" sz="2400" b="0" u="none" strike="noStrike">
                <a:solidFill>
                  <a:schemeClr val="dk1"/>
                </a:solidFill>
                <a:effectLst/>
                <a:uFillTx/>
                <a:latin typeface="Bodoni MT Black"/>
              </a:rPr>
              <a:t>）把程序看作一个黑盒子，完全不考虑程序的内部结构和处理过程。黑盒测试是在</a:t>
            </a:r>
            <a:r>
              <a:rPr lang="zh-CN" sz="2400" b="0" u="none" strike="noStrike">
                <a:solidFill>
                  <a:srgbClr val="ff0000"/>
                </a:solidFill>
                <a:effectLst/>
                <a:uFillTx/>
                <a:latin typeface="Bodoni MT Black"/>
              </a:rPr>
              <a:t>程序接口</a:t>
            </a:r>
            <a:r>
              <a:rPr lang="zh-CN" sz="2400" b="0" u="none" strike="noStrike">
                <a:solidFill>
                  <a:schemeClr val="dk1"/>
                </a:solidFill>
                <a:effectLst/>
                <a:uFillTx/>
                <a:latin typeface="Bodoni MT Black"/>
              </a:rPr>
              <a:t>进行的测试，</a:t>
            </a:r>
            <a:r>
              <a:rPr lang="zh-CN" sz="2400" b="0" u="none" strike="noStrike">
                <a:solidFill>
                  <a:srgbClr val="ff0000"/>
                </a:solidFill>
                <a:effectLst/>
                <a:uFillTx/>
                <a:latin typeface="Bodoni MT Black"/>
              </a:rPr>
              <a:t>只检查程序功能是否能按照规格说明书的规定正常使用</a:t>
            </a:r>
            <a:r>
              <a:rPr lang="zh-CN" sz="2400" b="0" u="none" strike="noStrike">
                <a:solidFill>
                  <a:schemeClr val="dk1"/>
                </a:solidFill>
                <a:effectLst/>
                <a:uFillTx/>
                <a:latin typeface="Bodoni MT Black"/>
              </a:rPr>
              <a:t>，程序是否能适当地接收输入数据并产生正确的输出信息，程序运行过程中能否保持外部信息（例如数据库或文件）的完整性。</a:t>
            </a:r>
            <a:endParaRPr lang="en-US" sz="2400" b="0" u="none" strike="noStrike">
              <a:solidFill>
                <a:srgbClr val="000000"/>
              </a:solidFill>
              <a:effectLst/>
              <a:uFillTx/>
              <a:latin typeface="Arial"/>
            </a:endParaRPr>
          </a:p>
        </p:txBody>
      </p:sp>
      <p:sp>
        <p:nvSpPr>
          <p:cNvPr id="147"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148"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7.2.3 </a:t>
            </a:r>
            <a:r>
              <a:rPr lang="zh-CN" sz="2400" b="0" u="none" strike="noStrike">
                <a:solidFill>
                  <a:srgbClr val="d9d9d9"/>
                </a:solidFill>
                <a:effectLst/>
                <a:uFillTx/>
                <a:latin typeface="Bodoni MT Black"/>
              </a:rPr>
              <a:t>测试方法</a:t>
            </a:r>
            <a:endParaRPr lang="en-US" sz="2400" b="0" u="none" strike="noStrike">
              <a:solidFill>
                <a:srgbClr val="000000"/>
              </a:solidFill>
              <a:effectLst/>
              <a:uFillTx/>
              <a:latin typeface="Arial"/>
            </a:endParaRPr>
          </a:p>
        </p:txBody>
      </p:sp>
      <p:sp>
        <p:nvSpPr>
          <p:cNvPr id="149" name="立方体 1"/>
          <p:cNvSpPr/>
          <p:nvPr/>
        </p:nvSpPr>
        <p:spPr>
          <a:xfrm>
            <a:off x="6156000" y="2884320"/>
            <a:ext cx="2592000" cy="2199960"/>
          </a:xfrm>
          <a:prstGeom prst="cube">
            <a:avLst>
              <a:gd name="adj" fmla="val 25000"/>
            </a:avLst>
          </a:prstGeom>
          <a:solidFill>
            <a:srgbClr val="000000"/>
          </a:solidFill>
          <a:ln>
            <a:solidFill>
              <a:srgbClr val="ffffff"/>
            </a:solidFill>
            <a:round/>
          </a:ln>
          <a:effectLst>
            <a:outerShdw blurRad="39960" dir="5400000" dist="20160" rotWithShape="0">
              <a:srgbClr val="000000">
                <a:alpha val="38000"/>
              </a:srgbClr>
            </a:outerShdw>
          </a:effectLst>
        </p:spPr>
        <p:style>
          <a:lnRef idx="3">
            <a:schemeClr val="lt1"/>
          </a:lnRef>
          <a:fillRef idx="1">
            <a:schemeClr val="dk1"/>
          </a:fillRef>
          <a:effectRef idx="1">
            <a:schemeClr val="dk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150" name="文本框 2"/>
          <p:cNvSpPr/>
          <p:nvPr/>
        </p:nvSpPr>
        <p:spPr>
          <a:xfrm>
            <a:off x="6516360" y="3956040"/>
            <a:ext cx="1536480" cy="46152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lang="zh-CN" sz="2400" b="1" u="none" strike="noStrike">
                <a:solidFill>
                  <a:schemeClr val="lt1"/>
                </a:solidFill>
                <a:effectLst/>
                <a:uFillTx/>
                <a:latin typeface="Bodoni MT Black"/>
                <a:ea typeface="宋体"/>
              </a:rPr>
              <a:t>程序接口</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7.2 </a:t>
            </a:r>
            <a:r>
              <a:rPr lang="zh-CN" sz="4400" b="1" u="none" strike="noStrike">
                <a:solidFill>
                  <a:schemeClr val="dk1"/>
                </a:solidFill>
                <a:effectLst/>
                <a:uFillTx/>
                <a:latin typeface="Bodoni MT Black"/>
              </a:rPr>
              <a:t>软件测试基础</a:t>
            </a:r>
            <a:endParaRPr lang="es-ES" sz="4400" b="0" u="none" strike="noStrike">
              <a:solidFill>
                <a:schemeClr val="dk1"/>
              </a:solidFill>
              <a:effectLst/>
              <a:uFillTx/>
              <a:latin typeface="Arial"/>
            </a:endParaRPr>
          </a:p>
        </p:txBody>
      </p:sp>
      <p:sp>
        <p:nvSpPr>
          <p:cNvPr id="152" name="TextBox 7"/>
          <p:cNvSpPr/>
          <p:nvPr/>
        </p:nvSpPr>
        <p:spPr>
          <a:xfrm>
            <a:off x="107640" y="1989000"/>
            <a:ext cx="5112360" cy="28620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1" u="none" strike="noStrike">
                <a:solidFill>
                  <a:srgbClr val="c00000"/>
                </a:solidFill>
                <a:effectLst/>
                <a:uFillTx/>
                <a:latin typeface="Bodoni MT Black"/>
              </a:rPr>
              <a:t>    </a:t>
            </a:r>
            <a:r>
              <a:rPr lang="zh-CN" sz="2400" b="1" u="none" strike="noStrike">
                <a:solidFill>
                  <a:srgbClr val="c00000"/>
                </a:solidFill>
                <a:effectLst/>
                <a:uFillTx/>
                <a:latin typeface="Bodoni MT Black"/>
              </a:rPr>
              <a:t>白盒测试</a:t>
            </a:r>
            <a:r>
              <a:rPr lang="zh-CN" sz="2400" b="0" u="none" strike="noStrike">
                <a:solidFill>
                  <a:schemeClr val="dk1"/>
                </a:solidFill>
                <a:effectLst/>
                <a:uFillTx/>
                <a:latin typeface="Bodoni MT Black"/>
              </a:rPr>
              <a:t>（又称</a:t>
            </a:r>
            <a:r>
              <a:rPr lang="zh-CN" sz="2400" b="0" u="none" strike="noStrike">
                <a:solidFill>
                  <a:srgbClr val="ff0000"/>
                </a:solidFill>
                <a:effectLst/>
                <a:uFillTx/>
                <a:latin typeface="Bodoni MT Black"/>
              </a:rPr>
              <a:t>结构测试</a:t>
            </a:r>
            <a:r>
              <a:rPr lang="zh-CN" sz="2400" b="0" u="none" strike="noStrike">
                <a:solidFill>
                  <a:schemeClr val="dk1"/>
                </a:solidFill>
                <a:effectLst/>
                <a:uFillTx/>
                <a:latin typeface="Bodoni MT Black"/>
              </a:rPr>
              <a:t>）是把程序看成装在一个透明的白盒子里，测试者完全知道程序的结构和处理算法。这种方法</a:t>
            </a:r>
            <a:r>
              <a:rPr lang="zh-CN" sz="2400" b="0" u="none" strike="noStrike">
                <a:solidFill>
                  <a:srgbClr val="ff0000"/>
                </a:solidFill>
                <a:effectLst/>
                <a:uFillTx/>
                <a:latin typeface="Bodoni MT Black"/>
              </a:rPr>
              <a:t>按照程序内部的逻辑测试程序</a:t>
            </a:r>
            <a:r>
              <a:rPr lang="zh-CN" sz="2400" b="0" u="none" strike="noStrike">
                <a:solidFill>
                  <a:schemeClr val="dk1"/>
                </a:solidFill>
                <a:effectLst/>
                <a:uFillTx/>
                <a:latin typeface="Bodoni MT Black"/>
              </a:rPr>
              <a:t>，</a:t>
            </a:r>
            <a:r>
              <a:rPr lang="zh-CN" sz="2400" b="0" u="none" strike="noStrike">
                <a:solidFill>
                  <a:srgbClr val="ff0000"/>
                </a:solidFill>
                <a:effectLst/>
                <a:uFillTx/>
                <a:latin typeface="Bodoni MT Black"/>
              </a:rPr>
              <a:t>检测程序中的主要执行通路是否都能按预定要求正确工作。</a:t>
            </a:r>
            <a:endParaRPr lang="en-US" sz="2400" b="0" u="none" strike="noStrike">
              <a:solidFill>
                <a:srgbClr val="000000"/>
              </a:solidFill>
              <a:effectLst/>
              <a:uFillTx/>
              <a:latin typeface="Arial"/>
            </a:endParaRPr>
          </a:p>
        </p:txBody>
      </p:sp>
      <p:sp>
        <p:nvSpPr>
          <p:cNvPr id="153" name="立方体 1"/>
          <p:cNvSpPr/>
          <p:nvPr/>
        </p:nvSpPr>
        <p:spPr>
          <a:xfrm>
            <a:off x="5508720" y="2637000"/>
            <a:ext cx="2592000" cy="2160360"/>
          </a:xfrm>
          <a:prstGeom prst="cube">
            <a:avLst>
              <a:gd name="adj" fmla="val 25000"/>
            </a:avLst>
          </a:prstGeom>
          <a:noFill/>
          <a:ln>
            <a:solidFill>
              <a:srgbClr val="000000"/>
            </a:solidFill>
            <a:round/>
          </a:ln>
        </p:spPr>
        <p:style>
          <a:lnRef idx="2">
            <a:schemeClr val="dk1"/>
          </a:lnRef>
          <a:fillRef idx="1">
            <a:schemeClr val="lt1"/>
          </a:fillRef>
          <a:effectRef idx="0">
            <a:schemeClr val="dk1"/>
          </a:effectRef>
          <a:fontRef idx="minor"/>
        </p:style>
        <p:txBody>
          <a:bodyPr lIns="90000" rIns="90000" tIns="45000" bIns="45000" anchor="ctr">
            <a:noAutofit/>
          </a:bodyPr>
          <a:p>
            <a:pPr algn="ctr">
              <a:lnSpc>
                <a:spcPct val="100000"/>
              </a:lnSpc>
            </a:pPr>
            <a:endParaRPr lang="en-US" sz="1800" b="0" u="none" strike="noStrike">
              <a:solidFill>
                <a:schemeClr val="dk1"/>
              </a:solidFill>
              <a:effectLst/>
              <a:uFillTx/>
              <a:latin typeface="Bodoni MT Black"/>
              <a:ea typeface="宋体"/>
            </a:endParaRPr>
          </a:p>
        </p:txBody>
      </p:sp>
      <p:sp>
        <p:nvSpPr>
          <p:cNvPr id="154" name="文本框 2"/>
          <p:cNvSpPr/>
          <p:nvPr/>
        </p:nvSpPr>
        <p:spPr>
          <a:xfrm>
            <a:off x="5651640" y="3533760"/>
            <a:ext cx="1728360" cy="83160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lang="zh-CN" sz="2400" b="1" u="none" strike="noStrike">
                <a:solidFill>
                  <a:schemeClr val="dk1"/>
                </a:solidFill>
                <a:effectLst/>
                <a:uFillTx/>
                <a:latin typeface="Bodoni MT Black"/>
                <a:ea typeface="宋体"/>
              </a:rPr>
              <a:t>程序结构和处理算法</a:t>
            </a:r>
            <a:endParaRPr lang="en-US" sz="2400" b="0" u="none" strike="noStrike">
              <a:solidFill>
                <a:srgbClr val="000000"/>
              </a:solidFill>
              <a:effectLst/>
              <a:uFillTx/>
              <a:latin typeface="Arial"/>
            </a:endParaRPr>
          </a:p>
        </p:txBody>
      </p:sp>
      <p:sp>
        <p:nvSpPr>
          <p:cNvPr id="155"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156"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7.2.3 </a:t>
            </a:r>
            <a:r>
              <a:rPr lang="zh-CN" sz="2400" b="0" u="none" strike="noStrike">
                <a:solidFill>
                  <a:srgbClr val="d9d9d9"/>
                </a:solidFill>
                <a:effectLst/>
                <a:uFillTx/>
                <a:latin typeface="Bodoni MT Black"/>
              </a:rPr>
              <a:t>测试方法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7.2 </a:t>
            </a:r>
            <a:r>
              <a:rPr lang="zh-CN" sz="4400" b="1" u="none" strike="noStrike">
                <a:solidFill>
                  <a:schemeClr val="dk1"/>
                </a:solidFill>
                <a:effectLst/>
                <a:uFillTx/>
                <a:latin typeface="Bodoni MT Black"/>
              </a:rPr>
              <a:t>软件测试基础</a:t>
            </a:r>
            <a:endParaRPr lang="es-ES" sz="4400" b="0" u="none" strike="noStrike">
              <a:solidFill>
                <a:schemeClr val="dk1"/>
              </a:solidFill>
              <a:effectLst/>
              <a:uFillTx/>
              <a:latin typeface="Arial"/>
            </a:endParaRPr>
          </a:p>
        </p:txBody>
      </p:sp>
      <p:sp>
        <p:nvSpPr>
          <p:cNvPr id="158" name="PlaceHolder 2"/>
          <p:cNvSpPr>
            <a:spLocks noGrp="1"/>
          </p:cNvSpPr>
          <p:nvPr>
            <p:ph/>
          </p:nvPr>
        </p:nvSpPr>
        <p:spPr>
          <a:xfrm>
            <a:off x="395280" y="126828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7.2.4 </a:t>
            </a:r>
            <a:r>
              <a:rPr lang="zh-CN" sz="3200" b="1" u="none" strike="noStrike">
                <a:solidFill>
                  <a:schemeClr val="dk1"/>
                </a:solidFill>
                <a:effectLst/>
                <a:uFillTx/>
                <a:latin typeface="Bodoni MT Black"/>
              </a:rPr>
              <a:t>测试步骤</a:t>
            </a:r>
            <a:endParaRPr lang="es-ES" sz="3200" b="0" u="none" strike="noStrike">
              <a:solidFill>
                <a:schemeClr val="dk1"/>
              </a:solidFill>
              <a:effectLst/>
              <a:uFillTx/>
              <a:latin typeface="Calibri"/>
            </a:endParaRPr>
          </a:p>
        </p:txBody>
      </p:sp>
      <p:sp>
        <p:nvSpPr>
          <p:cNvPr id="159" name="TextBox 7"/>
          <p:cNvSpPr/>
          <p:nvPr/>
        </p:nvSpPr>
        <p:spPr>
          <a:xfrm>
            <a:off x="381600" y="2205000"/>
            <a:ext cx="8229240" cy="28620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0" u="none" strike="noStrike">
                <a:solidFill>
                  <a:schemeClr val="dk1"/>
                </a:solidFill>
                <a:effectLst/>
                <a:uFillTx/>
                <a:latin typeface="Bodoni MT Black"/>
              </a:rPr>
              <a:t> </a:t>
            </a:r>
            <a:r>
              <a:rPr lang="zh-CN" sz="2400" b="0" u="none" strike="noStrike">
                <a:solidFill>
                  <a:schemeClr val="dk1"/>
                </a:solidFill>
                <a:effectLst/>
                <a:uFillTx/>
                <a:latin typeface="Bodoni MT Black"/>
              </a:rPr>
              <a:t>根据第</a:t>
            </a:r>
            <a:r>
              <a:rPr lang="en-US" sz="2400" b="0" u="none" strike="noStrike">
                <a:solidFill>
                  <a:schemeClr val="dk1"/>
                </a:solidFill>
                <a:effectLst/>
                <a:uFillTx/>
                <a:latin typeface="Bodoni MT Black"/>
              </a:rPr>
              <a:t>4</a:t>
            </a:r>
            <a:r>
              <a:rPr lang="zh-CN" sz="2400" b="0" u="none" strike="noStrike">
                <a:solidFill>
                  <a:schemeClr val="dk1"/>
                </a:solidFill>
                <a:effectLst/>
                <a:uFillTx/>
                <a:latin typeface="Bodoni MT Black"/>
              </a:rPr>
              <a:t>条测试准则，测试过程也必须分步骤进行，后一个步骤在逻辑上是前一个步骤的继续。</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大型软件系统通常由若干个子系统组成，每个子系统又由许多模块组成，因此，大型软件系统的测试过程基本上由</a:t>
            </a:r>
            <a:r>
              <a:rPr lang="zh-CN" sz="2400" b="1" u="none" strike="noStrike">
                <a:solidFill>
                  <a:srgbClr val="ff0000"/>
                </a:solidFill>
                <a:effectLst/>
                <a:uFillTx/>
                <a:latin typeface="Bodoni MT Black"/>
              </a:rPr>
              <a:t>模块测试</a:t>
            </a:r>
            <a:r>
              <a:rPr lang="zh-CN" sz="2400" b="1" u="none" strike="noStrike">
                <a:solidFill>
                  <a:schemeClr val="dk1"/>
                </a:solidFill>
                <a:effectLst/>
                <a:uFillTx/>
                <a:latin typeface="Bodoni MT Black"/>
              </a:rPr>
              <a:t>、</a:t>
            </a:r>
            <a:r>
              <a:rPr lang="zh-CN" sz="2400" b="1" u="none" strike="noStrike">
                <a:solidFill>
                  <a:srgbClr val="ff0000"/>
                </a:solidFill>
                <a:effectLst/>
                <a:uFillTx/>
                <a:latin typeface="Bodoni MT Black"/>
              </a:rPr>
              <a:t>子系统测试</a:t>
            </a:r>
            <a:r>
              <a:rPr lang="zh-CN" sz="2400" b="1" u="none" strike="noStrike">
                <a:solidFill>
                  <a:schemeClr val="dk1"/>
                </a:solidFill>
                <a:effectLst/>
                <a:uFillTx/>
                <a:latin typeface="Bodoni MT Black"/>
              </a:rPr>
              <a:t>、</a:t>
            </a:r>
            <a:r>
              <a:rPr lang="zh-CN" sz="2400" b="1" u="none" strike="noStrike">
                <a:solidFill>
                  <a:srgbClr val="ff0000"/>
                </a:solidFill>
                <a:effectLst/>
                <a:uFillTx/>
                <a:latin typeface="Bodoni MT Black"/>
              </a:rPr>
              <a:t>系统测试</a:t>
            </a:r>
            <a:r>
              <a:rPr lang="zh-CN" sz="2400" b="1" u="none" strike="noStrike">
                <a:solidFill>
                  <a:schemeClr val="dk1"/>
                </a:solidFill>
                <a:effectLst/>
                <a:uFillTx/>
                <a:latin typeface="Bodoni MT Black"/>
              </a:rPr>
              <a:t>、</a:t>
            </a:r>
            <a:r>
              <a:rPr lang="zh-CN" sz="2400" b="1" u="none" strike="noStrike">
                <a:solidFill>
                  <a:srgbClr val="ff0000"/>
                </a:solidFill>
                <a:effectLst/>
                <a:uFillTx/>
                <a:latin typeface="Bodoni MT Black"/>
              </a:rPr>
              <a:t>验收测试</a:t>
            </a:r>
            <a:r>
              <a:rPr lang="zh-CN" sz="2400" b="0" u="none" strike="noStrike">
                <a:solidFill>
                  <a:schemeClr val="dk1"/>
                </a:solidFill>
                <a:effectLst/>
                <a:uFillTx/>
                <a:latin typeface="Bodoni MT Black"/>
              </a:rPr>
              <a:t>和</a:t>
            </a:r>
            <a:r>
              <a:rPr lang="zh-CN" sz="2400" b="1" u="none" strike="noStrike">
                <a:solidFill>
                  <a:srgbClr val="ff0000"/>
                </a:solidFill>
                <a:effectLst/>
                <a:uFillTx/>
                <a:latin typeface="Bodoni MT Black"/>
              </a:rPr>
              <a:t>平行运行</a:t>
            </a:r>
            <a:r>
              <a:rPr lang="zh-CN" sz="2400" b="0" u="none" strike="noStrike">
                <a:solidFill>
                  <a:schemeClr val="dk1"/>
                </a:solidFill>
                <a:effectLst/>
                <a:uFillTx/>
                <a:latin typeface="Bodoni MT Black"/>
              </a:rPr>
              <a:t>等五个步骤组成。</a:t>
            </a:r>
            <a:endParaRPr lang="en-US" sz="2400" b="0" u="none" strike="noStrike">
              <a:solidFill>
                <a:srgbClr val="000000"/>
              </a:solidFill>
              <a:effectLst/>
              <a:uFillTx/>
              <a:latin typeface="Arial"/>
            </a:endParaRPr>
          </a:p>
        </p:txBody>
      </p:sp>
      <p:sp>
        <p:nvSpPr>
          <p:cNvPr id="160"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161"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7.2.4 </a:t>
            </a:r>
            <a:r>
              <a:rPr lang="zh-CN" sz="2400" b="0" u="none" strike="noStrike">
                <a:solidFill>
                  <a:srgbClr val="d9d9d9"/>
                </a:solidFill>
                <a:effectLst/>
                <a:uFillTx/>
                <a:latin typeface="Bodoni MT Black"/>
              </a:rPr>
              <a:t>测试步骤</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7.2 </a:t>
            </a:r>
            <a:r>
              <a:rPr lang="zh-CN" sz="4400" b="1" u="none" strike="noStrike">
                <a:solidFill>
                  <a:schemeClr val="dk1"/>
                </a:solidFill>
                <a:effectLst/>
                <a:uFillTx/>
                <a:latin typeface="Bodoni MT Black"/>
              </a:rPr>
              <a:t>软件测试基础</a:t>
            </a:r>
            <a:endParaRPr lang="es-ES" sz="4400" b="0" u="none" strike="noStrike">
              <a:solidFill>
                <a:schemeClr val="dk1"/>
              </a:solidFill>
              <a:effectLst/>
              <a:uFillTx/>
              <a:latin typeface="Arial"/>
            </a:endParaRPr>
          </a:p>
        </p:txBody>
      </p:sp>
      <p:sp>
        <p:nvSpPr>
          <p:cNvPr id="163" name="TextBox 7"/>
          <p:cNvSpPr/>
          <p:nvPr/>
        </p:nvSpPr>
        <p:spPr>
          <a:xfrm>
            <a:off x="395280" y="1268640"/>
            <a:ext cx="8353080" cy="3823920"/>
          </a:xfrm>
          <a:prstGeom prst="rect">
            <a:avLst/>
          </a:prstGeom>
          <a:noFill/>
          <a:ln w="0">
            <a:noFill/>
          </a:ln>
        </p:spPr>
        <p:style>
          <a:lnRef idx="0"/>
          <a:fillRef idx="0"/>
          <a:effectRef idx="0"/>
          <a:fontRef idx="minor"/>
        </p:style>
        <p:txBody>
          <a:bodyPr lIns="90000" rIns="90000" tIns="45000" bIns="45000" anchor="t">
            <a:spAutoFit/>
          </a:bodyPr>
          <a:p>
            <a:pPr>
              <a:lnSpc>
                <a:spcPct val="125000"/>
              </a:lnSpc>
              <a:spcBef>
                <a:spcPts val="601"/>
              </a:spcBef>
              <a:tabLst>
                <a:tab algn="l" pos="0"/>
              </a:tabLst>
            </a:pPr>
            <a:r>
              <a:rPr lang="en-US" sz="2600" b="1" u="none" strike="noStrike">
                <a:solidFill>
                  <a:schemeClr val="dk1"/>
                </a:solidFill>
                <a:effectLst/>
                <a:uFillTx/>
                <a:latin typeface="Bodoni MT Black"/>
              </a:rPr>
              <a:t>1. </a:t>
            </a:r>
            <a:r>
              <a:rPr lang="zh-CN" sz="2600" b="1" u="none" strike="noStrike">
                <a:solidFill>
                  <a:schemeClr val="dk1"/>
                </a:solidFill>
                <a:effectLst/>
                <a:uFillTx/>
                <a:latin typeface="Bodoni MT Black"/>
              </a:rPr>
              <a:t>模块测试</a:t>
            </a:r>
            <a:endParaRPr lang="en-US" sz="26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rPr>
              <a:t>在设计得好的软件系统中，每个模块完成一个</a:t>
            </a:r>
            <a:r>
              <a:rPr lang="zh-CN" sz="2400" b="0" u="none" strike="noStrike">
                <a:solidFill>
                  <a:srgbClr val="ff0000"/>
                </a:solidFill>
                <a:effectLst/>
                <a:uFillTx/>
                <a:latin typeface="Bodoni MT Black"/>
              </a:rPr>
              <a:t>清晰定义的子功能</a:t>
            </a:r>
            <a:r>
              <a:rPr lang="zh-CN" sz="2400" b="0" u="none" strike="noStrike">
                <a:solidFill>
                  <a:schemeClr val="dk1"/>
                </a:solidFill>
                <a:effectLst/>
                <a:uFillTx/>
                <a:latin typeface="Bodoni MT Black"/>
              </a:rPr>
              <a:t>，而且这个子功能和同级其他模块的功能之间没有相互依赖关系。因此，有可能把每个模块作为一个</a:t>
            </a:r>
            <a:r>
              <a:rPr lang="zh-CN" sz="2400" b="0" u="none" strike="noStrike">
                <a:solidFill>
                  <a:srgbClr val="ff0000"/>
                </a:solidFill>
                <a:effectLst/>
                <a:uFillTx/>
                <a:latin typeface="Bodoni MT Black"/>
              </a:rPr>
              <a:t>单独的实体</a:t>
            </a:r>
            <a:r>
              <a:rPr lang="zh-CN" sz="2400" b="0" u="none" strike="noStrike">
                <a:solidFill>
                  <a:schemeClr val="dk1"/>
                </a:solidFill>
                <a:effectLst/>
                <a:uFillTx/>
                <a:latin typeface="Bodoni MT Black"/>
              </a:rPr>
              <a:t>来测试，而且通常比较容易设计检验模块正确性的测试方案。</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rPr>
              <a:t>模块测试的目的是保证每个模块作为一个单元能正确运行，所以模块测试通常又称为</a:t>
            </a:r>
            <a:r>
              <a:rPr lang="zh-CN" sz="2400" b="1" u="none" strike="noStrike">
                <a:solidFill>
                  <a:srgbClr val="c00000"/>
                </a:solidFill>
                <a:effectLst/>
                <a:uFillTx/>
                <a:latin typeface="Bodoni MT Black"/>
              </a:rPr>
              <a:t>单元测试</a:t>
            </a:r>
            <a:r>
              <a:rPr lang="zh-CN" sz="2400" b="0" u="none" strike="noStrike">
                <a:solidFill>
                  <a:schemeClr val="dk1"/>
                </a:solidFill>
                <a:effectLst/>
                <a:uFillTx/>
                <a:latin typeface="Bodoni MT Black"/>
              </a:rPr>
              <a:t>。在这个测试步骤中所发现的往往是</a:t>
            </a:r>
            <a:r>
              <a:rPr lang="zh-CN" sz="2400" b="0" u="none" strike="noStrike">
                <a:solidFill>
                  <a:srgbClr val="ff0000"/>
                </a:solidFill>
                <a:effectLst/>
                <a:uFillTx/>
                <a:latin typeface="Bodoni MT Black"/>
              </a:rPr>
              <a:t>编码</a:t>
            </a:r>
            <a:r>
              <a:rPr lang="zh-CN" sz="2400" b="0" u="none" strike="noStrike">
                <a:solidFill>
                  <a:schemeClr val="dk1"/>
                </a:solidFill>
                <a:effectLst/>
                <a:uFillTx/>
                <a:latin typeface="Bodoni MT Black"/>
              </a:rPr>
              <a:t>和</a:t>
            </a:r>
            <a:r>
              <a:rPr lang="zh-CN" sz="2400" b="0" u="none" strike="noStrike">
                <a:solidFill>
                  <a:srgbClr val="ff0000"/>
                </a:solidFill>
                <a:effectLst/>
                <a:uFillTx/>
                <a:latin typeface="Bodoni MT Black"/>
              </a:rPr>
              <a:t>详细设计</a:t>
            </a:r>
            <a:r>
              <a:rPr lang="zh-CN" sz="2400" b="0" u="none" strike="noStrike">
                <a:solidFill>
                  <a:schemeClr val="dk1"/>
                </a:solidFill>
                <a:effectLst/>
                <a:uFillTx/>
                <a:latin typeface="Bodoni MT Black"/>
              </a:rPr>
              <a:t>的错误。</a:t>
            </a:r>
            <a:endParaRPr lang="en-US" sz="2400" b="0" u="none" strike="noStrike">
              <a:solidFill>
                <a:srgbClr val="000000"/>
              </a:solidFill>
              <a:effectLst/>
              <a:uFillTx/>
              <a:latin typeface="Arial"/>
            </a:endParaRPr>
          </a:p>
        </p:txBody>
      </p:sp>
      <p:sp>
        <p:nvSpPr>
          <p:cNvPr id="164"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165"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7.2.4 </a:t>
            </a:r>
            <a:r>
              <a:rPr lang="zh-CN" sz="2400" b="0" u="none" strike="noStrike">
                <a:solidFill>
                  <a:srgbClr val="d9d9d9"/>
                </a:solidFill>
                <a:effectLst/>
                <a:uFillTx/>
                <a:latin typeface="Bodoni MT Black"/>
              </a:rPr>
              <a:t>测试步骤</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7.2 </a:t>
            </a:r>
            <a:r>
              <a:rPr lang="zh-CN" sz="4400" b="1" u="none" strike="noStrike">
                <a:solidFill>
                  <a:schemeClr val="dk1"/>
                </a:solidFill>
                <a:effectLst/>
                <a:uFillTx/>
                <a:latin typeface="Bodoni MT Black"/>
              </a:rPr>
              <a:t>软件测试基础</a:t>
            </a:r>
            <a:endParaRPr lang="es-ES" sz="4400" b="0" u="none" strike="noStrike">
              <a:solidFill>
                <a:schemeClr val="dk1"/>
              </a:solidFill>
              <a:effectLst/>
              <a:uFillTx/>
              <a:latin typeface="Arial"/>
            </a:endParaRPr>
          </a:p>
        </p:txBody>
      </p:sp>
      <p:sp>
        <p:nvSpPr>
          <p:cNvPr id="167" name="TextBox 7"/>
          <p:cNvSpPr/>
          <p:nvPr/>
        </p:nvSpPr>
        <p:spPr>
          <a:xfrm>
            <a:off x="487440" y="1557360"/>
            <a:ext cx="8404920" cy="2012400"/>
          </a:xfrm>
          <a:prstGeom prst="rect">
            <a:avLst/>
          </a:prstGeom>
          <a:noFill/>
          <a:ln w="0">
            <a:noFill/>
          </a:ln>
        </p:spPr>
        <p:style>
          <a:lnRef idx="0"/>
          <a:fillRef idx="0"/>
          <a:effectRef idx="0"/>
          <a:fontRef idx="minor"/>
        </p:style>
        <p:txBody>
          <a:bodyPr lIns="90000" rIns="90000" tIns="45000" bIns="45000" anchor="t">
            <a:spAutoFit/>
          </a:bodyPr>
          <a:p>
            <a:pPr>
              <a:lnSpc>
                <a:spcPct val="125000"/>
              </a:lnSpc>
              <a:spcBef>
                <a:spcPts val="601"/>
              </a:spcBef>
              <a:tabLst>
                <a:tab algn="l" pos="0"/>
              </a:tabLst>
            </a:pPr>
            <a:r>
              <a:rPr lang="en-US" sz="2600" b="1" u="none" strike="noStrike">
                <a:solidFill>
                  <a:schemeClr val="dk1"/>
                </a:solidFill>
                <a:effectLst/>
                <a:uFillTx/>
                <a:latin typeface="Bodoni MT Black"/>
                <a:ea typeface="宋体"/>
              </a:rPr>
              <a:t>2. </a:t>
            </a:r>
            <a:r>
              <a:rPr lang="zh-CN" sz="2600" b="1" u="none" strike="noStrike">
                <a:solidFill>
                  <a:schemeClr val="dk1"/>
                </a:solidFill>
                <a:effectLst/>
                <a:uFillTx/>
                <a:latin typeface="Bodoni MT Black"/>
                <a:ea typeface="宋体"/>
              </a:rPr>
              <a:t>子系统测试</a:t>
            </a:r>
            <a:endParaRPr lang="en-US" sz="2600" b="0" u="none" strike="noStrike">
              <a:solidFill>
                <a:srgbClr val="000000"/>
              </a:solidFill>
              <a:effectLst/>
              <a:uFillTx/>
              <a:latin typeface="Arial"/>
            </a:endParaRPr>
          </a:p>
          <a:p>
            <a:pPr>
              <a:lnSpc>
                <a:spcPct val="125000"/>
              </a:lnSpc>
              <a:tabLst>
                <a:tab algn="l" pos="0"/>
              </a:tabLst>
            </a:pPr>
            <a:r>
              <a:rPr lang="en-US" sz="28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子系统测试是把经过单元测试的模块放在一起形成一个子系统来测试。模块相互间的协调和通信是这个测试过程中的主要问题，因此，</a:t>
            </a:r>
            <a:r>
              <a:rPr lang="zh-CN" sz="2400" b="1" u="none" strike="noStrike">
                <a:solidFill>
                  <a:schemeClr val="dk1"/>
                </a:solidFill>
                <a:effectLst/>
                <a:uFillTx/>
                <a:latin typeface="Bodoni MT Black"/>
                <a:ea typeface="宋体"/>
              </a:rPr>
              <a:t>这个步骤着重测试</a:t>
            </a:r>
            <a:r>
              <a:rPr lang="zh-CN" sz="2400" b="1" u="none" strike="noStrike">
                <a:solidFill>
                  <a:srgbClr val="ff0000"/>
                </a:solidFill>
                <a:effectLst/>
                <a:uFillTx/>
                <a:latin typeface="Bodoni MT Black"/>
                <a:ea typeface="宋体"/>
              </a:rPr>
              <a:t>模块的接口</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168"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169"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7.2.4 </a:t>
            </a:r>
            <a:r>
              <a:rPr lang="zh-CN" sz="2400" b="0" u="none" strike="noStrike">
                <a:solidFill>
                  <a:srgbClr val="d9d9d9"/>
                </a:solidFill>
                <a:effectLst/>
                <a:uFillTx/>
                <a:latin typeface="Bodoni MT Black"/>
              </a:rPr>
              <a:t>测试步骤</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457200" y="54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7.2 </a:t>
            </a:r>
            <a:r>
              <a:rPr lang="zh-CN" sz="4400" b="1" u="none" strike="noStrike">
                <a:solidFill>
                  <a:schemeClr val="dk1"/>
                </a:solidFill>
                <a:effectLst/>
                <a:uFillTx/>
                <a:latin typeface="Bodoni MT Black"/>
              </a:rPr>
              <a:t>软件测试基础</a:t>
            </a:r>
            <a:endParaRPr lang="es-ES" sz="4400" b="0" u="none" strike="noStrike">
              <a:solidFill>
                <a:schemeClr val="dk1"/>
              </a:solidFill>
              <a:effectLst/>
              <a:uFillTx/>
              <a:latin typeface="Arial"/>
            </a:endParaRPr>
          </a:p>
        </p:txBody>
      </p:sp>
      <p:sp>
        <p:nvSpPr>
          <p:cNvPr id="171" name="TextBox 7"/>
          <p:cNvSpPr/>
          <p:nvPr/>
        </p:nvSpPr>
        <p:spPr>
          <a:xfrm>
            <a:off x="323640" y="1282680"/>
            <a:ext cx="8589240" cy="2820240"/>
          </a:xfrm>
          <a:prstGeom prst="rect">
            <a:avLst/>
          </a:prstGeom>
          <a:noFill/>
          <a:ln w="0">
            <a:noFill/>
          </a:ln>
        </p:spPr>
        <p:style>
          <a:lnRef idx="0"/>
          <a:fillRef idx="0"/>
          <a:effectRef idx="0"/>
          <a:fontRef idx="minor"/>
        </p:style>
        <p:txBody>
          <a:bodyPr lIns="90000" rIns="90000" tIns="45000" bIns="45000" anchor="t">
            <a:spAutoFit/>
          </a:bodyPr>
          <a:p>
            <a:pPr>
              <a:lnSpc>
                <a:spcPct val="125000"/>
              </a:lnSpc>
              <a:spcBef>
                <a:spcPts val="601"/>
              </a:spcBef>
              <a:tabLst>
                <a:tab algn="l" pos="0"/>
              </a:tabLst>
            </a:pPr>
            <a:r>
              <a:rPr lang="en-US" sz="2400" b="1" u="none" strike="noStrike">
                <a:solidFill>
                  <a:schemeClr val="dk1"/>
                </a:solidFill>
                <a:effectLst/>
                <a:uFillTx/>
                <a:latin typeface="Bodoni MT Black"/>
              </a:rPr>
              <a:t>3. </a:t>
            </a:r>
            <a:r>
              <a:rPr lang="zh-CN" sz="2400" b="1" u="none" strike="noStrike">
                <a:solidFill>
                  <a:schemeClr val="dk1"/>
                </a:solidFill>
                <a:effectLst/>
                <a:uFillTx/>
                <a:latin typeface="Bodoni MT Black"/>
              </a:rPr>
              <a:t>系统测试</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系统测试是把经过测试的子系统装配成一个完整的系统来测试。在这个过程中不仅应该发现设计和编码的错误，还应该验证系统确实能提供需求说明书中指定的功能，而且系统的动态特性也符合预定要求。</a:t>
            </a:r>
            <a:r>
              <a:rPr lang="zh-CN" sz="2400" b="1" u="none" strike="noStrike">
                <a:solidFill>
                  <a:schemeClr val="dk1"/>
                </a:solidFill>
                <a:effectLst/>
                <a:uFillTx/>
                <a:latin typeface="Bodoni MT Black"/>
              </a:rPr>
              <a:t>在这个测试步骤中发现的往往是</a:t>
            </a:r>
            <a:r>
              <a:rPr lang="zh-CN" sz="2400" b="1" u="none" strike="noStrike">
                <a:solidFill>
                  <a:srgbClr val="ff0000"/>
                </a:solidFill>
                <a:effectLst/>
                <a:uFillTx/>
                <a:latin typeface="Bodoni MT Black"/>
              </a:rPr>
              <a:t>软件设计中的错误</a:t>
            </a:r>
            <a:r>
              <a:rPr lang="zh-CN" sz="2400" b="1" u="none" strike="noStrike">
                <a:solidFill>
                  <a:schemeClr val="dk1"/>
                </a:solidFill>
                <a:effectLst/>
                <a:uFillTx/>
                <a:latin typeface="Bodoni MT Black"/>
              </a:rPr>
              <a:t>，也可能发现</a:t>
            </a:r>
            <a:r>
              <a:rPr lang="zh-CN" sz="2400" b="1" u="none" strike="noStrike">
                <a:solidFill>
                  <a:srgbClr val="ff0000"/>
                </a:solidFill>
                <a:effectLst/>
                <a:uFillTx/>
                <a:latin typeface="Bodoni MT Black"/>
              </a:rPr>
              <a:t>需求说明中</a:t>
            </a:r>
            <a:r>
              <a:rPr lang="zh-CN" sz="2400" b="1" u="none" strike="noStrike">
                <a:solidFill>
                  <a:schemeClr val="dk1"/>
                </a:solidFill>
                <a:effectLst/>
                <a:uFillTx/>
                <a:latin typeface="Bodoni MT Black"/>
              </a:rPr>
              <a:t>的错误</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p:txBody>
      </p:sp>
      <p:sp>
        <p:nvSpPr>
          <p:cNvPr id="172" name="文本框 1"/>
          <p:cNvSpPr/>
          <p:nvPr/>
        </p:nvSpPr>
        <p:spPr>
          <a:xfrm>
            <a:off x="323640" y="4437000"/>
            <a:ext cx="8362800" cy="1015200"/>
          </a:xfrm>
          <a:prstGeom prst="rect">
            <a:avLst/>
          </a:prstGeom>
          <a:noFill/>
          <a:ln w="25400">
            <a:solidFill>
              <a:srgbClr val="c00000"/>
            </a:solidFill>
            <a:round/>
          </a:ln>
        </p:spPr>
        <p:style>
          <a:lnRef idx="0"/>
          <a:fillRef idx="0"/>
          <a:effectRef idx="0"/>
          <a:fontRef idx="minor"/>
        </p:style>
        <p:txBody>
          <a:bodyPr lIns="90000" rIns="90000" tIns="45000" bIns="45000" anchor="t">
            <a:spAutoFit/>
          </a:bodyPr>
          <a:p>
            <a:pPr>
              <a:lnSpc>
                <a:spcPct val="125000"/>
              </a:lnSpc>
            </a:pPr>
            <a:r>
              <a:rPr lang="zh-CN" sz="2400" b="0" u="none" strike="noStrike">
                <a:solidFill>
                  <a:schemeClr val="dk1"/>
                </a:solidFill>
                <a:effectLst/>
                <a:uFillTx/>
                <a:latin typeface="Bodoni MT Black"/>
                <a:ea typeface="宋体"/>
              </a:rPr>
              <a:t>子系统测试和系统测试，都兼有检测和组装两重含义，通常称为</a:t>
            </a:r>
            <a:r>
              <a:rPr lang="zh-CN" sz="2400" b="1" u="none" strike="noStrike">
                <a:solidFill>
                  <a:srgbClr val="c00000"/>
                </a:solidFill>
                <a:effectLst/>
                <a:uFillTx/>
                <a:latin typeface="Bodoni MT Black"/>
                <a:ea typeface="宋体"/>
              </a:rPr>
              <a:t>集成测试</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173"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174"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7.2.4 </a:t>
            </a:r>
            <a:r>
              <a:rPr lang="zh-CN" sz="2400" b="0" u="none" strike="noStrike">
                <a:solidFill>
                  <a:srgbClr val="d9d9d9"/>
                </a:solidFill>
                <a:effectLst/>
                <a:uFillTx/>
                <a:latin typeface="Bodoni MT Black"/>
              </a:rPr>
              <a:t>测试步骤</a:t>
            </a:r>
            <a:endParaRPr lang="en-US" sz="2400" b="0" u="none" strike="noStrike">
              <a:solidFill>
                <a:srgbClr val="000000"/>
              </a:solidFill>
              <a:effectLst/>
              <a:uFillTx/>
              <a:latin typeface="Arial"/>
            </a:endParaRPr>
          </a:p>
        </p:txBody>
      </p:sp>
    </p:spTree>
  </p:cSld>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7.2 </a:t>
            </a:r>
            <a:r>
              <a:rPr lang="zh-CN" sz="4400" b="1" u="none" strike="noStrike">
                <a:solidFill>
                  <a:schemeClr val="dk1"/>
                </a:solidFill>
                <a:effectLst/>
                <a:uFillTx/>
                <a:latin typeface="Bodoni MT Black"/>
              </a:rPr>
              <a:t>软件测试基础</a:t>
            </a:r>
            <a:endParaRPr lang="es-ES" sz="4400" b="0" u="none" strike="noStrike">
              <a:solidFill>
                <a:schemeClr val="dk1"/>
              </a:solidFill>
              <a:effectLst/>
              <a:uFillTx/>
              <a:latin typeface="Arial"/>
            </a:endParaRPr>
          </a:p>
        </p:txBody>
      </p:sp>
      <p:sp>
        <p:nvSpPr>
          <p:cNvPr id="176" name="TextBox 7"/>
          <p:cNvSpPr/>
          <p:nvPr/>
        </p:nvSpPr>
        <p:spPr>
          <a:xfrm>
            <a:off x="457200" y="1340640"/>
            <a:ext cx="8353080" cy="3836520"/>
          </a:xfrm>
          <a:prstGeom prst="rect">
            <a:avLst/>
          </a:prstGeom>
          <a:noFill/>
          <a:ln w="0">
            <a:noFill/>
          </a:ln>
        </p:spPr>
        <p:style>
          <a:lnRef idx="0"/>
          <a:fillRef idx="0"/>
          <a:effectRef idx="0"/>
          <a:fontRef idx="minor"/>
        </p:style>
        <p:txBody>
          <a:bodyPr lIns="90000" rIns="90000" tIns="45000" bIns="45000" anchor="t">
            <a:spAutoFit/>
          </a:bodyPr>
          <a:p>
            <a:pPr>
              <a:lnSpc>
                <a:spcPct val="125000"/>
              </a:lnSpc>
              <a:spcBef>
                <a:spcPts val="601"/>
              </a:spcBef>
              <a:tabLst>
                <a:tab algn="l" pos="0"/>
              </a:tabLst>
            </a:pPr>
            <a:r>
              <a:rPr lang="en-US" sz="2400" b="1" u="none" strike="noStrike">
                <a:solidFill>
                  <a:schemeClr val="dk1"/>
                </a:solidFill>
                <a:effectLst/>
                <a:uFillTx/>
                <a:latin typeface="Bodoni MT Black"/>
              </a:rPr>
              <a:t>4. </a:t>
            </a:r>
            <a:r>
              <a:rPr lang="zh-CN" sz="2400" b="1" u="none" strike="noStrike">
                <a:solidFill>
                  <a:schemeClr val="dk1"/>
                </a:solidFill>
                <a:effectLst/>
                <a:uFillTx/>
                <a:latin typeface="Bodoni MT Black"/>
              </a:rPr>
              <a:t>验收测试</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验收测试把软件系统作为单一的实体进行测试，测试内容与系统测试基本类似，但是它是在</a:t>
            </a:r>
            <a:r>
              <a:rPr lang="zh-CN" sz="2400" b="0" u="none" strike="noStrike">
                <a:solidFill>
                  <a:srgbClr val="ff0000"/>
                </a:solidFill>
                <a:effectLst/>
                <a:uFillTx/>
                <a:latin typeface="Bodoni MT Black"/>
              </a:rPr>
              <a:t>用户</a:t>
            </a:r>
            <a:r>
              <a:rPr lang="zh-CN" sz="2400" b="0" u="none" strike="noStrike">
                <a:solidFill>
                  <a:schemeClr val="dk1"/>
                </a:solidFill>
                <a:effectLst/>
                <a:uFillTx/>
                <a:latin typeface="Bodoni MT Black"/>
              </a:rPr>
              <a:t>积极参与下进行的，而且可能主要使用</a:t>
            </a:r>
            <a:r>
              <a:rPr lang="zh-CN" sz="2400" b="0" u="none" strike="noStrike">
                <a:solidFill>
                  <a:srgbClr val="ff0000"/>
                </a:solidFill>
                <a:effectLst/>
                <a:uFillTx/>
                <a:latin typeface="Bodoni MT Black"/>
              </a:rPr>
              <a:t>实际数据</a:t>
            </a:r>
            <a:r>
              <a:rPr lang="zh-CN" sz="2400" b="0" u="none" strike="noStrike">
                <a:solidFill>
                  <a:schemeClr val="dk1"/>
                </a:solidFill>
                <a:effectLst/>
                <a:uFillTx/>
                <a:latin typeface="Bodoni MT Black"/>
              </a:rPr>
              <a:t>（</a:t>
            </a:r>
            <a:r>
              <a:rPr lang="zh-CN" sz="2400" b="0" u="none" strike="noStrike">
                <a:solidFill>
                  <a:schemeClr val="dk1"/>
                </a:solidFill>
                <a:effectLst/>
                <a:uFillTx/>
                <a:latin typeface="Bodoni MT Black"/>
                <a:ea typeface="宋体"/>
              </a:rPr>
              <a:t>系统将来要处理的信息）进行测试。</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 验收测试的目的是验证系统确实能够满足用户的需要，</a:t>
            </a:r>
            <a:r>
              <a:rPr lang="zh-CN" sz="2400" b="1" u="none" strike="noStrike">
                <a:solidFill>
                  <a:schemeClr val="dk1"/>
                </a:solidFill>
                <a:effectLst/>
                <a:uFillTx/>
                <a:latin typeface="Bodoni MT Black"/>
                <a:ea typeface="宋体"/>
              </a:rPr>
              <a:t>在这个测试步骤中发现的往往是</a:t>
            </a:r>
            <a:r>
              <a:rPr lang="zh-CN" sz="2400" b="1" u="none" strike="noStrike">
                <a:solidFill>
                  <a:srgbClr val="ff0000"/>
                </a:solidFill>
                <a:effectLst/>
                <a:uFillTx/>
                <a:latin typeface="Bodoni MT Black"/>
                <a:ea typeface="宋体"/>
              </a:rPr>
              <a:t>系统需求说明书中的错误</a:t>
            </a:r>
            <a:r>
              <a:rPr lang="zh-CN" sz="2400" b="0" u="none" strike="noStrike">
                <a:solidFill>
                  <a:schemeClr val="dk1"/>
                </a:solidFill>
                <a:effectLst/>
                <a:uFillTx/>
                <a:latin typeface="Bodoni MT Black"/>
                <a:ea typeface="宋体"/>
              </a:rPr>
              <a:t>。验收测试也称为</a:t>
            </a:r>
            <a:r>
              <a:rPr lang="zh-CN" sz="2400" b="1" u="none" strike="noStrike">
                <a:solidFill>
                  <a:srgbClr val="c00000"/>
                </a:solidFill>
                <a:effectLst/>
                <a:uFillTx/>
                <a:latin typeface="Bodoni MT Black"/>
                <a:ea typeface="宋体"/>
              </a:rPr>
              <a:t>确认测试</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177"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178"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7.2.4 </a:t>
            </a:r>
            <a:r>
              <a:rPr lang="zh-CN" sz="2400" b="0" u="none" strike="noStrike">
                <a:solidFill>
                  <a:srgbClr val="d9d9d9"/>
                </a:solidFill>
                <a:effectLst/>
                <a:uFillTx/>
                <a:latin typeface="Bodoni MT Black"/>
              </a:rPr>
              <a:t>测试步骤</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PlaceHolder 1"/>
          <p:cNvSpPr>
            <a:spLocks noGrp="1"/>
          </p:cNvSpPr>
          <p:nvPr>
            <p:ph type="title"/>
          </p:nvPr>
        </p:nvSpPr>
        <p:spPr>
          <a:xfrm>
            <a:off x="457200" y="54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7.2 </a:t>
            </a:r>
            <a:r>
              <a:rPr lang="zh-CN" sz="4400" b="1" u="none" strike="noStrike">
                <a:solidFill>
                  <a:schemeClr val="dk1"/>
                </a:solidFill>
                <a:effectLst/>
                <a:uFillTx/>
                <a:latin typeface="Bodoni MT Black"/>
              </a:rPr>
              <a:t>软件测试基础</a:t>
            </a:r>
            <a:endParaRPr lang="es-ES" sz="4400" b="0" u="none" strike="noStrike">
              <a:solidFill>
                <a:schemeClr val="dk1"/>
              </a:solidFill>
              <a:effectLst/>
              <a:uFillTx/>
              <a:latin typeface="Arial"/>
            </a:endParaRPr>
          </a:p>
        </p:txBody>
      </p:sp>
      <p:sp>
        <p:nvSpPr>
          <p:cNvPr id="180" name="TextBox 7"/>
          <p:cNvSpPr/>
          <p:nvPr/>
        </p:nvSpPr>
        <p:spPr>
          <a:xfrm>
            <a:off x="439920" y="1268640"/>
            <a:ext cx="8351640" cy="4285440"/>
          </a:xfrm>
          <a:prstGeom prst="rect">
            <a:avLst/>
          </a:prstGeom>
          <a:noFill/>
          <a:ln w="0">
            <a:noFill/>
          </a:ln>
        </p:spPr>
        <p:style>
          <a:lnRef idx="0"/>
          <a:fillRef idx="0"/>
          <a:effectRef idx="0"/>
          <a:fontRef idx="minor"/>
        </p:style>
        <p:txBody>
          <a:bodyPr lIns="90000" rIns="90000" tIns="45000" bIns="45000" anchor="t">
            <a:spAutoFit/>
          </a:bodyPr>
          <a:p>
            <a:pPr>
              <a:lnSpc>
                <a:spcPct val="125000"/>
              </a:lnSpc>
              <a:spcBef>
                <a:spcPts val="601"/>
              </a:spcBef>
              <a:tabLst>
                <a:tab algn="l" pos="0"/>
              </a:tabLst>
            </a:pPr>
            <a:r>
              <a:rPr lang="en-US" sz="2600" b="1" u="none" strike="noStrike">
                <a:solidFill>
                  <a:schemeClr val="dk1"/>
                </a:solidFill>
                <a:effectLst/>
                <a:uFillTx/>
                <a:latin typeface="Bodoni MT Black"/>
              </a:rPr>
              <a:t>5. </a:t>
            </a:r>
            <a:r>
              <a:rPr lang="zh-CN" sz="2600" b="1" u="none" strike="noStrike">
                <a:solidFill>
                  <a:schemeClr val="dk1"/>
                </a:solidFill>
                <a:effectLst/>
                <a:uFillTx/>
                <a:latin typeface="Bodoni MT Black"/>
              </a:rPr>
              <a:t>平行运行</a:t>
            </a:r>
            <a:endParaRPr lang="en-US" sz="26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所谓</a:t>
            </a:r>
            <a:r>
              <a:rPr lang="zh-CN" sz="2400" b="1" u="none" strike="noStrike">
                <a:solidFill>
                  <a:srgbClr val="c00000"/>
                </a:solidFill>
                <a:effectLst/>
                <a:uFillTx/>
                <a:latin typeface="Bodoni MT Black"/>
              </a:rPr>
              <a:t>平行运行</a:t>
            </a:r>
            <a:r>
              <a:rPr lang="zh-CN" sz="2400" b="0" u="none" strike="noStrike">
                <a:solidFill>
                  <a:schemeClr val="dk1"/>
                </a:solidFill>
                <a:effectLst/>
                <a:uFillTx/>
                <a:latin typeface="Bodoni MT Black"/>
              </a:rPr>
              <a:t>就是同时运行</a:t>
            </a:r>
            <a:r>
              <a:rPr lang="zh-CN" sz="2400" b="0" u="none" strike="noStrike">
                <a:solidFill>
                  <a:srgbClr val="ff0000"/>
                </a:solidFill>
                <a:effectLst/>
                <a:uFillTx/>
                <a:latin typeface="Bodoni MT Black"/>
              </a:rPr>
              <a:t>新开发出来的系统</a:t>
            </a:r>
            <a:r>
              <a:rPr lang="zh-CN" sz="2400" b="0" u="none" strike="noStrike">
                <a:solidFill>
                  <a:schemeClr val="dk1"/>
                </a:solidFill>
                <a:effectLst/>
                <a:uFillTx/>
                <a:latin typeface="Bodoni MT Black"/>
              </a:rPr>
              <a:t>和将被它取代的</a:t>
            </a:r>
            <a:r>
              <a:rPr lang="zh-CN" sz="2400" b="0" u="none" strike="noStrike">
                <a:solidFill>
                  <a:srgbClr val="ff0000"/>
                </a:solidFill>
                <a:effectLst/>
                <a:uFillTx/>
                <a:latin typeface="Bodoni MT Black"/>
              </a:rPr>
              <a:t>旧系统</a:t>
            </a:r>
            <a:r>
              <a:rPr lang="zh-CN" sz="2400" b="0" u="none" strike="noStrike">
                <a:solidFill>
                  <a:schemeClr val="dk1"/>
                </a:solidFill>
                <a:effectLst/>
                <a:uFillTx/>
                <a:latin typeface="Bodoni MT Black"/>
              </a:rPr>
              <a:t>，以便比较新旧两个系统的处理结果。这样做的具体目的有如下几点：</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可以在</a:t>
            </a:r>
            <a:r>
              <a:rPr lang="zh-CN" sz="2400" b="0" u="none" strike="noStrike">
                <a:solidFill>
                  <a:srgbClr val="ff0000"/>
                </a:solidFill>
                <a:effectLst/>
                <a:uFillTx/>
                <a:latin typeface="Bodoni MT Black"/>
              </a:rPr>
              <a:t>准生产环境</a:t>
            </a:r>
            <a:r>
              <a:rPr lang="zh-CN" sz="2400" b="0" u="none" strike="noStrike">
                <a:solidFill>
                  <a:schemeClr val="dk1"/>
                </a:solidFill>
                <a:effectLst/>
                <a:uFillTx/>
                <a:latin typeface="Bodoni MT Black"/>
              </a:rPr>
              <a:t>中运行新系统而又不冒风险。</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用户能有一段熟悉新系统的时间。</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可以验证用户指南和使用手册之类的文档。</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能够以准生产模式对新系统进行全负荷测试，可以用测试结果验证性能指标。</a:t>
            </a:r>
            <a:endParaRPr lang="en-US" sz="2400" b="0" u="none" strike="noStrike">
              <a:solidFill>
                <a:srgbClr val="000000"/>
              </a:solidFill>
              <a:effectLst/>
              <a:uFillTx/>
              <a:latin typeface="Arial"/>
            </a:endParaRPr>
          </a:p>
        </p:txBody>
      </p:sp>
      <p:sp>
        <p:nvSpPr>
          <p:cNvPr id="181"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182"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7.2.4 </a:t>
            </a:r>
            <a:r>
              <a:rPr lang="zh-CN" sz="2400" b="0" u="none" strike="noStrike">
                <a:solidFill>
                  <a:srgbClr val="d9d9d9"/>
                </a:solidFill>
                <a:effectLst/>
                <a:uFillTx/>
                <a:latin typeface="Bodoni MT Black"/>
              </a:rPr>
              <a:t>测试步骤</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7.2 </a:t>
            </a:r>
            <a:r>
              <a:rPr lang="zh-CN" sz="4400" b="1" u="none" strike="noStrike">
                <a:solidFill>
                  <a:schemeClr val="dk1"/>
                </a:solidFill>
                <a:effectLst/>
                <a:uFillTx/>
                <a:latin typeface="Bodoni MT Black"/>
              </a:rPr>
              <a:t>软件测试基础</a:t>
            </a:r>
            <a:endParaRPr lang="es-ES" sz="4400" b="0" u="none" strike="noStrike">
              <a:solidFill>
                <a:schemeClr val="dk1"/>
              </a:solidFill>
              <a:effectLst/>
              <a:uFillTx/>
              <a:latin typeface="Arial"/>
            </a:endParaRPr>
          </a:p>
        </p:txBody>
      </p:sp>
      <p:sp>
        <p:nvSpPr>
          <p:cNvPr id="184" name="PlaceHolder 2"/>
          <p:cNvSpPr>
            <a:spLocks noGrp="1"/>
          </p:cNvSpPr>
          <p:nvPr>
            <p:ph/>
          </p:nvPr>
        </p:nvSpPr>
        <p:spPr>
          <a:xfrm>
            <a:off x="395280" y="109548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7.2.5 </a:t>
            </a:r>
            <a:r>
              <a:rPr lang="zh-CN" sz="3200" b="1" u="none" strike="noStrike">
                <a:solidFill>
                  <a:schemeClr val="dk1"/>
                </a:solidFill>
                <a:effectLst/>
                <a:uFillTx/>
                <a:latin typeface="Bodoni MT Black"/>
              </a:rPr>
              <a:t>测试阶段的信息流</a:t>
            </a:r>
            <a:endParaRPr lang="es-ES" sz="3200" b="0" u="none" strike="noStrike">
              <a:solidFill>
                <a:schemeClr val="dk1"/>
              </a:solidFill>
              <a:effectLst/>
              <a:uFillTx/>
              <a:latin typeface="Calibri"/>
            </a:endParaRPr>
          </a:p>
        </p:txBody>
      </p:sp>
      <p:sp>
        <p:nvSpPr>
          <p:cNvPr id="185" name="TextBox 7"/>
          <p:cNvSpPr/>
          <p:nvPr/>
        </p:nvSpPr>
        <p:spPr>
          <a:xfrm>
            <a:off x="395280" y="4548240"/>
            <a:ext cx="8353080" cy="1401480"/>
          </a:xfrm>
          <a:prstGeom prst="rect">
            <a:avLst/>
          </a:prstGeom>
          <a:noFill/>
          <a:ln w="0">
            <a:noFill/>
          </a:ln>
        </p:spPr>
        <p:style>
          <a:lnRef idx="0"/>
          <a:fillRef idx="0"/>
          <a:effectRef idx="0"/>
          <a:fontRef idx="minor"/>
        </p:style>
        <p:txBody>
          <a:bodyPr lIns="90000" rIns="90000" tIns="45000" bIns="45000" anchor="t">
            <a:spAutoFit/>
          </a:bodyPr>
          <a:p>
            <a:pPr>
              <a:lnSpc>
                <a:spcPts val="3399"/>
              </a:lnSpc>
              <a:spcBef>
                <a:spcPts val="601"/>
              </a:spcBef>
              <a:tabLst>
                <a:tab algn="l" pos="0"/>
              </a:tabLst>
            </a:pPr>
            <a:r>
              <a:rPr lang="zh-CN" sz="2400" b="0" u="none" strike="noStrike">
                <a:solidFill>
                  <a:schemeClr val="dk1"/>
                </a:solidFill>
                <a:effectLst/>
                <a:uFillTx/>
                <a:latin typeface="Bodoni MT Black"/>
              </a:rPr>
              <a:t>上图描绘了测试阶段的信息流，这个阶段的输入信息有两类：</a:t>
            </a:r>
            <a:r>
              <a:rPr lang="en-US" sz="2400" b="0" u="none" strike="noStrike">
                <a:solidFill>
                  <a:schemeClr val="dk1"/>
                </a:solidFill>
                <a:effectLst/>
                <a:uFillTx/>
                <a:latin typeface="Bodoni MT Black"/>
              </a:rPr>
              <a:t> ① </a:t>
            </a:r>
            <a:r>
              <a:rPr lang="zh-CN" sz="2400" b="0" u="none" strike="noStrike">
                <a:solidFill>
                  <a:srgbClr val="ff0000"/>
                </a:solidFill>
                <a:effectLst/>
                <a:uFillTx/>
                <a:latin typeface="Bodoni MT Black"/>
              </a:rPr>
              <a:t>软件配置</a:t>
            </a:r>
            <a:r>
              <a:rPr lang="zh-CN" sz="2400" b="0" u="none" strike="noStrike">
                <a:solidFill>
                  <a:schemeClr val="dk1"/>
                </a:solidFill>
                <a:effectLst/>
                <a:uFillTx/>
                <a:latin typeface="Bodoni MT Black"/>
              </a:rPr>
              <a:t>，包括需求说明书、设计说明书和源程序清单等； ② </a:t>
            </a:r>
            <a:r>
              <a:rPr lang="zh-CN" sz="2400" b="0" u="none" strike="noStrike">
                <a:solidFill>
                  <a:srgbClr val="ff0000"/>
                </a:solidFill>
                <a:effectLst/>
                <a:uFillTx/>
                <a:latin typeface="Bodoni MT Black"/>
              </a:rPr>
              <a:t>测试配置</a:t>
            </a:r>
            <a:r>
              <a:rPr lang="zh-CN" sz="2400" b="0" u="none" strike="noStrike">
                <a:solidFill>
                  <a:schemeClr val="dk1"/>
                </a:solidFill>
                <a:effectLst/>
                <a:uFillTx/>
                <a:latin typeface="Bodoni MT Black"/>
              </a:rPr>
              <a:t>，包括测试计划和测试方案。</a:t>
            </a:r>
            <a:endParaRPr lang="en-US" sz="2400" b="0" u="none" strike="noStrike">
              <a:solidFill>
                <a:srgbClr val="000000"/>
              </a:solidFill>
              <a:effectLst/>
              <a:uFillTx/>
              <a:latin typeface="Arial"/>
            </a:endParaRPr>
          </a:p>
        </p:txBody>
      </p:sp>
      <p:sp>
        <p:nvSpPr>
          <p:cNvPr id="186"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187"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7.2.5 </a:t>
            </a:r>
            <a:r>
              <a:rPr lang="zh-CN" sz="2400" b="0" u="none" strike="noStrike">
                <a:solidFill>
                  <a:srgbClr val="d9d9d9"/>
                </a:solidFill>
                <a:effectLst/>
                <a:uFillTx/>
                <a:latin typeface="Bodoni MT Black"/>
              </a:rPr>
              <a:t>测试阶段的信息流</a:t>
            </a:r>
            <a:endParaRPr lang="en-US" sz="2400" b="0" u="none" strike="noStrike">
              <a:solidFill>
                <a:srgbClr val="000000"/>
              </a:solidFill>
              <a:effectLst/>
              <a:uFillTx/>
              <a:latin typeface="Arial"/>
            </a:endParaRPr>
          </a:p>
        </p:txBody>
      </p:sp>
      <p:pic>
        <p:nvPicPr>
          <p:cNvPr id="188" name="图片 1"/>
          <p:cNvPicPr/>
          <p:nvPr/>
        </p:nvPicPr>
        <p:blipFill>
          <a:blip r:embed="rId1"/>
          <a:stretch/>
        </p:blipFill>
        <p:spPr>
          <a:xfrm>
            <a:off x="844560" y="1782720"/>
            <a:ext cx="7472160" cy="2725200"/>
          </a:xfrm>
          <a:prstGeom prst="rect">
            <a:avLst/>
          </a:prstGeom>
          <a:noFill/>
          <a:ln w="9525">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7.2 </a:t>
            </a:r>
            <a:r>
              <a:rPr lang="zh-CN" sz="4400" b="1" u="none" strike="noStrike">
                <a:solidFill>
                  <a:schemeClr val="dk1"/>
                </a:solidFill>
                <a:effectLst/>
                <a:uFillTx/>
                <a:latin typeface="Bodoni MT Black"/>
              </a:rPr>
              <a:t>软件测试基础</a:t>
            </a:r>
            <a:endParaRPr lang="es-ES" sz="4400" b="0" u="none" strike="noStrike">
              <a:solidFill>
                <a:schemeClr val="dk1"/>
              </a:solidFill>
              <a:effectLst/>
              <a:uFillTx/>
              <a:latin typeface="Arial"/>
            </a:endParaRPr>
          </a:p>
        </p:txBody>
      </p:sp>
      <p:sp>
        <p:nvSpPr>
          <p:cNvPr id="190" name="TextBox 7"/>
          <p:cNvSpPr/>
          <p:nvPr/>
        </p:nvSpPr>
        <p:spPr>
          <a:xfrm>
            <a:off x="323640" y="1166400"/>
            <a:ext cx="8496720" cy="2413080"/>
          </a:xfrm>
          <a:prstGeom prst="rect">
            <a:avLst/>
          </a:prstGeom>
          <a:noFill/>
          <a:ln w="0">
            <a:noFill/>
          </a:ln>
        </p:spPr>
        <p:style>
          <a:lnRef idx="0"/>
          <a:fillRef idx="0"/>
          <a:effectRef idx="0"/>
          <a:fontRef idx="minor"/>
        </p:style>
        <p:txBody>
          <a:bodyPr lIns="90000" rIns="90000" tIns="45000" bIns="45000" anchor="t">
            <a:spAutoFit/>
          </a:bodyPr>
          <a:p>
            <a:pPr>
              <a:lnSpc>
                <a:spcPts val="3501"/>
              </a:lnSpc>
              <a:spcBef>
                <a:spcPts val="601"/>
              </a:spcBef>
              <a:tabLst>
                <a:tab algn="l" pos="0"/>
              </a:tabLst>
            </a:pPr>
            <a:r>
              <a:rPr lang="en-US" sz="2400" b="1" u="none" strike="noStrike">
                <a:solidFill>
                  <a:srgbClr val="ff0000"/>
                </a:solidFill>
                <a:effectLst/>
                <a:uFillTx/>
                <a:latin typeface="Bodoni MT Black"/>
              </a:rPr>
              <a:t> </a:t>
            </a:r>
            <a:r>
              <a:rPr lang="zh-CN" sz="2400" b="1" u="none" strike="noStrike">
                <a:solidFill>
                  <a:srgbClr val="c00000"/>
                </a:solidFill>
                <a:effectLst/>
                <a:uFillTx/>
                <a:latin typeface="Bodoni MT Black"/>
              </a:rPr>
              <a:t>测试方案</a:t>
            </a:r>
            <a:r>
              <a:rPr lang="zh-CN" sz="2400" b="0" u="none" strike="noStrike">
                <a:solidFill>
                  <a:schemeClr val="dk1"/>
                </a:solidFill>
                <a:effectLst/>
                <a:uFillTx/>
                <a:latin typeface="Bodoni MT Black"/>
              </a:rPr>
              <a:t>不仅仅是测试时使用的输入</a:t>
            </a:r>
            <a:r>
              <a:rPr lang="zh-CN" sz="2400" b="0" u="none" strike="noStrike">
                <a:solidFill>
                  <a:srgbClr val="ff0000"/>
                </a:solidFill>
                <a:effectLst/>
                <a:uFillTx/>
                <a:latin typeface="Bodoni MT Black"/>
              </a:rPr>
              <a:t>数据</a:t>
            </a:r>
            <a:r>
              <a:rPr lang="zh-CN" sz="2400" b="0" u="none" strike="noStrike">
                <a:solidFill>
                  <a:schemeClr val="dk1"/>
                </a:solidFill>
                <a:effectLst/>
                <a:uFillTx/>
                <a:latin typeface="Bodoni MT Black"/>
              </a:rPr>
              <a:t>（</a:t>
            </a:r>
            <a:r>
              <a:rPr lang="zh-CN" sz="2400" b="0" u="none" strike="noStrike">
                <a:solidFill>
                  <a:schemeClr val="dk1"/>
                </a:solidFill>
                <a:effectLst/>
                <a:uFillTx/>
                <a:latin typeface="Bodoni MT Black"/>
                <a:ea typeface="宋体"/>
              </a:rPr>
              <a:t>称为</a:t>
            </a:r>
            <a:r>
              <a:rPr lang="zh-CN" sz="2400" b="0" u="none" strike="noStrike">
                <a:solidFill>
                  <a:srgbClr val="ff0000"/>
                </a:solidFill>
                <a:effectLst/>
                <a:uFillTx/>
                <a:latin typeface="Bodoni MT Black"/>
                <a:ea typeface="宋体"/>
              </a:rPr>
              <a:t>测试用例</a:t>
            </a:r>
            <a:r>
              <a:rPr lang="zh-CN" sz="2400" b="0" u="none" strike="noStrike">
                <a:solidFill>
                  <a:schemeClr val="dk1"/>
                </a:solidFill>
                <a:effectLst/>
                <a:uFillTx/>
                <a:latin typeface="Bodoni MT Black"/>
                <a:ea typeface="宋体"/>
              </a:rPr>
              <a:t>），还应该包括每组输入数据</a:t>
            </a:r>
            <a:r>
              <a:rPr lang="zh-CN" sz="2400" b="0" u="none" strike="noStrike">
                <a:solidFill>
                  <a:srgbClr val="ff0000"/>
                </a:solidFill>
                <a:effectLst/>
                <a:uFillTx/>
                <a:latin typeface="Bodoni MT Black"/>
                <a:ea typeface="宋体"/>
              </a:rPr>
              <a:t>预定要检验的功能</a:t>
            </a:r>
            <a:r>
              <a:rPr lang="zh-CN" sz="2400" b="0" u="none" strike="noStrike">
                <a:solidFill>
                  <a:schemeClr val="dk1"/>
                </a:solidFill>
                <a:effectLst/>
                <a:uFillTx/>
                <a:latin typeface="Bodoni MT Black"/>
                <a:ea typeface="宋体"/>
              </a:rPr>
              <a:t>，以及每组输入数据预期应该得到的</a:t>
            </a:r>
            <a:r>
              <a:rPr lang="zh-CN" sz="2400" b="0" u="none" strike="noStrike">
                <a:solidFill>
                  <a:srgbClr val="ff0000"/>
                </a:solidFill>
                <a:effectLst/>
                <a:uFillTx/>
                <a:latin typeface="Bodoni MT Black"/>
                <a:ea typeface="宋体"/>
              </a:rPr>
              <a:t>正确输出</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a:lnSpc>
                <a:spcPts val="3501"/>
              </a:lnSpc>
              <a:spcBef>
                <a:spcPts val="601"/>
              </a:spcBef>
              <a:tabLst>
                <a:tab algn="l" pos="0"/>
              </a:tabLst>
            </a:pPr>
            <a:r>
              <a:rPr lang="en-US" sz="2400" b="0" u="none" strike="noStrike">
                <a:solidFill>
                  <a:schemeClr val="dk1"/>
                </a:solidFill>
                <a:effectLst/>
                <a:uFillTx/>
                <a:latin typeface="Bodoni MT Black"/>
                <a:ea typeface="宋体"/>
              </a:rPr>
              <a:t> </a:t>
            </a:r>
            <a:r>
              <a:rPr lang="zh-CN" sz="2400" b="0" u="none" strike="noStrike">
                <a:solidFill>
                  <a:srgbClr val="ff0000"/>
                </a:solidFill>
                <a:effectLst/>
                <a:uFillTx/>
                <a:latin typeface="Bodoni MT Black"/>
                <a:ea typeface="宋体"/>
              </a:rPr>
              <a:t>测试配置是软件配置的一个子集</a:t>
            </a:r>
            <a:r>
              <a:rPr lang="zh-CN" sz="2400" b="0" u="none" strike="noStrike">
                <a:solidFill>
                  <a:schemeClr val="dk1"/>
                </a:solidFill>
                <a:effectLst/>
                <a:uFillTx/>
                <a:latin typeface="Bodoni MT Black"/>
                <a:ea typeface="宋体"/>
              </a:rPr>
              <a:t>，最终交出的软件配置应该包括上述</a:t>
            </a:r>
            <a:r>
              <a:rPr lang="zh-CN" sz="2400" b="0" u="none" strike="noStrike">
                <a:solidFill>
                  <a:srgbClr val="ff0000"/>
                </a:solidFill>
                <a:effectLst/>
                <a:uFillTx/>
                <a:latin typeface="Bodoni MT Black"/>
                <a:ea typeface="宋体"/>
              </a:rPr>
              <a:t>测试配置</a:t>
            </a:r>
            <a:r>
              <a:rPr lang="zh-CN" sz="2400" b="0" u="none" strike="noStrike">
                <a:solidFill>
                  <a:schemeClr val="dk1"/>
                </a:solidFill>
                <a:effectLst/>
                <a:uFillTx/>
                <a:latin typeface="Bodoni MT Black"/>
                <a:ea typeface="宋体"/>
              </a:rPr>
              <a:t>以及</a:t>
            </a:r>
            <a:r>
              <a:rPr lang="zh-CN" sz="2400" b="0" u="none" strike="noStrike">
                <a:solidFill>
                  <a:srgbClr val="ff0000"/>
                </a:solidFill>
                <a:effectLst/>
                <a:uFillTx/>
                <a:latin typeface="Bodoni MT Black"/>
                <a:ea typeface="宋体"/>
              </a:rPr>
              <a:t>测试的实际结果</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调试的记录</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191" name="TextBox 7"/>
          <p:cNvSpPr/>
          <p:nvPr/>
        </p:nvSpPr>
        <p:spPr>
          <a:xfrm>
            <a:off x="290520" y="3834000"/>
            <a:ext cx="8558640" cy="2426040"/>
          </a:xfrm>
          <a:prstGeom prst="rect">
            <a:avLst/>
          </a:prstGeom>
          <a:noFill/>
          <a:ln w="9525">
            <a:noFill/>
          </a:ln>
        </p:spPr>
        <p:style>
          <a:lnRef idx="0"/>
          <a:fillRef idx="0"/>
          <a:effectRef idx="0"/>
          <a:fontRef idx="minor"/>
        </p:style>
        <p:txBody>
          <a:bodyPr lIns="90000" rIns="90000" tIns="45000" bIns="45000" anchor="t">
            <a:spAutoFit/>
          </a:bodyPr>
          <a:p>
            <a:pPr>
              <a:lnSpc>
                <a:spcPts val="3399"/>
              </a:lnSpc>
              <a:spcBef>
                <a:spcPts val="601"/>
              </a:spcBef>
              <a:tabLst>
                <a:tab algn="l" pos="0"/>
              </a:tabLst>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比较测试得出的实际结果和预期的结果，如果两者不一致则很可能是程序中有错误。</a:t>
            </a:r>
            <a:endParaRPr lang="en-US" sz="2400" b="0" u="none" strike="noStrike">
              <a:solidFill>
                <a:srgbClr val="000000"/>
              </a:solidFill>
              <a:effectLst/>
              <a:uFillTx/>
              <a:latin typeface="Arial"/>
            </a:endParaRPr>
          </a:p>
          <a:p>
            <a:pPr>
              <a:lnSpc>
                <a:spcPts val="3399"/>
              </a:lnSpc>
              <a:spcBef>
                <a:spcPts val="601"/>
              </a:spcBef>
              <a:tabLst>
                <a:tab algn="l" pos="0"/>
              </a:tabLst>
            </a:pPr>
            <a:r>
              <a:rPr lang="en-US" sz="2400" b="0" u="none" strike="noStrike">
                <a:solidFill>
                  <a:schemeClr val="dk1"/>
                </a:solidFill>
                <a:effectLst/>
                <a:uFillTx/>
                <a:latin typeface="Bodoni MT Black"/>
                <a:ea typeface="宋体"/>
              </a:rPr>
              <a:t> 如果经常出现要求修改设计的严重错误，那么软件的</a:t>
            </a:r>
            <a:r>
              <a:rPr lang="zh-CN" sz="2400" b="0" u="none" strike="noStrike">
                <a:solidFill>
                  <a:srgbClr val="ff0000"/>
                </a:solidFill>
                <a:effectLst/>
                <a:uFillTx/>
                <a:latin typeface="Bodoni MT Black"/>
                <a:ea typeface="宋体"/>
              </a:rPr>
              <a:t>质量和可靠性</a:t>
            </a:r>
            <a:r>
              <a:rPr lang="zh-CN" sz="2400" b="0" u="none" strike="noStrike">
                <a:solidFill>
                  <a:schemeClr val="dk1"/>
                </a:solidFill>
                <a:effectLst/>
                <a:uFillTx/>
                <a:latin typeface="Bodoni MT Black"/>
                <a:ea typeface="宋体"/>
              </a:rPr>
              <a:t>是值得怀疑的，应该进一步仔细测试。</a:t>
            </a:r>
            <a:endParaRPr lang="en-US" sz="2400" b="0" u="none" strike="noStrike">
              <a:solidFill>
                <a:srgbClr val="000000"/>
              </a:solidFill>
              <a:effectLst/>
              <a:uFillTx/>
              <a:latin typeface="Arial"/>
            </a:endParaRPr>
          </a:p>
          <a:p>
            <a:pPr>
              <a:lnSpc>
                <a:spcPts val="3399"/>
              </a:lnSpc>
              <a:spcBef>
                <a:spcPts val="601"/>
              </a:spcBef>
              <a:tabLst>
                <a:tab algn="l" pos="0"/>
              </a:tabLst>
            </a:pPr>
            <a:endParaRPr lang="en-US" sz="2400" b="0" u="none" strike="noStrike">
              <a:solidFill>
                <a:srgbClr val="000000"/>
              </a:solidFill>
              <a:effectLst/>
              <a:uFillTx/>
              <a:latin typeface="Arial"/>
            </a:endParaRPr>
          </a:p>
        </p:txBody>
      </p:sp>
      <p:sp>
        <p:nvSpPr>
          <p:cNvPr id="192"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193"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7.2.5 </a:t>
            </a:r>
            <a:r>
              <a:rPr lang="zh-CN" sz="2400" b="0" u="none" strike="noStrike">
                <a:solidFill>
                  <a:srgbClr val="d9d9d9"/>
                </a:solidFill>
                <a:effectLst/>
                <a:uFillTx/>
                <a:latin typeface="Bodoni MT Black"/>
              </a:rPr>
              <a:t>测试阶段的信息流</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7.2 </a:t>
            </a:r>
            <a:r>
              <a:rPr lang="zh-CN" sz="4400" b="1" u="none" strike="noStrike">
                <a:solidFill>
                  <a:schemeClr val="dk1"/>
                </a:solidFill>
                <a:effectLst/>
                <a:uFillTx/>
                <a:latin typeface="Bodoni MT Black"/>
              </a:rPr>
              <a:t>软件测试基础</a:t>
            </a:r>
            <a:endParaRPr lang="es-ES" sz="4400" b="0" u="none" strike="noStrike">
              <a:solidFill>
                <a:schemeClr val="dk1"/>
              </a:solidFill>
              <a:effectLst/>
              <a:uFillTx/>
              <a:latin typeface="Arial"/>
            </a:endParaRPr>
          </a:p>
        </p:txBody>
      </p:sp>
      <p:sp>
        <p:nvSpPr>
          <p:cNvPr id="195" name="TextBox 7"/>
          <p:cNvSpPr/>
          <p:nvPr/>
        </p:nvSpPr>
        <p:spPr>
          <a:xfrm>
            <a:off x="323640" y="1353960"/>
            <a:ext cx="8362800" cy="28620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rPr>
              <a:t>如果看起来软件功能完成得很正常，遇到的错误也很容易改正，则仍然应该考虑两种可能：</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rgbClr val="0070c0"/>
                </a:solidFill>
                <a:effectLst/>
                <a:uFillTx/>
                <a:latin typeface="Bodoni MT Black"/>
              </a:rPr>
              <a:t>① 软件的可靠性是可以接受的；</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rgbClr val="0070c0"/>
                </a:solidFill>
                <a:effectLst/>
                <a:uFillTx/>
                <a:latin typeface="Bodoni MT Black"/>
              </a:rPr>
              <a:t>② 所进行的测试尚不足以发现严重的错误。</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如果经过测试，一个错误也没有被发现，则很可能是因为对测试配置思考不充分，以致不能暴露软件中潜藏的错误。</a:t>
            </a:r>
            <a:endParaRPr lang="en-US" sz="2400" b="0" u="none" strike="noStrike">
              <a:solidFill>
                <a:srgbClr val="000000"/>
              </a:solidFill>
              <a:effectLst/>
              <a:uFillTx/>
              <a:latin typeface="Arial"/>
            </a:endParaRPr>
          </a:p>
        </p:txBody>
      </p:sp>
      <p:sp>
        <p:nvSpPr>
          <p:cNvPr id="196" name="TextBox 7"/>
          <p:cNvSpPr/>
          <p:nvPr/>
        </p:nvSpPr>
        <p:spPr>
          <a:xfrm>
            <a:off x="300960" y="4581000"/>
            <a:ext cx="8568720" cy="964080"/>
          </a:xfrm>
          <a:prstGeom prst="rect">
            <a:avLst/>
          </a:prstGeom>
          <a:noFill/>
          <a:ln w="9525">
            <a:noFill/>
          </a:ln>
        </p:spPr>
        <p:style>
          <a:lnRef idx="0"/>
          <a:fillRef idx="0"/>
          <a:effectRef idx="0"/>
          <a:fontRef idx="minor"/>
        </p:style>
        <p:txBody>
          <a:bodyPr lIns="90000" rIns="90000" tIns="45000" bIns="45000" anchor="t">
            <a:spAutoFit/>
          </a:bodyPr>
          <a:p>
            <a:pPr>
              <a:lnSpc>
                <a:spcPts val="3399"/>
              </a:lnSpc>
              <a:spcBef>
                <a:spcPts val="601"/>
              </a:spcBef>
              <a:tabLst>
                <a:tab algn="l" pos="0"/>
              </a:tabLst>
            </a:pPr>
            <a:r>
              <a:rPr lang="en-US" sz="2400" b="1" u="none" strike="noStrike">
                <a:solidFill>
                  <a:srgbClr val="ff0000"/>
                </a:solidFill>
                <a:effectLst/>
                <a:uFillTx/>
                <a:latin typeface="Bodoni MT Black"/>
                <a:ea typeface="宋体"/>
              </a:rPr>
              <a:t> </a:t>
            </a:r>
            <a:r>
              <a:rPr lang="zh-CN" sz="2400" b="1" u="none" strike="noStrike">
                <a:solidFill>
                  <a:srgbClr val="ff0000"/>
                </a:solidFill>
                <a:effectLst/>
                <a:uFillTx/>
                <a:latin typeface="Bodoni MT Black"/>
                <a:ea typeface="宋体"/>
              </a:rPr>
              <a:t>软件可靠性模型</a:t>
            </a:r>
            <a:r>
              <a:rPr lang="zh-CN" sz="2400" b="0" u="none" strike="noStrike">
                <a:solidFill>
                  <a:schemeClr val="dk1"/>
                </a:solidFill>
                <a:effectLst/>
                <a:uFillTx/>
                <a:latin typeface="Bodoni MT Black"/>
                <a:ea typeface="宋体"/>
              </a:rPr>
              <a:t>使用</a:t>
            </a:r>
            <a:r>
              <a:rPr lang="zh-CN" sz="2400" b="0" u="none" strike="noStrike">
                <a:solidFill>
                  <a:srgbClr val="ff0000"/>
                </a:solidFill>
                <a:effectLst/>
                <a:uFillTx/>
                <a:latin typeface="Bodoni MT Black"/>
                <a:ea typeface="宋体"/>
              </a:rPr>
              <a:t>错误率数据</a:t>
            </a:r>
            <a:r>
              <a:rPr lang="zh-CN" sz="2400" b="0" u="none" strike="noStrike">
                <a:solidFill>
                  <a:schemeClr val="dk1"/>
                </a:solidFill>
                <a:effectLst/>
                <a:uFillTx/>
                <a:latin typeface="Bodoni MT Black"/>
                <a:ea typeface="宋体"/>
              </a:rPr>
              <a:t>估计将来出现错误的情况，并进而对软件可靠性进行预测。</a:t>
            </a:r>
            <a:endParaRPr lang="en-US" sz="2400" b="0" u="none" strike="noStrike">
              <a:solidFill>
                <a:srgbClr val="000000"/>
              </a:solidFill>
              <a:effectLst/>
              <a:uFillTx/>
              <a:latin typeface="Arial"/>
            </a:endParaRPr>
          </a:p>
        </p:txBody>
      </p:sp>
      <p:sp>
        <p:nvSpPr>
          <p:cNvPr id="197"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198"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7.2.5 </a:t>
            </a:r>
            <a:r>
              <a:rPr lang="zh-CN" sz="2400" b="0" u="none" strike="noStrike">
                <a:solidFill>
                  <a:srgbClr val="d9d9d9"/>
                </a:solidFill>
                <a:effectLst/>
                <a:uFillTx/>
                <a:latin typeface="Bodoni MT Black"/>
              </a:rPr>
              <a:t>测试阶段的信息流</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7.2 </a:t>
            </a:r>
            <a:r>
              <a:rPr lang="zh-CN" sz="4400" b="1" u="none" strike="noStrike">
                <a:solidFill>
                  <a:schemeClr val="dk1"/>
                </a:solidFill>
                <a:effectLst/>
                <a:uFillTx/>
                <a:latin typeface="Bodoni MT Black"/>
              </a:rPr>
              <a:t>软件测试基础</a:t>
            </a:r>
            <a:endParaRPr lang="es-ES" sz="4400" b="0" u="none" strike="noStrike">
              <a:solidFill>
                <a:schemeClr val="dk1"/>
              </a:solidFill>
              <a:effectLst/>
              <a:uFillTx/>
              <a:latin typeface="Arial"/>
            </a:endParaRPr>
          </a:p>
        </p:txBody>
      </p:sp>
      <p:sp>
        <p:nvSpPr>
          <p:cNvPr id="200"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201"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7.2.5 </a:t>
            </a:r>
            <a:r>
              <a:rPr lang="zh-CN" sz="2400" b="0" u="none" strike="noStrike">
                <a:solidFill>
                  <a:srgbClr val="d9d9d9"/>
                </a:solidFill>
                <a:effectLst/>
                <a:uFillTx/>
                <a:latin typeface="Bodoni MT Black"/>
              </a:rPr>
              <a:t>测试阶段的信息流</a:t>
            </a:r>
            <a:endParaRPr lang="en-US" sz="2400" b="0" u="none" strike="noStrike">
              <a:solidFill>
                <a:srgbClr val="000000"/>
              </a:solidFill>
              <a:effectLst/>
              <a:uFillTx/>
              <a:latin typeface="Arial"/>
            </a:endParaRPr>
          </a:p>
        </p:txBody>
      </p:sp>
      <p:pic>
        <p:nvPicPr>
          <p:cNvPr id="202" name="Picture 4" descr="0604"/>
          <p:cNvPicPr/>
          <p:nvPr/>
        </p:nvPicPr>
        <p:blipFill>
          <a:blip r:embed="rId1"/>
          <a:stretch/>
        </p:blipFill>
        <p:spPr>
          <a:xfrm>
            <a:off x="561240" y="1989000"/>
            <a:ext cx="8135640" cy="2792160"/>
          </a:xfrm>
          <a:prstGeom prst="rect">
            <a:avLst/>
          </a:prstGeom>
          <a:noFill/>
          <a:ln w="0">
            <a:noFill/>
          </a:ln>
        </p:spPr>
      </p:pic>
      <p:sp>
        <p:nvSpPr>
          <p:cNvPr id="203" name="矩形 1"/>
          <p:cNvSpPr/>
          <p:nvPr/>
        </p:nvSpPr>
        <p:spPr>
          <a:xfrm>
            <a:off x="561240" y="1161720"/>
            <a:ext cx="4185360" cy="461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2400" b="0" u="none" strike="noStrike">
                <a:solidFill>
                  <a:schemeClr val="dk1"/>
                </a:solidFill>
                <a:effectLst/>
                <a:uFillTx/>
                <a:latin typeface="Arial"/>
                <a:ea typeface="宋体"/>
              </a:rPr>
              <a:t>测试与软件开发各阶段的关系</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1 Título"/>
          <p:cNvSpPr/>
          <p:nvPr/>
        </p:nvSpPr>
        <p:spPr>
          <a:xfrm>
            <a:off x="684360" y="355680"/>
            <a:ext cx="7703640" cy="863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5760"/>
              </a:lnSpc>
            </a:pPr>
            <a:r>
              <a:rPr lang="zh-CN" sz="4400" b="1" u="none" strike="noStrike">
                <a:solidFill>
                  <a:schemeClr val="dk1"/>
                </a:solidFill>
                <a:effectLst/>
                <a:uFillTx/>
                <a:latin typeface="Bodoni MT Black"/>
              </a:rPr>
              <a:t>主要内容</a:t>
            </a:r>
            <a:endParaRPr lang="en-US" sz="4400" b="0" u="none" strike="noStrike">
              <a:solidFill>
                <a:srgbClr val="000000"/>
              </a:solidFill>
              <a:effectLst/>
              <a:uFillTx/>
              <a:latin typeface="Arial"/>
            </a:endParaRPr>
          </a:p>
        </p:txBody>
      </p:sp>
      <p:sp>
        <p:nvSpPr>
          <p:cNvPr id="205"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sp>
        <p:nvSpPr>
          <p:cNvPr id="206"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7.3 </a:t>
            </a:r>
            <a:r>
              <a:rPr lang="zh-CN" sz="2400" b="0" u="none" strike="noStrike">
                <a:solidFill>
                  <a:srgbClr val="d9d9d9"/>
                </a:solidFill>
                <a:effectLst/>
                <a:uFillTx/>
                <a:latin typeface="Bodoni MT Black"/>
                <a:ea typeface="宋体"/>
              </a:rPr>
              <a:t>单元测试</a:t>
            </a:r>
            <a:endParaRPr lang="en-US" sz="2400" b="0" u="none" strike="noStrike">
              <a:solidFill>
                <a:srgbClr val="000000"/>
              </a:solidFill>
              <a:effectLst/>
              <a:uFillTx/>
              <a:latin typeface="Arial"/>
            </a:endParaRPr>
          </a:p>
        </p:txBody>
      </p:sp>
      <p:pic>
        <p:nvPicPr>
          <p:cNvPr id="207"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208"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209" name="TextBox 3">
            <a:hlinkClick r:id="rId3" action="ppaction://hlinksldjump"/>
          </p:cNvPr>
          <p:cNvSpPr/>
          <p:nvPr/>
        </p:nvSpPr>
        <p:spPr>
          <a:xfrm>
            <a:off x="1071720" y="2071800"/>
            <a:ext cx="192852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210" name="TextBox 4"/>
          <p:cNvSpPr/>
          <p:nvPr/>
        </p:nvSpPr>
        <p:spPr>
          <a:xfrm>
            <a:off x="1000080" y="2714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211" name="TextBox 5"/>
          <p:cNvSpPr/>
          <p:nvPr/>
        </p:nvSpPr>
        <p:spPr>
          <a:xfrm>
            <a:off x="1000080" y="328608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212" name="TextBox 6"/>
          <p:cNvSpPr/>
          <p:nvPr/>
        </p:nvSpPr>
        <p:spPr>
          <a:xfrm>
            <a:off x="1000080" y="3857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213" name="Rectangle 3"/>
          <p:cNvSpPr/>
          <p:nvPr/>
        </p:nvSpPr>
        <p:spPr>
          <a:xfrm>
            <a:off x="539640" y="1292400"/>
            <a:ext cx="8135640" cy="4512960"/>
          </a:xfrm>
          <a:prstGeom prst="rect">
            <a:avLst/>
          </a:prstGeom>
          <a:noFill/>
          <a:ln w="0">
            <a:noFill/>
          </a:ln>
        </p:spPr>
        <p:style>
          <a:lnRef idx="0"/>
          <a:fillRef idx="0"/>
          <a:effectRef idx="0"/>
          <a:fontRef idx="minor"/>
        </p:style>
        <p:txBody>
          <a:bodyPr lIns="90000" rIns="90000" tIns="45000" bIns="45000" anchor="t">
            <a:noAutofit/>
          </a:bodyPr>
          <a:p>
            <a:pPr>
              <a:lnSpc>
                <a:spcPts val="2599"/>
              </a:lnSpc>
              <a:spcBef>
                <a:spcPts val="1199"/>
              </a:spcBef>
              <a:tabLst>
                <a:tab algn="l" pos="0"/>
              </a:tabLst>
            </a:pPr>
            <a:r>
              <a:rPr lang="en-US" sz="2400" b="0" u="none" strike="noStrike">
                <a:solidFill>
                  <a:srgbClr val="3c3c77"/>
                </a:solidFill>
                <a:effectLst/>
                <a:uFillTx/>
                <a:latin typeface="Bodoni MT Black"/>
                <a:ea typeface="黑体"/>
              </a:rPr>
              <a:t>   </a:t>
            </a:r>
            <a:r>
              <a:rPr lang="en-US" sz="2400" b="1" u="none" strike="noStrike">
                <a:solidFill>
                  <a:schemeClr val="dk1"/>
                </a:solidFill>
                <a:effectLst/>
                <a:uFillTx/>
                <a:latin typeface="Bodoni MT Black"/>
                <a:ea typeface="黑体"/>
              </a:rPr>
              <a:t>7.1   </a:t>
            </a:r>
            <a:r>
              <a:rPr lang="zh-CN" sz="2400" b="1" u="none" strike="noStrike">
                <a:solidFill>
                  <a:schemeClr val="dk1"/>
                </a:solidFill>
                <a:effectLst/>
                <a:uFillTx/>
                <a:latin typeface="Bodoni MT Black"/>
                <a:ea typeface="黑体"/>
              </a:rPr>
              <a:t>编码</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7.2   </a:t>
            </a:r>
            <a:r>
              <a:rPr lang="zh-CN" sz="2400" b="1" u="none" strike="noStrike">
                <a:solidFill>
                  <a:schemeClr val="dk1"/>
                </a:solidFill>
                <a:effectLst/>
                <a:uFillTx/>
                <a:latin typeface="Bodoni MT Black"/>
                <a:ea typeface="黑体"/>
              </a:rPr>
              <a:t>软件测试基础</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7.3   </a:t>
            </a:r>
            <a:r>
              <a:rPr lang="zh-CN" sz="2400" b="1" u="none" strike="noStrike">
                <a:solidFill>
                  <a:schemeClr val="dk1"/>
                </a:solidFill>
                <a:effectLst/>
                <a:uFillTx/>
                <a:latin typeface="Bodoni MT Black"/>
                <a:ea typeface="黑体"/>
              </a:rPr>
              <a:t>单元测试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7.4   </a:t>
            </a:r>
            <a:r>
              <a:rPr lang="zh-CN" sz="2400" b="1" u="none" strike="noStrike">
                <a:solidFill>
                  <a:schemeClr val="dk1"/>
                </a:solidFill>
                <a:effectLst/>
                <a:uFillTx/>
                <a:latin typeface="Bodoni MT Black"/>
                <a:ea typeface="黑体"/>
              </a:rPr>
              <a:t>集成测试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7.5   </a:t>
            </a:r>
            <a:r>
              <a:rPr lang="zh-CN" sz="2400" b="1" u="none" strike="noStrike">
                <a:solidFill>
                  <a:schemeClr val="dk1"/>
                </a:solidFill>
                <a:effectLst/>
                <a:uFillTx/>
                <a:latin typeface="Bodoni MT Black"/>
                <a:ea typeface="黑体"/>
              </a:rPr>
              <a:t>确认测试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7.6   </a:t>
            </a:r>
            <a:r>
              <a:rPr lang="zh-CN" sz="2400" b="1" u="none" strike="noStrike">
                <a:solidFill>
                  <a:schemeClr val="dk1"/>
                </a:solidFill>
                <a:effectLst/>
                <a:uFillTx/>
                <a:latin typeface="Bodoni MT Black"/>
                <a:ea typeface="黑体"/>
              </a:rPr>
              <a:t>白盒测试技术</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7.7   </a:t>
            </a:r>
            <a:r>
              <a:rPr lang="zh-CN" sz="2400" b="1" u="none" strike="noStrike">
                <a:solidFill>
                  <a:schemeClr val="dk1"/>
                </a:solidFill>
                <a:effectLst/>
                <a:uFillTx/>
                <a:latin typeface="Bodoni MT Black"/>
                <a:ea typeface="黑体"/>
              </a:rPr>
              <a:t>黑盒测试技术</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7.8   </a:t>
            </a:r>
            <a:r>
              <a:rPr lang="zh-CN" sz="2400" b="1" u="none" strike="noStrike">
                <a:solidFill>
                  <a:schemeClr val="dk1"/>
                </a:solidFill>
                <a:effectLst/>
                <a:uFillTx/>
                <a:latin typeface="Bodoni MT Black"/>
                <a:ea typeface="黑体"/>
              </a:rPr>
              <a:t>调试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7.9   </a:t>
            </a:r>
            <a:r>
              <a:rPr lang="zh-CN" sz="2400" b="1" u="none" strike="noStrike">
                <a:solidFill>
                  <a:schemeClr val="dk1"/>
                </a:solidFill>
                <a:effectLst/>
                <a:uFillTx/>
                <a:latin typeface="Bodoni MT Black"/>
                <a:ea typeface="黑体"/>
              </a:rPr>
              <a:t>软件可靠性</a:t>
            </a:r>
            <a:endParaRPr lang="en-US" sz="2400" b="0" u="none" strike="noStrike">
              <a:solidFill>
                <a:srgbClr val="000000"/>
              </a:solidFill>
              <a:effectLst/>
              <a:uFillTx/>
              <a:latin typeface="Arial"/>
            </a:endParaRPr>
          </a:p>
        </p:txBody>
      </p:sp>
      <p:sp>
        <p:nvSpPr>
          <p:cNvPr id="214" name="1 Título"/>
          <p:cNvSpPr/>
          <p:nvPr/>
        </p:nvSpPr>
        <p:spPr>
          <a:xfrm>
            <a:off x="0" y="6300720"/>
            <a:ext cx="231588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7</a:t>
            </a:r>
            <a:r>
              <a:rPr lang="zh-CN" sz="2400" b="0" u="none" strike="noStrike">
                <a:solidFill>
                  <a:srgbClr val="d9d9d9"/>
                </a:solidFill>
                <a:effectLst/>
                <a:uFillTx/>
                <a:latin typeface="Bodoni MT Black"/>
                <a:ea typeface="宋体"/>
              </a:rPr>
              <a:t>章　实现</a:t>
            </a:r>
            <a:endParaRPr lang="en-US" sz="2400" b="0" u="none" strike="noStrike">
              <a:solidFill>
                <a:srgbClr val="000000"/>
              </a:solidFill>
              <a:effectLst/>
              <a:uFillTx/>
              <a:latin typeface="Arial"/>
            </a:endParaRPr>
          </a:p>
        </p:txBody>
      </p:sp>
      <p:sp>
        <p:nvSpPr>
          <p:cNvPr id="215" name="矩形 12"/>
          <p:cNvSpPr/>
          <p:nvPr/>
        </p:nvSpPr>
        <p:spPr>
          <a:xfrm>
            <a:off x="827640" y="224316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216" name="等腰三角形 13"/>
          <p:cNvSpPr/>
          <p:nvPr/>
        </p:nvSpPr>
        <p:spPr>
          <a:xfrm rot="5400000">
            <a:off x="335520" y="2328840"/>
            <a:ext cx="539280" cy="4312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457200" y="26064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7.3 </a:t>
            </a:r>
            <a:r>
              <a:rPr lang="zh-CN" sz="4400" b="1" u="none" strike="noStrike">
                <a:solidFill>
                  <a:schemeClr val="dk1"/>
                </a:solidFill>
                <a:effectLst/>
                <a:uFillTx/>
                <a:latin typeface="Bodoni MT Black"/>
              </a:rPr>
              <a:t>单元测试</a:t>
            </a:r>
            <a:endParaRPr lang="es-ES" sz="4400" b="0" u="none" strike="noStrike">
              <a:solidFill>
                <a:schemeClr val="dk1"/>
              </a:solidFill>
              <a:effectLst/>
              <a:uFillTx/>
              <a:latin typeface="Arial"/>
            </a:endParaRPr>
          </a:p>
        </p:txBody>
      </p:sp>
      <p:sp>
        <p:nvSpPr>
          <p:cNvPr id="218" name="PlaceHolder 2"/>
          <p:cNvSpPr>
            <a:spLocks noGrp="1"/>
          </p:cNvSpPr>
          <p:nvPr>
            <p:ph/>
          </p:nvPr>
        </p:nvSpPr>
        <p:spPr>
          <a:xfrm>
            <a:off x="457200" y="1403640"/>
            <a:ext cx="8229240" cy="4276440"/>
          </a:xfrm>
          <a:prstGeom prst="rect">
            <a:avLst/>
          </a:prstGeom>
          <a:noFill/>
          <a:ln w="9360">
            <a:noFill/>
          </a:ln>
        </p:spPr>
        <p:txBody>
          <a:bodyPr numCol="1" spcCol="0" lIns="91440" rIns="91440" tIns="45720" bIns="45720" anchor="t">
            <a:noAutofit/>
          </a:bodyPr>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rPr>
              <a:t>单元测试集中检测软件设计的最小单元——</a:t>
            </a:r>
            <a:r>
              <a:rPr lang="zh-CN" sz="2400" b="0" u="none" strike="noStrike">
                <a:solidFill>
                  <a:srgbClr val="ff0000"/>
                </a:solidFill>
                <a:effectLst/>
                <a:uFillTx/>
                <a:latin typeface="Bodoni MT Black"/>
              </a:rPr>
              <a:t>模块</a:t>
            </a:r>
            <a:r>
              <a:rPr lang="zh-CN" sz="2400" b="0" u="none" strike="noStrike">
                <a:solidFill>
                  <a:schemeClr val="dk1"/>
                </a:solidFill>
                <a:effectLst/>
                <a:uFillTx/>
                <a:latin typeface="Bodoni MT Black"/>
              </a:rPr>
              <a:t>。</a:t>
            </a:r>
            <a:endParaRPr lang="es-ES" sz="2400" b="0" u="none" strike="noStrike">
              <a:solidFill>
                <a:schemeClr val="dk1"/>
              </a:solidFill>
              <a:effectLst/>
              <a:uFillTx/>
              <a:latin typeface="Calibri"/>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rPr>
              <a:t>单元测试和编码属于软件过程的同一个阶段。</a:t>
            </a:r>
            <a:endParaRPr lang="es-ES" sz="2400" b="0" u="none" strike="noStrike">
              <a:solidFill>
                <a:schemeClr val="dk1"/>
              </a:solidFill>
              <a:effectLst/>
              <a:uFillTx/>
              <a:latin typeface="Calibri"/>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rPr>
              <a:t>在源程序代码通过编译程序的语法检查后，可以用</a:t>
            </a:r>
            <a:r>
              <a:rPr lang="zh-CN" sz="2400" b="0" u="none" strike="noStrike">
                <a:solidFill>
                  <a:srgbClr val="ff0000"/>
                </a:solidFill>
                <a:effectLst/>
                <a:uFillTx/>
                <a:latin typeface="Bodoni MT Black"/>
              </a:rPr>
              <a:t>详细设计描述</a:t>
            </a:r>
            <a:r>
              <a:rPr lang="zh-CN" sz="2400" b="0" u="none" strike="noStrike">
                <a:solidFill>
                  <a:schemeClr val="dk1"/>
                </a:solidFill>
                <a:effectLst/>
                <a:uFillTx/>
                <a:latin typeface="Bodoni MT Black"/>
              </a:rPr>
              <a:t>作指南，对</a:t>
            </a:r>
            <a:r>
              <a:rPr lang="zh-CN" sz="2400" b="0" u="none" strike="noStrike">
                <a:solidFill>
                  <a:srgbClr val="ff0000"/>
                </a:solidFill>
                <a:effectLst/>
                <a:uFillTx/>
                <a:latin typeface="Bodoni MT Black"/>
              </a:rPr>
              <a:t>重要的执行通路</a:t>
            </a:r>
            <a:r>
              <a:rPr lang="zh-CN" sz="2400" b="0" u="none" strike="noStrike">
                <a:solidFill>
                  <a:schemeClr val="dk1"/>
                </a:solidFill>
                <a:effectLst/>
                <a:uFillTx/>
                <a:latin typeface="Bodoni MT Black"/>
              </a:rPr>
              <a:t>进行测试，以便发现模块内部的错误。</a:t>
            </a:r>
            <a:endParaRPr lang="es-ES" sz="2400" b="0" u="none" strike="noStrike">
              <a:solidFill>
                <a:schemeClr val="dk1"/>
              </a:solidFill>
              <a:effectLst/>
              <a:uFillTx/>
              <a:latin typeface="Calibri"/>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rPr>
              <a:t>可以应用</a:t>
            </a:r>
            <a:r>
              <a:rPr lang="zh-CN" sz="2400" b="0" u="none" strike="noStrike">
                <a:solidFill>
                  <a:srgbClr val="ff0000"/>
                </a:solidFill>
                <a:effectLst/>
                <a:uFillTx/>
                <a:latin typeface="Bodoni MT Black"/>
              </a:rPr>
              <a:t>人工测试（静态测试）</a:t>
            </a:r>
            <a:r>
              <a:rPr lang="zh-CN" sz="2400" b="0" u="none" strike="noStrike">
                <a:solidFill>
                  <a:schemeClr val="dk1"/>
                </a:solidFill>
                <a:effectLst/>
                <a:uFillTx/>
                <a:latin typeface="Bodoni MT Black"/>
              </a:rPr>
              <a:t>和</a:t>
            </a:r>
            <a:r>
              <a:rPr lang="zh-CN" sz="2400" b="0" u="none" strike="noStrike">
                <a:solidFill>
                  <a:srgbClr val="ff0000"/>
                </a:solidFill>
                <a:effectLst/>
                <a:uFillTx/>
                <a:latin typeface="Bodoni MT Black"/>
              </a:rPr>
              <a:t>计算机测试（动态测试）</a:t>
            </a:r>
            <a:r>
              <a:rPr lang="zh-CN" sz="2400" b="0" u="none" strike="noStrike">
                <a:solidFill>
                  <a:schemeClr val="dk1"/>
                </a:solidFill>
                <a:effectLst/>
                <a:uFillTx/>
                <a:latin typeface="Bodoni MT Black"/>
              </a:rPr>
              <a:t>这样两种不同类型的测试方法，完成单元测试工作。</a:t>
            </a:r>
            <a:endParaRPr lang="es-ES" sz="2400" b="0" u="none" strike="noStrike">
              <a:solidFill>
                <a:schemeClr val="dk1"/>
              </a:solidFill>
              <a:effectLst/>
              <a:uFillTx/>
              <a:latin typeface="Calibri"/>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rPr>
              <a:t>单元测试主要使用</a:t>
            </a:r>
            <a:r>
              <a:rPr lang="zh-CN" sz="2400" b="0" u="none" strike="noStrike">
                <a:solidFill>
                  <a:srgbClr val="ff0000"/>
                </a:solidFill>
                <a:effectLst/>
                <a:uFillTx/>
                <a:latin typeface="Bodoni MT Black"/>
              </a:rPr>
              <a:t>白盒测试技术</a:t>
            </a:r>
            <a:r>
              <a:rPr lang="zh-CN" sz="2400" b="0" u="none" strike="noStrike">
                <a:solidFill>
                  <a:schemeClr val="dk1"/>
                </a:solidFill>
                <a:effectLst/>
                <a:uFillTx/>
                <a:latin typeface="Bodoni MT Black"/>
              </a:rPr>
              <a:t>，而且对多个模块的测试可以</a:t>
            </a:r>
            <a:r>
              <a:rPr lang="zh-CN" sz="2400" b="0" u="none" strike="noStrike">
                <a:solidFill>
                  <a:srgbClr val="ff0000"/>
                </a:solidFill>
                <a:effectLst/>
                <a:uFillTx/>
                <a:latin typeface="Bodoni MT Black"/>
              </a:rPr>
              <a:t>并行</a:t>
            </a:r>
            <a:r>
              <a:rPr lang="zh-CN" sz="2400" b="0" u="none" strike="noStrike">
                <a:solidFill>
                  <a:schemeClr val="dk1"/>
                </a:solidFill>
                <a:effectLst/>
                <a:uFillTx/>
                <a:latin typeface="Bodoni MT Black"/>
              </a:rPr>
              <a:t>地进行。</a:t>
            </a:r>
            <a:endParaRPr lang="es-ES" sz="2400" b="0" u="none" strike="noStrike">
              <a:solidFill>
                <a:schemeClr val="dk1"/>
              </a:solidFill>
              <a:effectLst/>
              <a:uFillTx/>
              <a:latin typeface="Calibri"/>
            </a:endParaRPr>
          </a:p>
        </p:txBody>
      </p:sp>
      <p:sp>
        <p:nvSpPr>
          <p:cNvPr id="219"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7.3 </a:t>
            </a:r>
            <a:r>
              <a:rPr lang="zh-CN" sz="2400" b="0" u="none" strike="noStrike">
                <a:solidFill>
                  <a:srgbClr val="d9d9d9"/>
                </a:solidFill>
                <a:effectLst/>
                <a:uFillTx/>
                <a:latin typeface="Bodoni MT Black"/>
                <a:ea typeface="宋体"/>
              </a:rPr>
              <a:t>单元测试</a:t>
            </a:r>
            <a:endParaRPr lang="en-US" sz="2400" b="0" u="none" strike="noStrike">
              <a:solidFill>
                <a:srgbClr val="000000"/>
              </a:solidFill>
              <a:effectLst/>
              <a:uFillTx/>
              <a:latin typeface="Arial"/>
            </a:endParaRPr>
          </a:p>
        </p:txBody>
      </p:sp>
      <p:sp>
        <p:nvSpPr>
          <p:cNvPr id="220" name="1 Título"/>
          <p:cNvSpPr/>
          <p:nvPr/>
        </p:nvSpPr>
        <p:spPr>
          <a:xfrm>
            <a:off x="0" y="6300720"/>
            <a:ext cx="231588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7</a:t>
            </a:r>
            <a:r>
              <a:rPr lang="zh-CN" sz="2400" b="0" u="none" strike="noStrike">
                <a:solidFill>
                  <a:srgbClr val="d9d9d9"/>
                </a:solidFill>
                <a:effectLst/>
                <a:uFillTx/>
                <a:latin typeface="Bodoni MT Black"/>
                <a:ea typeface="宋体"/>
              </a:rPr>
              <a:t>章　实现</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7.3 </a:t>
            </a:r>
            <a:r>
              <a:rPr lang="zh-CN" sz="4400" b="1" u="none" strike="noStrike">
                <a:solidFill>
                  <a:schemeClr val="dk1"/>
                </a:solidFill>
                <a:effectLst/>
                <a:uFillTx/>
                <a:latin typeface="Bodoni MT Black"/>
              </a:rPr>
              <a:t>单元测试</a:t>
            </a:r>
            <a:endParaRPr lang="es-ES" sz="4400" b="0" u="none" strike="noStrike">
              <a:solidFill>
                <a:schemeClr val="dk1"/>
              </a:solidFill>
              <a:effectLst/>
              <a:uFillTx/>
              <a:latin typeface="Arial"/>
            </a:endParaRPr>
          </a:p>
        </p:txBody>
      </p:sp>
      <p:sp>
        <p:nvSpPr>
          <p:cNvPr id="222" name="PlaceHolder 2"/>
          <p:cNvSpPr>
            <a:spLocks noGrp="1"/>
          </p:cNvSpPr>
          <p:nvPr>
            <p:ph/>
          </p:nvPr>
        </p:nvSpPr>
        <p:spPr>
          <a:xfrm>
            <a:off x="395280" y="116856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7.3.1 </a:t>
            </a:r>
            <a:r>
              <a:rPr lang="zh-CN" sz="3200" b="1" u="none" strike="noStrike">
                <a:solidFill>
                  <a:schemeClr val="dk1"/>
                </a:solidFill>
                <a:effectLst/>
                <a:uFillTx/>
                <a:latin typeface="Bodoni MT Black"/>
              </a:rPr>
              <a:t>测试重点</a:t>
            </a:r>
            <a:endParaRPr lang="es-ES" sz="3200" b="0" u="none" strike="noStrike">
              <a:solidFill>
                <a:schemeClr val="dk1"/>
              </a:solidFill>
              <a:effectLst/>
              <a:uFillTx/>
              <a:latin typeface="Calibri"/>
            </a:endParaRPr>
          </a:p>
        </p:txBody>
      </p:sp>
      <p:sp>
        <p:nvSpPr>
          <p:cNvPr id="223" name="TextBox 7"/>
          <p:cNvSpPr/>
          <p:nvPr/>
        </p:nvSpPr>
        <p:spPr>
          <a:xfrm>
            <a:off x="343800" y="1904760"/>
            <a:ext cx="8280720" cy="3400560"/>
          </a:xfrm>
          <a:prstGeom prst="rect">
            <a:avLst/>
          </a:prstGeom>
          <a:noFill/>
          <a:ln w="0">
            <a:noFill/>
          </a:ln>
        </p:spPr>
        <p:style>
          <a:lnRef idx="0"/>
          <a:fillRef idx="0"/>
          <a:effectRef idx="0"/>
          <a:fontRef idx="minor"/>
        </p:style>
        <p:txBody>
          <a:bodyPr lIns="90000" rIns="90000" tIns="45000" bIns="45000" anchor="t">
            <a:spAutoFit/>
          </a:bodyPr>
          <a:p>
            <a:pPr>
              <a:lnSpc>
                <a:spcPts val="3399"/>
              </a:lnSpc>
              <a:spcBef>
                <a:spcPts val="601"/>
              </a:spcBef>
              <a:tabLst>
                <a:tab algn="l" pos="0"/>
              </a:tabLst>
            </a:pPr>
            <a:r>
              <a:rPr lang="en-US" sz="2400" b="0" u="none" strike="noStrike">
                <a:solidFill>
                  <a:schemeClr val="dk1"/>
                </a:solidFill>
                <a:effectLst/>
                <a:uFillTx/>
                <a:latin typeface="Bodoni MT Black"/>
              </a:rPr>
              <a:t>   </a:t>
            </a:r>
            <a:r>
              <a:rPr lang="zh-CN" sz="2400" b="0" u="none" strike="noStrike">
                <a:solidFill>
                  <a:schemeClr val="dk1"/>
                </a:solidFill>
                <a:effectLst/>
                <a:uFillTx/>
                <a:latin typeface="Bodoni MT Black"/>
              </a:rPr>
              <a:t>在单元测试期间着重从以下</a:t>
            </a:r>
            <a:r>
              <a:rPr lang="en-US" sz="2400" b="0" u="none" strike="noStrike">
                <a:solidFill>
                  <a:srgbClr val="ff0000"/>
                </a:solidFill>
                <a:effectLst/>
                <a:uFillTx/>
                <a:latin typeface="Bodoni MT Black"/>
              </a:rPr>
              <a:t>5</a:t>
            </a:r>
            <a:r>
              <a:rPr lang="zh-CN" sz="2400" b="0" u="none" strike="noStrike">
                <a:solidFill>
                  <a:schemeClr val="dk1"/>
                </a:solidFill>
                <a:effectLst/>
                <a:uFillTx/>
                <a:latin typeface="Bodoni MT Black"/>
              </a:rPr>
              <a:t>个方面对模块进行测试。 </a:t>
            </a:r>
            <a:endParaRPr lang="en-US" sz="2400" b="0" u="none" strike="noStrike">
              <a:solidFill>
                <a:srgbClr val="000000"/>
              </a:solidFill>
              <a:effectLst/>
              <a:uFillTx/>
              <a:latin typeface="Arial"/>
            </a:endParaRPr>
          </a:p>
          <a:p>
            <a:pPr>
              <a:lnSpc>
                <a:spcPts val="3399"/>
              </a:lnSpc>
              <a:spcBef>
                <a:spcPts val="601"/>
              </a:spcBef>
              <a:tabLst>
                <a:tab algn="l" pos="0"/>
              </a:tabLst>
            </a:pPr>
            <a:r>
              <a:rPr lang="en-US" sz="2400" b="1" u="none" strike="noStrike">
                <a:solidFill>
                  <a:srgbClr val="ff0000"/>
                </a:solidFill>
                <a:effectLst/>
                <a:uFillTx/>
                <a:latin typeface="Bodoni MT Black"/>
              </a:rPr>
              <a:t>1. </a:t>
            </a:r>
            <a:r>
              <a:rPr lang="zh-CN" sz="2400" b="1" u="none" strike="noStrike">
                <a:solidFill>
                  <a:srgbClr val="ff0000"/>
                </a:solidFill>
                <a:effectLst/>
                <a:uFillTx/>
                <a:latin typeface="Bodoni MT Black"/>
              </a:rPr>
              <a:t>模块接口</a:t>
            </a:r>
            <a:endParaRPr lang="en-US" sz="2400" b="0" u="none" strike="noStrike">
              <a:solidFill>
                <a:srgbClr val="000000"/>
              </a:solidFill>
              <a:effectLst/>
              <a:uFillTx/>
              <a:latin typeface="Arial"/>
            </a:endParaRPr>
          </a:p>
          <a:p>
            <a:pPr>
              <a:lnSpc>
                <a:spcPts val="3399"/>
              </a:lnSpc>
              <a:spcBef>
                <a:spcPts val="601"/>
              </a:spcBef>
              <a:tabLst>
                <a:tab algn="l" pos="0"/>
              </a:tabLst>
            </a:pPr>
            <a:r>
              <a:rPr lang="en-US" sz="2400" b="1" u="none" strike="noStrike">
                <a:solidFill>
                  <a:srgbClr val="ff0000"/>
                </a:solidFill>
                <a:effectLst/>
                <a:uFillTx/>
                <a:latin typeface="Bodoni MT Black"/>
              </a:rPr>
              <a:t>   </a:t>
            </a:r>
            <a:r>
              <a:rPr lang="zh-CN" sz="2400" b="0" u="none" strike="noStrike">
                <a:solidFill>
                  <a:schemeClr val="dk1"/>
                </a:solidFill>
                <a:effectLst/>
                <a:uFillTx/>
                <a:latin typeface="Bodoni MT Black"/>
              </a:rPr>
              <a:t>对模块接口进行测试时主要检查以下几个方面：</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参数的数目、次序、属性或单位系统与变元是否一致；</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是否修改了只作输入用的变元；</a:t>
            </a:r>
            <a:endParaRPr lang="en-US" sz="2400" b="0" u="none" strike="noStrike">
              <a:solidFill>
                <a:srgbClr val="000000"/>
              </a:solidFill>
              <a:effectLst/>
              <a:uFillTx/>
              <a:latin typeface="Arial"/>
            </a:endParaRPr>
          </a:p>
          <a:p>
            <a:pPr marL="343080" indent="-343080">
              <a:lnSpc>
                <a:spcPct val="125000"/>
              </a:lnSpc>
              <a:buClr>
                <a:srgbClr val="0070c0"/>
              </a:buClr>
              <a:buFont typeface="Wingdings" charset="2"/>
              <a:buChar char=""/>
              <a:tabLst>
                <a:tab algn="l" pos="0"/>
              </a:tabLst>
            </a:pPr>
            <a:r>
              <a:rPr lang="zh-CN" sz="2400" b="0" u="none" strike="noStrike">
                <a:solidFill>
                  <a:srgbClr val="0070c0"/>
                </a:solidFill>
                <a:effectLst/>
                <a:uFillTx/>
                <a:latin typeface="Bodoni MT Black"/>
              </a:rPr>
              <a:t>全局变量</a:t>
            </a:r>
            <a:r>
              <a:rPr lang="zh-CN" sz="2400" b="0" u="none" strike="noStrike">
                <a:solidFill>
                  <a:schemeClr val="dk1"/>
                </a:solidFill>
                <a:effectLst/>
                <a:uFillTx/>
                <a:latin typeface="Bodoni MT Black"/>
              </a:rPr>
              <a:t>的定义和用法在各个模块中是否一致。</a:t>
            </a:r>
            <a:endParaRPr lang="en-US" sz="2400" b="0" u="none" strike="noStrike">
              <a:solidFill>
                <a:srgbClr val="000000"/>
              </a:solidFill>
              <a:effectLst/>
              <a:uFillTx/>
              <a:latin typeface="Arial"/>
            </a:endParaRPr>
          </a:p>
          <a:p>
            <a:pPr>
              <a:lnSpc>
                <a:spcPct val="125000"/>
              </a:lnSpc>
              <a:tabLst>
                <a:tab algn="l" pos="0"/>
              </a:tabLst>
            </a:pPr>
            <a:endParaRPr lang="en-US" sz="2400" b="0" u="none" strike="noStrike">
              <a:solidFill>
                <a:srgbClr val="000000"/>
              </a:solidFill>
              <a:effectLst/>
              <a:uFillTx/>
              <a:latin typeface="Arial"/>
            </a:endParaRPr>
          </a:p>
        </p:txBody>
      </p:sp>
      <p:sp>
        <p:nvSpPr>
          <p:cNvPr id="224"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225"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7.3.1 </a:t>
            </a:r>
            <a:r>
              <a:rPr lang="zh-CN" sz="2400" b="0" u="none" strike="noStrike">
                <a:solidFill>
                  <a:srgbClr val="d9d9d9"/>
                </a:solidFill>
                <a:effectLst/>
                <a:uFillTx/>
                <a:latin typeface="Bodoni MT Black"/>
              </a:rPr>
              <a:t>测试重点</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7.3 </a:t>
            </a:r>
            <a:r>
              <a:rPr lang="zh-CN" sz="4400" b="1" u="none" strike="noStrike">
                <a:solidFill>
                  <a:schemeClr val="dk1"/>
                </a:solidFill>
                <a:effectLst/>
                <a:uFillTx/>
                <a:latin typeface="Bodoni MT Black"/>
              </a:rPr>
              <a:t>单元测试</a:t>
            </a:r>
            <a:endParaRPr lang="es-ES" sz="4400" b="0" u="none" strike="noStrike">
              <a:solidFill>
                <a:schemeClr val="dk1"/>
              </a:solidFill>
              <a:effectLst/>
              <a:uFillTx/>
              <a:latin typeface="Arial"/>
            </a:endParaRPr>
          </a:p>
        </p:txBody>
      </p:sp>
      <p:sp>
        <p:nvSpPr>
          <p:cNvPr id="227" name="TextBox 7"/>
          <p:cNvSpPr/>
          <p:nvPr/>
        </p:nvSpPr>
        <p:spPr>
          <a:xfrm>
            <a:off x="370080" y="1187280"/>
            <a:ext cx="8403840" cy="4246200"/>
          </a:xfrm>
          <a:prstGeom prst="rect">
            <a:avLst/>
          </a:prstGeom>
          <a:noFill/>
          <a:ln w="0">
            <a:noFill/>
          </a:ln>
        </p:spPr>
        <p:style>
          <a:lnRef idx="0"/>
          <a:fillRef idx="0"/>
          <a:effectRef idx="0"/>
          <a:fontRef idx="minor"/>
        </p:style>
        <p:txBody>
          <a:bodyPr lIns="90000" rIns="90000" tIns="45000" bIns="45000" anchor="t">
            <a:spAutoFit/>
          </a:bodyPr>
          <a:p>
            <a:pPr>
              <a:lnSpc>
                <a:spcPct val="125000"/>
              </a:lnSpc>
              <a:spcBef>
                <a:spcPts val="601"/>
              </a:spcBef>
              <a:tabLst>
                <a:tab algn="l" pos="0"/>
              </a:tabLst>
            </a:pPr>
            <a:r>
              <a:rPr lang="en-US" sz="2400" b="1" u="none" strike="noStrike">
                <a:solidFill>
                  <a:srgbClr val="ff0000"/>
                </a:solidFill>
                <a:effectLst/>
                <a:uFillTx/>
                <a:latin typeface="Bodoni MT Black"/>
              </a:rPr>
              <a:t>2. </a:t>
            </a:r>
            <a:r>
              <a:rPr lang="zh-CN" sz="2400" b="1" u="none" strike="noStrike">
                <a:solidFill>
                  <a:srgbClr val="ff0000"/>
                </a:solidFill>
                <a:effectLst/>
                <a:uFillTx/>
                <a:latin typeface="Bodoni MT Black"/>
              </a:rPr>
              <a:t>局部数据结构</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rPr>
              <a:t>对于模块来说，局部数据结构是常见的错误来源。应该仔细设计测试方案，以便发现局部数据说明、初始化、默认值等方面的错误。</a:t>
            </a:r>
            <a:endParaRPr lang="en-US" sz="2400" b="0" u="none" strike="noStrike">
              <a:solidFill>
                <a:srgbClr val="000000"/>
              </a:solidFill>
              <a:effectLst/>
              <a:uFillTx/>
              <a:latin typeface="Arial"/>
            </a:endParaRPr>
          </a:p>
          <a:p>
            <a:pPr>
              <a:lnSpc>
                <a:spcPct val="125000"/>
              </a:lnSpc>
              <a:spcBef>
                <a:spcPts val="601"/>
              </a:spcBef>
              <a:tabLst>
                <a:tab algn="l" pos="0"/>
              </a:tabLst>
            </a:pPr>
            <a:r>
              <a:rPr lang="en-US" sz="2400" b="1" u="none" strike="noStrike">
                <a:solidFill>
                  <a:srgbClr val="ff0000"/>
                </a:solidFill>
                <a:effectLst/>
                <a:uFillTx/>
                <a:latin typeface="Bodoni MT Black"/>
              </a:rPr>
              <a:t>3. </a:t>
            </a:r>
            <a:r>
              <a:rPr lang="zh-CN" sz="2400" b="1" u="none" strike="noStrike">
                <a:solidFill>
                  <a:srgbClr val="ff0000"/>
                </a:solidFill>
                <a:effectLst/>
                <a:uFillTx/>
                <a:latin typeface="Bodoni MT Black"/>
              </a:rPr>
              <a:t>重要的执行通路</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rPr>
              <a:t>由于通常不可能进行穷尽测试，因此，在单元测试期间选择</a:t>
            </a:r>
            <a:r>
              <a:rPr lang="zh-CN" sz="2400" b="0" u="none" strike="noStrike">
                <a:solidFill>
                  <a:srgbClr val="ff0000"/>
                </a:solidFill>
                <a:effectLst/>
                <a:uFillTx/>
                <a:latin typeface="Bodoni MT Black"/>
              </a:rPr>
              <a:t>最有代表性</a:t>
            </a:r>
            <a:r>
              <a:rPr lang="zh-CN" sz="2400" b="0" u="none" strike="noStrike">
                <a:solidFill>
                  <a:schemeClr val="dk1"/>
                </a:solidFill>
                <a:effectLst/>
                <a:uFillTx/>
                <a:latin typeface="Bodoni MT Black"/>
              </a:rPr>
              <a:t>、</a:t>
            </a:r>
            <a:r>
              <a:rPr lang="zh-CN" sz="2400" b="0" u="none" strike="noStrike">
                <a:solidFill>
                  <a:srgbClr val="ff0000"/>
                </a:solidFill>
                <a:effectLst/>
                <a:uFillTx/>
                <a:latin typeface="Bodoni MT Black"/>
              </a:rPr>
              <a:t>最可能发现错误</a:t>
            </a:r>
            <a:r>
              <a:rPr lang="zh-CN" sz="2400" b="0" u="none" strike="noStrike">
                <a:solidFill>
                  <a:schemeClr val="dk1"/>
                </a:solidFill>
                <a:effectLst/>
                <a:uFillTx/>
                <a:latin typeface="Bodoni MT Black"/>
              </a:rPr>
              <a:t>的执行通路进行测试是十分关键的。应该设计测试方案用来发现由于错误的计算、不正确的比较或不适当的控制流而造成的错误。</a:t>
            </a:r>
            <a:endParaRPr lang="en-US" sz="2400" b="0" u="none" strike="noStrike">
              <a:solidFill>
                <a:srgbClr val="000000"/>
              </a:solidFill>
              <a:effectLst/>
              <a:uFillTx/>
              <a:latin typeface="Arial"/>
            </a:endParaRPr>
          </a:p>
        </p:txBody>
      </p:sp>
      <p:sp>
        <p:nvSpPr>
          <p:cNvPr id="228"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229"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7.3.1 </a:t>
            </a:r>
            <a:r>
              <a:rPr lang="zh-CN" sz="2400" b="0" u="none" strike="noStrike">
                <a:solidFill>
                  <a:srgbClr val="d9d9d9"/>
                </a:solidFill>
                <a:effectLst/>
                <a:uFillTx/>
                <a:latin typeface="Bodoni MT Black"/>
              </a:rPr>
              <a:t>测试重点</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7.3 </a:t>
            </a:r>
            <a:r>
              <a:rPr lang="zh-CN" sz="4400" b="1" u="none" strike="noStrike">
                <a:solidFill>
                  <a:schemeClr val="dk1"/>
                </a:solidFill>
                <a:effectLst/>
                <a:uFillTx/>
                <a:latin typeface="Bodoni MT Black"/>
              </a:rPr>
              <a:t>单元测试</a:t>
            </a:r>
            <a:endParaRPr lang="es-ES" sz="4400" b="0" u="none" strike="noStrike">
              <a:solidFill>
                <a:schemeClr val="dk1"/>
              </a:solidFill>
              <a:effectLst/>
              <a:uFillTx/>
              <a:latin typeface="Arial"/>
            </a:endParaRPr>
          </a:p>
        </p:txBody>
      </p:sp>
      <p:sp>
        <p:nvSpPr>
          <p:cNvPr id="231" name="TextBox 7"/>
          <p:cNvSpPr/>
          <p:nvPr/>
        </p:nvSpPr>
        <p:spPr>
          <a:xfrm>
            <a:off x="335880" y="1052640"/>
            <a:ext cx="8656200" cy="4657320"/>
          </a:xfrm>
          <a:prstGeom prst="rect">
            <a:avLst/>
          </a:prstGeom>
          <a:noFill/>
          <a:ln w="0">
            <a:noFill/>
          </a:ln>
        </p:spPr>
        <p:style>
          <a:lnRef idx="0"/>
          <a:fillRef idx="0"/>
          <a:effectRef idx="0"/>
          <a:fontRef idx="minor"/>
        </p:style>
        <p:txBody>
          <a:bodyPr lIns="90000" rIns="90000" tIns="45000" bIns="45000" anchor="t">
            <a:spAutoFit/>
          </a:bodyPr>
          <a:p>
            <a:pPr>
              <a:lnSpc>
                <a:spcPts val="3399"/>
              </a:lnSpc>
              <a:spcBef>
                <a:spcPts val="601"/>
              </a:spcBef>
              <a:tabLst>
                <a:tab algn="l" pos="0"/>
              </a:tabLst>
            </a:pPr>
            <a:r>
              <a:rPr lang="en-US" sz="2400" b="1" u="none" strike="noStrike">
                <a:solidFill>
                  <a:srgbClr val="ff0000"/>
                </a:solidFill>
                <a:effectLst/>
                <a:uFillTx/>
                <a:latin typeface="Bodoni MT Black"/>
              </a:rPr>
              <a:t>4. </a:t>
            </a:r>
            <a:r>
              <a:rPr lang="zh-CN" sz="2400" b="1" u="none" strike="noStrike">
                <a:solidFill>
                  <a:srgbClr val="ff0000"/>
                </a:solidFill>
                <a:effectLst/>
                <a:uFillTx/>
                <a:latin typeface="Bodoni MT Black"/>
              </a:rPr>
              <a:t>出错处理通路</a:t>
            </a:r>
            <a:endParaRPr lang="en-US" sz="2400" b="0" u="none" strike="noStrike">
              <a:solidFill>
                <a:srgbClr val="000000"/>
              </a:solidFill>
              <a:effectLst/>
              <a:uFillTx/>
              <a:latin typeface="Arial"/>
            </a:endParaRPr>
          </a:p>
          <a:p>
            <a:pPr>
              <a:lnSpc>
                <a:spcPts val="3399"/>
              </a:lnSpc>
              <a:spcBef>
                <a:spcPts val="601"/>
              </a:spcBef>
              <a:tabLst>
                <a:tab algn="l" pos="0"/>
              </a:tabLst>
            </a:pPr>
            <a:r>
              <a:rPr lang="en-US" sz="2400" b="0" u="none" strike="noStrike">
                <a:solidFill>
                  <a:schemeClr val="dk1"/>
                </a:solidFill>
                <a:effectLst/>
                <a:uFillTx/>
                <a:latin typeface="Bodoni MT Black"/>
              </a:rPr>
              <a:t> 好的设计应该能预见出现错误的条件，并且设置适当的处理错误的通路。不仅应该在程序中包含出错处理通路，而且应该认真测试这种通路。评价出错处理通路应该着重测试下述一些可能发生的错误。</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对错误的描述是难以理解的；</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记下的错误与实际遇到的错误不同；</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在对错误进行处理之前，错误条件已经引起系统干预；</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对错误的处理不正确；</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描述错误的信息不足以帮助确定造成错误的位置。</a:t>
            </a:r>
            <a:endParaRPr lang="en-US" sz="2400" b="0" u="none" strike="noStrike">
              <a:solidFill>
                <a:srgbClr val="000000"/>
              </a:solidFill>
              <a:effectLst/>
              <a:uFillTx/>
              <a:latin typeface="Arial"/>
            </a:endParaRPr>
          </a:p>
        </p:txBody>
      </p:sp>
      <p:sp>
        <p:nvSpPr>
          <p:cNvPr id="232"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233"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7.3.1 </a:t>
            </a:r>
            <a:r>
              <a:rPr lang="zh-CN" sz="2400" b="0" u="none" strike="noStrike">
                <a:solidFill>
                  <a:srgbClr val="d9d9d9"/>
                </a:solidFill>
                <a:effectLst/>
                <a:uFillTx/>
                <a:latin typeface="Bodoni MT Black"/>
              </a:rPr>
              <a:t>测试重点</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7.3 </a:t>
            </a:r>
            <a:r>
              <a:rPr lang="zh-CN" sz="4400" b="1" u="none" strike="noStrike">
                <a:solidFill>
                  <a:schemeClr val="dk1"/>
                </a:solidFill>
                <a:effectLst/>
                <a:uFillTx/>
                <a:latin typeface="Bodoni MT Black"/>
              </a:rPr>
              <a:t>单元测试</a:t>
            </a:r>
            <a:endParaRPr lang="es-ES" sz="4400" b="0" u="none" strike="noStrike">
              <a:solidFill>
                <a:schemeClr val="dk1"/>
              </a:solidFill>
              <a:effectLst/>
              <a:uFillTx/>
              <a:latin typeface="Arial"/>
            </a:endParaRPr>
          </a:p>
        </p:txBody>
      </p:sp>
      <p:sp>
        <p:nvSpPr>
          <p:cNvPr id="235" name="TextBox 7"/>
          <p:cNvSpPr/>
          <p:nvPr/>
        </p:nvSpPr>
        <p:spPr>
          <a:xfrm>
            <a:off x="395280" y="1412640"/>
            <a:ext cx="8352720" cy="3810960"/>
          </a:xfrm>
          <a:prstGeom prst="rect">
            <a:avLst/>
          </a:prstGeom>
          <a:noFill/>
          <a:ln w="0">
            <a:noFill/>
          </a:ln>
        </p:spPr>
        <p:style>
          <a:lnRef idx="0"/>
          <a:fillRef idx="0"/>
          <a:effectRef idx="0"/>
          <a:fontRef idx="minor"/>
        </p:style>
        <p:txBody>
          <a:bodyPr lIns="90000" rIns="90000" tIns="45000" bIns="45000" anchor="t">
            <a:spAutoFit/>
          </a:bodyPr>
          <a:p>
            <a:pPr>
              <a:lnSpc>
                <a:spcPts val="3399"/>
              </a:lnSpc>
              <a:spcBef>
                <a:spcPts val="601"/>
              </a:spcBef>
              <a:tabLst>
                <a:tab algn="l" pos="0"/>
              </a:tabLst>
            </a:pPr>
            <a:r>
              <a:rPr lang="en-US" sz="2400" b="1" u="none" strike="noStrike">
                <a:solidFill>
                  <a:srgbClr val="ff0000"/>
                </a:solidFill>
                <a:effectLst/>
                <a:uFillTx/>
                <a:latin typeface="Bodoni MT Black"/>
              </a:rPr>
              <a:t>5. </a:t>
            </a:r>
            <a:r>
              <a:rPr lang="zh-CN" sz="2400" b="1" u="none" strike="noStrike">
                <a:solidFill>
                  <a:srgbClr val="ff0000"/>
                </a:solidFill>
                <a:effectLst/>
                <a:uFillTx/>
                <a:latin typeface="Bodoni MT Black"/>
              </a:rPr>
              <a:t>边界条件</a:t>
            </a:r>
            <a:endParaRPr lang="en-US" sz="2400" b="0" u="none" strike="noStrike">
              <a:solidFill>
                <a:srgbClr val="000000"/>
              </a:solidFill>
              <a:effectLst/>
              <a:uFillTx/>
              <a:latin typeface="Arial"/>
            </a:endParaRPr>
          </a:p>
          <a:p>
            <a:pPr marL="343080" indent="-343080">
              <a:lnSpc>
                <a:spcPct val="125000"/>
              </a:lnSpc>
              <a:buClr>
                <a:srgbClr val="ff0000"/>
              </a:buClr>
              <a:buFont typeface="Wingdings" charset="2"/>
              <a:buChar char=""/>
              <a:tabLst>
                <a:tab algn="l" pos="0"/>
              </a:tabLst>
            </a:pPr>
            <a:r>
              <a:rPr lang="zh-CN" sz="2400" b="0" u="none" strike="noStrike">
                <a:solidFill>
                  <a:srgbClr val="ff0000"/>
                </a:solidFill>
                <a:effectLst/>
                <a:uFillTx/>
                <a:latin typeface="Bodoni MT Black"/>
              </a:rPr>
              <a:t>边界测试</a:t>
            </a:r>
            <a:r>
              <a:rPr lang="zh-CN" sz="2400" b="0" u="none" strike="noStrike">
                <a:solidFill>
                  <a:schemeClr val="dk1"/>
                </a:solidFill>
                <a:effectLst/>
                <a:uFillTx/>
                <a:latin typeface="Bodoni MT Black"/>
              </a:rPr>
              <a:t>是单元测试中最后的也可能是最重要的任务。</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软件常常在它的边界上失效，例如，处理</a:t>
            </a:r>
            <a:r>
              <a:rPr lang="en-US" sz="2400" b="0" u="none" strike="noStrike">
                <a:solidFill>
                  <a:schemeClr val="dk1"/>
                </a:solidFill>
                <a:effectLst/>
                <a:uFillTx/>
                <a:latin typeface="Bodoni MT Black"/>
              </a:rPr>
              <a:t>n</a:t>
            </a:r>
            <a:r>
              <a:rPr lang="zh-CN" sz="2400" b="0" u="none" strike="noStrike">
                <a:solidFill>
                  <a:schemeClr val="dk1"/>
                </a:solidFill>
                <a:effectLst/>
                <a:uFillTx/>
                <a:latin typeface="Bodoni MT Black"/>
              </a:rPr>
              <a:t>元数组的第</a:t>
            </a:r>
            <a:r>
              <a:rPr lang="en-US" sz="2400" b="0" u="none" strike="noStrike">
                <a:solidFill>
                  <a:schemeClr val="dk1"/>
                </a:solidFill>
                <a:effectLst/>
                <a:uFillTx/>
                <a:latin typeface="Bodoni MT Black"/>
              </a:rPr>
              <a:t>n</a:t>
            </a:r>
            <a:r>
              <a:rPr lang="zh-CN" sz="2400" b="0" u="none" strike="noStrike">
                <a:solidFill>
                  <a:schemeClr val="dk1"/>
                </a:solidFill>
                <a:effectLst/>
                <a:uFillTx/>
                <a:latin typeface="Bodoni MT Black"/>
              </a:rPr>
              <a:t>个元素时，或做到</a:t>
            </a:r>
            <a:r>
              <a:rPr lang="en-US" sz="2400" b="0" u="none" strike="noStrike">
                <a:solidFill>
                  <a:schemeClr val="dk1"/>
                </a:solidFill>
                <a:effectLst/>
                <a:uFillTx/>
                <a:latin typeface="Bodoni MT Black"/>
              </a:rPr>
              <a:t>i</a:t>
            </a:r>
            <a:r>
              <a:rPr lang="zh-CN" sz="2400" b="0" u="none" strike="noStrike">
                <a:solidFill>
                  <a:schemeClr val="dk1"/>
                </a:solidFill>
                <a:effectLst/>
                <a:uFillTx/>
                <a:latin typeface="Bodoni MT Black"/>
              </a:rPr>
              <a:t>次循环中的第</a:t>
            </a:r>
            <a:r>
              <a:rPr lang="en-US" sz="2400" b="0" u="none" strike="noStrike">
                <a:solidFill>
                  <a:schemeClr val="dk1"/>
                </a:solidFill>
                <a:effectLst/>
                <a:uFillTx/>
                <a:latin typeface="Bodoni MT Black"/>
              </a:rPr>
              <a:t>i</a:t>
            </a:r>
            <a:r>
              <a:rPr lang="zh-CN" sz="2400" b="0" u="none" strike="noStrike">
                <a:solidFill>
                  <a:schemeClr val="dk1"/>
                </a:solidFill>
                <a:effectLst/>
                <a:uFillTx/>
                <a:latin typeface="Bodoni MT Black"/>
              </a:rPr>
              <a:t>次重复时，往往会发生错误。</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使用刚好小于、刚好等于和刚好大于最大值或最小值的数据结构、控制量和数据值的测试方案，非常可能发现软件中的错误。</a:t>
            </a:r>
            <a:endParaRPr lang="en-US" sz="2400" b="0" u="none" strike="noStrike">
              <a:solidFill>
                <a:srgbClr val="000000"/>
              </a:solidFill>
              <a:effectLst/>
              <a:uFillTx/>
              <a:latin typeface="Arial"/>
            </a:endParaRPr>
          </a:p>
        </p:txBody>
      </p:sp>
      <p:sp>
        <p:nvSpPr>
          <p:cNvPr id="236"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237"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7.3.1 </a:t>
            </a:r>
            <a:r>
              <a:rPr lang="zh-CN" sz="2400" b="0" u="none" strike="noStrike">
                <a:solidFill>
                  <a:srgbClr val="d9d9d9"/>
                </a:solidFill>
                <a:effectLst/>
                <a:uFillTx/>
                <a:latin typeface="Bodoni MT Black"/>
              </a:rPr>
              <a:t>测试重点</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7.3 </a:t>
            </a:r>
            <a:r>
              <a:rPr lang="zh-CN" sz="4400" b="1" u="none" strike="noStrike">
                <a:solidFill>
                  <a:schemeClr val="dk1"/>
                </a:solidFill>
                <a:effectLst/>
                <a:uFillTx/>
                <a:latin typeface="Bodoni MT Black"/>
              </a:rPr>
              <a:t>单元测试</a:t>
            </a:r>
            <a:endParaRPr lang="es-ES" sz="4400" b="0" u="none" strike="noStrike">
              <a:solidFill>
                <a:schemeClr val="dk1"/>
              </a:solidFill>
              <a:effectLst/>
              <a:uFillTx/>
              <a:latin typeface="Arial"/>
            </a:endParaRPr>
          </a:p>
        </p:txBody>
      </p:sp>
      <p:sp>
        <p:nvSpPr>
          <p:cNvPr id="239" name="PlaceHolder 2"/>
          <p:cNvSpPr>
            <a:spLocks noGrp="1"/>
          </p:cNvSpPr>
          <p:nvPr>
            <p:ph/>
          </p:nvPr>
        </p:nvSpPr>
        <p:spPr>
          <a:xfrm>
            <a:off x="395280" y="109548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7.3.2 </a:t>
            </a:r>
            <a:r>
              <a:rPr lang="zh-CN" sz="3200" b="1" u="none" strike="noStrike">
                <a:solidFill>
                  <a:schemeClr val="dk1"/>
                </a:solidFill>
                <a:effectLst/>
                <a:uFillTx/>
                <a:latin typeface="Bodoni MT Black"/>
              </a:rPr>
              <a:t>代码审查</a:t>
            </a:r>
            <a:endParaRPr lang="es-ES" sz="3200" b="0" u="none" strike="noStrike">
              <a:solidFill>
                <a:schemeClr val="dk1"/>
              </a:solidFill>
              <a:effectLst/>
              <a:uFillTx/>
              <a:latin typeface="Calibri"/>
            </a:endParaRPr>
          </a:p>
        </p:txBody>
      </p:sp>
      <p:sp>
        <p:nvSpPr>
          <p:cNvPr id="240" name="TextBox 7"/>
          <p:cNvSpPr/>
          <p:nvPr/>
        </p:nvSpPr>
        <p:spPr>
          <a:xfrm>
            <a:off x="225720" y="1801440"/>
            <a:ext cx="8568360" cy="473436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0" u="none" strike="noStrike">
                <a:solidFill>
                  <a:srgbClr val="c00000"/>
                </a:solidFill>
                <a:effectLst/>
                <a:uFillTx/>
                <a:latin typeface="Bodoni MT Black"/>
              </a:rPr>
              <a:t>    </a:t>
            </a:r>
            <a:r>
              <a:rPr lang="zh-CN" sz="2400" b="1" u="none" strike="noStrike">
                <a:solidFill>
                  <a:srgbClr val="c00000"/>
                </a:solidFill>
                <a:effectLst/>
                <a:uFillTx/>
                <a:latin typeface="Bodoni MT Black"/>
              </a:rPr>
              <a:t>代码检查</a:t>
            </a:r>
            <a:r>
              <a:rPr lang="zh-CN" sz="2400" b="0" u="none" strike="noStrike">
                <a:solidFill>
                  <a:schemeClr val="dk1"/>
                </a:solidFill>
                <a:effectLst/>
                <a:uFillTx/>
                <a:latin typeface="Bodoni MT Black"/>
              </a:rPr>
              <a:t>是指由审查小组正式对源程序进行</a:t>
            </a:r>
            <a:r>
              <a:rPr lang="zh-CN" sz="2400" b="0" u="none" strike="noStrike">
                <a:solidFill>
                  <a:srgbClr val="ff0000"/>
                </a:solidFill>
                <a:effectLst/>
                <a:uFillTx/>
                <a:latin typeface="Bodoni MT Black"/>
              </a:rPr>
              <a:t>人工测试</a:t>
            </a:r>
            <a:r>
              <a:rPr lang="zh-CN" sz="2400" b="0" u="none" strike="noStrike">
                <a:solidFill>
                  <a:schemeClr val="dk1"/>
                </a:solidFill>
                <a:effectLst/>
                <a:uFillTx/>
                <a:latin typeface="Bodoni MT Black"/>
              </a:rPr>
              <a:t>。它是一种非常有效的程序验证技术，对于典型的程序来说，可以查出</a:t>
            </a:r>
            <a:r>
              <a:rPr lang="en-US" sz="2400" b="0" u="none" strike="noStrike">
                <a:solidFill>
                  <a:srgbClr val="ff0000"/>
                </a:solidFill>
                <a:effectLst/>
                <a:uFillTx/>
                <a:latin typeface="Bodoni MT Black"/>
              </a:rPr>
              <a:t>30%</a:t>
            </a:r>
            <a:r>
              <a:rPr lang="zh-CN" sz="2400" b="0" u="none" strike="noStrike">
                <a:solidFill>
                  <a:srgbClr val="ff0000"/>
                </a:solidFill>
                <a:effectLst/>
                <a:uFillTx/>
                <a:latin typeface="Bodoni MT Black"/>
              </a:rPr>
              <a:t>～</a:t>
            </a:r>
            <a:r>
              <a:rPr lang="en-US" sz="2400" b="0" u="none" strike="noStrike">
                <a:solidFill>
                  <a:srgbClr val="ff0000"/>
                </a:solidFill>
                <a:effectLst/>
                <a:uFillTx/>
                <a:latin typeface="Bodoni MT Black"/>
              </a:rPr>
              <a:t>70%</a:t>
            </a:r>
            <a:r>
              <a:rPr lang="zh-CN" sz="2400" b="0" u="none" strike="noStrike">
                <a:solidFill>
                  <a:schemeClr val="dk1"/>
                </a:solidFill>
                <a:effectLst/>
                <a:uFillTx/>
                <a:latin typeface="Bodoni MT Black"/>
              </a:rPr>
              <a:t>的</a:t>
            </a:r>
            <a:r>
              <a:rPr lang="zh-CN" sz="2400" b="0" u="none" strike="noStrike">
                <a:solidFill>
                  <a:srgbClr val="ff0000"/>
                </a:solidFill>
                <a:effectLst/>
                <a:uFillTx/>
                <a:latin typeface="Bodoni MT Black"/>
              </a:rPr>
              <a:t>逻辑设计错误</a:t>
            </a:r>
            <a:r>
              <a:rPr lang="zh-CN" sz="2400" b="0" u="none" strike="noStrike">
                <a:solidFill>
                  <a:schemeClr val="dk1"/>
                </a:solidFill>
                <a:effectLst/>
                <a:uFillTx/>
                <a:latin typeface="Bodoni MT Black"/>
              </a:rPr>
              <a:t>和</a:t>
            </a:r>
            <a:r>
              <a:rPr lang="zh-CN" sz="2400" b="0" u="none" strike="noStrike">
                <a:solidFill>
                  <a:srgbClr val="ff0000"/>
                </a:solidFill>
                <a:effectLst/>
                <a:uFillTx/>
                <a:latin typeface="Bodoni MT Black"/>
              </a:rPr>
              <a:t>编码错误</a:t>
            </a:r>
            <a:r>
              <a:rPr lang="zh-CN" sz="2400" b="0" u="none" strike="noStrike">
                <a:solidFill>
                  <a:schemeClr val="dk1"/>
                </a:solidFill>
                <a:effectLst/>
                <a:uFillTx/>
                <a:latin typeface="Bodoni MT Black"/>
              </a:rPr>
              <a:t>。审查小组最好由下述</a:t>
            </a:r>
            <a:r>
              <a:rPr lang="en-US" sz="2400" b="0" u="none" strike="noStrike">
                <a:solidFill>
                  <a:schemeClr val="dk1"/>
                </a:solidFill>
                <a:effectLst/>
                <a:uFillTx/>
                <a:latin typeface="Bodoni MT Black"/>
              </a:rPr>
              <a:t>4</a:t>
            </a:r>
            <a:r>
              <a:rPr lang="zh-CN" sz="2400" b="0" u="none" strike="noStrike">
                <a:solidFill>
                  <a:schemeClr val="dk1"/>
                </a:solidFill>
                <a:effectLst/>
                <a:uFillTx/>
                <a:latin typeface="Bodoni MT Black"/>
              </a:rPr>
              <a:t>人组成。</a:t>
            </a:r>
            <a:endParaRPr lang="en-US" sz="2400" b="0" u="none" strike="noStrike">
              <a:solidFill>
                <a:srgbClr val="000000"/>
              </a:solidFill>
              <a:effectLst/>
              <a:uFillTx/>
              <a:latin typeface="Arial"/>
            </a:endParaRPr>
          </a:p>
          <a:p>
            <a:pPr marL="377280">
              <a:lnSpc>
                <a:spcPct val="125000"/>
              </a:lnSpc>
              <a:tabLst>
                <a:tab algn="l" pos="0"/>
              </a:tabLst>
            </a:pPr>
            <a:r>
              <a:rPr lang="en-US" sz="2400" b="0" u="none" strike="noStrike">
                <a:solidFill>
                  <a:schemeClr val="dk1"/>
                </a:solidFill>
                <a:effectLst/>
                <a:uFillTx/>
                <a:latin typeface="Bodoni MT Black"/>
              </a:rPr>
              <a:t>① 组长，应该是一个很有能力的程序员，而且没有直接参与这项工程；</a:t>
            </a:r>
            <a:endParaRPr lang="en-US" sz="2400" b="0" u="none" strike="noStrike">
              <a:solidFill>
                <a:srgbClr val="000000"/>
              </a:solidFill>
              <a:effectLst/>
              <a:uFillTx/>
              <a:latin typeface="Arial"/>
            </a:endParaRPr>
          </a:p>
          <a:p>
            <a:pPr marL="377280">
              <a:lnSpc>
                <a:spcPct val="125000"/>
              </a:lnSpc>
              <a:tabLst>
                <a:tab algn="l" pos="0"/>
              </a:tabLst>
            </a:pPr>
            <a:r>
              <a:rPr lang="en-US" sz="2400" b="0" u="none" strike="noStrike">
                <a:solidFill>
                  <a:schemeClr val="dk1"/>
                </a:solidFill>
                <a:effectLst/>
                <a:uFillTx/>
                <a:latin typeface="Bodoni MT Black"/>
              </a:rPr>
              <a:t>② 程序的设计者；</a:t>
            </a:r>
            <a:endParaRPr lang="en-US" sz="2400" b="0" u="none" strike="noStrike">
              <a:solidFill>
                <a:srgbClr val="000000"/>
              </a:solidFill>
              <a:effectLst/>
              <a:uFillTx/>
              <a:latin typeface="Arial"/>
            </a:endParaRPr>
          </a:p>
          <a:p>
            <a:pPr marL="377280">
              <a:lnSpc>
                <a:spcPct val="125000"/>
              </a:lnSpc>
              <a:tabLst>
                <a:tab algn="l" pos="0"/>
              </a:tabLst>
            </a:pPr>
            <a:r>
              <a:rPr lang="en-US" sz="2400" b="0" u="none" strike="noStrike">
                <a:solidFill>
                  <a:schemeClr val="dk1"/>
                </a:solidFill>
                <a:effectLst/>
                <a:uFillTx/>
                <a:latin typeface="Bodoni MT Black"/>
              </a:rPr>
              <a:t>③ 程序的编写者；</a:t>
            </a:r>
            <a:endParaRPr lang="en-US" sz="2400" b="0" u="none" strike="noStrike">
              <a:solidFill>
                <a:srgbClr val="000000"/>
              </a:solidFill>
              <a:effectLst/>
              <a:uFillTx/>
              <a:latin typeface="Arial"/>
            </a:endParaRPr>
          </a:p>
          <a:p>
            <a:pPr marL="377280">
              <a:lnSpc>
                <a:spcPct val="125000"/>
              </a:lnSpc>
              <a:tabLst>
                <a:tab algn="l" pos="0"/>
              </a:tabLst>
            </a:pPr>
            <a:r>
              <a:rPr lang="en-US" sz="2400" b="0" u="none" strike="noStrike">
                <a:solidFill>
                  <a:schemeClr val="dk1"/>
                </a:solidFill>
                <a:effectLst/>
                <a:uFillTx/>
                <a:latin typeface="Bodoni MT Black"/>
              </a:rPr>
              <a:t>④ 程序的测试者。</a:t>
            </a:r>
            <a:endParaRPr lang="en-US" sz="2400" b="0" u="none" strike="noStrike">
              <a:solidFill>
                <a:srgbClr val="000000"/>
              </a:solidFill>
              <a:effectLst/>
              <a:uFillTx/>
              <a:latin typeface="Arial"/>
            </a:endParaRPr>
          </a:p>
          <a:p>
            <a:pPr>
              <a:lnSpc>
                <a:spcPts val="3200"/>
              </a:lnSpc>
              <a:spcBef>
                <a:spcPts val="601"/>
              </a:spcBef>
              <a:tabLst>
                <a:tab algn="l" pos="0"/>
              </a:tabLst>
            </a:pPr>
            <a:endParaRPr lang="en-US" sz="2400" b="0" u="none" strike="noStrike">
              <a:solidFill>
                <a:srgbClr val="000000"/>
              </a:solidFill>
              <a:effectLst/>
              <a:uFillTx/>
              <a:latin typeface="Arial"/>
            </a:endParaRPr>
          </a:p>
        </p:txBody>
      </p:sp>
      <p:sp>
        <p:nvSpPr>
          <p:cNvPr id="241"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242"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7.3.2 </a:t>
            </a:r>
            <a:r>
              <a:rPr lang="zh-CN" sz="2400" b="0" u="none" strike="noStrike">
                <a:solidFill>
                  <a:srgbClr val="d9d9d9"/>
                </a:solidFill>
                <a:effectLst/>
                <a:uFillTx/>
                <a:latin typeface="Bodoni MT Black"/>
              </a:rPr>
              <a:t>代码审查</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7.3 </a:t>
            </a:r>
            <a:r>
              <a:rPr lang="zh-CN" sz="4400" b="1" u="none" strike="noStrike">
                <a:solidFill>
                  <a:schemeClr val="dk1"/>
                </a:solidFill>
                <a:effectLst/>
                <a:uFillTx/>
                <a:latin typeface="Bodoni MT Black"/>
              </a:rPr>
              <a:t>单元测试</a:t>
            </a:r>
            <a:endParaRPr lang="es-ES" sz="4400" b="0" u="none" strike="noStrike">
              <a:solidFill>
                <a:schemeClr val="dk1"/>
              </a:solidFill>
              <a:effectLst/>
              <a:uFillTx/>
              <a:latin typeface="Arial"/>
            </a:endParaRPr>
          </a:p>
        </p:txBody>
      </p:sp>
      <p:sp>
        <p:nvSpPr>
          <p:cNvPr id="244" name="TextBox 7"/>
          <p:cNvSpPr/>
          <p:nvPr/>
        </p:nvSpPr>
        <p:spPr>
          <a:xfrm>
            <a:off x="323640" y="1187280"/>
            <a:ext cx="8496360" cy="42469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rPr>
              <a:t>在</a:t>
            </a:r>
            <a:r>
              <a:rPr lang="zh-CN" sz="2400" b="0" u="none" strike="noStrike">
                <a:solidFill>
                  <a:srgbClr val="ff0000"/>
                </a:solidFill>
                <a:effectLst/>
                <a:uFillTx/>
                <a:latin typeface="Bodoni MT Black"/>
              </a:rPr>
              <a:t>审查会</a:t>
            </a:r>
            <a:r>
              <a:rPr lang="zh-CN" sz="2400" b="0" u="none" strike="noStrike">
                <a:solidFill>
                  <a:schemeClr val="dk1"/>
                </a:solidFill>
                <a:effectLst/>
                <a:uFillTx/>
                <a:latin typeface="Bodoni MT Black"/>
              </a:rPr>
              <a:t>上由程序的编写者解释他是怎样用程序代码实现设计的，通常是逐个语句地讲述程序的逻辑，小组其他成员仔细倾听他的讲解，并力图发现其中的错误。</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rPr>
              <a:t>审查会上需要对照程序设计</a:t>
            </a:r>
            <a:r>
              <a:rPr lang="zh-CN" sz="2400" b="0" u="none" strike="noStrike">
                <a:solidFill>
                  <a:srgbClr val="ff0000"/>
                </a:solidFill>
                <a:effectLst/>
                <a:uFillTx/>
                <a:latin typeface="Bodoni MT Black"/>
              </a:rPr>
              <a:t>常见错误清单</a:t>
            </a:r>
            <a:r>
              <a:rPr lang="zh-CN" sz="2400" b="0" u="none" strike="noStrike">
                <a:solidFill>
                  <a:schemeClr val="dk1"/>
                </a:solidFill>
                <a:effectLst/>
                <a:uFillTx/>
                <a:latin typeface="Bodoni MT Black"/>
              </a:rPr>
              <a:t>，分析审查这个程序。当发现错误时由组长记录下来，审查会继续进行（</a:t>
            </a:r>
            <a:r>
              <a:rPr lang="zh-CN" sz="2400" b="1" u="none" strike="noStrike">
                <a:solidFill>
                  <a:srgbClr val="0070c0"/>
                </a:solidFill>
                <a:effectLst/>
                <a:uFillTx/>
                <a:latin typeface="Bodoni MT Black"/>
              </a:rPr>
              <a:t>审查小组的任务是发现错误而不是改正错误</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ea typeface="宋体"/>
              </a:rPr>
              <a:t>审查会另外一种常见的进行方法，称为</a:t>
            </a:r>
            <a:r>
              <a:rPr lang="zh-CN" sz="2400" b="1" u="none" strike="noStrike">
                <a:solidFill>
                  <a:srgbClr val="ff0000"/>
                </a:solidFill>
                <a:effectLst/>
                <a:uFillTx/>
                <a:latin typeface="Bodoni MT Black"/>
                <a:ea typeface="宋体"/>
              </a:rPr>
              <a:t>预排</a:t>
            </a:r>
            <a:r>
              <a:rPr lang="zh-CN" sz="2400" b="0" u="none" strike="noStrike">
                <a:solidFill>
                  <a:schemeClr val="dk1"/>
                </a:solidFill>
                <a:effectLst/>
                <a:uFillTx/>
                <a:latin typeface="Bodoni MT Black"/>
                <a:ea typeface="宋体"/>
              </a:rPr>
              <a:t>：由一人扮演“测试者”，其他人扮演“计算机”。会前测试者准备好测试方案，会上由扮演计算机的成员模拟计算机执行被测试的程序。</a:t>
            </a:r>
            <a:endParaRPr lang="en-US" sz="2400" b="0" u="none" strike="noStrike">
              <a:solidFill>
                <a:srgbClr val="000000"/>
              </a:solidFill>
              <a:effectLst/>
              <a:uFillTx/>
              <a:latin typeface="Arial"/>
            </a:endParaRPr>
          </a:p>
        </p:txBody>
      </p:sp>
      <p:sp>
        <p:nvSpPr>
          <p:cNvPr id="245"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246"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7.3.2 </a:t>
            </a:r>
            <a:r>
              <a:rPr lang="zh-CN" sz="2400" b="0" u="none" strike="noStrike">
                <a:solidFill>
                  <a:srgbClr val="d9d9d9"/>
                </a:solidFill>
                <a:effectLst/>
                <a:uFillTx/>
                <a:latin typeface="Bodoni MT Black"/>
              </a:rPr>
              <a:t>代码审查</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7.3 </a:t>
            </a:r>
            <a:r>
              <a:rPr lang="zh-CN" sz="4400" b="1" u="none" strike="noStrike">
                <a:solidFill>
                  <a:schemeClr val="dk1"/>
                </a:solidFill>
                <a:effectLst/>
                <a:uFillTx/>
                <a:latin typeface="Bodoni MT Black"/>
              </a:rPr>
              <a:t>单元测试</a:t>
            </a:r>
            <a:endParaRPr lang="es-ES" sz="4400" b="0" u="none" strike="noStrike">
              <a:solidFill>
                <a:schemeClr val="dk1"/>
              </a:solidFill>
              <a:effectLst/>
              <a:uFillTx/>
              <a:latin typeface="Arial"/>
            </a:endParaRPr>
          </a:p>
        </p:txBody>
      </p:sp>
      <p:sp>
        <p:nvSpPr>
          <p:cNvPr id="248" name="TextBox 7"/>
          <p:cNvSpPr/>
          <p:nvPr/>
        </p:nvSpPr>
        <p:spPr>
          <a:xfrm>
            <a:off x="323640" y="1196640"/>
            <a:ext cx="8496360" cy="47088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rPr>
              <a:t>测试方案在代码审查中起一种促进思考引起讨论的作用。在大多数情况下，通过</a:t>
            </a:r>
            <a:r>
              <a:rPr lang="zh-CN" sz="2400" b="0" u="none" strike="noStrike">
                <a:solidFill>
                  <a:srgbClr val="ff0000"/>
                </a:solidFill>
                <a:effectLst/>
                <a:uFillTx/>
                <a:latin typeface="Bodoni MT Black"/>
              </a:rPr>
              <a:t>向程序员提出关于他的程序的逻辑和他编写程序时所做的假设的疑问</a:t>
            </a:r>
            <a:r>
              <a:rPr lang="zh-CN" sz="2400" b="0" u="none" strike="noStrike">
                <a:solidFill>
                  <a:schemeClr val="dk1"/>
                </a:solidFill>
                <a:effectLst/>
                <a:uFillTx/>
                <a:latin typeface="Bodoni MT Black"/>
              </a:rPr>
              <a:t>，可以发现的错误比由测试方案直接发现的错误还多。</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rPr>
              <a:t>代码审查比计算机测试</a:t>
            </a:r>
            <a:r>
              <a:rPr lang="zh-CN" sz="2400" b="0" u="none" strike="noStrike">
                <a:solidFill>
                  <a:srgbClr val="ff0000"/>
                </a:solidFill>
                <a:effectLst/>
                <a:uFillTx/>
                <a:latin typeface="Bodoni MT Black"/>
              </a:rPr>
              <a:t>优越</a:t>
            </a:r>
            <a:r>
              <a:rPr lang="zh-CN" sz="2400" b="0" u="none" strike="noStrike">
                <a:solidFill>
                  <a:schemeClr val="dk1"/>
                </a:solidFill>
                <a:effectLst/>
                <a:uFillTx/>
                <a:latin typeface="Bodoni MT Black"/>
              </a:rPr>
              <a:t>的是：一次审查会上可以发现许多错误；用计算机测试的方法发现错误之后，通常需要先改正这个错误才能继续测试，即：</a:t>
            </a:r>
            <a:r>
              <a:rPr lang="zh-CN" sz="2400" b="0" u="none" strike="noStrike">
                <a:solidFill>
                  <a:srgbClr val="ff0000"/>
                </a:solidFill>
                <a:effectLst/>
                <a:uFillTx/>
                <a:latin typeface="Bodoni MT Black"/>
              </a:rPr>
              <a:t>采用代码审查的方法可以减少系统验证的总工作量</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rgbClr val="0070c0"/>
                </a:solidFill>
                <a:effectLst/>
                <a:uFillTx/>
                <a:latin typeface="Bodoni MT Black"/>
              </a:rPr>
              <a:t>人工测试和计算机测试是互相补充，相辅相成的，缺少其中任何一种方法都会使查找错误的效率降低。</a:t>
            </a:r>
            <a:endParaRPr lang="en-US" sz="2400" b="0" u="none" strike="noStrike">
              <a:solidFill>
                <a:srgbClr val="000000"/>
              </a:solidFill>
              <a:effectLst/>
              <a:uFillTx/>
              <a:latin typeface="Arial"/>
            </a:endParaRPr>
          </a:p>
        </p:txBody>
      </p:sp>
      <p:sp>
        <p:nvSpPr>
          <p:cNvPr id="249"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250"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7.3.2 </a:t>
            </a:r>
            <a:r>
              <a:rPr lang="zh-CN" sz="2400" b="0" u="none" strike="noStrike">
                <a:solidFill>
                  <a:srgbClr val="d9d9d9"/>
                </a:solidFill>
                <a:effectLst/>
                <a:uFillTx/>
                <a:latin typeface="Bodoni MT Black"/>
              </a:rPr>
              <a:t>代码审查</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7.3 </a:t>
            </a:r>
            <a:r>
              <a:rPr lang="zh-CN" sz="4400" b="1" u="none" strike="noStrike">
                <a:solidFill>
                  <a:schemeClr val="dk1"/>
                </a:solidFill>
                <a:effectLst/>
                <a:uFillTx/>
                <a:latin typeface="Bodoni MT Black"/>
              </a:rPr>
              <a:t>单元测试</a:t>
            </a:r>
            <a:endParaRPr lang="es-ES" sz="4400" b="0" u="none" strike="noStrike">
              <a:solidFill>
                <a:schemeClr val="dk1"/>
              </a:solidFill>
              <a:effectLst/>
              <a:uFillTx/>
              <a:latin typeface="Arial"/>
            </a:endParaRPr>
          </a:p>
        </p:txBody>
      </p:sp>
      <p:sp>
        <p:nvSpPr>
          <p:cNvPr id="252" name="PlaceHolder 2"/>
          <p:cNvSpPr>
            <a:spLocks noGrp="1"/>
          </p:cNvSpPr>
          <p:nvPr>
            <p:ph/>
          </p:nvPr>
        </p:nvSpPr>
        <p:spPr>
          <a:xfrm>
            <a:off x="395280" y="116856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7.3.3 </a:t>
            </a:r>
            <a:r>
              <a:rPr lang="zh-CN" sz="3200" b="1" u="none" strike="noStrike">
                <a:solidFill>
                  <a:schemeClr val="dk1"/>
                </a:solidFill>
                <a:effectLst/>
                <a:uFillTx/>
                <a:latin typeface="Bodoni MT Black"/>
              </a:rPr>
              <a:t>计算机测试</a:t>
            </a:r>
            <a:endParaRPr lang="es-ES" sz="3200" b="0" u="none" strike="noStrike">
              <a:solidFill>
                <a:schemeClr val="dk1"/>
              </a:solidFill>
              <a:effectLst/>
              <a:uFillTx/>
              <a:latin typeface="Calibri"/>
            </a:endParaRPr>
          </a:p>
        </p:txBody>
      </p:sp>
      <p:sp>
        <p:nvSpPr>
          <p:cNvPr id="253" name="TextBox 7"/>
          <p:cNvSpPr/>
          <p:nvPr/>
        </p:nvSpPr>
        <p:spPr>
          <a:xfrm>
            <a:off x="323640" y="1917000"/>
            <a:ext cx="8496720" cy="33235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rPr>
              <a:t>模块不是一个独立的程序，因此必须为每个单元测试开发</a:t>
            </a:r>
            <a:r>
              <a:rPr lang="zh-CN" sz="2400" b="1" u="none" strike="noStrike">
                <a:solidFill>
                  <a:srgbClr val="c00000"/>
                </a:solidFill>
                <a:effectLst/>
                <a:uFillTx/>
                <a:latin typeface="Bodoni MT Black"/>
              </a:rPr>
              <a:t>驱动软件</a:t>
            </a:r>
            <a:r>
              <a:rPr lang="zh-CN" sz="2400" b="0" u="none" strike="noStrike">
                <a:solidFill>
                  <a:schemeClr val="dk1"/>
                </a:solidFill>
                <a:effectLst/>
                <a:uFillTx/>
                <a:latin typeface="Bodoni MT Black"/>
              </a:rPr>
              <a:t>和（</a:t>
            </a:r>
            <a:r>
              <a:rPr lang="zh-CN" sz="2400" b="0" u="none" strike="noStrike">
                <a:solidFill>
                  <a:schemeClr val="dk1"/>
                </a:solidFill>
                <a:effectLst/>
                <a:uFillTx/>
                <a:latin typeface="Bodoni MT Black"/>
                <a:ea typeface="宋体"/>
              </a:rPr>
              <a:t>或）</a:t>
            </a:r>
            <a:r>
              <a:rPr lang="zh-CN" sz="2400" b="1" u="none" strike="noStrike">
                <a:solidFill>
                  <a:srgbClr val="c00000"/>
                </a:solidFill>
                <a:effectLst/>
                <a:uFillTx/>
                <a:latin typeface="Bodoni MT Black"/>
                <a:ea typeface="宋体"/>
              </a:rPr>
              <a:t>存根软件</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marL="343080" indent="-343080">
              <a:lnSpc>
                <a:spcPct val="125000"/>
              </a:lnSpc>
              <a:buClr>
                <a:srgbClr val="c00000"/>
              </a:buClr>
              <a:buFont typeface="Wingdings" charset="2"/>
              <a:buChar char=""/>
              <a:tabLst>
                <a:tab algn="l" pos="0"/>
              </a:tabLst>
            </a:pPr>
            <a:r>
              <a:rPr lang="zh-CN" sz="2400" b="1" u="none" strike="noStrike">
                <a:solidFill>
                  <a:srgbClr val="c00000"/>
                </a:solidFill>
                <a:effectLst/>
                <a:uFillTx/>
                <a:latin typeface="Bodoni MT Black"/>
                <a:ea typeface="宋体"/>
              </a:rPr>
              <a:t>驱动程序</a:t>
            </a:r>
            <a:r>
              <a:rPr lang="zh-CN" sz="2400" b="0" u="none" strike="noStrike">
                <a:solidFill>
                  <a:schemeClr val="dk1"/>
                </a:solidFill>
                <a:effectLst/>
                <a:uFillTx/>
                <a:latin typeface="Bodoni MT Black"/>
                <a:ea typeface="宋体"/>
              </a:rPr>
              <a:t>是一个“</a:t>
            </a:r>
            <a:r>
              <a:rPr lang="zh-CN" sz="2400" b="0" u="none" strike="noStrike">
                <a:solidFill>
                  <a:srgbClr val="ff0000"/>
                </a:solidFill>
                <a:effectLst/>
                <a:uFillTx/>
                <a:latin typeface="Bodoni MT Black"/>
                <a:ea typeface="宋体"/>
              </a:rPr>
              <a:t>主程序</a:t>
            </a:r>
            <a:r>
              <a:rPr lang="en-US" sz="2400" b="0" u="none" strike="noStrike">
                <a:solidFill>
                  <a:schemeClr val="dk1"/>
                </a:solidFill>
                <a:effectLst/>
                <a:uFillTx/>
                <a:latin typeface="Bodoni MT Black"/>
                <a:ea typeface="宋体"/>
              </a:rPr>
              <a:t>”，它</a:t>
            </a:r>
            <a:r>
              <a:rPr lang="zh-CN" sz="2400" b="0" u="none" strike="noStrike">
                <a:solidFill>
                  <a:srgbClr val="ff0000"/>
                </a:solidFill>
                <a:effectLst/>
                <a:uFillTx/>
                <a:latin typeface="Bodoni MT Black"/>
                <a:ea typeface="宋体"/>
              </a:rPr>
              <a:t>接收测试数据</a:t>
            </a:r>
            <a:r>
              <a:rPr lang="zh-CN" sz="2400" b="0" u="none" strike="noStrike">
                <a:solidFill>
                  <a:schemeClr val="dk1"/>
                </a:solidFill>
                <a:effectLst/>
                <a:uFillTx/>
                <a:latin typeface="Bodoni MT Black"/>
                <a:ea typeface="宋体"/>
              </a:rPr>
              <a:t>，把这些数据传送给被测试的模块，并且印出有关的结果。</a:t>
            </a:r>
            <a:endParaRPr lang="en-US" sz="2400" b="0" u="none" strike="noStrike">
              <a:solidFill>
                <a:srgbClr val="000000"/>
              </a:solidFill>
              <a:effectLst/>
              <a:uFillTx/>
              <a:latin typeface="Arial"/>
            </a:endParaRPr>
          </a:p>
          <a:p>
            <a:pPr marL="343080" indent="-343080">
              <a:lnSpc>
                <a:spcPct val="125000"/>
              </a:lnSpc>
              <a:buClr>
                <a:srgbClr val="c00000"/>
              </a:buClr>
              <a:buFont typeface="Wingdings" charset="2"/>
              <a:buChar char=""/>
              <a:tabLst>
                <a:tab algn="l" pos="0"/>
              </a:tabLst>
            </a:pPr>
            <a:r>
              <a:rPr lang="zh-CN" sz="2400" b="1" u="none" strike="noStrike">
                <a:solidFill>
                  <a:srgbClr val="c00000"/>
                </a:solidFill>
                <a:effectLst/>
                <a:uFillTx/>
                <a:latin typeface="Bodoni MT Black"/>
                <a:ea typeface="宋体"/>
              </a:rPr>
              <a:t>存根程序</a:t>
            </a:r>
            <a:r>
              <a:rPr lang="zh-CN" sz="2400" b="0" u="none" strike="noStrike">
                <a:solidFill>
                  <a:schemeClr val="dk1"/>
                </a:solidFill>
                <a:effectLst/>
                <a:uFillTx/>
                <a:latin typeface="Bodoni MT Black"/>
                <a:ea typeface="宋体"/>
              </a:rPr>
              <a:t>代替</a:t>
            </a:r>
            <a:r>
              <a:rPr lang="zh-CN" sz="2400" b="0" u="none" strike="noStrike">
                <a:solidFill>
                  <a:srgbClr val="ff0000"/>
                </a:solidFill>
                <a:effectLst/>
                <a:uFillTx/>
                <a:latin typeface="Bodoni MT Black"/>
                <a:ea typeface="宋体"/>
              </a:rPr>
              <a:t>被测试的模块所调用的模块</a:t>
            </a:r>
            <a:r>
              <a:rPr lang="zh-CN" sz="2400" b="0" u="none" strike="noStrike">
                <a:solidFill>
                  <a:schemeClr val="dk1"/>
                </a:solidFill>
                <a:effectLst/>
                <a:uFillTx/>
                <a:latin typeface="Bodoni MT Black"/>
                <a:ea typeface="宋体"/>
              </a:rPr>
              <a:t>，它使用被它</a:t>
            </a:r>
            <a:r>
              <a:rPr lang="zh-CN" sz="2400" b="0" u="none" strike="noStrike">
                <a:solidFill>
                  <a:srgbClr val="ff0000"/>
                </a:solidFill>
                <a:effectLst/>
                <a:uFillTx/>
                <a:latin typeface="Bodoni MT Black"/>
                <a:ea typeface="宋体"/>
              </a:rPr>
              <a:t>代替的模块的接口</a:t>
            </a:r>
            <a:r>
              <a:rPr lang="zh-CN" sz="2400" b="0" u="none" strike="noStrike">
                <a:solidFill>
                  <a:schemeClr val="dk1"/>
                </a:solidFill>
                <a:effectLst/>
                <a:uFillTx/>
                <a:latin typeface="Bodoni MT Black"/>
                <a:ea typeface="宋体"/>
              </a:rPr>
              <a:t>，可能做</a:t>
            </a:r>
            <a:r>
              <a:rPr lang="zh-CN" sz="2400" b="0" u="none" strike="noStrike">
                <a:solidFill>
                  <a:srgbClr val="ff0000"/>
                </a:solidFill>
                <a:effectLst/>
                <a:uFillTx/>
                <a:latin typeface="Bodoni MT Black"/>
                <a:ea typeface="宋体"/>
              </a:rPr>
              <a:t>最少量的数据操作</a:t>
            </a:r>
            <a:r>
              <a:rPr lang="zh-CN" sz="2400" b="0" u="none" strike="noStrike">
                <a:solidFill>
                  <a:schemeClr val="dk1"/>
                </a:solidFill>
                <a:effectLst/>
                <a:uFillTx/>
                <a:latin typeface="Bodoni MT Black"/>
                <a:ea typeface="宋体"/>
              </a:rPr>
              <a:t>，印出对入口的检验或操作结果，并且把控制归还给调用它的模块。</a:t>
            </a:r>
            <a:endParaRPr lang="en-US" sz="2400" b="0" u="none" strike="noStrike">
              <a:solidFill>
                <a:srgbClr val="000000"/>
              </a:solidFill>
              <a:effectLst/>
              <a:uFillTx/>
              <a:latin typeface="Arial"/>
            </a:endParaRPr>
          </a:p>
        </p:txBody>
      </p:sp>
      <p:sp>
        <p:nvSpPr>
          <p:cNvPr id="254"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255"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7.3.3 </a:t>
            </a:r>
            <a:r>
              <a:rPr lang="zh-CN" sz="2400" b="0" u="none" strike="noStrike">
                <a:solidFill>
                  <a:srgbClr val="d9d9d9"/>
                </a:solidFill>
                <a:effectLst/>
                <a:uFillTx/>
                <a:latin typeface="Bodoni MT Black"/>
              </a:rPr>
              <a:t>计算机测试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7.3 </a:t>
            </a:r>
            <a:r>
              <a:rPr lang="zh-CN" sz="4400" b="1" u="none" strike="noStrike">
                <a:solidFill>
                  <a:schemeClr val="dk1"/>
                </a:solidFill>
                <a:effectLst/>
                <a:uFillTx/>
                <a:latin typeface="Bodoni MT Black"/>
              </a:rPr>
              <a:t>单元测试</a:t>
            </a:r>
            <a:endParaRPr lang="es-ES" sz="4400" b="0" u="none" strike="noStrike">
              <a:solidFill>
                <a:schemeClr val="dk1"/>
              </a:solidFill>
              <a:effectLst/>
              <a:uFillTx/>
              <a:latin typeface="Arial"/>
            </a:endParaRPr>
          </a:p>
        </p:txBody>
      </p:sp>
      <p:sp>
        <p:nvSpPr>
          <p:cNvPr id="257" name="TextBox 7"/>
          <p:cNvSpPr/>
          <p:nvPr/>
        </p:nvSpPr>
        <p:spPr>
          <a:xfrm>
            <a:off x="256680" y="1086120"/>
            <a:ext cx="3887280" cy="4709880"/>
          </a:xfrm>
          <a:prstGeom prst="rect">
            <a:avLst/>
          </a:prstGeom>
          <a:noFill/>
          <a:ln w="0">
            <a:noFill/>
          </a:ln>
        </p:spPr>
        <p:style>
          <a:lnRef idx="0"/>
          <a:fillRef idx="0"/>
          <a:effectRef idx="0"/>
          <a:fontRef idx="minor"/>
        </p:style>
        <p:txBody>
          <a:bodyPr lIns="90000" rIns="90000" tIns="45000" bIns="45000" anchor="t">
            <a:spAutoFit/>
          </a:bodyPr>
          <a:p>
            <a:pPr>
              <a:lnSpc>
                <a:spcPts val="2999"/>
              </a:lnSpc>
              <a:spcBef>
                <a:spcPts val="601"/>
              </a:spcBef>
              <a:tabLst>
                <a:tab algn="l" pos="0"/>
              </a:tabLst>
            </a:pPr>
            <a:r>
              <a:rPr lang="zh-CN" sz="2200" b="0" u="none" strike="noStrike">
                <a:solidFill>
                  <a:schemeClr val="dk1"/>
                </a:solidFill>
                <a:effectLst/>
                <a:uFillTx/>
                <a:latin typeface="Bodoni MT Black"/>
              </a:rPr>
              <a:t>右图是一个</a:t>
            </a:r>
            <a:r>
              <a:rPr lang="zh-CN" sz="2200" b="0" u="none" strike="noStrike">
                <a:solidFill>
                  <a:srgbClr val="ff0000"/>
                </a:solidFill>
                <a:effectLst/>
                <a:uFillTx/>
                <a:latin typeface="Bodoni MT Black"/>
              </a:rPr>
              <a:t>正文加工系统</a:t>
            </a:r>
            <a:r>
              <a:rPr lang="zh-CN" sz="2200" b="0" u="none" strike="noStrike">
                <a:solidFill>
                  <a:schemeClr val="dk1"/>
                </a:solidFill>
                <a:effectLst/>
                <a:uFillTx/>
                <a:latin typeface="Bodoni MT Black"/>
              </a:rPr>
              <a:t>的部分层次图，假定要测试编号为</a:t>
            </a:r>
            <a:r>
              <a:rPr lang="en-US" sz="2200" b="0" u="none" strike="noStrike">
                <a:solidFill>
                  <a:schemeClr val="dk1"/>
                </a:solidFill>
                <a:effectLst/>
                <a:uFillTx/>
                <a:latin typeface="Bodoni MT Black"/>
              </a:rPr>
              <a:t>3.0</a:t>
            </a:r>
            <a:r>
              <a:rPr lang="zh-CN" sz="2200" b="0" u="none" strike="noStrike">
                <a:solidFill>
                  <a:schemeClr val="dk1"/>
                </a:solidFill>
                <a:effectLst/>
                <a:uFillTx/>
                <a:latin typeface="Bodoni MT Black"/>
              </a:rPr>
              <a:t>的关键模块——</a:t>
            </a:r>
            <a:r>
              <a:rPr lang="zh-CN" sz="2200" b="0" u="none" strike="noStrike">
                <a:solidFill>
                  <a:srgbClr val="ff0000"/>
                </a:solidFill>
                <a:effectLst/>
                <a:uFillTx/>
                <a:latin typeface="Bodoni MT Black"/>
              </a:rPr>
              <a:t>正文编辑模块</a:t>
            </a:r>
            <a:r>
              <a:rPr lang="zh-CN" sz="2200" b="0" u="none" strike="noStrike">
                <a:solidFill>
                  <a:schemeClr val="dk1"/>
                </a:solidFill>
                <a:effectLst/>
                <a:uFillTx/>
                <a:latin typeface="Bodoni MT Black"/>
              </a:rPr>
              <a:t>。正文编辑模块不是一个独立的程序，需要有一个</a:t>
            </a:r>
            <a:r>
              <a:rPr lang="zh-CN" sz="2200" b="0" u="none" strike="noStrike">
                <a:solidFill>
                  <a:srgbClr val="ff0000"/>
                </a:solidFill>
                <a:effectLst/>
                <a:uFillTx/>
                <a:latin typeface="Bodoni MT Black"/>
              </a:rPr>
              <a:t>测试驱动程序</a:t>
            </a:r>
            <a:r>
              <a:rPr lang="zh-CN" sz="2200" b="0" u="none" strike="noStrike">
                <a:solidFill>
                  <a:schemeClr val="dk1"/>
                </a:solidFill>
                <a:effectLst/>
                <a:uFillTx/>
                <a:latin typeface="Bodoni MT Black"/>
              </a:rPr>
              <a:t>来调用它。这个驱动程序说明必要的变量，接收测试数据——字符串，设置正文编辑模块的编辑功能。并且需要有</a:t>
            </a:r>
            <a:r>
              <a:rPr lang="zh-CN" sz="2200" b="0" u="none" strike="noStrike">
                <a:solidFill>
                  <a:srgbClr val="0070c0"/>
                </a:solidFill>
                <a:effectLst/>
                <a:uFillTx/>
                <a:latin typeface="Bodoni MT Black"/>
              </a:rPr>
              <a:t>存根程序</a:t>
            </a:r>
            <a:r>
              <a:rPr lang="zh-CN" sz="2200" b="0" u="none" strike="noStrike">
                <a:solidFill>
                  <a:schemeClr val="dk1"/>
                </a:solidFill>
                <a:effectLst/>
                <a:uFillTx/>
                <a:latin typeface="Bodoni MT Black"/>
              </a:rPr>
              <a:t>简化地模拟正文编辑模块的</a:t>
            </a:r>
            <a:r>
              <a:rPr lang="zh-CN" sz="2200" b="0" u="none" strike="noStrike">
                <a:solidFill>
                  <a:srgbClr val="0070c0"/>
                </a:solidFill>
                <a:effectLst/>
                <a:uFillTx/>
                <a:latin typeface="Bodoni MT Black"/>
              </a:rPr>
              <a:t>下层模块</a:t>
            </a:r>
            <a:r>
              <a:rPr lang="zh-CN" sz="2200" b="0" u="none" strike="noStrike">
                <a:solidFill>
                  <a:schemeClr val="dk1"/>
                </a:solidFill>
                <a:effectLst/>
                <a:uFillTx/>
                <a:latin typeface="Bodoni MT Black"/>
              </a:rPr>
              <a:t>来完成具体的编辑功能。</a:t>
            </a:r>
            <a:endParaRPr lang="en-US" sz="2200" b="0" u="none" strike="noStrike">
              <a:solidFill>
                <a:srgbClr val="000000"/>
              </a:solidFill>
              <a:effectLst/>
              <a:uFillTx/>
              <a:latin typeface="Arial"/>
            </a:endParaRPr>
          </a:p>
        </p:txBody>
      </p:sp>
      <p:pic>
        <p:nvPicPr>
          <p:cNvPr id="258" name="图片 1"/>
          <p:cNvPicPr/>
          <p:nvPr/>
        </p:nvPicPr>
        <p:blipFill>
          <a:blip r:embed="rId1"/>
          <a:stretch/>
        </p:blipFill>
        <p:spPr>
          <a:xfrm>
            <a:off x="4159080" y="1989000"/>
            <a:ext cx="4752720" cy="2820960"/>
          </a:xfrm>
          <a:prstGeom prst="rect">
            <a:avLst/>
          </a:prstGeom>
          <a:noFill/>
          <a:ln w="9525">
            <a:noFill/>
          </a:ln>
        </p:spPr>
      </p:pic>
      <p:sp>
        <p:nvSpPr>
          <p:cNvPr id="259"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260"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7.3.3 </a:t>
            </a:r>
            <a:r>
              <a:rPr lang="zh-CN" sz="2400" b="0" u="none" strike="noStrike">
                <a:solidFill>
                  <a:srgbClr val="d9d9d9"/>
                </a:solidFill>
                <a:effectLst/>
                <a:uFillTx/>
                <a:latin typeface="Bodoni MT Black"/>
              </a:rPr>
              <a:t>计算机测试</a:t>
            </a:r>
            <a:endParaRPr lang="en-US" sz="2400" b="0" u="none" strike="noStrike">
              <a:solidFill>
                <a:srgbClr val="000000"/>
              </a:solidFill>
              <a:effectLst/>
              <a:uFillTx/>
              <a:latin typeface="Arial"/>
            </a:endParaRPr>
          </a:p>
        </p:txBody>
      </p:sp>
      <p:sp>
        <p:nvSpPr>
          <p:cNvPr id="261" name="矩形 1"/>
          <p:cNvSpPr/>
          <p:nvPr/>
        </p:nvSpPr>
        <p:spPr>
          <a:xfrm>
            <a:off x="5292000" y="2709000"/>
            <a:ext cx="647640" cy="647640"/>
          </a:xfrm>
          <a:prstGeom prst="rect">
            <a:avLst/>
          </a:prstGeom>
          <a:solidFill>
            <a:srgbClr val="669900">
              <a:alpha val="3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cxnSp>
        <p:nvCxnSpPr>
          <p:cNvPr id="262" name="直接箭头连接符 3"/>
          <p:cNvCxnSpPr/>
          <p:nvPr/>
        </p:nvCxnSpPr>
        <p:spPr>
          <a:xfrm>
            <a:off x="5580000" y="2348640"/>
            <a:ext cx="360" cy="288360"/>
          </a:xfrm>
          <a:prstGeom prst="straightConnector1">
            <a:avLst/>
          </a:prstGeom>
          <a:ln w="38100">
            <a:solidFill>
              <a:srgbClr val="ff0000"/>
            </a:solidFill>
            <a:round/>
            <a:tailEnd len="med" type="triangle" w="med"/>
          </a:ln>
        </p:spPr>
      </p:cxnSp>
      <p:sp>
        <p:nvSpPr>
          <p:cNvPr id="263" name="文本框 4"/>
          <p:cNvSpPr/>
          <p:nvPr/>
        </p:nvSpPr>
        <p:spPr>
          <a:xfrm>
            <a:off x="4625280" y="1718280"/>
            <a:ext cx="2031120" cy="6458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1800" b="1" u="none" strike="noStrike">
                <a:solidFill>
                  <a:srgbClr val="ff0000"/>
                </a:solidFill>
                <a:effectLst/>
                <a:uFillTx/>
                <a:latin typeface="Arial"/>
                <a:ea typeface="宋体"/>
              </a:rPr>
              <a:t>驱动程序</a:t>
            </a:r>
            <a:endParaRPr lang="en-US" sz="1800" b="0" u="none" strike="noStrike">
              <a:solidFill>
                <a:srgbClr val="000000"/>
              </a:solidFill>
              <a:effectLst/>
              <a:uFillTx/>
              <a:latin typeface="Arial"/>
            </a:endParaRPr>
          </a:p>
          <a:p>
            <a:pPr>
              <a:lnSpc>
                <a:spcPct val="100000"/>
              </a:lnSpc>
            </a:pPr>
            <a:r>
              <a:rPr lang="zh-CN" sz="1800" b="1" u="none" strike="noStrike">
                <a:solidFill>
                  <a:srgbClr val="ff0000"/>
                </a:solidFill>
                <a:effectLst/>
                <a:uFillTx/>
                <a:latin typeface="Arial"/>
                <a:ea typeface="宋体"/>
              </a:rPr>
              <a:t>（提供测试数据）</a:t>
            </a:r>
            <a:endParaRPr lang="en-US" sz="1800" b="0" u="none" strike="noStrike">
              <a:solidFill>
                <a:srgbClr val="000000"/>
              </a:solidFill>
              <a:effectLst/>
              <a:uFillTx/>
              <a:latin typeface="Arial"/>
            </a:endParaRPr>
          </a:p>
        </p:txBody>
      </p:sp>
      <p:cxnSp>
        <p:nvCxnSpPr>
          <p:cNvPr id="264" name="直接箭头连接符 6"/>
          <p:cNvCxnSpPr/>
          <p:nvPr/>
        </p:nvCxnSpPr>
        <p:spPr>
          <a:xfrm flipV="1">
            <a:off x="5616000" y="3399480"/>
            <a:ext cx="360" cy="317880"/>
          </a:xfrm>
          <a:prstGeom prst="straightConnector1">
            <a:avLst/>
          </a:prstGeom>
          <a:ln w="38100">
            <a:solidFill>
              <a:srgbClr val="0070c0"/>
            </a:solidFill>
            <a:round/>
            <a:tailEnd len="med" type="triangle" w="med"/>
          </a:ln>
        </p:spPr>
      </p:cxnSp>
      <p:sp>
        <p:nvSpPr>
          <p:cNvPr id="265" name="文本框 12"/>
          <p:cNvSpPr/>
          <p:nvPr/>
        </p:nvSpPr>
        <p:spPr>
          <a:xfrm>
            <a:off x="4382280" y="3441240"/>
            <a:ext cx="2031120" cy="6458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1800" b="1" u="none" strike="noStrike">
                <a:solidFill>
                  <a:srgbClr val="0070c0"/>
                </a:solidFill>
                <a:effectLst/>
                <a:uFillTx/>
                <a:latin typeface="Arial"/>
                <a:ea typeface="宋体"/>
              </a:rPr>
              <a:t>存根程序</a:t>
            </a:r>
            <a:endParaRPr lang="en-US" sz="1800" b="0" u="none" strike="noStrike">
              <a:solidFill>
                <a:srgbClr val="000000"/>
              </a:solidFill>
              <a:effectLst/>
              <a:uFillTx/>
              <a:latin typeface="Arial"/>
            </a:endParaRPr>
          </a:p>
          <a:p>
            <a:pPr>
              <a:lnSpc>
                <a:spcPct val="100000"/>
              </a:lnSpc>
            </a:pPr>
            <a:r>
              <a:rPr lang="zh-CN" sz="1800" b="1" u="none" strike="noStrike">
                <a:solidFill>
                  <a:srgbClr val="0070c0"/>
                </a:solidFill>
                <a:effectLst/>
                <a:uFillTx/>
                <a:latin typeface="Arial"/>
                <a:ea typeface="宋体"/>
              </a:rPr>
              <a:t>（代替模块接口）</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7.3 </a:t>
            </a:r>
            <a:r>
              <a:rPr lang="zh-CN" sz="4400" b="1" u="none" strike="noStrike">
                <a:solidFill>
                  <a:schemeClr val="dk1"/>
                </a:solidFill>
                <a:effectLst/>
                <a:uFillTx/>
                <a:latin typeface="Bodoni MT Black"/>
              </a:rPr>
              <a:t>单元测试</a:t>
            </a:r>
            <a:endParaRPr lang="es-ES" sz="4400" b="0" u="none" strike="noStrike">
              <a:solidFill>
                <a:schemeClr val="dk1"/>
              </a:solidFill>
              <a:effectLst/>
              <a:uFillTx/>
              <a:latin typeface="Arial"/>
            </a:endParaRPr>
          </a:p>
        </p:txBody>
      </p:sp>
      <p:sp>
        <p:nvSpPr>
          <p:cNvPr id="267" name="TextBox 7"/>
          <p:cNvSpPr/>
          <p:nvPr/>
        </p:nvSpPr>
        <p:spPr>
          <a:xfrm>
            <a:off x="332640" y="980640"/>
            <a:ext cx="8602920" cy="147708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rPr>
              <a:t>测试时，设置</a:t>
            </a:r>
            <a:r>
              <a:rPr lang="zh-CN" sz="2400" b="0" u="none" strike="noStrike">
                <a:solidFill>
                  <a:srgbClr val="ff0000"/>
                </a:solidFill>
                <a:effectLst/>
                <a:uFillTx/>
                <a:latin typeface="Bodoni MT Black"/>
              </a:rPr>
              <a:t>修改（</a:t>
            </a:r>
            <a:r>
              <a:rPr lang="en-US" sz="2400" b="0" u="none" strike="noStrike">
                <a:solidFill>
                  <a:schemeClr val="dk1"/>
                </a:solidFill>
                <a:effectLst/>
                <a:uFillTx/>
                <a:latin typeface="Bodoni MT Black"/>
                <a:ea typeface="宋体"/>
              </a:rPr>
              <a:t> </a:t>
            </a:r>
            <a:r>
              <a:rPr lang="en-US" sz="2400" b="0" u="none" strike="noStrike">
                <a:solidFill>
                  <a:srgbClr val="ff0000"/>
                </a:solidFill>
                <a:effectLst/>
                <a:uFillTx/>
                <a:latin typeface="Bodoni MT Black"/>
                <a:ea typeface="宋体"/>
              </a:rPr>
              <a:t>CHANGE</a:t>
            </a:r>
            <a:r>
              <a:rPr lang="zh-CN" sz="2400" b="0" u="none" strike="noStrike">
                <a:solidFill>
                  <a:srgbClr val="ff0000"/>
                </a:solidFill>
                <a:effectLst/>
                <a:uFillTx/>
                <a:latin typeface="Bodoni MT Black"/>
                <a:ea typeface="宋体"/>
              </a:rPr>
              <a:t>）</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添加（ </a:t>
            </a:r>
            <a:r>
              <a:rPr lang="en-US" sz="2400" b="0" u="none" strike="noStrike">
                <a:solidFill>
                  <a:srgbClr val="ff0000"/>
                </a:solidFill>
                <a:effectLst/>
                <a:uFillTx/>
                <a:latin typeface="Bodoni MT Black"/>
                <a:ea typeface="宋体"/>
              </a:rPr>
              <a:t>APPEND </a:t>
            </a:r>
            <a:r>
              <a:rPr lang="zh-CN" sz="2400" b="0" u="none" strike="noStrike">
                <a:solidFill>
                  <a:srgbClr val="ff0000"/>
                </a:solidFill>
                <a:effectLst/>
                <a:uFillTx/>
                <a:latin typeface="Bodoni MT Black"/>
                <a:ea typeface="宋体"/>
              </a:rPr>
              <a:t>）</a:t>
            </a:r>
            <a:r>
              <a:rPr lang="zh-CN" sz="2400" b="0" u="none" strike="noStrike">
                <a:solidFill>
                  <a:schemeClr val="dk1"/>
                </a:solidFill>
                <a:effectLst/>
                <a:uFillTx/>
                <a:latin typeface="Bodoni MT Black"/>
                <a:ea typeface="宋体"/>
              </a:rPr>
              <a:t>两种编辑功能，用</a:t>
            </a:r>
            <a:r>
              <a:rPr lang="zh-CN" sz="2400" b="0" u="none" strike="noStrike">
                <a:solidFill>
                  <a:srgbClr val="0070c0"/>
                </a:solidFill>
                <a:effectLst/>
                <a:uFillTx/>
                <a:latin typeface="Bodoni MT Black"/>
                <a:ea typeface="宋体"/>
              </a:rPr>
              <a:t>控制变量</a:t>
            </a:r>
            <a:r>
              <a:rPr lang="en-US" sz="2400" b="0" u="none" strike="noStrike">
                <a:solidFill>
                  <a:srgbClr val="0070c0"/>
                </a:solidFill>
                <a:effectLst/>
                <a:uFillTx/>
                <a:latin typeface="Bodoni MT Black"/>
                <a:ea typeface="宋体"/>
              </a:rPr>
              <a:t>CFUNCT</a:t>
            </a:r>
            <a:r>
              <a:rPr lang="zh-CN" sz="2400" b="0" u="none" strike="noStrike">
                <a:solidFill>
                  <a:schemeClr val="dk1"/>
                </a:solidFill>
                <a:effectLst/>
                <a:uFillTx/>
                <a:latin typeface="Bodoni MT Black"/>
                <a:ea typeface="宋体"/>
              </a:rPr>
              <a:t>标记要求的编辑功能，而且只用一个存根程序模拟正文编辑模块的所有下层模块。</a:t>
            </a:r>
            <a:endParaRPr lang="en-US" sz="2400" b="0" u="none" strike="noStrike">
              <a:solidFill>
                <a:srgbClr val="000000"/>
              </a:solidFill>
              <a:effectLst/>
              <a:uFillTx/>
              <a:latin typeface="Arial"/>
            </a:endParaRPr>
          </a:p>
        </p:txBody>
      </p:sp>
      <p:sp>
        <p:nvSpPr>
          <p:cNvPr id="268" name="文本框 1"/>
          <p:cNvSpPr/>
          <p:nvPr/>
        </p:nvSpPr>
        <p:spPr>
          <a:xfrm>
            <a:off x="301680" y="2610000"/>
            <a:ext cx="4198680" cy="3477600"/>
          </a:xfrm>
          <a:prstGeom prst="rect">
            <a:avLst/>
          </a:prstGeom>
          <a:noFill/>
          <a:ln w="19050">
            <a:solidFill>
              <a:srgbClr val="000000"/>
            </a:solidFill>
            <a:round/>
          </a:ln>
        </p:spPr>
        <p:style>
          <a:lnRef idx="0"/>
          <a:fillRef idx="0"/>
          <a:effectRef idx="0"/>
          <a:fontRef idx="minor"/>
        </p:style>
        <p:txBody>
          <a:bodyPr lIns="90000" rIns="90000" tIns="45000" bIns="45000" anchor="t">
            <a:spAutoFit/>
          </a:bodyPr>
          <a:p>
            <a:pPr>
              <a:lnSpc>
                <a:spcPts val="2200"/>
              </a:lnSpc>
            </a:pPr>
            <a:r>
              <a:rPr lang="en-US" sz="1800" b="0" u="none" strike="noStrike">
                <a:solidFill>
                  <a:srgbClr val="0070c0"/>
                </a:solidFill>
                <a:effectLst/>
                <a:uFillTx/>
                <a:latin typeface="Bodoni MT Black"/>
              </a:rPr>
              <a:t>TEST STUB(*</a:t>
            </a:r>
            <a:r>
              <a:rPr lang="zh-CN" sz="1800" b="0" u="none" strike="noStrike">
                <a:solidFill>
                  <a:srgbClr val="0070c0"/>
                </a:solidFill>
                <a:effectLst/>
                <a:uFillTx/>
                <a:latin typeface="Bodoni MT Black"/>
              </a:rPr>
              <a:t>存根程序</a:t>
            </a:r>
            <a:r>
              <a:rPr lang="en-US" sz="1800" b="0" u="none" strike="noStrike">
                <a:solidFill>
                  <a:srgbClr val="0070c0"/>
                </a:solidFill>
                <a:effectLst/>
                <a:uFillTx/>
                <a:latin typeface="Bodoni MT Black"/>
              </a:rPr>
              <a:t>*)</a:t>
            </a:r>
            <a:endParaRPr lang="en-US" sz="1800" b="0" u="none" strike="noStrike">
              <a:solidFill>
                <a:srgbClr val="000000"/>
              </a:solidFill>
              <a:effectLst/>
              <a:uFillTx/>
              <a:latin typeface="Arial"/>
            </a:endParaRPr>
          </a:p>
          <a:p>
            <a:pPr>
              <a:lnSpc>
                <a:spcPts val="2200"/>
              </a:lnSpc>
            </a:pPr>
            <a:r>
              <a:rPr lang="en-US" sz="1800" b="0" u="none" strike="noStrike">
                <a:solidFill>
                  <a:schemeClr val="dk1"/>
                </a:solidFill>
                <a:effectLst/>
                <a:uFillTx/>
                <a:latin typeface="Bodoni MT Black"/>
              </a:rPr>
              <a:t>     初始化；</a:t>
            </a:r>
            <a:endParaRPr lang="en-US" sz="1800" b="0" u="none" strike="noStrike">
              <a:solidFill>
                <a:srgbClr val="000000"/>
              </a:solidFill>
              <a:effectLst/>
              <a:uFillTx/>
              <a:latin typeface="Arial"/>
            </a:endParaRPr>
          </a:p>
          <a:p>
            <a:pPr>
              <a:lnSpc>
                <a:spcPts val="2200"/>
              </a:lnSpc>
            </a:pPr>
            <a:r>
              <a:rPr lang="en-US" sz="1800" b="0" u="none" strike="noStrike">
                <a:solidFill>
                  <a:schemeClr val="dk1"/>
                </a:solidFill>
                <a:effectLst/>
                <a:uFillTx/>
                <a:latin typeface="Bodoni MT Black"/>
              </a:rPr>
              <a:t>     输出信息“进入了正文编辑程序”</a:t>
            </a:r>
            <a:r>
              <a:rPr lang="en-US" sz="1800" b="0" u="none" strike="noStrike">
                <a:solidFill>
                  <a:schemeClr val="dk1"/>
                </a:solidFill>
                <a:effectLst/>
                <a:uFillTx/>
                <a:latin typeface="Bodoni MT Black"/>
              </a:rPr>
              <a:t>;</a:t>
            </a:r>
            <a:endParaRPr lang="en-US" sz="1800" b="0" u="none" strike="noStrike">
              <a:solidFill>
                <a:srgbClr val="000000"/>
              </a:solidFill>
              <a:effectLst/>
              <a:uFillTx/>
              <a:latin typeface="Arial"/>
            </a:endParaRPr>
          </a:p>
          <a:p>
            <a:pPr>
              <a:lnSpc>
                <a:spcPts val="2200"/>
              </a:lnSpc>
            </a:pPr>
            <a:r>
              <a:rPr lang="en-US" sz="1800" b="0" u="none" strike="noStrike">
                <a:solidFill>
                  <a:schemeClr val="dk1"/>
                </a:solidFill>
                <a:effectLst/>
                <a:uFillTx/>
                <a:latin typeface="Bodoni MT Black"/>
              </a:rPr>
              <a:t>     输出“输入的控制信息是”</a:t>
            </a:r>
            <a:r>
              <a:rPr lang="en-US" sz="1800" b="0" u="none" strike="noStrike">
                <a:solidFill>
                  <a:srgbClr val="0070c0"/>
                </a:solidFill>
                <a:effectLst/>
                <a:uFillTx/>
                <a:latin typeface="Bodoni MT Black"/>
              </a:rPr>
              <a:t>CFUNCT</a:t>
            </a:r>
            <a:r>
              <a:rPr lang="en-US" sz="1800" b="0" u="none" strike="noStrike">
                <a:solidFill>
                  <a:schemeClr val="dk1"/>
                </a:solidFill>
                <a:effectLst/>
                <a:uFillTx/>
                <a:latin typeface="Bodoni MT Black"/>
              </a:rPr>
              <a:t>;</a:t>
            </a:r>
            <a:endParaRPr lang="en-US" sz="1800" b="0" u="none" strike="noStrike">
              <a:solidFill>
                <a:srgbClr val="000000"/>
              </a:solidFill>
              <a:effectLst/>
              <a:uFillTx/>
              <a:latin typeface="Arial"/>
            </a:endParaRPr>
          </a:p>
          <a:p>
            <a:pPr>
              <a:lnSpc>
                <a:spcPts val="2200"/>
              </a:lnSpc>
            </a:pPr>
            <a:r>
              <a:rPr lang="en-US" sz="1800" b="0" u="none" strike="noStrike">
                <a:solidFill>
                  <a:schemeClr val="dk1"/>
                </a:solidFill>
                <a:effectLst/>
                <a:uFillTx/>
                <a:latin typeface="Bodoni MT Black"/>
              </a:rPr>
              <a:t>     输出缓冲区中的字符串</a:t>
            </a:r>
            <a:r>
              <a:rPr lang="en-US" sz="1800" b="0" u="none" strike="noStrike">
                <a:solidFill>
                  <a:schemeClr val="dk1"/>
                </a:solidFill>
                <a:effectLst/>
                <a:uFillTx/>
                <a:latin typeface="Bodoni MT Black"/>
              </a:rPr>
              <a:t>;</a:t>
            </a:r>
            <a:endParaRPr lang="en-US" sz="1800" b="0" u="none" strike="noStrike">
              <a:solidFill>
                <a:srgbClr val="000000"/>
              </a:solidFill>
              <a:effectLst/>
              <a:uFillTx/>
              <a:latin typeface="Arial"/>
            </a:endParaRPr>
          </a:p>
          <a:p>
            <a:pPr>
              <a:lnSpc>
                <a:spcPts val="2200"/>
              </a:lnSpc>
            </a:pPr>
            <a:r>
              <a:rPr lang="en-US" sz="1800" b="0" u="none" strike="noStrike">
                <a:solidFill>
                  <a:schemeClr val="dk1"/>
                </a:solidFill>
                <a:effectLst/>
                <a:uFillTx/>
                <a:latin typeface="Bodoni MT Black"/>
              </a:rPr>
              <a:t>     IF CFUNCT=</a:t>
            </a:r>
            <a:r>
              <a:rPr lang="en-US" sz="1800" b="0" u="none" strike="noStrike">
                <a:solidFill>
                  <a:srgbClr val="ff0000"/>
                </a:solidFill>
                <a:effectLst/>
                <a:uFillTx/>
                <a:latin typeface="Bodoni MT Black"/>
              </a:rPr>
              <a:t>CHANGE</a:t>
            </a:r>
            <a:endParaRPr lang="en-US" sz="1800" b="0" u="none" strike="noStrike">
              <a:solidFill>
                <a:srgbClr val="000000"/>
              </a:solidFill>
              <a:effectLst/>
              <a:uFillTx/>
              <a:latin typeface="Arial"/>
            </a:endParaRPr>
          </a:p>
          <a:p>
            <a:pPr>
              <a:lnSpc>
                <a:spcPts val="2200"/>
              </a:lnSpc>
            </a:pPr>
            <a:r>
              <a:rPr lang="en-US" sz="1800" b="0" u="none" strike="noStrike">
                <a:solidFill>
                  <a:schemeClr val="dk1"/>
                </a:solidFill>
                <a:effectLst/>
                <a:uFillTx/>
                <a:latin typeface="Bodoni MT Black"/>
              </a:rPr>
              <a:t>        THEN</a:t>
            </a:r>
            <a:endParaRPr lang="en-US" sz="1800" b="0" u="none" strike="noStrike">
              <a:solidFill>
                <a:srgbClr val="000000"/>
              </a:solidFill>
              <a:effectLst/>
              <a:uFillTx/>
              <a:latin typeface="Arial"/>
            </a:endParaRPr>
          </a:p>
          <a:p>
            <a:pPr>
              <a:lnSpc>
                <a:spcPts val="2200"/>
              </a:lnSpc>
            </a:pPr>
            <a:r>
              <a:rPr lang="en-US" sz="1800" b="0" u="none" strike="noStrike">
                <a:solidFill>
                  <a:schemeClr val="dk1"/>
                </a:solidFill>
                <a:effectLst/>
                <a:uFillTx/>
                <a:latin typeface="Bodoni MT Black"/>
              </a:rPr>
              <a:t>        把缓冲区中第二个字改为</a:t>
            </a:r>
            <a:r>
              <a:rPr lang="en-US" sz="1800" b="0" u="none" strike="noStrike">
                <a:solidFill>
                  <a:schemeClr val="dk1"/>
                </a:solidFill>
                <a:effectLst/>
                <a:uFillTx/>
                <a:latin typeface="Bodoni MT Black"/>
              </a:rPr>
              <a:t>***</a:t>
            </a:r>
            <a:endParaRPr lang="en-US" sz="1800" b="0" u="none" strike="noStrike">
              <a:solidFill>
                <a:srgbClr val="000000"/>
              </a:solidFill>
              <a:effectLst/>
              <a:uFillTx/>
              <a:latin typeface="Arial"/>
            </a:endParaRPr>
          </a:p>
          <a:p>
            <a:pPr>
              <a:lnSpc>
                <a:spcPts val="2200"/>
              </a:lnSpc>
            </a:pPr>
            <a:r>
              <a:rPr lang="en-US" sz="1800" b="0" u="none" strike="noStrike">
                <a:solidFill>
                  <a:schemeClr val="dk1"/>
                </a:solidFill>
                <a:effectLst/>
                <a:uFillTx/>
                <a:latin typeface="Bodoni MT Black"/>
              </a:rPr>
              <a:t>        ELSE</a:t>
            </a:r>
            <a:endParaRPr lang="en-US" sz="1800" b="0" u="none" strike="noStrike">
              <a:solidFill>
                <a:srgbClr val="000000"/>
              </a:solidFill>
              <a:effectLst/>
              <a:uFillTx/>
              <a:latin typeface="Arial"/>
            </a:endParaRPr>
          </a:p>
          <a:p>
            <a:pPr>
              <a:lnSpc>
                <a:spcPts val="2200"/>
              </a:lnSpc>
            </a:pPr>
            <a:r>
              <a:rPr lang="en-US" sz="1800" b="0" u="none" strike="noStrike">
                <a:solidFill>
                  <a:schemeClr val="dk1"/>
                </a:solidFill>
                <a:effectLst/>
                <a:uFillTx/>
                <a:latin typeface="Bodoni MT Black"/>
              </a:rPr>
              <a:t>        在缓冲区的尾部加</a:t>
            </a:r>
            <a:r>
              <a:rPr lang="en-US" sz="1800" b="0" u="none" strike="noStrike">
                <a:solidFill>
                  <a:schemeClr val="dk1"/>
                </a:solidFill>
                <a:effectLst/>
                <a:uFillTx/>
                <a:latin typeface="Bodoni MT Black"/>
              </a:rPr>
              <a:t>???</a:t>
            </a:r>
            <a:endParaRPr lang="en-US" sz="1800" b="0" u="none" strike="noStrike">
              <a:solidFill>
                <a:srgbClr val="000000"/>
              </a:solidFill>
              <a:effectLst/>
              <a:uFillTx/>
              <a:latin typeface="Arial"/>
            </a:endParaRPr>
          </a:p>
          <a:p>
            <a:pPr>
              <a:lnSpc>
                <a:spcPts val="2200"/>
              </a:lnSpc>
            </a:pPr>
            <a:r>
              <a:rPr lang="en-US" sz="1800" b="0" u="none" strike="noStrike">
                <a:solidFill>
                  <a:schemeClr val="dk1"/>
                </a:solidFill>
                <a:effectLst/>
                <a:uFillTx/>
                <a:latin typeface="Bodoni MT Black"/>
              </a:rPr>
              <a:t>     END IF;</a:t>
            </a:r>
            <a:endParaRPr lang="en-US" sz="1800" b="0" u="none" strike="noStrike">
              <a:solidFill>
                <a:srgbClr val="000000"/>
              </a:solidFill>
              <a:effectLst/>
              <a:uFillTx/>
              <a:latin typeface="Arial"/>
            </a:endParaRPr>
          </a:p>
        </p:txBody>
      </p:sp>
      <p:sp>
        <p:nvSpPr>
          <p:cNvPr id="269" name="文本框 7"/>
          <p:cNvSpPr/>
          <p:nvPr/>
        </p:nvSpPr>
        <p:spPr>
          <a:xfrm>
            <a:off x="4500720" y="2610000"/>
            <a:ext cx="4435200" cy="3195360"/>
          </a:xfrm>
          <a:prstGeom prst="rect">
            <a:avLst/>
          </a:prstGeom>
          <a:noFill/>
          <a:ln w="19050">
            <a:solidFill>
              <a:srgbClr val="000000"/>
            </a:solidFill>
            <a:round/>
          </a:ln>
        </p:spPr>
        <p:style>
          <a:lnRef idx="0"/>
          <a:fillRef idx="0"/>
          <a:effectRef idx="0"/>
          <a:fontRef idx="minor"/>
        </p:style>
        <p:txBody>
          <a:bodyPr lIns="90000" rIns="90000" tIns="45000" bIns="45000" anchor="t">
            <a:spAutoFit/>
          </a:bodyPr>
          <a:p>
            <a:pPr>
              <a:lnSpc>
                <a:spcPts val="2200"/>
              </a:lnSpc>
            </a:pPr>
            <a:r>
              <a:rPr lang="en-US" sz="1800" b="0" u="none" strike="noStrike">
                <a:solidFill>
                  <a:schemeClr val="dk1"/>
                </a:solidFill>
                <a:effectLst/>
                <a:uFillTx/>
                <a:latin typeface="Bodoni MT Black"/>
                <a:ea typeface="宋体"/>
              </a:rPr>
              <a:t>     </a:t>
            </a:r>
            <a:r>
              <a:rPr lang="zh-CN" sz="1800" b="0" u="none" strike="noStrike">
                <a:solidFill>
                  <a:schemeClr val="dk1"/>
                </a:solidFill>
                <a:effectLst/>
                <a:uFillTx/>
                <a:latin typeface="Bodoni MT Black"/>
                <a:ea typeface="宋体"/>
              </a:rPr>
              <a:t>输出缓冲区中的新字符串</a:t>
            </a:r>
            <a:r>
              <a:rPr lang="en-US" sz="1800" b="0" u="none" strike="noStrike">
                <a:solidFill>
                  <a:schemeClr val="dk1"/>
                </a:solidFill>
                <a:effectLst/>
                <a:uFillTx/>
                <a:latin typeface="Bodoni MT Black"/>
                <a:ea typeface="宋体"/>
              </a:rPr>
              <a:t>;</a:t>
            </a:r>
            <a:endParaRPr lang="en-US" sz="1800" b="0" u="none" strike="noStrike">
              <a:solidFill>
                <a:srgbClr val="000000"/>
              </a:solidFill>
              <a:effectLst/>
              <a:uFillTx/>
              <a:latin typeface="Arial"/>
            </a:endParaRPr>
          </a:p>
          <a:p>
            <a:pPr>
              <a:lnSpc>
                <a:spcPts val="2200"/>
              </a:lnSpc>
            </a:pPr>
            <a:r>
              <a:rPr lang="en-US" sz="1800" b="0" u="none" strike="noStrike">
                <a:solidFill>
                  <a:srgbClr val="0070c0"/>
                </a:solidFill>
                <a:effectLst/>
                <a:uFillTx/>
                <a:latin typeface="Bodoni MT Black"/>
                <a:ea typeface="宋体"/>
              </a:rPr>
              <a:t>END TEST STUB</a:t>
            </a:r>
            <a:endParaRPr lang="en-US" sz="1800" b="0" u="none" strike="noStrike">
              <a:solidFill>
                <a:srgbClr val="000000"/>
              </a:solidFill>
              <a:effectLst/>
              <a:uFillTx/>
              <a:latin typeface="Arial"/>
            </a:endParaRPr>
          </a:p>
          <a:p>
            <a:pPr>
              <a:lnSpc>
                <a:spcPts val="2200"/>
              </a:lnSpc>
            </a:pPr>
            <a:endParaRPr lang="en-US" sz="1800" b="0" u="none" strike="noStrike">
              <a:solidFill>
                <a:srgbClr val="000000"/>
              </a:solidFill>
              <a:effectLst/>
              <a:uFillTx/>
              <a:latin typeface="Arial"/>
            </a:endParaRPr>
          </a:p>
          <a:p>
            <a:pPr>
              <a:lnSpc>
                <a:spcPts val="2200"/>
              </a:lnSpc>
            </a:pPr>
            <a:r>
              <a:rPr lang="en-US" sz="1800" b="0" u="none" strike="noStrike">
                <a:solidFill>
                  <a:srgbClr val="ff0000"/>
                </a:solidFill>
                <a:effectLst/>
                <a:uFillTx/>
                <a:latin typeface="Bodoni MT Black"/>
                <a:ea typeface="宋体"/>
              </a:rPr>
              <a:t>TEST DRIVER(*</a:t>
            </a:r>
            <a:r>
              <a:rPr lang="zh-CN" sz="1800" b="0" u="none" strike="noStrike">
                <a:solidFill>
                  <a:srgbClr val="ff0000"/>
                </a:solidFill>
                <a:effectLst/>
                <a:uFillTx/>
                <a:latin typeface="Bodoni MT Black"/>
                <a:ea typeface="宋体"/>
              </a:rPr>
              <a:t>驱动程序</a:t>
            </a:r>
            <a:r>
              <a:rPr lang="en-US" sz="1800" b="0" u="none" strike="noStrike">
                <a:solidFill>
                  <a:srgbClr val="ff0000"/>
                </a:solidFill>
                <a:effectLst/>
                <a:uFillTx/>
                <a:latin typeface="Bodoni MT Black"/>
                <a:ea typeface="宋体"/>
              </a:rPr>
              <a:t>*)</a:t>
            </a:r>
            <a:endParaRPr lang="en-US" sz="1800" b="0" u="none" strike="noStrike">
              <a:solidFill>
                <a:srgbClr val="000000"/>
              </a:solidFill>
              <a:effectLst/>
              <a:uFillTx/>
              <a:latin typeface="Arial"/>
            </a:endParaRPr>
          </a:p>
          <a:p>
            <a:pPr>
              <a:lnSpc>
                <a:spcPts val="2200"/>
              </a:lnSpc>
            </a:pPr>
            <a:r>
              <a:rPr lang="en-US" sz="1800" b="0" u="none" strike="noStrike">
                <a:solidFill>
                  <a:schemeClr val="dk1"/>
                </a:solidFill>
                <a:effectLst/>
                <a:uFillTx/>
                <a:latin typeface="Bodoni MT Black"/>
                <a:ea typeface="宋体"/>
              </a:rPr>
              <a:t>     说明长度为</a:t>
            </a:r>
            <a:r>
              <a:rPr lang="en-US" sz="1800" b="0" u="none" strike="noStrike">
                <a:solidFill>
                  <a:schemeClr val="dk1"/>
                </a:solidFill>
                <a:effectLst/>
                <a:uFillTx/>
                <a:latin typeface="Bodoni MT Black"/>
                <a:ea typeface="宋体"/>
              </a:rPr>
              <a:t>2500</a:t>
            </a:r>
            <a:r>
              <a:rPr lang="zh-CN" sz="1800" b="0" u="none" strike="noStrike">
                <a:solidFill>
                  <a:schemeClr val="dk1"/>
                </a:solidFill>
                <a:effectLst/>
                <a:uFillTx/>
                <a:latin typeface="Bodoni MT Black"/>
                <a:ea typeface="宋体"/>
              </a:rPr>
              <a:t>个字符的一个缓冲区</a:t>
            </a:r>
            <a:r>
              <a:rPr lang="en-US" sz="1800" b="0" u="none" strike="noStrike">
                <a:solidFill>
                  <a:schemeClr val="dk1"/>
                </a:solidFill>
                <a:effectLst/>
                <a:uFillTx/>
                <a:latin typeface="Bodoni MT Black"/>
                <a:ea typeface="宋体"/>
              </a:rPr>
              <a:t>;</a:t>
            </a:r>
            <a:endParaRPr lang="en-US" sz="1800" b="0" u="none" strike="noStrike">
              <a:solidFill>
                <a:srgbClr val="000000"/>
              </a:solidFill>
              <a:effectLst/>
              <a:uFillTx/>
              <a:latin typeface="Arial"/>
            </a:endParaRPr>
          </a:p>
          <a:p>
            <a:pPr>
              <a:lnSpc>
                <a:spcPts val="2200"/>
              </a:lnSpc>
            </a:pPr>
            <a:r>
              <a:rPr lang="en-US" sz="1800" b="0" u="none" strike="noStrike">
                <a:solidFill>
                  <a:schemeClr val="dk1"/>
                </a:solidFill>
                <a:effectLst/>
                <a:uFillTx/>
                <a:latin typeface="Bodoni MT Black"/>
                <a:ea typeface="宋体"/>
              </a:rPr>
              <a:t>     把</a:t>
            </a:r>
            <a:r>
              <a:rPr lang="en-US" sz="1800" b="0" u="none" strike="noStrike">
                <a:solidFill>
                  <a:schemeClr val="dk1"/>
                </a:solidFill>
                <a:effectLst/>
                <a:uFillTx/>
                <a:latin typeface="Bodoni MT Black"/>
                <a:ea typeface="宋体"/>
              </a:rPr>
              <a:t>CFUNCT</a:t>
            </a:r>
            <a:r>
              <a:rPr lang="zh-CN" sz="1800" b="0" u="none" strike="noStrike">
                <a:solidFill>
                  <a:schemeClr val="dk1"/>
                </a:solidFill>
                <a:effectLst/>
                <a:uFillTx/>
                <a:latin typeface="Bodoni MT Black"/>
                <a:ea typeface="宋体"/>
              </a:rPr>
              <a:t>置为希望测试的状态</a:t>
            </a:r>
            <a:r>
              <a:rPr lang="en-US" sz="1800" b="0" u="none" strike="noStrike">
                <a:solidFill>
                  <a:schemeClr val="dk1"/>
                </a:solidFill>
                <a:effectLst/>
                <a:uFillTx/>
                <a:latin typeface="Bodoni MT Black"/>
                <a:ea typeface="宋体"/>
              </a:rPr>
              <a:t>;</a:t>
            </a:r>
            <a:endParaRPr lang="en-US" sz="1800" b="0" u="none" strike="noStrike">
              <a:solidFill>
                <a:srgbClr val="000000"/>
              </a:solidFill>
              <a:effectLst/>
              <a:uFillTx/>
              <a:latin typeface="Arial"/>
            </a:endParaRPr>
          </a:p>
          <a:p>
            <a:pPr>
              <a:lnSpc>
                <a:spcPts val="2200"/>
              </a:lnSpc>
            </a:pPr>
            <a:r>
              <a:rPr lang="en-US" sz="1800" b="0" u="none" strike="noStrike">
                <a:solidFill>
                  <a:schemeClr val="dk1"/>
                </a:solidFill>
                <a:effectLst/>
                <a:uFillTx/>
                <a:latin typeface="Bodoni MT Black"/>
                <a:ea typeface="宋体"/>
              </a:rPr>
              <a:t>     输入字符串</a:t>
            </a:r>
            <a:r>
              <a:rPr lang="en-US" sz="1800" b="0" u="none" strike="noStrike">
                <a:solidFill>
                  <a:schemeClr val="dk1"/>
                </a:solidFill>
                <a:effectLst/>
                <a:uFillTx/>
                <a:latin typeface="Bodoni MT Black"/>
                <a:ea typeface="宋体"/>
              </a:rPr>
              <a:t>;</a:t>
            </a:r>
            <a:endParaRPr lang="en-US" sz="1800" b="0" u="none" strike="noStrike">
              <a:solidFill>
                <a:srgbClr val="000000"/>
              </a:solidFill>
              <a:effectLst/>
              <a:uFillTx/>
              <a:latin typeface="Arial"/>
            </a:endParaRPr>
          </a:p>
          <a:p>
            <a:pPr>
              <a:lnSpc>
                <a:spcPts val="2200"/>
              </a:lnSpc>
            </a:pPr>
            <a:r>
              <a:rPr lang="en-US" sz="1800" b="0" u="none" strike="noStrike">
                <a:solidFill>
                  <a:schemeClr val="dk1"/>
                </a:solidFill>
                <a:effectLst/>
                <a:uFillTx/>
                <a:latin typeface="Bodoni MT Black"/>
                <a:ea typeface="宋体"/>
              </a:rPr>
              <a:t>     调用</a:t>
            </a:r>
            <a:r>
              <a:rPr lang="zh-CN" sz="1800" b="1" i="1" u="none" strike="noStrike">
                <a:solidFill>
                  <a:schemeClr val="dk1"/>
                </a:solidFill>
                <a:effectLst/>
                <a:uFillTx/>
                <a:latin typeface="Bodoni MT Black"/>
                <a:ea typeface="宋体"/>
              </a:rPr>
              <a:t>正文编辑块</a:t>
            </a:r>
            <a:r>
              <a:rPr lang="en-US" sz="1800" b="0" u="none" strike="noStrike">
                <a:solidFill>
                  <a:schemeClr val="dk1"/>
                </a:solidFill>
                <a:effectLst/>
                <a:uFillTx/>
                <a:latin typeface="Bodoni MT Black"/>
                <a:ea typeface="宋体"/>
              </a:rPr>
              <a:t>;</a:t>
            </a:r>
            <a:endParaRPr lang="en-US" sz="1800" b="0" u="none" strike="noStrike">
              <a:solidFill>
                <a:srgbClr val="000000"/>
              </a:solidFill>
              <a:effectLst/>
              <a:uFillTx/>
              <a:latin typeface="Arial"/>
            </a:endParaRPr>
          </a:p>
          <a:p>
            <a:pPr>
              <a:lnSpc>
                <a:spcPts val="2200"/>
              </a:lnSpc>
            </a:pPr>
            <a:r>
              <a:rPr lang="en-US" sz="1800" b="0" u="none" strike="noStrike">
                <a:solidFill>
                  <a:schemeClr val="dk1"/>
                </a:solidFill>
                <a:effectLst/>
                <a:uFillTx/>
                <a:latin typeface="Bodoni MT Black"/>
                <a:ea typeface="宋体"/>
              </a:rPr>
              <a:t>     停止或再次初启</a:t>
            </a:r>
            <a:r>
              <a:rPr lang="en-US" sz="1800" b="0" u="none" strike="noStrike">
                <a:solidFill>
                  <a:schemeClr val="dk1"/>
                </a:solidFill>
                <a:effectLst/>
                <a:uFillTx/>
                <a:latin typeface="Bodoni MT Black"/>
                <a:ea typeface="宋体"/>
              </a:rPr>
              <a:t>;</a:t>
            </a:r>
            <a:endParaRPr lang="en-US" sz="1800" b="0" u="none" strike="noStrike">
              <a:solidFill>
                <a:srgbClr val="000000"/>
              </a:solidFill>
              <a:effectLst/>
              <a:uFillTx/>
              <a:latin typeface="Arial"/>
            </a:endParaRPr>
          </a:p>
          <a:p>
            <a:pPr>
              <a:lnSpc>
                <a:spcPts val="2200"/>
              </a:lnSpc>
            </a:pPr>
            <a:r>
              <a:rPr lang="en-US" sz="1800" b="0" u="none" strike="noStrike">
                <a:solidFill>
                  <a:srgbClr val="ff0000"/>
                </a:solidFill>
                <a:effectLst/>
                <a:uFillTx/>
                <a:latin typeface="Bodoni MT Black"/>
                <a:ea typeface="宋体"/>
              </a:rPr>
              <a:t>END TEST DRIVER</a:t>
            </a:r>
            <a:endParaRPr lang="en-US" sz="1800" b="0" u="none" strike="noStrike">
              <a:solidFill>
                <a:srgbClr val="000000"/>
              </a:solidFill>
              <a:effectLst/>
              <a:uFillTx/>
              <a:latin typeface="Arial"/>
            </a:endParaRPr>
          </a:p>
          <a:p>
            <a:pPr>
              <a:lnSpc>
                <a:spcPts val="2200"/>
              </a:lnSpc>
            </a:pPr>
            <a:endParaRPr lang="en-US" sz="1800" b="0" u="none" strike="noStrike">
              <a:solidFill>
                <a:srgbClr val="000000"/>
              </a:solidFill>
              <a:effectLst/>
              <a:uFillTx/>
              <a:latin typeface="Arial"/>
            </a:endParaRPr>
          </a:p>
        </p:txBody>
      </p:sp>
      <p:sp>
        <p:nvSpPr>
          <p:cNvPr id="270"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271"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7.3.3 </a:t>
            </a:r>
            <a:r>
              <a:rPr lang="zh-CN" sz="2400" b="0" u="none" strike="noStrike">
                <a:solidFill>
                  <a:srgbClr val="d9d9d9"/>
                </a:solidFill>
                <a:effectLst/>
                <a:uFillTx/>
                <a:latin typeface="Bodoni MT Black"/>
              </a:rPr>
              <a:t>计算机测试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1 Título"/>
          <p:cNvSpPr/>
          <p:nvPr/>
        </p:nvSpPr>
        <p:spPr>
          <a:xfrm>
            <a:off x="684360" y="355680"/>
            <a:ext cx="7703640" cy="863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5760"/>
              </a:lnSpc>
            </a:pPr>
            <a:r>
              <a:rPr lang="zh-CN" sz="4400" b="1" u="none" strike="noStrike">
                <a:solidFill>
                  <a:schemeClr val="dk1"/>
                </a:solidFill>
                <a:effectLst/>
                <a:uFillTx/>
                <a:latin typeface="Bodoni MT Black"/>
              </a:rPr>
              <a:t>主要内容</a:t>
            </a:r>
            <a:endParaRPr lang="en-US" sz="4400" b="0" u="none" strike="noStrike">
              <a:solidFill>
                <a:srgbClr val="000000"/>
              </a:solidFill>
              <a:effectLst/>
              <a:uFillTx/>
              <a:latin typeface="Arial"/>
            </a:endParaRPr>
          </a:p>
        </p:txBody>
      </p:sp>
      <p:sp>
        <p:nvSpPr>
          <p:cNvPr id="273"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sp>
        <p:nvSpPr>
          <p:cNvPr id="274"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7.4 </a:t>
            </a:r>
            <a:r>
              <a:rPr lang="zh-CN" sz="2400" b="0" u="none" strike="noStrike">
                <a:solidFill>
                  <a:srgbClr val="d9d9d9"/>
                </a:solidFill>
                <a:effectLst/>
                <a:uFillTx/>
                <a:latin typeface="Bodoni MT Black"/>
                <a:ea typeface="宋体"/>
              </a:rPr>
              <a:t>集成测试</a:t>
            </a:r>
            <a:endParaRPr lang="en-US" sz="2400" b="0" u="none" strike="noStrike">
              <a:solidFill>
                <a:srgbClr val="000000"/>
              </a:solidFill>
              <a:effectLst/>
              <a:uFillTx/>
              <a:latin typeface="Arial"/>
            </a:endParaRPr>
          </a:p>
        </p:txBody>
      </p:sp>
      <p:pic>
        <p:nvPicPr>
          <p:cNvPr id="275"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276"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277" name="TextBox 3">
            <a:hlinkClick r:id="rId3" action="ppaction://hlinksldjump"/>
          </p:cNvPr>
          <p:cNvSpPr/>
          <p:nvPr/>
        </p:nvSpPr>
        <p:spPr>
          <a:xfrm>
            <a:off x="1071720" y="2071800"/>
            <a:ext cx="192852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278" name="TextBox 4"/>
          <p:cNvSpPr/>
          <p:nvPr/>
        </p:nvSpPr>
        <p:spPr>
          <a:xfrm>
            <a:off x="1000080" y="2714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279" name="TextBox 5"/>
          <p:cNvSpPr/>
          <p:nvPr/>
        </p:nvSpPr>
        <p:spPr>
          <a:xfrm>
            <a:off x="1000080" y="328608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280" name="TextBox 6"/>
          <p:cNvSpPr/>
          <p:nvPr/>
        </p:nvSpPr>
        <p:spPr>
          <a:xfrm>
            <a:off x="1000080" y="3857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281" name="Rectangle 3"/>
          <p:cNvSpPr/>
          <p:nvPr/>
        </p:nvSpPr>
        <p:spPr>
          <a:xfrm>
            <a:off x="539640" y="1292400"/>
            <a:ext cx="8135640" cy="4512960"/>
          </a:xfrm>
          <a:prstGeom prst="rect">
            <a:avLst/>
          </a:prstGeom>
          <a:noFill/>
          <a:ln w="0">
            <a:noFill/>
          </a:ln>
        </p:spPr>
        <p:style>
          <a:lnRef idx="0"/>
          <a:fillRef idx="0"/>
          <a:effectRef idx="0"/>
          <a:fontRef idx="minor"/>
        </p:style>
        <p:txBody>
          <a:bodyPr lIns="90000" rIns="90000" tIns="45000" bIns="45000" anchor="t">
            <a:noAutofit/>
          </a:bodyPr>
          <a:p>
            <a:pPr>
              <a:lnSpc>
                <a:spcPts val="2599"/>
              </a:lnSpc>
              <a:spcBef>
                <a:spcPts val="1199"/>
              </a:spcBef>
              <a:tabLst>
                <a:tab algn="l" pos="0"/>
              </a:tabLst>
            </a:pPr>
            <a:r>
              <a:rPr lang="en-US" sz="2400" b="0" u="none" strike="noStrike">
                <a:solidFill>
                  <a:srgbClr val="3c3c77"/>
                </a:solidFill>
                <a:effectLst/>
                <a:uFillTx/>
                <a:latin typeface="Bodoni MT Black"/>
                <a:ea typeface="黑体"/>
              </a:rPr>
              <a:t>   </a:t>
            </a:r>
            <a:r>
              <a:rPr lang="en-US" sz="2400" b="1" u="none" strike="noStrike">
                <a:solidFill>
                  <a:schemeClr val="dk1"/>
                </a:solidFill>
                <a:effectLst/>
                <a:uFillTx/>
                <a:latin typeface="Bodoni MT Black"/>
                <a:ea typeface="黑体"/>
              </a:rPr>
              <a:t>7.1   </a:t>
            </a:r>
            <a:r>
              <a:rPr lang="zh-CN" sz="2400" b="1" u="none" strike="noStrike">
                <a:solidFill>
                  <a:schemeClr val="dk1"/>
                </a:solidFill>
                <a:effectLst/>
                <a:uFillTx/>
                <a:latin typeface="Bodoni MT Black"/>
                <a:ea typeface="黑体"/>
              </a:rPr>
              <a:t>编码</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7.2   </a:t>
            </a:r>
            <a:r>
              <a:rPr lang="zh-CN" sz="2400" b="1" u="none" strike="noStrike">
                <a:solidFill>
                  <a:schemeClr val="dk1"/>
                </a:solidFill>
                <a:effectLst/>
                <a:uFillTx/>
                <a:latin typeface="Bodoni MT Black"/>
                <a:ea typeface="黑体"/>
              </a:rPr>
              <a:t>软件测试基础</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7.3   </a:t>
            </a:r>
            <a:r>
              <a:rPr lang="zh-CN" sz="2400" b="1" u="none" strike="noStrike">
                <a:solidFill>
                  <a:schemeClr val="dk1"/>
                </a:solidFill>
                <a:effectLst/>
                <a:uFillTx/>
                <a:latin typeface="Bodoni MT Black"/>
                <a:ea typeface="黑体"/>
              </a:rPr>
              <a:t>单元测试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7.4   </a:t>
            </a:r>
            <a:r>
              <a:rPr lang="zh-CN" sz="2400" b="1" u="none" strike="noStrike">
                <a:solidFill>
                  <a:schemeClr val="dk1"/>
                </a:solidFill>
                <a:effectLst/>
                <a:uFillTx/>
                <a:latin typeface="Bodoni MT Black"/>
                <a:ea typeface="黑体"/>
              </a:rPr>
              <a:t>集成测试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7.5   </a:t>
            </a:r>
            <a:r>
              <a:rPr lang="zh-CN" sz="2400" b="1" u="none" strike="noStrike">
                <a:solidFill>
                  <a:schemeClr val="dk1"/>
                </a:solidFill>
                <a:effectLst/>
                <a:uFillTx/>
                <a:latin typeface="Bodoni MT Black"/>
                <a:ea typeface="黑体"/>
              </a:rPr>
              <a:t>确认测试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7.6   </a:t>
            </a:r>
            <a:r>
              <a:rPr lang="zh-CN" sz="2400" b="1" u="none" strike="noStrike">
                <a:solidFill>
                  <a:schemeClr val="dk1"/>
                </a:solidFill>
                <a:effectLst/>
                <a:uFillTx/>
                <a:latin typeface="Bodoni MT Black"/>
                <a:ea typeface="黑体"/>
              </a:rPr>
              <a:t>白盒测试技术</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7.7   </a:t>
            </a:r>
            <a:r>
              <a:rPr lang="zh-CN" sz="2400" b="1" u="none" strike="noStrike">
                <a:solidFill>
                  <a:schemeClr val="dk1"/>
                </a:solidFill>
                <a:effectLst/>
                <a:uFillTx/>
                <a:latin typeface="Bodoni MT Black"/>
                <a:ea typeface="黑体"/>
              </a:rPr>
              <a:t>黑盒测试技术</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7.8   </a:t>
            </a:r>
            <a:r>
              <a:rPr lang="zh-CN" sz="2400" b="1" u="none" strike="noStrike">
                <a:solidFill>
                  <a:schemeClr val="dk1"/>
                </a:solidFill>
                <a:effectLst/>
                <a:uFillTx/>
                <a:latin typeface="Bodoni MT Black"/>
                <a:ea typeface="黑体"/>
              </a:rPr>
              <a:t>调试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7.9   </a:t>
            </a:r>
            <a:r>
              <a:rPr lang="zh-CN" sz="2400" b="1" u="none" strike="noStrike">
                <a:solidFill>
                  <a:schemeClr val="dk1"/>
                </a:solidFill>
                <a:effectLst/>
                <a:uFillTx/>
                <a:latin typeface="Bodoni MT Black"/>
                <a:ea typeface="黑体"/>
              </a:rPr>
              <a:t>软件可靠性</a:t>
            </a:r>
            <a:endParaRPr lang="en-US" sz="2400" b="0" u="none" strike="noStrike">
              <a:solidFill>
                <a:srgbClr val="000000"/>
              </a:solidFill>
              <a:effectLst/>
              <a:uFillTx/>
              <a:latin typeface="Arial"/>
            </a:endParaRPr>
          </a:p>
        </p:txBody>
      </p:sp>
      <p:sp>
        <p:nvSpPr>
          <p:cNvPr id="282" name="1 Título"/>
          <p:cNvSpPr/>
          <p:nvPr/>
        </p:nvSpPr>
        <p:spPr>
          <a:xfrm>
            <a:off x="0" y="6300720"/>
            <a:ext cx="231588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7</a:t>
            </a:r>
            <a:r>
              <a:rPr lang="zh-CN" sz="2400" b="0" u="none" strike="noStrike">
                <a:solidFill>
                  <a:srgbClr val="d9d9d9"/>
                </a:solidFill>
                <a:effectLst/>
                <a:uFillTx/>
                <a:latin typeface="Bodoni MT Black"/>
                <a:ea typeface="宋体"/>
              </a:rPr>
              <a:t>章　实现</a:t>
            </a:r>
            <a:endParaRPr lang="en-US" sz="2400" b="0" u="none" strike="noStrike">
              <a:solidFill>
                <a:srgbClr val="000000"/>
              </a:solidFill>
              <a:effectLst/>
              <a:uFillTx/>
              <a:latin typeface="Arial"/>
            </a:endParaRPr>
          </a:p>
        </p:txBody>
      </p:sp>
      <p:sp>
        <p:nvSpPr>
          <p:cNvPr id="283" name="矩形 12"/>
          <p:cNvSpPr/>
          <p:nvPr/>
        </p:nvSpPr>
        <p:spPr>
          <a:xfrm>
            <a:off x="827640" y="276372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284" name="等腰三角形 13"/>
          <p:cNvSpPr/>
          <p:nvPr/>
        </p:nvSpPr>
        <p:spPr>
          <a:xfrm rot="5400000">
            <a:off x="336240" y="2850480"/>
            <a:ext cx="537840" cy="4312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7.4 </a:t>
            </a:r>
            <a:r>
              <a:rPr lang="zh-CN" sz="4400" b="1" u="none" strike="noStrike">
                <a:solidFill>
                  <a:schemeClr val="dk1"/>
                </a:solidFill>
                <a:effectLst/>
                <a:uFillTx/>
                <a:latin typeface="Bodoni MT Black"/>
              </a:rPr>
              <a:t>集成测试</a:t>
            </a:r>
            <a:endParaRPr lang="es-ES" sz="4400" b="0" u="none" strike="noStrike">
              <a:solidFill>
                <a:schemeClr val="dk1"/>
              </a:solidFill>
              <a:effectLst/>
              <a:uFillTx/>
              <a:latin typeface="Arial"/>
            </a:endParaRPr>
          </a:p>
        </p:txBody>
      </p:sp>
      <p:sp>
        <p:nvSpPr>
          <p:cNvPr id="286" name="PlaceHolder 2"/>
          <p:cNvSpPr>
            <a:spLocks noGrp="1"/>
          </p:cNvSpPr>
          <p:nvPr>
            <p:ph/>
          </p:nvPr>
        </p:nvSpPr>
        <p:spPr>
          <a:xfrm>
            <a:off x="395640" y="1124640"/>
            <a:ext cx="8218080" cy="4060440"/>
          </a:xfrm>
          <a:prstGeom prst="rect">
            <a:avLst/>
          </a:prstGeom>
          <a:noFill/>
          <a:ln w="9360">
            <a:noFill/>
          </a:ln>
        </p:spPr>
        <p:txBody>
          <a:bodyPr numCol="1" spcCol="0" lIns="91440" rIns="91440" tIns="45720" bIns="45720" anchor="t">
            <a:noAutofit/>
          </a:bodyPr>
          <a:p>
            <a:pPr indent="0">
              <a:lnSpc>
                <a:spcPct val="125000"/>
              </a:lnSpc>
              <a:buNone/>
              <a:tabLst>
                <a:tab algn="l" pos="0"/>
              </a:tabLst>
            </a:pPr>
            <a:r>
              <a:rPr lang="zh-CN" sz="2400" b="0" u="none" strike="noStrike">
                <a:solidFill>
                  <a:schemeClr val="dk1"/>
                </a:solidFill>
                <a:effectLst/>
                <a:uFillTx/>
                <a:latin typeface="Bodoni MT Black"/>
              </a:rPr>
              <a:t>集成测试是测试和组装软件的系统化技术。由模块组装成程序时有</a:t>
            </a:r>
            <a:r>
              <a:rPr lang="zh-CN" sz="2400" b="0" u="none" strike="noStrike">
                <a:solidFill>
                  <a:srgbClr val="ff0000"/>
                </a:solidFill>
                <a:effectLst/>
                <a:uFillTx/>
                <a:latin typeface="Bodoni MT Black"/>
              </a:rPr>
              <a:t>两</a:t>
            </a:r>
            <a:r>
              <a:rPr lang="zh-CN" sz="2400" b="0" u="none" strike="noStrike">
                <a:solidFill>
                  <a:schemeClr val="dk1"/>
                </a:solidFill>
                <a:effectLst/>
                <a:uFillTx/>
                <a:latin typeface="Bodoni MT Black"/>
              </a:rPr>
              <a:t>种方法。</a:t>
            </a:r>
            <a:endParaRPr lang="es-ES" sz="2400" b="0" u="none" strike="noStrike">
              <a:solidFill>
                <a:schemeClr val="dk1"/>
              </a:solidFill>
              <a:effectLst/>
              <a:uFillTx/>
              <a:latin typeface="Calibri"/>
            </a:endParaRPr>
          </a:p>
          <a:p>
            <a:pPr indent="0">
              <a:lnSpc>
                <a:spcPct val="125000"/>
              </a:lnSpc>
              <a:buNone/>
              <a:tabLst>
                <a:tab algn="l" pos="0"/>
              </a:tabLst>
            </a:pPr>
            <a:r>
              <a:rPr lang="es-ES" sz="2400" b="0" u="none" strike="noStrike">
                <a:solidFill>
                  <a:schemeClr val="dk1"/>
                </a:solidFill>
                <a:effectLst/>
                <a:uFillTx/>
                <a:latin typeface="Bodoni MT Black"/>
              </a:rPr>
              <a:t>① 先分别测试每个模块，再把所有模块按设计要求放在一起结合成所要的程序，这种方法称为</a:t>
            </a:r>
            <a:r>
              <a:rPr lang="zh-CN" sz="2400" b="1" u="none" strike="noStrike">
                <a:solidFill>
                  <a:srgbClr val="c00000"/>
                </a:solidFill>
                <a:effectLst/>
                <a:uFillTx/>
                <a:latin typeface="Bodoni MT Black"/>
              </a:rPr>
              <a:t>非渐增式测试方法</a:t>
            </a:r>
            <a:r>
              <a:rPr lang="zh-CN" sz="2400" b="0" u="none" strike="noStrike">
                <a:solidFill>
                  <a:schemeClr val="dk1"/>
                </a:solidFill>
                <a:effectLst/>
                <a:uFillTx/>
                <a:latin typeface="Bodoni MT Black"/>
              </a:rPr>
              <a:t>；</a:t>
            </a:r>
            <a:endParaRPr lang="es-ES" sz="2400" b="0" u="none" strike="noStrike">
              <a:solidFill>
                <a:schemeClr val="dk1"/>
              </a:solidFill>
              <a:effectLst/>
              <a:uFillTx/>
              <a:latin typeface="Calibri"/>
            </a:endParaRPr>
          </a:p>
          <a:p>
            <a:pPr indent="0">
              <a:lnSpc>
                <a:spcPct val="125000"/>
              </a:lnSpc>
              <a:buNone/>
              <a:tabLst>
                <a:tab algn="l" pos="0"/>
              </a:tabLst>
            </a:pPr>
            <a:r>
              <a:rPr lang="zh-CN" sz="2400" b="0" u="none" strike="noStrike">
                <a:solidFill>
                  <a:srgbClr val="ff0000"/>
                </a:solidFill>
                <a:effectLst/>
                <a:uFillTx/>
                <a:latin typeface="Bodoni MT Black"/>
              </a:rPr>
              <a:t>非渐增式测试</a:t>
            </a:r>
            <a:r>
              <a:rPr lang="zh-CN" sz="2400" b="0" u="none" strike="noStrike">
                <a:solidFill>
                  <a:schemeClr val="dk1"/>
                </a:solidFill>
                <a:effectLst/>
                <a:uFillTx/>
                <a:latin typeface="Bodoni MT Black"/>
              </a:rPr>
              <a:t>把所有模块放在一起，作为一个整体来测试。测试时会遇到许多的错误，</a:t>
            </a:r>
            <a:r>
              <a:rPr lang="zh-CN" sz="2400" b="0" u="none" strike="noStrike">
                <a:solidFill>
                  <a:srgbClr val="0070c0"/>
                </a:solidFill>
                <a:effectLst/>
                <a:uFillTx/>
                <a:latin typeface="Bodoni MT Black"/>
              </a:rPr>
              <a:t>改正错误非常困难</a:t>
            </a:r>
            <a:r>
              <a:rPr lang="zh-CN" sz="2400" b="0" u="none" strike="noStrike">
                <a:solidFill>
                  <a:schemeClr val="dk1"/>
                </a:solidFill>
                <a:effectLst/>
                <a:uFillTx/>
                <a:latin typeface="Bodoni MT Black"/>
              </a:rPr>
              <a:t>，因为在庞大的程序中想要诊断定位一个错误非常困难，而且改正一个错误之后，马上又会遇到新的错误，这个过程会继续下去，没有尽头。</a:t>
            </a:r>
            <a:endParaRPr lang="es-ES" sz="2400" b="0" u="none" strike="noStrike">
              <a:solidFill>
                <a:schemeClr val="dk1"/>
              </a:solidFill>
              <a:effectLst/>
              <a:uFillTx/>
              <a:latin typeface="Calibri"/>
            </a:endParaRPr>
          </a:p>
          <a:p>
            <a:pPr indent="0">
              <a:lnSpc>
                <a:spcPts val="3399"/>
              </a:lnSpc>
              <a:spcBef>
                <a:spcPts val="601"/>
              </a:spcBef>
              <a:buNone/>
              <a:tabLst>
                <a:tab algn="l" pos="0"/>
              </a:tabLst>
            </a:pPr>
            <a:endParaRPr lang="es-ES" sz="2400" b="0" u="none" strike="noStrike">
              <a:solidFill>
                <a:schemeClr val="dk1"/>
              </a:solidFill>
              <a:effectLst/>
              <a:uFillTx/>
              <a:latin typeface="Calibri"/>
            </a:endParaRPr>
          </a:p>
        </p:txBody>
      </p:sp>
      <p:sp>
        <p:nvSpPr>
          <p:cNvPr id="287"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7.4 </a:t>
            </a:r>
            <a:r>
              <a:rPr lang="zh-CN" sz="2400" b="0" u="none" strike="noStrike">
                <a:solidFill>
                  <a:srgbClr val="d9d9d9"/>
                </a:solidFill>
                <a:effectLst/>
                <a:uFillTx/>
                <a:latin typeface="Bodoni MT Black"/>
                <a:ea typeface="宋体"/>
              </a:rPr>
              <a:t>集成测试</a:t>
            </a:r>
            <a:endParaRPr lang="en-US" sz="2400" b="0" u="none" strike="noStrike">
              <a:solidFill>
                <a:srgbClr val="000000"/>
              </a:solidFill>
              <a:effectLst/>
              <a:uFillTx/>
              <a:latin typeface="Arial"/>
            </a:endParaRPr>
          </a:p>
        </p:txBody>
      </p:sp>
      <p:sp>
        <p:nvSpPr>
          <p:cNvPr id="288" name="1 Título"/>
          <p:cNvSpPr/>
          <p:nvPr/>
        </p:nvSpPr>
        <p:spPr>
          <a:xfrm>
            <a:off x="0" y="6300720"/>
            <a:ext cx="231588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7</a:t>
            </a:r>
            <a:r>
              <a:rPr lang="zh-CN" sz="2400" b="0" u="none" strike="noStrike">
                <a:solidFill>
                  <a:srgbClr val="d9d9d9"/>
                </a:solidFill>
                <a:effectLst/>
                <a:uFillTx/>
                <a:latin typeface="Bodoni MT Black"/>
                <a:ea typeface="宋体"/>
              </a:rPr>
              <a:t>章　实现</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7.4 </a:t>
            </a:r>
            <a:r>
              <a:rPr lang="zh-CN" sz="4400" b="1" u="none" strike="noStrike">
                <a:solidFill>
                  <a:schemeClr val="dk1"/>
                </a:solidFill>
                <a:effectLst/>
                <a:uFillTx/>
                <a:latin typeface="Bodoni MT Black"/>
              </a:rPr>
              <a:t>集成测试</a:t>
            </a:r>
            <a:endParaRPr lang="es-ES" sz="4400" b="0" u="none" strike="noStrike">
              <a:solidFill>
                <a:schemeClr val="dk1"/>
              </a:solidFill>
              <a:effectLst/>
              <a:uFillTx/>
              <a:latin typeface="Arial"/>
            </a:endParaRPr>
          </a:p>
        </p:txBody>
      </p:sp>
      <p:sp>
        <p:nvSpPr>
          <p:cNvPr id="290" name="PlaceHolder 2"/>
          <p:cNvSpPr>
            <a:spLocks noGrp="1"/>
          </p:cNvSpPr>
          <p:nvPr>
            <p:ph/>
          </p:nvPr>
        </p:nvSpPr>
        <p:spPr>
          <a:xfrm>
            <a:off x="385920" y="1125360"/>
            <a:ext cx="8434080" cy="4966920"/>
          </a:xfrm>
          <a:prstGeom prst="rect">
            <a:avLst/>
          </a:prstGeom>
          <a:noFill/>
          <a:ln w="9360">
            <a:noFill/>
          </a:ln>
        </p:spPr>
        <p:txBody>
          <a:bodyPr numCol="1" spcCol="0" lIns="91440" rIns="91440" tIns="45720" bIns="45720" anchor="t">
            <a:noAutofit/>
          </a:bodyPr>
          <a:p>
            <a:pPr indent="0">
              <a:lnSpc>
                <a:spcPct val="125000"/>
              </a:lnSpc>
              <a:buNone/>
              <a:tabLst>
                <a:tab algn="l" pos="0"/>
              </a:tabLst>
            </a:pPr>
            <a:r>
              <a:rPr lang="es-ES" sz="2400" b="0" u="none" strike="noStrike">
                <a:solidFill>
                  <a:schemeClr val="dk1"/>
                </a:solidFill>
                <a:effectLst/>
                <a:uFillTx/>
                <a:latin typeface="Bodoni MT Black"/>
              </a:rPr>
              <a:t>② 把下一个要测试的模块同已经测试好的那些模块结合起来进行测试，测试完以后再把下一个应该测试的模块结合进来测试。这种每次增加一个模块的方法称为</a:t>
            </a:r>
            <a:r>
              <a:rPr lang="zh-CN" sz="2400" b="1" u="none" strike="noStrike">
                <a:solidFill>
                  <a:srgbClr val="c00000"/>
                </a:solidFill>
                <a:effectLst/>
                <a:uFillTx/>
                <a:latin typeface="Bodoni MT Black"/>
              </a:rPr>
              <a:t>渐增式测试</a:t>
            </a:r>
            <a:r>
              <a:rPr lang="zh-CN" sz="2400" b="0" u="none" strike="noStrike">
                <a:solidFill>
                  <a:schemeClr val="dk1"/>
                </a:solidFill>
                <a:effectLst/>
                <a:uFillTx/>
                <a:latin typeface="Bodoni MT Black"/>
              </a:rPr>
              <a:t>，这种方法实际上同时完成单元测试和集成测试。</a:t>
            </a:r>
            <a:endParaRPr lang="es-ES" sz="2400" b="0" u="none" strike="noStrike">
              <a:solidFill>
                <a:schemeClr val="dk1"/>
              </a:solidFill>
              <a:effectLst/>
              <a:uFillTx/>
              <a:latin typeface="Calibri"/>
            </a:endParaRPr>
          </a:p>
          <a:p>
            <a:pPr indent="0">
              <a:lnSpc>
                <a:spcPct val="125000"/>
              </a:lnSpc>
              <a:buNone/>
              <a:tabLst>
                <a:tab algn="l" pos="0"/>
              </a:tabLst>
            </a:pPr>
            <a:r>
              <a:rPr lang="zh-CN" sz="2400" b="0" u="none" strike="noStrike">
                <a:solidFill>
                  <a:srgbClr val="ff0000"/>
                </a:solidFill>
                <a:effectLst/>
                <a:uFillTx/>
                <a:latin typeface="Bodoni MT Black"/>
              </a:rPr>
              <a:t>渐增式测试</a:t>
            </a:r>
            <a:r>
              <a:rPr lang="zh-CN" sz="2400" b="0" u="none" strike="noStrike">
                <a:solidFill>
                  <a:schemeClr val="dk1"/>
                </a:solidFill>
                <a:effectLst/>
                <a:uFillTx/>
                <a:latin typeface="Bodoni MT Black"/>
              </a:rPr>
              <a:t>与“一步到位”的非渐增式测试相反，它把程序划分成小段来构造和测试，在这个过程中比较容易定位和改正错误；对接口可以进行更彻底的测试；可以使用系统化的测试方法。</a:t>
            </a:r>
            <a:r>
              <a:rPr lang="zh-CN" sz="2400" b="0" u="none" strike="noStrike">
                <a:solidFill>
                  <a:srgbClr val="ff0000"/>
                </a:solidFill>
                <a:effectLst/>
                <a:uFillTx/>
                <a:latin typeface="Bodoni MT Black"/>
              </a:rPr>
              <a:t>目前在进行集成测试时普遍采用渐增式测试方法。</a:t>
            </a:r>
            <a:endParaRPr lang="es-ES" sz="2400" b="0" u="none" strike="noStrike">
              <a:solidFill>
                <a:schemeClr val="dk1"/>
              </a:solidFill>
              <a:effectLst/>
              <a:uFillTx/>
              <a:latin typeface="Calibri"/>
            </a:endParaRPr>
          </a:p>
          <a:p>
            <a:pPr indent="0">
              <a:lnSpc>
                <a:spcPct val="125000"/>
              </a:lnSpc>
              <a:buNone/>
              <a:tabLst>
                <a:tab algn="l" pos="0"/>
              </a:tabLst>
            </a:pPr>
            <a:r>
              <a:rPr lang="zh-CN" sz="2400" b="0" u="none" strike="noStrike">
                <a:solidFill>
                  <a:schemeClr val="dk1"/>
                </a:solidFill>
                <a:effectLst/>
                <a:uFillTx/>
                <a:latin typeface="Bodoni MT Black"/>
              </a:rPr>
              <a:t>当使用渐增方式把模块结合到程序中去时，有</a:t>
            </a:r>
            <a:r>
              <a:rPr lang="zh-CN" sz="2400" b="1" u="none" strike="noStrike">
                <a:solidFill>
                  <a:srgbClr val="c00000"/>
                </a:solidFill>
                <a:effectLst/>
                <a:uFillTx/>
                <a:latin typeface="Bodoni MT Black"/>
              </a:rPr>
              <a:t>自顶向下</a:t>
            </a:r>
            <a:r>
              <a:rPr lang="zh-CN" sz="2400" b="0" u="none" strike="noStrike">
                <a:solidFill>
                  <a:schemeClr val="dk1"/>
                </a:solidFill>
                <a:effectLst/>
                <a:uFillTx/>
                <a:latin typeface="Bodoni MT Black"/>
              </a:rPr>
              <a:t>和</a:t>
            </a:r>
            <a:r>
              <a:rPr lang="zh-CN" sz="2400" b="1" u="none" strike="noStrike">
                <a:solidFill>
                  <a:srgbClr val="c00000"/>
                </a:solidFill>
                <a:effectLst/>
                <a:uFillTx/>
                <a:latin typeface="Bodoni MT Black"/>
              </a:rPr>
              <a:t>自底向上</a:t>
            </a:r>
            <a:r>
              <a:rPr lang="zh-CN" sz="2400" b="0" u="none" strike="noStrike">
                <a:solidFill>
                  <a:schemeClr val="dk1"/>
                </a:solidFill>
                <a:effectLst/>
                <a:uFillTx/>
                <a:latin typeface="Bodoni MT Black"/>
              </a:rPr>
              <a:t>两种集成策略。</a:t>
            </a:r>
            <a:endParaRPr lang="es-ES" sz="2400" b="0" u="none" strike="noStrike">
              <a:solidFill>
                <a:schemeClr val="dk1"/>
              </a:solidFill>
              <a:effectLst/>
              <a:uFillTx/>
              <a:latin typeface="Calibri"/>
            </a:endParaRPr>
          </a:p>
        </p:txBody>
      </p:sp>
      <p:sp>
        <p:nvSpPr>
          <p:cNvPr id="291"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7.4 </a:t>
            </a:r>
            <a:r>
              <a:rPr lang="zh-CN" sz="2400" b="0" u="none" strike="noStrike">
                <a:solidFill>
                  <a:srgbClr val="d9d9d9"/>
                </a:solidFill>
                <a:effectLst/>
                <a:uFillTx/>
                <a:latin typeface="Bodoni MT Black"/>
                <a:ea typeface="宋体"/>
              </a:rPr>
              <a:t>集成测试</a:t>
            </a:r>
            <a:endParaRPr lang="en-US" sz="2400" b="0" u="none" strike="noStrike">
              <a:solidFill>
                <a:srgbClr val="000000"/>
              </a:solidFill>
              <a:effectLst/>
              <a:uFillTx/>
              <a:latin typeface="Arial"/>
            </a:endParaRPr>
          </a:p>
        </p:txBody>
      </p:sp>
      <p:sp>
        <p:nvSpPr>
          <p:cNvPr id="292" name="1 Título"/>
          <p:cNvSpPr/>
          <p:nvPr/>
        </p:nvSpPr>
        <p:spPr>
          <a:xfrm>
            <a:off x="0" y="6300720"/>
            <a:ext cx="231588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7</a:t>
            </a:r>
            <a:r>
              <a:rPr lang="zh-CN" sz="2400" b="0" u="none" strike="noStrike">
                <a:solidFill>
                  <a:srgbClr val="d9d9d9"/>
                </a:solidFill>
                <a:effectLst/>
                <a:uFillTx/>
                <a:latin typeface="Bodoni MT Black"/>
                <a:ea typeface="宋体"/>
              </a:rPr>
              <a:t>章　实现</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title"/>
          </p:nvPr>
        </p:nvSpPr>
        <p:spPr>
          <a:xfrm>
            <a:off x="457200" y="54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7.4 </a:t>
            </a:r>
            <a:r>
              <a:rPr lang="zh-CN" sz="4400" b="1" u="none" strike="noStrike">
                <a:solidFill>
                  <a:schemeClr val="dk1"/>
                </a:solidFill>
                <a:effectLst/>
                <a:uFillTx/>
                <a:latin typeface="Bodoni MT Black"/>
              </a:rPr>
              <a:t>集成测试</a:t>
            </a:r>
            <a:endParaRPr lang="es-ES" sz="4400" b="0" u="none" strike="noStrike">
              <a:solidFill>
                <a:schemeClr val="dk1"/>
              </a:solidFill>
              <a:effectLst/>
              <a:uFillTx/>
              <a:latin typeface="Arial"/>
            </a:endParaRPr>
          </a:p>
        </p:txBody>
      </p:sp>
      <p:sp>
        <p:nvSpPr>
          <p:cNvPr id="294" name="PlaceHolder 2"/>
          <p:cNvSpPr>
            <a:spLocks noGrp="1"/>
          </p:cNvSpPr>
          <p:nvPr>
            <p:ph/>
          </p:nvPr>
        </p:nvSpPr>
        <p:spPr>
          <a:xfrm>
            <a:off x="272160" y="1053000"/>
            <a:ext cx="8229240" cy="60300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7.4.1 </a:t>
            </a:r>
            <a:r>
              <a:rPr lang="zh-CN" sz="3200" b="1" u="none" strike="noStrike">
                <a:solidFill>
                  <a:schemeClr val="dk1"/>
                </a:solidFill>
                <a:effectLst/>
                <a:uFillTx/>
                <a:latin typeface="Bodoni MT Black"/>
              </a:rPr>
              <a:t>自顶向下集成</a:t>
            </a:r>
            <a:endParaRPr lang="es-ES" sz="3200" b="0" u="none" strike="noStrike">
              <a:solidFill>
                <a:schemeClr val="dk1"/>
              </a:solidFill>
              <a:effectLst/>
              <a:uFillTx/>
              <a:latin typeface="Calibri"/>
            </a:endParaRPr>
          </a:p>
        </p:txBody>
      </p:sp>
      <p:sp>
        <p:nvSpPr>
          <p:cNvPr id="295" name="TextBox 7"/>
          <p:cNvSpPr/>
          <p:nvPr/>
        </p:nvSpPr>
        <p:spPr>
          <a:xfrm>
            <a:off x="251640" y="1728720"/>
            <a:ext cx="8568720" cy="42469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400" b="1" u="none" strike="noStrike">
                <a:solidFill>
                  <a:srgbClr val="c00000"/>
                </a:solidFill>
                <a:effectLst/>
                <a:uFillTx/>
                <a:latin typeface="Bodoni MT Black"/>
              </a:rPr>
              <a:t>自顶向下集成方法</a:t>
            </a:r>
            <a:r>
              <a:rPr lang="zh-CN" sz="2400" b="0" u="none" strike="noStrike">
                <a:solidFill>
                  <a:schemeClr val="dk1"/>
                </a:solidFill>
                <a:effectLst/>
                <a:uFillTx/>
                <a:latin typeface="Bodoni MT Black"/>
              </a:rPr>
              <a:t>是从</a:t>
            </a:r>
            <a:r>
              <a:rPr lang="zh-CN" sz="2400" b="0" u="none" strike="noStrike">
                <a:solidFill>
                  <a:srgbClr val="ff0000"/>
                </a:solidFill>
                <a:effectLst/>
                <a:uFillTx/>
                <a:latin typeface="Bodoni MT Black"/>
              </a:rPr>
              <a:t>主控制模块</a:t>
            </a:r>
            <a:r>
              <a:rPr lang="zh-CN" sz="2400" b="0" u="none" strike="noStrike">
                <a:solidFill>
                  <a:schemeClr val="dk1"/>
                </a:solidFill>
                <a:effectLst/>
                <a:uFillTx/>
                <a:latin typeface="Bodoni MT Black"/>
              </a:rPr>
              <a:t>开始，沿着程序的控制层次向下移动，逐渐把各个模块结合起来。在把附属于（及最终附属于）主控制模块的那些模块组装到程序结构中去时，或者使用深度优先的策略，或者使用宽度优先的策略。</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①</a:t>
            </a:r>
            <a:r>
              <a:rPr lang="en-US" sz="2400" b="1" u="none" strike="noStrike">
                <a:solidFill>
                  <a:schemeClr val="dk1"/>
                </a:solidFill>
                <a:effectLst/>
                <a:uFillTx/>
                <a:latin typeface="Bodoni MT Black"/>
              </a:rPr>
              <a:t> </a:t>
            </a:r>
            <a:r>
              <a:rPr lang="zh-CN" sz="2400" b="1" u="none" strike="noStrike">
                <a:solidFill>
                  <a:srgbClr val="ff0000"/>
                </a:solidFill>
                <a:effectLst/>
                <a:uFillTx/>
                <a:latin typeface="Bodoni MT Black"/>
              </a:rPr>
              <a:t>深度优先的结合方法</a:t>
            </a:r>
            <a:r>
              <a:rPr lang="zh-CN" sz="2400" b="0" u="none" strike="noStrike">
                <a:solidFill>
                  <a:schemeClr val="dk1"/>
                </a:solidFill>
                <a:effectLst/>
                <a:uFillTx/>
                <a:latin typeface="Bodoni MT Black"/>
              </a:rPr>
              <a:t>先组装在软件结构的一条主控制通路上的所有模块。选择一条主控制通路取决于应用的特点，并且有很大任意性。</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②</a:t>
            </a:r>
            <a:r>
              <a:rPr lang="en-US" sz="2400" b="1" u="none" strike="noStrike">
                <a:solidFill>
                  <a:schemeClr val="dk1"/>
                </a:solidFill>
                <a:effectLst/>
                <a:uFillTx/>
                <a:latin typeface="Bodoni MT Black"/>
              </a:rPr>
              <a:t> </a:t>
            </a:r>
            <a:r>
              <a:rPr lang="zh-CN" sz="2400" b="1" u="none" strike="noStrike">
                <a:solidFill>
                  <a:srgbClr val="ff0000"/>
                </a:solidFill>
                <a:effectLst/>
                <a:uFillTx/>
                <a:latin typeface="Bodoni MT Black"/>
              </a:rPr>
              <a:t>宽度优先的结合方法</a:t>
            </a:r>
            <a:r>
              <a:rPr lang="zh-CN" sz="2400" b="0" u="none" strike="noStrike">
                <a:solidFill>
                  <a:schemeClr val="dk1"/>
                </a:solidFill>
                <a:effectLst/>
                <a:uFillTx/>
                <a:latin typeface="Bodoni MT Black"/>
              </a:rPr>
              <a:t>是沿软件结构水平地移动，把处于同一个控制层次上的所有模块组装起来。</a:t>
            </a:r>
            <a:endParaRPr lang="en-US" sz="2400" b="0" u="none" strike="noStrike">
              <a:solidFill>
                <a:srgbClr val="000000"/>
              </a:solidFill>
              <a:effectLst/>
              <a:uFillTx/>
              <a:latin typeface="Arial"/>
            </a:endParaRPr>
          </a:p>
        </p:txBody>
      </p:sp>
      <p:sp>
        <p:nvSpPr>
          <p:cNvPr id="296"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7.4.1 </a:t>
            </a:r>
            <a:r>
              <a:rPr lang="zh-CN" sz="2400" b="0" u="none" strike="noStrike">
                <a:solidFill>
                  <a:srgbClr val="d9d9d9"/>
                </a:solidFill>
                <a:effectLst/>
                <a:uFillTx/>
                <a:latin typeface="Bodoni MT Black"/>
                <a:ea typeface="宋体"/>
              </a:rPr>
              <a:t>自顶向下集成</a:t>
            </a:r>
            <a:endParaRPr lang="en-US" sz="2400" b="0" u="none" strike="noStrike">
              <a:solidFill>
                <a:srgbClr val="000000"/>
              </a:solidFill>
              <a:effectLst/>
              <a:uFillTx/>
              <a:latin typeface="Arial"/>
            </a:endParaRPr>
          </a:p>
        </p:txBody>
      </p:sp>
      <p:sp>
        <p:nvSpPr>
          <p:cNvPr id="297" name="1 Título"/>
          <p:cNvSpPr/>
          <p:nvPr/>
        </p:nvSpPr>
        <p:spPr>
          <a:xfrm>
            <a:off x="0" y="6300720"/>
            <a:ext cx="231588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7</a:t>
            </a:r>
            <a:r>
              <a:rPr lang="zh-CN" sz="2400" b="0" u="none" strike="noStrike">
                <a:solidFill>
                  <a:srgbClr val="d9d9d9"/>
                </a:solidFill>
                <a:effectLst/>
                <a:uFillTx/>
                <a:latin typeface="Bodoni MT Black"/>
                <a:ea typeface="宋体"/>
              </a:rPr>
              <a:t>章　实现</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7.4 </a:t>
            </a:r>
            <a:r>
              <a:rPr lang="zh-CN" sz="4400" b="1" u="none" strike="noStrike">
                <a:solidFill>
                  <a:schemeClr val="dk1"/>
                </a:solidFill>
                <a:effectLst/>
                <a:uFillTx/>
                <a:latin typeface="Bodoni MT Black"/>
              </a:rPr>
              <a:t>集成测试</a:t>
            </a:r>
            <a:endParaRPr lang="es-ES" sz="4400" b="0" u="none" strike="noStrike">
              <a:solidFill>
                <a:schemeClr val="dk1"/>
              </a:solidFill>
              <a:effectLst/>
              <a:uFillTx/>
              <a:latin typeface="Arial"/>
            </a:endParaRPr>
          </a:p>
        </p:txBody>
      </p:sp>
      <p:sp>
        <p:nvSpPr>
          <p:cNvPr id="299" name="TextBox 7"/>
          <p:cNvSpPr/>
          <p:nvPr/>
        </p:nvSpPr>
        <p:spPr>
          <a:xfrm>
            <a:off x="179640" y="1177560"/>
            <a:ext cx="4968360" cy="4357800"/>
          </a:xfrm>
          <a:prstGeom prst="rect">
            <a:avLst/>
          </a:prstGeom>
          <a:noFill/>
          <a:ln w="0">
            <a:noFill/>
          </a:ln>
        </p:spPr>
        <p:style>
          <a:lnRef idx="0"/>
          <a:fillRef idx="0"/>
          <a:effectRef idx="0"/>
          <a:fontRef idx="minor"/>
        </p:style>
        <p:txBody>
          <a:bodyPr lIns="90000" rIns="90000" tIns="45000" bIns="45000" anchor="t">
            <a:spAutoFit/>
          </a:bodyPr>
          <a:p>
            <a:pPr>
              <a:lnSpc>
                <a:spcPct val="125000"/>
              </a:lnSpc>
              <a:spcAft>
                <a:spcPts val="601"/>
              </a:spcAft>
              <a:tabLst>
                <a:tab algn="l" pos="0"/>
              </a:tabLst>
            </a:pPr>
            <a:r>
              <a:rPr lang="zh-CN" sz="2200" b="0" u="none" strike="noStrike">
                <a:solidFill>
                  <a:schemeClr val="dk1"/>
                </a:solidFill>
                <a:effectLst/>
                <a:uFillTx/>
                <a:latin typeface="Bodoni MT Black"/>
              </a:rPr>
              <a:t>使用</a:t>
            </a:r>
            <a:r>
              <a:rPr lang="zh-CN" sz="2200" b="0" u="none" strike="noStrike">
                <a:solidFill>
                  <a:srgbClr val="ff0000"/>
                </a:solidFill>
                <a:effectLst/>
                <a:uFillTx/>
                <a:latin typeface="Bodoni MT Black"/>
              </a:rPr>
              <a:t>深度优先</a:t>
            </a:r>
            <a:r>
              <a:rPr lang="zh-CN" sz="2200" b="0" u="none" strike="noStrike">
                <a:solidFill>
                  <a:schemeClr val="dk1"/>
                </a:solidFill>
                <a:effectLst/>
                <a:uFillTx/>
                <a:latin typeface="Bodoni MT Black"/>
              </a:rPr>
              <a:t>的结合方法，选取左通路，首先结合模块</a:t>
            </a:r>
            <a:r>
              <a:rPr lang="en-US" sz="2200" b="0" u="none" strike="noStrike">
                <a:solidFill>
                  <a:schemeClr val="dk1"/>
                </a:solidFill>
                <a:effectLst/>
                <a:uFillTx/>
                <a:latin typeface="Bodoni MT Black"/>
              </a:rPr>
              <a:t>M1,M2</a:t>
            </a:r>
            <a:r>
              <a:rPr lang="zh-CN" sz="2200" b="0" u="none" strike="noStrike">
                <a:solidFill>
                  <a:schemeClr val="dk1"/>
                </a:solidFill>
                <a:effectLst/>
                <a:uFillTx/>
                <a:latin typeface="Bodoni MT Black"/>
              </a:rPr>
              <a:t>和</a:t>
            </a:r>
            <a:r>
              <a:rPr lang="en-US" sz="2200" b="0" u="none" strike="noStrike">
                <a:solidFill>
                  <a:schemeClr val="dk1"/>
                </a:solidFill>
                <a:effectLst/>
                <a:uFillTx/>
                <a:latin typeface="Bodoni MT Black"/>
              </a:rPr>
              <a:t>M5</a:t>
            </a:r>
            <a:r>
              <a:rPr lang="zh-CN" sz="2200" b="0" u="none" strike="noStrike">
                <a:solidFill>
                  <a:schemeClr val="dk1"/>
                </a:solidFill>
                <a:effectLst/>
                <a:uFillTx/>
                <a:latin typeface="Bodoni MT Black"/>
              </a:rPr>
              <a:t>；其次，</a:t>
            </a:r>
            <a:r>
              <a:rPr lang="en-US" sz="2200" b="0" u="none" strike="noStrike">
                <a:solidFill>
                  <a:schemeClr val="dk1"/>
                </a:solidFill>
                <a:effectLst/>
                <a:uFillTx/>
                <a:latin typeface="Bodoni MT Black"/>
              </a:rPr>
              <a:t>M8</a:t>
            </a:r>
            <a:r>
              <a:rPr lang="zh-CN" sz="2200" b="0" u="none" strike="noStrike">
                <a:solidFill>
                  <a:schemeClr val="dk1"/>
                </a:solidFill>
                <a:effectLst/>
                <a:uFillTx/>
                <a:latin typeface="Bodoni MT Black"/>
              </a:rPr>
              <a:t>或</a:t>
            </a:r>
            <a:r>
              <a:rPr lang="en-US" sz="2200" b="0" u="none" strike="noStrike">
                <a:solidFill>
                  <a:schemeClr val="dk1"/>
                </a:solidFill>
                <a:effectLst/>
                <a:uFillTx/>
                <a:latin typeface="Bodoni MT Black"/>
              </a:rPr>
              <a:t>M6</a:t>
            </a:r>
            <a:r>
              <a:rPr lang="zh-CN" sz="2200" b="0" u="none" strike="noStrike">
                <a:solidFill>
                  <a:schemeClr val="dk1"/>
                </a:solidFill>
                <a:effectLst/>
                <a:uFillTx/>
                <a:latin typeface="Bodoni MT Black"/>
              </a:rPr>
              <a:t>（如果为了使</a:t>
            </a:r>
            <a:r>
              <a:rPr lang="en-US" sz="2200" b="0" u="none" strike="noStrike">
                <a:solidFill>
                  <a:schemeClr val="dk1"/>
                </a:solidFill>
                <a:effectLst/>
                <a:uFillTx/>
                <a:latin typeface="Bodoni MT Black"/>
              </a:rPr>
              <a:t>M2</a:t>
            </a:r>
            <a:r>
              <a:rPr lang="zh-CN" sz="2200" b="0" u="none" strike="noStrike">
                <a:solidFill>
                  <a:schemeClr val="dk1"/>
                </a:solidFill>
                <a:effectLst/>
                <a:uFillTx/>
                <a:latin typeface="Bodoni MT Black"/>
              </a:rPr>
              <a:t>具有适当功能需要</a:t>
            </a:r>
            <a:r>
              <a:rPr lang="en-US" sz="2200" b="0" u="none" strike="noStrike">
                <a:solidFill>
                  <a:schemeClr val="dk1"/>
                </a:solidFill>
                <a:effectLst/>
                <a:uFillTx/>
                <a:latin typeface="Bodoni MT Black"/>
              </a:rPr>
              <a:t>M6</a:t>
            </a:r>
            <a:r>
              <a:rPr lang="zh-CN" sz="2200" b="0" u="none" strike="noStrike">
                <a:solidFill>
                  <a:schemeClr val="dk1"/>
                </a:solidFill>
                <a:effectLst/>
                <a:uFillTx/>
                <a:latin typeface="Bodoni MT Black"/>
                <a:ea typeface="宋体"/>
              </a:rPr>
              <a:t>）将被结合进来。然后构造中央的和右侧的控制通路。</a:t>
            </a:r>
            <a:endParaRPr lang="en-US" sz="2200" b="0" u="none" strike="noStrike">
              <a:solidFill>
                <a:srgbClr val="000000"/>
              </a:solidFill>
              <a:effectLst/>
              <a:uFillTx/>
              <a:latin typeface="Arial"/>
            </a:endParaRPr>
          </a:p>
          <a:p>
            <a:pPr>
              <a:lnSpc>
                <a:spcPct val="125000"/>
              </a:lnSpc>
              <a:tabLst>
                <a:tab algn="l" pos="0"/>
              </a:tabLst>
            </a:pPr>
            <a:r>
              <a:rPr lang="zh-CN" sz="2200" b="0" u="none" strike="noStrike">
                <a:solidFill>
                  <a:schemeClr val="dk1"/>
                </a:solidFill>
                <a:effectLst/>
                <a:uFillTx/>
                <a:latin typeface="Bodoni MT Black"/>
                <a:ea typeface="宋体"/>
              </a:rPr>
              <a:t>使用</a:t>
            </a:r>
            <a:r>
              <a:rPr lang="zh-CN" sz="2200" b="0" u="none" strike="noStrike">
                <a:solidFill>
                  <a:srgbClr val="ff0000"/>
                </a:solidFill>
                <a:effectLst/>
                <a:uFillTx/>
                <a:latin typeface="Bodoni MT Black"/>
                <a:ea typeface="宋体"/>
              </a:rPr>
              <a:t>宽度优先</a:t>
            </a:r>
            <a:r>
              <a:rPr lang="zh-CN" sz="2200" b="0" u="none" strike="noStrike">
                <a:solidFill>
                  <a:schemeClr val="dk1"/>
                </a:solidFill>
                <a:effectLst/>
                <a:uFillTx/>
                <a:latin typeface="Bodoni MT Black"/>
                <a:ea typeface="宋体"/>
              </a:rPr>
              <a:t>的结合方法，首先结合模块</a:t>
            </a:r>
            <a:r>
              <a:rPr lang="en-US" sz="2200" b="0" u="none" strike="noStrike">
                <a:solidFill>
                  <a:schemeClr val="dk1"/>
                </a:solidFill>
                <a:effectLst/>
                <a:uFillTx/>
                <a:latin typeface="Bodoni MT Black"/>
                <a:ea typeface="宋体"/>
              </a:rPr>
              <a:t>M2,M3</a:t>
            </a:r>
            <a:r>
              <a:rPr lang="zh-CN" sz="2200" b="0" u="none" strike="noStrike">
                <a:solidFill>
                  <a:schemeClr val="dk1"/>
                </a:solidFill>
                <a:effectLst/>
                <a:uFillTx/>
                <a:latin typeface="Bodoni MT Black"/>
                <a:ea typeface="宋体"/>
              </a:rPr>
              <a:t>和</a:t>
            </a:r>
            <a:r>
              <a:rPr lang="en-US" sz="2200" b="0" u="none" strike="noStrike">
                <a:solidFill>
                  <a:schemeClr val="dk1"/>
                </a:solidFill>
                <a:effectLst/>
                <a:uFillTx/>
                <a:latin typeface="Bodoni MT Black"/>
                <a:ea typeface="宋体"/>
              </a:rPr>
              <a:t>M4 </a:t>
            </a:r>
            <a:r>
              <a:rPr lang="zh-CN" sz="2200" b="0" u="none" strike="noStrike">
                <a:solidFill>
                  <a:schemeClr val="dk1"/>
                </a:solidFill>
                <a:effectLst/>
                <a:uFillTx/>
                <a:latin typeface="Bodoni MT Black"/>
                <a:ea typeface="宋体"/>
              </a:rPr>
              <a:t>（代替</a:t>
            </a:r>
            <a:r>
              <a:rPr lang="zh-CN" sz="2200" b="0" u="none" strike="noStrike">
                <a:solidFill>
                  <a:srgbClr val="ff0000"/>
                </a:solidFill>
                <a:effectLst/>
                <a:uFillTx/>
                <a:latin typeface="Bodoni MT Black"/>
                <a:ea typeface="宋体"/>
              </a:rPr>
              <a:t>存根程序</a:t>
            </a:r>
            <a:r>
              <a:rPr lang="en-US" sz="2200" b="0" u="none" strike="noStrike">
                <a:solidFill>
                  <a:srgbClr val="ff0000"/>
                </a:solidFill>
                <a:effectLst/>
                <a:uFillTx/>
                <a:latin typeface="Bodoni MT Black"/>
                <a:ea typeface="宋体"/>
              </a:rPr>
              <a:t>S4 </a:t>
            </a:r>
            <a:r>
              <a:rPr lang="zh-CN" sz="2200" b="0" u="none" strike="noStrike">
                <a:solidFill>
                  <a:schemeClr val="dk1"/>
                </a:solidFill>
                <a:effectLst/>
                <a:uFillTx/>
                <a:latin typeface="Bodoni MT Black"/>
                <a:ea typeface="宋体"/>
              </a:rPr>
              <a:t>） ，然后结合下一个控制层次中的模块</a:t>
            </a:r>
            <a:r>
              <a:rPr lang="en-US" sz="2200" b="0" u="none" strike="noStrike">
                <a:solidFill>
                  <a:schemeClr val="dk1"/>
                </a:solidFill>
                <a:effectLst/>
                <a:uFillTx/>
                <a:latin typeface="Bodoni MT Black"/>
                <a:ea typeface="宋体"/>
              </a:rPr>
              <a:t>M5,M6</a:t>
            </a:r>
            <a:r>
              <a:rPr lang="zh-CN" sz="2200" b="0" u="none" strike="noStrike">
                <a:solidFill>
                  <a:schemeClr val="dk1"/>
                </a:solidFill>
                <a:effectLst/>
                <a:uFillTx/>
                <a:latin typeface="Bodoni MT Black"/>
                <a:ea typeface="宋体"/>
              </a:rPr>
              <a:t>和</a:t>
            </a:r>
            <a:r>
              <a:rPr lang="en-US" sz="2200" b="0" u="none" strike="noStrike">
                <a:solidFill>
                  <a:schemeClr val="dk1"/>
                </a:solidFill>
                <a:effectLst/>
                <a:uFillTx/>
                <a:latin typeface="Bodoni MT Black"/>
                <a:ea typeface="宋体"/>
              </a:rPr>
              <a:t>M7</a:t>
            </a:r>
            <a:r>
              <a:rPr lang="zh-CN" sz="2200" b="0" u="none" strike="noStrike">
                <a:solidFill>
                  <a:schemeClr val="dk1"/>
                </a:solidFill>
                <a:effectLst/>
                <a:uFillTx/>
                <a:latin typeface="Bodoni MT Black"/>
                <a:ea typeface="宋体"/>
              </a:rPr>
              <a:t>；如此继续进行下去，直到所有模块都被结合进来为止。</a:t>
            </a:r>
            <a:endParaRPr lang="en-US" sz="2200" b="0" u="none" strike="noStrike">
              <a:solidFill>
                <a:srgbClr val="000000"/>
              </a:solidFill>
              <a:effectLst/>
              <a:uFillTx/>
              <a:latin typeface="Arial"/>
            </a:endParaRPr>
          </a:p>
        </p:txBody>
      </p:sp>
      <p:pic>
        <p:nvPicPr>
          <p:cNvPr id="300" name="图片 1"/>
          <p:cNvPicPr/>
          <p:nvPr/>
        </p:nvPicPr>
        <p:blipFill>
          <a:blip r:embed="rId1"/>
          <a:stretch/>
        </p:blipFill>
        <p:spPr>
          <a:xfrm>
            <a:off x="5447160" y="1989000"/>
            <a:ext cx="3373200" cy="3073680"/>
          </a:xfrm>
          <a:prstGeom prst="rect">
            <a:avLst/>
          </a:prstGeom>
          <a:noFill/>
          <a:ln w="9525">
            <a:noFill/>
          </a:ln>
        </p:spPr>
      </p:pic>
      <p:sp>
        <p:nvSpPr>
          <p:cNvPr id="301"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7.4.1 </a:t>
            </a:r>
            <a:r>
              <a:rPr lang="zh-CN" sz="2400" b="0" u="none" strike="noStrike">
                <a:solidFill>
                  <a:srgbClr val="d9d9d9"/>
                </a:solidFill>
                <a:effectLst/>
                <a:uFillTx/>
                <a:latin typeface="Bodoni MT Black"/>
                <a:ea typeface="宋体"/>
              </a:rPr>
              <a:t>自顶向下集成</a:t>
            </a:r>
            <a:endParaRPr lang="en-US" sz="2400" b="0" u="none" strike="noStrike">
              <a:solidFill>
                <a:srgbClr val="000000"/>
              </a:solidFill>
              <a:effectLst/>
              <a:uFillTx/>
              <a:latin typeface="Arial"/>
            </a:endParaRPr>
          </a:p>
        </p:txBody>
      </p:sp>
      <p:sp>
        <p:nvSpPr>
          <p:cNvPr id="302" name="1 Título"/>
          <p:cNvSpPr/>
          <p:nvPr/>
        </p:nvSpPr>
        <p:spPr>
          <a:xfrm>
            <a:off x="0" y="6300720"/>
            <a:ext cx="231588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7</a:t>
            </a:r>
            <a:r>
              <a:rPr lang="zh-CN" sz="2400" b="0" u="none" strike="noStrike">
                <a:solidFill>
                  <a:srgbClr val="d9d9d9"/>
                </a:solidFill>
                <a:effectLst/>
                <a:uFillTx/>
                <a:latin typeface="Bodoni MT Black"/>
                <a:ea typeface="宋体"/>
              </a:rPr>
              <a:t>章　实现</a:t>
            </a:r>
            <a:endParaRPr lang="en-US" sz="2400" b="0" u="none" strike="noStrike">
              <a:solidFill>
                <a:srgbClr val="000000"/>
              </a:solidFill>
              <a:effectLst/>
              <a:uFillTx/>
              <a:latin typeface="Arial"/>
            </a:endParaRPr>
          </a:p>
        </p:txBody>
      </p:sp>
      <p:grpSp>
        <p:nvGrpSpPr>
          <p:cNvPr id="303" name="组合 13"/>
          <p:cNvGrpSpPr/>
          <p:nvPr/>
        </p:nvGrpSpPr>
        <p:grpSpPr>
          <a:xfrm>
            <a:off x="5724000" y="2288520"/>
            <a:ext cx="1684800" cy="2427480"/>
            <a:chOff x="5724000" y="2288520"/>
            <a:chExt cx="1684800" cy="2427480"/>
          </a:xfrm>
        </p:grpSpPr>
        <p:sp>
          <p:nvSpPr>
            <p:cNvPr id="304" name="任意多边形 1"/>
            <p:cNvSpPr/>
            <p:nvPr/>
          </p:nvSpPr>
          <p:spPr>
            <a:xfrm>
              <a:off x="5724000" y="2288520"/>
              <a:ext cx="1623240" cy="2427480"/>
            </a:xfrm>
            <a:custGeom>
              <a:avLst/>
              <a:gdLst>
                <a:gd name="textAreaLeft" fmla="*/ 0 w 1623240"/>
                <a:gd name="textAreaRight" fmla="*/ 1623600 w 1623240"/>
                <a:gd name="textAreaTop" fmla="*/ 0 h 2427480"/>
                <a:gd name="textAreaBottom" fmla="*/ 2427840 h 2427480"/>
                <a:gd name="GluePoint1X" fmla="*/ 1623701 w 1623701"/>
                <a:gd name="GluePoint1Y" fmla="*/ 0 h 2427817"/>
                <a:gd name="GluePoint2X" fmla="*/ 1598064 w 1623701"/>
                <a:gd name="GluePoint2Y" fmla="*/ 51274 h 2427817"/>
                <a:gd name="GluePoint3X" fmla="*/ 1469877 w 1623701"/>
                <a:gd name="GluePoint3Y" fmla="*/ 153824 h 2427817"/>
                <a:gd name="GluePoint4X" fmla="*/ 1452786 w 1623701"/>
                <a:gd name="GluePoint4Y" fmla="*/ 179461 h 2427817"/>
                <a:gd name="GluePoint5X" fmla="*/ 1392965 w 1623701"/>
                <a:gd name="GluePoint5Y" fmla="*/ 205099 h 2427817"/>
                <a:gd name="GluePoint6X" fmla="*/ 1333144 w 1623701"/>
                <a:gd name="GluePoint6Y" fmla="*/ 247828 h 2427817"/>
                <a:gd name="GluePoint7X" fmla="*/ 1298961 w 1623701"/>
                <a:gd name="GluePoint7Y" fmla="*/ 264919 h 2427817"/>
                <a:gd name="GluePoint8X" fmla="*/ 1281870 w 1623701"/>
                <a:gd name="GluePoint8Y" fmla="*/ 290557 h 2427817"/>
                <a:gd name="GluePoint9X" fmla="*/ 1256232 w 1623701"/>
                <a:gd name="GluePoint9Y" fmla="*/ 299102 h 2427817"/>
                <a:gd name="GluePoint10X" fmla="*/ 1196412 w 1623701"/>
                <a:gd name="GluePoint10Y" fmla="*/ 341831 h 2427817"/>
                <a:gd name="GluePoint11X" fmla="*/ 1179320 w 1623701"/>
                <a:gd name="GluePoint11Y" fmla="*/ 367469 h 2427817"/>
                <a:gd name="GluePoint12X" fmla="*/ 1119500 w 1623701"/>
                <a:gd name="GluePoint12Y" fmla="*/ 401652 h 2427817"/>
                <a:gd name="GluePoint13X" fmla="*/ 1085316 w 1623701"/>
                <a:gd name="GluePoint13Y" fmla="*/ 452927 h 2427817"/>
                <a:gd name="GluePoint14X" fmla="*/ 1042587 w 1623701"/>
                <a:gd name="GluePoint14Y" fmla="*/ 512747 h 2427817"/>
                <a:gd name="GluePoint15X" fmla="*/ 1016950 w 1623701"/>
                <a:gd name="GluePoint15Y" fmla="*/ 538385 h 2427817"/>
                <a:gd name="GluePoint16X" fmla="*/ 982767 w 1623701"/>
                <a:gd name="GluePoint16Y" fmla="*/ 589659 h 2427817"/>
                <a:gd name="GluePoint17X" fmla="*/ 940038 w 1623701"/>
                <a:gd name="GluePoint17Y" fmla="*/ 632388 h 2427817"/>
                <a:gd name="GluePoint18X" fmla="*/ 905855 w 1623701"/>
                <a:gd name="GluePoint18Y" fmla="*/ 683663 h 2427817"/>
                <a:gd name="GluePoint19X" fmla="*/ 888763 w 1623701"/>
                <a:gd name="GluePoint19Y" fmla="*/ 709301 h 2427817"/>
                <a:gd name="GluePoint20X" fmla="*/ 863126 w 1623701"/>
                <a:gd name="GluePoint20Y" fmla="*/ 743484 h 2427817"/>
                <a:gd name="GluePoint21X" fmla="*/ 837488 w 1623701"/>
                <a:gd name="GluePoint21Y" fmla="*/ 769121 h 2427817"/>
                <a:gd name="GluePoint22X" fmla="*/ 820397 w 1623701"/>
                <a:gd name="GluePoint22Y" fmla="*/ 794759 h 2427817"/>
                <a:gd name="GluePoint23X" fmla="*/ 769122 w 1623701"/>
                <a:gd name="GluePoint23Y" fmla="*/ 828942 h 2427817"/>
                <a:gd name="GluePoint24X" fmla="*/ 752030 w 1623701"/>
                <a:gd name="GluePoint24Y" fmla="*/ 854579 h 2427817"/>
                <a:gd name="GluePoint25X" fmla="*/ 726393 w 1623701"/>
                <a:gd name="GluePoint25Y" fmla="*/ 863125 h 2427817"/>
                <a:gd name="GluePoint26X" fmla="*/ 700756 w 1623701"/>
                <a:gd name="GluePoint26Y" fmla="*/ 880216 h 2427817"/>
                <a:gd name="GluePoint27X" fmla="*/ 623843 w 1623701"/>
                <a:gd name="GluePoint27Y" fmla="*/ 940037 h 2427817"/>
                <a:gd name="GluePoint28X" fmla="*/ 572569 w 1623701"/>
                <a:gd name="GluePoint28Y" fmla="*/ 982766 h 2427817"/>
                <a:gd name="GluePoint29X" fmla="*/ 546931 w 1623701"/>
                <a:gd name="GluePoint29Y" fmla="*/ 1008403 h 2427817"/>
                <a:gd name="GluePoint30X" fmla="*/ 521294 w 1623701"/>
                <a:gd name="GluePoint30Y" fmla="*/ 1025495 h 2427817"/>
                <a:gd name="GluePoint31X" fmla="*/ 495657 w 1623701"/>
                <a:gd name="GluePoint31Y" fmla="*/ 1051132 h 2427817"/>
                <a:gd name="GluePoint32X" fmla="*/ 461473 w 1623701"/>
                <a:gd name="GluePoint32Y" fmla="*/ 1076770 h 2427817"/>
                <a:gd name="GluePoint33X" fmla="*/ 435836 w 1623701"/>
                <a:gd name="GluePoint33Y" fmla="*/ 1102407 h 2427817"/>
                <a:gd name="GluePoint34X" fmla="*/ 410199 w 1623701"/>
                <a:gd name="GluePoint34Y" fmla="*/ 1119499 h 2427817"/>
                <a:gd name="GluePoint35X" fmla="*/ 333286 w 1623701"/>
                <a:gd name="GluePoint35Y" fmla="*/ 1179319 h 2427817"/>
                <a:gd name="GluePoint36X" fmla="*/ 256374 w 1623701"/>
                <a:gd name="GluePoint36Y" fmla="*/ 1239140 h 2427817"/>
                <a:gd name="GluePoint37X" fmla="*/ 196554 w 1623701"/>
                <a:gd name="GluePoint37Y" fmla="*/ 1307506 h 2427817"/>
                <a:gd name="GluePoint38X" fmla="*/ 179462 w 1623701"/>
                <a:gd name="GluePoint38Y" fmla="*/ 1333144 h 2427817"/>
                <a:gd name="GluePoint39X" fmla="*/ 162371 w 1623701"/>
                <a:gd name="GluePoint39Y" fmla="*/ 1384418 h 2427817"/>
                <a:gd name="GluePoint40X" fmla="*/ 119642 w 1623701"/>
                <a:gd name="GluePoint40Y" fmla="*/ 1444239 h 2427817"/>
                <a:gd name="GluePoint41X" fmla="*/ 102550 w 1623701"/>
                <a:gd name="GluePoint41Y" fmla="*/ 1504059 h 2427817"/>
                <a:gd name="GluePoint42X" fmla="*/ 85458 w 1623701"/>
                <a:gd name="GluePoint42Y" fmla="*/ 1529697 h 2427817"/>
                <a:gd name="GluePoint43X" fmla="*/ 76913 w 1623701"/>
                <a:gd name="GluePoint43Y" fmla="*/ 1615155 h 2427817"/>
                <a:gd name="GluePoint44X" fmla="*/ 59821 w 1623701"/>
                <a:gd name="GluePoint44Y" fmla="*/ 1692067 h 2427817"/>
                <a:gd name="GluePoint45X" fmla="*/ 51275 w 1623701"/>
                <a:gd name="GluePoint45Y" fmla="*/ 1717704 h 2427817"/>
                <a:gd name="GluePoint46X" fmla="*/ 34184 w 1623701"/>
                <a:gd name="GluePoint46Y" fmla="*/ 1820254 h 2427817"/>
                <a:gd name="GluePoint47X" fmla="*/ 25638 w 1623701"/>
                <a:gd name="GluePoint47Y" fmla="*/ 1845891 h 2427817"/>
                <a:gd name="GluePoint48X" fmla="*/ 17092 w 1623701"/>
                <a:gd name="GluePoint48Y" fmla="*/ 1939895 h 2427817"/>
                <a:gd name="GluePoint49X" fmla="*/ 8546 w 1623701"/>
                <a:gd name="GluePoint49Y" fmla="*/ 1974078 h 2427817"/>
                <a:gd name="GluePoint50X" fmla="*/ 0 w 1623701"/>
                <a:gd name="GluePoint50Y" fmla="*/ 2170631 h 2427817"/>
                <a:gd name="GluePoint51X" fmla="*/ 17092 w 1623701"/>
                <a:gd name="GluePoint51Y" fmla="*/ 2384276 h 2427817"/>
                <a:gd name="GluePoint52X" fmla="*/ 42729 w 1623701"/>
                <a:gd name="GluePoint52Y" fmla="*/ 2392822 h 2427817"/>
                <a:gd name="GluePoint53X" fmla="*/ 68367 w 1623701"/>
                <a:gd name="GluePoint53Y" fmla="*/ 2409914 h 2427817"/>
                <a:gd name="GluePoint54X" fmla="*/ 128187 w 1623701"/>
                <a:gd name="GluePoint54Y" fmla="*/ 2427005 h 2427817"/>
                <a:gd name="GluePoint55X" fmla="*/ 205100 w 1623701"/>
                <a:gd name="GluePoint55Y" fmla="*/ 2418459 h 2427817"/>
                <a:gd name="GluePoint56X" fmla="*/ 222191 w 1623701"/>
                <a:gd name="GluePoint56Y" fmla="*/ 2350093 h 2427817"/>
                <a:gd name="GluePoint57X" fmla="*/ 239283 w 1623701"/>
                <a:gd name="GluePoint57Y" fmla="*/ 2324456 h 2427817"/>
                <a:gd name="GluePoint58X" fmla="*/ 256374 w 1623701"/>
                <a:gd name="GluePoint58Y" fmla="*/ 2196269 h 2427817"/>
                <a:gd name="GluePoint59X" fmla="*/ 273466 w 1623701"/>
                <a:gd name="GluePoint59Y" fmla="*/ 2136448 h 2427817"/>
                <a:gd name="GluePoint60X" fmla="*/ 282012 w 1623701"/>
                <a:gd name="GluePoint60Y" fmla="*/ 1709159 h 2427817"/>
                <a:gd name="GluePoint61X" fmla="*/ 299103 w 1623701"/>
                <a:gd name="GluePoint61Y" fmla="*/ 1657884 h 2427817"/>
                <a:gd name="GluePoint62X" fmla="*/ 307649 w 1623701"/>
                <a:gd name="GluePoint62Y" fmla="*/ 1632246 h 2427817"/>
                <a:gd name="GluePoint63X" fmla="*/ 333286 w 1623701"/>
                <a:gd name="GluePoint63Y" fmla="*/ 1606609 h 2427817"/>
                <a:gd name="GluePoint64X" fmla="*/ 350378 w 1623701"/>
                <a:gd name="GluePoint64Y" fmla="*/ 1555334 h 2427817"/>
                <a:gd name="GluePoint65X" fmla="*/ 376015 w 1623701"/>
                <a:gd name="GluePoint65Y" fmla="*/ 1529697 h 2427817"/>
                <a:gd name="GluePoint66X" fmla="*/ 393107 w 1623701"/>
                <a:gd name="GluePoint66Y" fmla="*/ 1504059 h 2427817"/>
                <a:gd name="GluePoint67X" fmla="*/ 418744 w 1623701"/>
                <a:gd name="GluePoint67Y" fmla="*/ 1486968 h 2427817"/>
                <a:gd name="GluePoint68X" fmla="*/ 478565 w 1623701"/>
                <a:gd name="GluePoint68Y" fmla="*/ 1401510 h 2427817"/>
                <a:gd name="GluePoint69X" fmla="*/ 504202 w 1623701"/>
                <a:gd name="GluePoint69Y" fmla="*/ 1375873 h 2427817"/>
                <a:gd name="GluePoint70X" fmla="*/ 529840 w 1623701"/>
                <a:gd name="GluePoint70Y" fmla="*/ 1341689 h 2427817"/>
                <a:gd name="GluePoint71X" fmla="*/ 555477 w 1623701"/>
                <a:gd name="GluePoint71Y" fmla="*/ 1316052 h 2427817"/>
                <a:gd name="GluePoint72X" fmla="*/ 572569 w 1623701"/>
                <a:gd name="GluePoint72Y" fmla="*/ 1290415 h 2427817"/>
                <a:gd name="GluePoint73X" fmla="*/ 623843 w 1623701"/>
                <a:gd name="GluePoint73Y" fmla="*/ 1256231 h 2427817"/>
                <a:gd name="GluePoint74X" fmla="*/ 675118 w 1623701"/>
                <a:gd name="GluePoint74Y" fmla="*/ 1213502 h 2427817"/>
                <a:gd name="GluePoint75X" fmla="*/ 726393 w 1623701"/>
                <a:gd name="GluePoint75Y" fmla="*/ 1179319 h 2427817"/>
                <a:gd name="GluePoint76X" fmla="*/ 769122 w 1623701"/>
                <a:gd name="GluePoint76Y" fmla="*/ 1136590 h 2427817"/>
                <a:gd name="GluePoint77X" fmla="*/ 846034 w 1623701"/>
                <a:gd name="GluePoint77Y" fmla="*/ 1076770 h 2427817"/>
                <a:gd name="GluePoint78X" fmla="*/ 871672 w 1623701"/>
                <a:gd name="GluePoint78Y" fmla="*/ 1059678 h 2427817"/>
                <a:gd name="GluePoint79X" fmla="*/ 922946 w 1623701"/>
                <a:gd name="GluePoint79Y" fmla="*/ 1042587 h 2427817"/>
                <a:gd name="GluePoint80X" fmla="*/ 991313 w 1623701"/>
                <a:gd name="GluePoint80Y" fmla="*/ 1059678 h 2427817"/>
                <a:gd name="GluePoint81X" fmla="*/ 1016950 w 1623701"/>
                <a:gd name="GluePoint81Y" fmla="*/ 1076770 h 2427817"/>
                <a:gd name="GluePoint82X" fmla="*/ 1034042 w 1623701"/>
                <a:gd name="GluePoint82Y" fmla="*/ 1128044 h 2427817"/>
                <a:gd name="GluePoint83X" fmla="*/ 1008404 w 1623701"/>
                <a:gd name="GluePoint83Y" fmla="*/ 1632246 h 24278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 ang="0">
                  <a:pos x="GluePoint53X" y="GluePoint53Y"/>
                </a:cxn>
                <a:cxn ang="0">
                  <a:pos x="GluePoint54X" y="GluePoint54Y"/>
                </a:cxn>
                <a:cxn ang="0">
                  <a:pos x="GluePoint55X" y="GluePoint55Y"/>
                </a:cxn>
                <a:cxn ang="0">
                  <a:pos x="GluePoint56X" y="GluePoint56Y"/>
                </a:cxn>
                <a:cxn ang="0">
                  <a:pos x="GluePoint57X" y="GluePoint57Y"/>
                </a:cxn>
                <a:cxn ang="0">
                  <a:pos x="GluePoint58X" y="GluePoint58Y"/>
                </a:cxn>
                <a:cxn ang="0">
                  <a:pos x="GluePoint59X" y="GluePoint59Y"/>
                </a:cxn>
                <a:cxn ang="0">
                  <a:pos x="GluePoint60X" y="GluePoint60Y"/>
                </a:cxn>
                <a:cxn ang="0">
                  <a:pos x="GluePoint61X" y="GluePoint61Y"/>
                </a:cxn>
                <a:cxn ang="0">
                  <a:pos x="GluePoint62X" y="GluePoint62Y"/>
                </a:cxn>
                <a:cxn ang="0">
                  <a:pos x="GluePoint63X" y="GluePoint63Y"/>
                </a:cxn>
                <a:cxn ang="0">
                  <a:pos x="GluePoint64X" y="GluePoint64Y"/>
                </a:cxn>
                <a:cxn ang="0">
                  <a:pos x="GluePoint65X" y="GluePoint65Y"/>
                </a:cxn>
                <a:cxn ang="0">
                  <a:pos x="GluePoint66X" y="GluePoint66Y"/>
                </a:cxn>
                <a:cxn ang="0">
                  <a:pos x="GluePoint67X" y="GluePoint67Y"/>
                </a:cxn>
                <a:cxn ang="0">
                  <a:pos x="GluePoint68X" y="GluePoint68Y"/>
                </a:cxn>
                <a:cxn ang="0">
                  <a:pos x="GluePoint69X" y="GluePoint69Y"/>
                </a:cxn>
                <a:cxn ang="0">
                  <a:pos x="GluePoint70X" y="GluePoint70Y"/>
                </a:cxn>
                <a:cxn ang="0">
                  <a:pos x="GluePoint71X" y="GluePoint71Y"/>
                </a:cxn>
                <a:cxn ang="0">
                  <a:pos x="GluePoint72X" y="GluePoint72Y"/>
                </a:cxn>
                <a:cxn ang="0">
                  <a:pos x="GluePoint73X" y="GluePoint73Y"/>
                </a:cxn>
                <a:cxn ang="0">
                  <a:pos x="GluePoint74X" y="GluePoint74Y"/>
                </a:cxn>
                <a:cxn ang="0">
                  <a:pos x="GluePoint75X" y="GluePoint75Y"/>
                </a:cxn>
                <a:cxn ang="0">
                  <a:pos x="GluePoint76X" y="GluePoint76Y"/>
                </a:cxn>
                <a:cxn ang="0">
                  <a:pos x="GluePoint77X" y="GluePoint77Y"/>
                </a:cxn>
                <a:cxn ang="0">
                  <a:pos x="GluePoint78X" y="GluePoint78Y"/>
                </a:cxn>
                <a:cxn ang="0">
                  <a:pos x="GluePoint79X" y="GluePoint79Y"/>
                </a:cxn>
                <a:cxn ang="0">
                  <a:pos x="GluePoint80X" y="GluePoint80Y"/>
                </a:cxn>
                <a:cxn ang="0">
                  <a:pos x="GluePoint81X" y="GluePoint81Y"/>
                </a:cxn>
                <a:cxn ang="0">
                  <a:pos x="GluePoint82X" y="GluePoint82Y"/>
                </a:cxn>
                <a:cxn ang="0">
                  <a:pos x="GluePoint83X" y="GluePoint83Y"/>
                </a:cxn>
              </a:cxnLst>
              <a:rect l="textAreaLeft" t="textAreaTop" r="textAreaRight" b="textAreaBottom"/>
              <a:pathLst>
                <a:path w="1623701" h="2427817">
                  <a:moveTo>
                    <a:pt x="1623701" y="0"/>
                  </a:moveTo>
                  <a:cubicBezTo>
                    <a:pt x="1615155" y="17091"/>
                    <a:pt x="1611133" y="37334"/>
                    <a:pt x="1598064" y="51274"/>
                  </a:cubicBezTo>
                  <a:cubicBezTo>
                    <a:pt x="1552052" y="100354"/>
                    <a:pt x="1517666" y="121964"/>
                    <a:pt x="1469877" y="153824"/>
                  </a:cubicBezTo>
                  <a:cubicBezTo>
                    <a:pt x="1464180" y="162370"/>
                    <a:pt x="1460676" y="172886"/>
                    <a:pt x="1452786" y="179461"/>
                  </a:cubicBezTo>
                  <a:cubicBezTo>
                    <a:pt x="1438706" y="191194"/>
                    <a:pt x="1410775" y="199162"/>
                    <a:pt x="1392965" y="205099"/>
                  </a:cubicBezTo>
                  <a:cubicBezTo>
                    <a:pt x="1378293" y="216103"/>
                    <a:pt x="1350637" y="237832"/>
                    <a:pt x="1333144" y="247828"/>
                  </a:cubicBezTo>
                  <a:cubicBezTo>
                    <a:pt x="1322083" y="254148"/>
                    <a:pt x="1310355" y="259222"/>
                    <a:pt x="1298961" y="264919"/>
                  </a:cubicBezTo>
                  <a:cubicBezTo>
                    <a:pt x="1293264" y="273465"/>
                    <a:pt x="1289890" y="284141"/>
                    <a:pt x="1281870" y="290557"/>
                  </a:cubicBezTo>
                  <a:cubicBezTo>
                    <a:pt x="1274836" y="296184"/>
                    <a:pt x="1264289" y="295073"/>
                    <a:pt x="1256232" y="299102"/>
                  </a:cubicBezTo>
                  <a:cubicBezTo>
                    <a:pt x="1243741" y="305347"/>
                    <a:pt x="1204147" y="336030"/>
                    <a:pt x="1196412" y="341831"/>
                  </a:cubicBezTo>
                  <a:cubicBezTo>
                    <a:pt x="1190715" y="350377"/>
                    <a:pt x="1186583" y="360206"/>
                    <a:pt x="1179320" y="367469"/>
                  </a:cubicBezTo>
                  <a:cubicBezTo>
                    <a:pt x="1167243" y="379546"/>
                    <a:pt x="1132902" y="394951"/>
                    <a:pt x="1119500" y="401652"/>
                  </a:cubicBezTo>
                  <a:lnTo>
                    <a:pt x="1085316" y="452927"/>
                  </a:lnTo>
                  <a:cubicBezTo>
                    <a:pt x="1071785" y="473224"/>
                    <a:pt x="1058495" y="494188"/>
                    <a:pt x="1042587" y="512747"/>
                  </a:cubicBezTo>
                  <a:cubicBezTo>
                    <a:pt x="1034722" y="521923"/>
                    <a:pt x="1025496" y="529839"/>
                    <a:pt x="1016950" y="538385"/>
                  </a:cubicBezTo>
                  <a:cubicBezTo>
                    <a:pt x="1001931" y="583440"/>
                    <a:pt x="1018330" y="546983"/>
                    <a:pt x="982767" y="589659"/>
                  </a:cubicBezTo>
                  <a:cubicBezTo>
                    <a:pt x="947160" y="632388"/>
                    <a:pt x="987039" y="601055"/>
                    <a:pt x="940038" y="632388"/>
                  </a:cubicBezTo>
                  <a:cubicBezTo>
                    <a:pt x="925019" y="677444"/>
                    <a:pt x="941418" y="640987"/>
                    <a:pt x="905855" y="683663"/>
                  </a:cubicBezTo>
                  <a:cubicBezTo>
                    <a:pt x="899280" y="691553"/>
                    <a:pt x="894733" y="700943"/>
                    <a:pt x="888763" y="709301"/>
                  </a:cubicBezTo>
                  <a:cubicBezTo>
                    <a:pt x="880485" y="720891"/>
                    <a:pt x="872395" y="732670"/>
                    <a:pt x="863126" y="743484"/>
                  </a:cubicBezTo>
                  <a:cubicBezTo>
                    <a:pt x="855261" y="752660"/>
                    <a:pt x="845225" y="759837"/>
                    <a:pt x="837488" y="769121"/>
                  </a:cubicBezTo>
                  <a:cubicBezTo>
                    <a:pt x="830913" y="777011"/>
                    <a:pt x="828127" y="787996"/>
                    <a:pt x="820397" y="794759"/>
                  </a:cubicBezTo>
                  <a:cubicBezTo>
                    <a:pt x="804938" y="808286"/>
                    <a:pt x="769122" y="828942"/>
                    <a:pt x="769122" y="828942"/>
                  </a:cubicBezTo>
                  <a:cubicBezTo>
                    <a:pt x="763425" y="837488"/>
                    <a:pt x="760050" y="848163"/>
                    <a:pt x="752030" y="854579"/>
                  </a:cubicBezTo>
                  <a:cubicBezTo>
                    <a:pt x="744996" y="860206"/>
                    <a:pt x="734450" y="859097"/>
                    <a:pt x="726393" y="863125"/>
                  </a:cubicBezTo>
                  <a:cubicBezTo>
                    <a:pt x="717207" y="867718"/>
                    <a:pt x="708432" y="873393"/>
                    <a:pt x="700756" y="880216"/>
                  </a:cubicBezTo>
                  <a:cubicBezTo>
                    <a:pt x="631582" y="941704"/>
                    <a:pt x="676709" y="922415"/>
                    <a:pt x="623843" y="940037"/>
                  </a:cubicBezTo>
                  <a:cubicBezTo>
                    <a:pt x="590151" y="990576"/>
                    <a:pt x="627765" y="943341"/>
                    <a:pt x="572569" y="982766"/>
                  </a:cubicBezTo>
                  <a:cubicBezTo>
                    <a:pt x="562734" y="989791"/>
                    <a:pt x="556215" y="1000666"/>
                    <a:pt x="546931" y="1008403"/>
                  </a:cubicBezTo>
                  <a:cubicBezTo>
                    <a:pt x="539041" y="1014978"/>
                    <a:pt x="529184" y="1018920"/>
                    <a:pt x="521294" y="1025495"/>
                  </a:cubicBezTo>
                  <a:cubicBezTo>
                    <a:pt x="512010" y="1033232"/>
                    <a:pt x="504833" y="1043267"/>
                    <a:pt x="495657" y="1051132"/>
                  </a:cubicBezTo>
                  <a:cubicBezTo>
                    <a:pt x="484843" y="1060401"/>
                    <a:pt x="472287" y="1067501"/>
                    <a:pt x="461473" y="1076770"/>
                  </a:cubicBezTo>
                  <a:cubicBezTo>
                    <a:pt x="452297" y="1084635"/>
                    <a:pt x="445120" y="1094670"/>
                    <a:pt x="435836" y="1102407"/>
                  </a:cubicBezTo>
                  <a:cubicBezTo>
                    <a:pt x="427946" y="1108982"/>
                    <a:pt x="417875" y="1112676"/>
                    <a:pt x="410199" y="1119499"/>
                  </a:cubicBezTo>
                  <a:cubicBezTo>
                    <a:pt x="341027" y="1180985"/>
                    <a:pt x="386151" y="1161697"/>
                    <a:pt x="333286" y="1179319"/>
                  </a:cubicBezTo>
                  <a:cubicBezTo>
                    <a:pt x="303462" y="1199202"/>
                    <a:pt x="278000" y="1211335"/>
                    <a:pt x="256374" y="1239140"/>
                  </a:cubicBezTo>
                  <a:cubicBezTo>
                    <a:pt x="202689" y="1308164"/>
                    <a:pt x="246185" y="1274419"/>
                    <a:pt x="196554" y="1307506"/>
                  </a:cubicBezTo>
                  <a:cubicBezTo>
                    <a:pt x="190857" y="1316052"/>
                    <a:pt x="183633" y="1323758"/>
                    <a:pt x="179462" y="1333144"/>
                  </a:cubicBezTo>
                  <a:cubicBezTo>
                    <a:pt x="172145" y="1349607"/>
                    <a:pt x="173180" y="1370005"/>
                    <a:pt x="162371" y="1384418"/>
                  </a:cubicBezTo>
                  <a:cubicBezTo>
                    <a:pt x="156563" y="1392162"/>
                    <a:pt x="125891" y="1431741"/>
                    <a:pt x="119642" y="1444239"/>
                  </a:cubicBezTo>
                  <a:cubicBezTo>
                    <a:pt x="103009" y="1477505"/>
                    <a:pt x="118982" y="1465718"/>
                    <a:pt x="102550" y="1504059"/>
                  </a:cubicBezTo>
                  <a:cubicBezTo>
                    <a:pt x="98504" y="1513500"/>
                    <a:pt x="91155" y="1521151"/>
                    <a:pt x="85458" y="1529697"/>
                  </a:cubicBezTo>
                  <a:cubicBezTo>
                    <a:pt x="82610" y="1558183"/>
                    <a:pt x="80696" y="1586778"/>
                    <a:pt x="76913" y="1615155"/>
                  </a:cubicBezTo>
                  <a:cubicBezTo>
                    <a:pt x="74710" y="1631675"/>
                    <a:pt x="64898" y="1674298"/>
                    <a:pt x="59821" y="1692067"/>
                  </a:cubicBezTo>
                  <a:cubicBezTo>
                    <a:pt x="57346" y="1700728"/>
                    <a:pt x="53460" y="1708965"/>
                    <a:pt x="51275" y="1717704"/>
                  </a:cubicBezTo>
                  <a:cubicBezTo>
                    <a:pt x="35986" y="1778859"/>
                    <a:pt x="48656" y="1747892"/>
                    <a:pt x="34184" y="1820254"/>
                  </a:cubicBezTo>
                  <a:cubicBezTo>
                    <a:pt x="32417" y="1829087"/>
                    <a:pt x="28487" y="1837345"/>
                    <a:pt x="25638" y="1845891"/>
                  </a:cubicBezTo>
                  <a:cubicBezTo>
                    <a:pt x="22789" y="1877226"/>
                    <a:pt x="21250" y="1908707"/>
                    <a:pt x="17092" y="1939895"/>
                  </a:cubicBezTo>
                  <a:cubicBezTo>
                    <a:pt x="15540" y="1951537"/>
                    <a:pt x="9414" y="1962365"/>
                    <a:pt x="8546" y="1974078"/>
                  </a:cubicBezTo>
                  <a:cubicBezTo>
                    <a:pt x="3701" y="2039478"/>
                    <a:pt x="2849" y="2105113"/>
                    <a:pt x="0" y="2170631"/>
                  </a:cubicBezTo>
                  <a:cubicBezTo>
                    <a:pt x="5697" y="2241846"/>
                    <a:pt x="3600" y="2314119"/>
                    <a:pt x="17092" y="2384276"/>
                  </a:cubicBezTo>
                  <a:cubicBezTo>
                    <a:pt x="18793" y="2393122"/>
                    <a:pt x="34672" y="2388793"/>
                    <a:pt x="42729" y="2392822"/>
                  </a:cubicBezTo>
                  <a:cubicBezTo>
                    <a:pt x="51916" y="2397415"/>
                    <a:pt x="59180" y="2405321"/>
                    <a:pt x="68367" y="2409914"/>
                  </a:cubicBezTo>
                  <a:cubicBezTo>
                    <a:pt x="80623" y="2416042"/>
                    <a:pt x="117241" y="2424268"/>
                    <a:pt x="128187" y="2427005"/>
                  </a:cubicBezTo>
                  <a:cubicBezTo>
                    <a:pt x="153825" y="2424156"/>
                    <a:pt x="185135" y="2434794"/>
                    <a:pt x="205100" y="2418459"/>
                  </a:cubicBezTo>
                  <a:cubicBezTo>
                    <a:pt x="223280" y="2403584"/>
                    <a:pt x="209161" y="2369638"/>
                    <a:pt x="222191" y="2350093"/>
                  </a:cubicBezTo>
                  <a:lnTo>
                    <a:pt x="239283" y="2324456"/>
                  </a:lnTo>
                  <a:cubicBezTo>
                    <a:pt x="240913" y="2311419"/>
                    <a:pt x="252838" y="2212768"/>
                    <a:pt x="256374" y="2196269"/>
                  </a:cubicBezTo>
                  <a:cubicBezTo>
                    <a:pt x="260719" y="2175991"/>
                    <a:pt x="267769" y="2156388"/>
                    <a:pt x="273466" y="2136448"/>
                  </a:cubicBezTo>
                  <a:cubicBezTo>
                    <a:pt x="276315" y="1994018"/>
                    <a:pt x="274391" y="1851413"/>
                    <a:pt x="282012" y="1709159"/>
                  </a:cubicBezTo>
                  <a:cubicBezTo>
                    <a:pt x="282976" y="1691169"/>
                    <a:pt x="293406" y="1674976"/>
                    <a:pt x="299103" y="1657884"/>
                  </a:cubicBezTo>
                  <a:cubicBezTo>
                    <a:pt x="301952" y="1649338"/>
                    <a:pt x="301279" y="1638616"/>
                    <a:pt x="307649" y="1632246"/>
                  </a:cubicBezTo>
                  <a:lnTo>
                    <a:pt x="333286" y="1606609"/>
                  </a:lnTo>
                  <a:cubicBezTo>
                    <a:pt x="338983" y="1589517"/>
                    <a:pt x="337639" y="1568073"/>
                    <a:pt x="350378" y="1555334"/>
                  </a:cubicBezTo>
                  <a:cubicBezTo>
                    <a:pt x="358924" y="1546788"/>
                    <a:pt x="368278" y="1538981"/>
                    <a:pt x="376015" y="1529697"/>
                  </a:cubicBezTo>
                  <a:cubicBezTo>
                    <a:pt x="382590" y="1521807"/>
                    <a:pt x="385844" y="1511322"/>
                    <a:pt x="393107" y="1504059"/>
                  </a:cubicBezTo>
                  <a:cubicBezTo>
                    <a:pt x="400369" y="1496797"/>
                    <a:pt x="410198" y="1492665"/>
                    <a:pt x="418744" y="1486968"/>
                  </a:cubicBezTo>
                  <a:cubicBezTo>
                    <a:pt x="433449" y="1464910"/>
                    <a:pt x="459587" y="1423651"/>
                    <a:pt x="478565" y="1401510"/>
                  </a:cubicBezTo>
                  <a:cubicBezTo>
                    <a:pt x="486430" y="1392334"/>
                    <a:pt x="496337" y="1385049"/>
                    <a:pt x="504202" y="1375873"/>
                  </a:cubicBezTo>
                  <a:cubicBezTo>
                    <a:pt x="513471" y="1365059"/>
                    <a:pt x="520571" y="1352503"/>
                    <a:pt x="529840" y="1341689"/>
                  </a:cubicBezTo>
                  <a:cubicBezTo>
                    <a:pt x="537705" y="1332513"/>
                    <a:pt x="547740" y="1325336"/>
                    <a:pt x="555477" y="1316052"/>
                  </a:cubicBezTo>
                  <a:cubicBezTo>
                    <a:pt x="562052" y="1308162"/>
                    <a:pt x="564840" y="1297178"/>
                    <a:pt x="572569" y="1290415"/>
                  </a:cubicBezTo>
                  <a:cubicBezTo>
                    <a:pt x="588028" y="1276888"/>
                    <a:pt x="623843" y="1256231"/>
                    <a:pt x="623843" y="1256231"/>
                  </a:cubicBezTo>
                  <a:cubicBezTo>
                    <a:pt x="657537" y="1205691"/>
                    <a:pt x="619921" y="1252928"/>
                    <a:pt x="675118" y="1213502"/>
                  </a:cubicBezTo>
                  <a:cubicBezTo>
                    <a:pt x="731130" y="1173494"/>
                    <a:pt x="671399" y="1197651"/>
                    <a:pt x="726393" y="1179319"/>
                  </a:cubicBezTo>
                  <a:cubicBezTo>
                    <a:pt x="757728" y="1132318"/>
                    <a:pt x="726393" y="1172198"/>
                    <a:pt x="769122" y="1136590"/>
                  </a:cubicBezTo>
                  <a:cubicBezTo>
                    <a:pt x="849439" y="1069658"/>
                    <a:pt x="716451" y="1163158"/>
                    <a:pt x="846034" y="1076770"/>
                  </a:cubicBezTo>
                  <a:cubicBezTo>
                    <a:pt x="854580" y="1071073"/>
                    <a:pt x="861928" y="1062926"/>
                    <a:pt x="871672" y="1059678"/>
                  </a:cubicBezTo>
                  <a:lnTo>
                    <a:pt x="922946" y="1042587"/>
                  </a:lnTo>
                  <a:cubicBezTo>
                    <a:pt x="939200" y="1045838"/>
                    <a:pt x="973793" y="1050918"/>
                    <a:pt x="991313" y="1059678"/>
                  </a:cubicBezTo>
                  <a:cubicBezTo>
                    <a:pt x="1000499" y="1064271"/>
                    <a:pt x="1008404" y="1071073"/>
                    <a:pt x="1016950" y="1076770"/>
                  </a:cubicBezTo>
                  <a:cubicBezTo>
                    <a:pt x="1022647" y="1093861"/>
                    <a:pt x="1034674" y="1110039"/>
                    <a:pt x="1034042" y="1128044"/>
                  </a:cubicBezTo>
                  <a:cubicBezTo>
                    <a:pt x="1016727" y="1621521"/>
                    <a:pt x="1089612" y="1469839"/>
                    <a:pt x="1008404" y="1632246"/>
                  </a:cubicBezTo>
                </a:path>
              </a:pathLst>
            </a:custGeom>
            <a:noFill/>
            <a:ln w="44450">
              <a:solidFill>
                <a:srgbClr val="ff0000"/>
              </a:solidFill>
              <a:round/>
              <a:tailEnd len="med" type="stealth" w="me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05" name="任意多边形 12"/>
            <p:cNvSpPr/>
            <p:nvPr/>
          </p:nvSpPr>
          <p:spPr>
            <a:xfrm>
              <a:off x="6956280" y="3375720"/>
              <a:ext cx="452520" cy="580680"/>
            </a:xfrm>
            <a:custGeom>
              <a:avLst/>
              <a:gdLst>
                <a:gd name="textAreaLeft" fmla="*/ 0 w 452520"/>
                <a:gd name="textAreaRight" fmla="*/ 452880 w 452520"/>
                <a:gd name="textAreaTop" fmla="*/ 0 h 580680"/>
                <a:gd name="textAreaBottom" fmla="*/ 581040 h 580680"/>
                <a:gd name="GluePoint1X" fmla="*/ 0 w 452927"/>
                <a:gd name="GluePoint1Y" fmla="*/ 581114 h 581114"/>
                <a:gd name="GluePoint2X" fmla="*/ 299102 w 452927"/>
                <a:gd name="GluePoint2Y" fmla="*/ 162370 h 581114"/>
                <a:gd name="GluePoint3X" fmla="*/ 307648 w 452927"/>
                <a:gd name="GluePoint3Y" fmla="*/ 136732 h 581114"/>
                <a:gd name="GluePoint4X" fmla="*/ 341831 w 452927"/>
                <a:gd name="GluePoint4Y" fmla="*/ 102549 h 581114"/>
                <a:gd name="GluePoint5X" fmla="*/ 401652 w 452927"/>
                <a:gd name="GluePoint5Y" fmla="*/ 25637 h 581114"/>
                <a:gd name="GluePoint6X" fmla="*/ 435835 w 452927"/>
                <a:gd name="GluePoint6Y" fmla="*/ 8546 h 581114"/>
                <a:gd name="GluePoint7X" fmla="*/ 452927 w 452927"/>
                <a:gd name="GluePoint7Y" fmla="*/ 0 h 58111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52927" h="581114">
                  <a:moveTo>
                    <a:pt x="0" y="581114"/>
                  </a:moveTo>
                  <a:cubicBezTo>
                    <a:pt x="99701" y="441533"/>
                    <a:pt x="201465" y="303402"/>
                    <a:pt x="299102" y="162370"/>
                  </a:cubicBezTo>
                  <a:cubicBezTo>
                    <a:pt x="304230" y="154963"/>
                    <a:pt x="302412" y="144062"/>
                    <a:pt x="307648" y="136732"/>
                  </a:cubicBezTo>
                  <a:cubicBezTo>
                    <a:pt x="317014" y="123619"/>
                    <a:pt x="331765" y="115132"/>
                    <a:pt x="341831" y="102549"/>
                  </a:cubicBezTo>
                  <a:cubicBezTo>
                    <a:pt x="365387" y="73105"/>
                    <a:pt x="371688" y="47040"/>
                    <a:pt x="401652" y="25637"/>
                  </a:cubicBezTo>
                  <a:cubicBezTo>
                    <a:pt x="412018" y="18232"/>
                    <a:pt x="424441" y="14243"/>
                    <a:pt x="435835" y="8546"/>
                  </a:cubicBezTo>
                  <a:lnTo>
                    <a:pt x="452927" y="0"/>
                  </a:lnTo>
                </a:path>
              </a:pathLst>
            </a:custGeom>
            <a:noFill/>
            <a:ln w="50800">
              <a:solidFill>
                <a:srgbClr val="ff0000"/>
              </a:solidFill>
              <a:round/>
              <a:tailEnd len="med" type="stealth" w="me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grpSp>
      <p:grpSp>
        <p:nvGrpSpPr>
          <p:cNvPr id="306" name="组合 17"/>
          <p:cNvGrpSpPr/>
          <p:nvPr/>
        </p:nvGrpSpPr>
        <p:grpSpPr>
          <a:xfrm>
            <a:off x="5980320" y="3127680"/>
            <a:ext cx="2813040" cy="973800"/>
            <a:chOff x="5980320" y="3127680"/>
            <a:chExt cx="2813040" cy="973800"/>
          </a:xfrm>
        </p:grpSpPr>
        <p:sp>
          <p:nvSpPr>
            <p:cNvPr id="307" name="文本框 15"/>
            <p:cNvSpPr/>
            <p:nvPr/>
          </p:nvSpPr>
          <p:spPr>
            <a:xfrm>
              <a:off x="8147520" y="3432240"/>
              <a:ext cx="645840" cy="6458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1800" b="1" u="none" strike="noStrike">
                  <a:solidFill>
                    <a:srgbClr val="669900"/>
                  </a:solidFill>
                  <a:effectLst/>
                  <a:uFillTx/>
                  <a:latin typeface="Arial"/>
                  <a:ea typeface="宋体"/>
                </a:rPr>
                <a:t>存根</a:t>
              </a:r>
              <a:endParaRPr lang="en-US" sz="1800" b="0" u="none" strike="noStrike">
                <a:solidFill>
                  <a:srgbClr val="000000"/>
                </a:solidFill>
                <a:effectLst/>
                <a:uFillTx/>
                <a:latin typeface="Arial"/>
              </a:endParaRPr>
            </a:p>
            <a:p>
              <a:pPr>
                <a:lnSpc>
                  <a:spcPct val="100000"/>
                </a:lnSpc>
              </a:pPr>
              <a:r>
                <a:rPr lang="zh-CN" sz="1800" b="1" u="none" strike="noStrike">
                  <a:solidFill>
                    <a:srgbClr val="669900"/>
                  </a:solidFill>
                  <a:effectLst/>
                  <a:uFillTx/>
                  <a:latin typeface="Arial"/>
                  <a:ea typeface="宋体"/>
                </a:rPr>
                <a:t>程序</a:t>
              </a:r>
              <a:endParaRPr lang="en-US" sz="1800" b="0" u="none" strike="noStrike">
                <a:solidFill>
                  <a:srgbClr val="000000"/>
                </a:solidFill>
                <a:effectLst/>
                <a:uFillTx/>
                <a:latin typeface="Arial"/>
              </a:endParaRPr>
            </a:p>
          </p:txBody>
        </p:sp>
        <p:sp>
          <p:nvSpPr>
            <p:cNvPr id="308" name="任意多边形 16"/>
            <p:cNvSpPr/>
            <p:nvPr/>
          </p:nvSpPr>
          <p:spPr>
            <a:xfrm>
              <a:off x="5980320" y="3127680"/>
              <a:ext cx="2382480" cy="973800"/>
            </a:xfrm>
            <a:custGeom>
              <a:avLst/>
              <a:gdLst>
                <a:gd name="textAreaLeft" fmla="*/ 0 w 2382480"/>
                <a:gd name="textAreaRight" fmla="*/ 2382840 w 2382480"/>
                <a:gd name="textAreaTop" fmla="*/ 0 h 973800"/>
                <a:gd name="textAreaBottom" fmla="*/ 974160 h 973800"/>
                <a:gd name="GluePoint1X" fmla="*/ 617072 w 2382970"/>
                <a:gd name="GluePoint1Y" fmla="*/ 42729 h 974220"/>
                <a:gd name="GluePoint2X" fmla="*/ 864900 w 2382970"/>
                <a:gd name="GluePoint2Y" fmla="*/ 34183 h 974220"/>
                <a:gd name="GluePoint3X" fmla="*/ 899083 w 2382970"/>
                <a:gd name="GluePoint3Y" fmla="*/ 25637 h 974220"/>
                <a:gd name="GluePoint4X" fmla="*/ 941812 w 2382970"/>
                <a:gd name="GluePoint4Y" fmla="*/ 17091 h 974220"/>
                <a:gd name="GluePoint5X" fmla="*/ 1035816 w 2382970"/>
                <a:gd name="GluePoint5Y" fmla="*/ 0 h 974220"/>
                <a:gd name="GluePoint6X" fmla="*/ 2326231 w 2382970"/>
                <a:gd name="GluePoint6Y" fmla="*/ 8546 h 974220"/>
                <a:gd name="GluePoint7X" fmla="*/ 2377506 w 2382970"/>
                <a:gd name="GluePoint7Y" fmla="*/ 17091 h 974220"/>
                <a:gd name="GluePoint8X" fmla="*/ 2368960 w 2382970"/>
                <a:gd name="GluePoint8Y" fmla="*/ 136732 h 974220"/>
                <a:gd name="GluePoint9X" fmla="*/ 2343323 w 2382970"/>
                <a:gd name="GluePoint9Y" fmla="*/ 162370 h 974220"/>
                <a:gd name="GluePoint10X" fmla="*/ 2309140 w 2382970"/>
                <a:gd name="GluePoint10Y" fmla="*/ 188007 h 974220"/>
                <a:gd name="GluePoint11X" fmla="*/ 2223682 w 2382970"/>
                <a:gd name="GluePoint11Y" fmla="*/ 239282 h 974220"/>
                <a:gd name="GluePoint12X" fmla="*/ 2198044 w 2382970"/>
                <a:gd name="GluePoint12Y" fmla="*/ 264919 h 974220"/>
                <a:gd name="GluePoint13X" fmla="*/ 2172407 w 2382970"/>
                <a:gd name="GluePoint13Y" fmla="*/ 273465 h 974220"/>
                <a:gd name="GluePoint14X" fmla="*/ 2129678 w 2382970"/>
                <a:gd name="GluePoint14Y" fmla="*/ 290557 h 974220"/>
                <a:gd name="GluePoint15X" fmla="*/ 2104040 w 2382970"/>
                <a:gd name="GluePoint15Y" fmla="*/ 299103 h 974220"/>
                <a:gd name="GluePoint16X" fmla="*/ 2018583 w 2382970"/>
                <a:gd name="GluePoint16Y" fmla="*/ 333286 h 974220"/>
                <a:gd name="GluePoint17X" fmla="*/ 1924579 w 2382970"/>
                <a:gd name="GluePoint17Y" fmla="*/ 367469 h 974220"/>
                <a:gd name="GluePoint18X" fmla="*/ 1873304 w 2382970"/>
                <a:gd name="GluePoint18Y" fmla="*/ 384560 h 974220"/>
                <a:gd name="GluePoint19X" fmla="*/ 1796392 w 2382970"/>
                <a:gd name="GluePoint19Y" fmla="*/ 418744 h 974220"/>
                <a:gd name="GluePoint20X" fmla="*/ 1762209 w 2382970"/>
                <a:gd name="GluePoint20Y" fmla="*/ 427289 h 974220"/>
                <a:gd name="GluePoint21X" fmla="*/ 1565655 w 2382970"/>
                <a:gd name="GluePoint21Y" fmla="*/ 461473 h 974220"/>
                <a:gd name="GluePoint22X" fmla="*/ 1394740 w 2382970"/>
                <a:gd name="GluePoint22Y" fmla="*/ 504202 h 974220"/>
                <a:gd name="GluePoint23X" fmla="*/ 1326373 w 2382970"/>
                <a:gd name="GluePoint23Y" fmla="*/ 512747 h 974220"/>
                <a:gd name="GluePoint24X" fmla="*/ 1232369 w 2382970"/>
                <a:gd name="GluePoint24Y" fmla="*/ 529839 h 974220"/>
                <a:gd name="GluePoint25X" fmla="*/ 1164003 w 2382970"/>
                <a:gd name="GluePoint25Y" fmla="*/ 546931 h 974220"/>
                <a:gd name="GluePoint26X" fmla="*/ 1069999 w 2382970"/>
                <a:gd name="GluePoint26Y" fmla="*/ 572568 h 974220"/>
                <a:gd name="GluePoint27X" fmla="*/ 993087 w 2382970"/>
                <a:gd name="GluePoint27Y" fmla="*/ 581114 h 974220"/>
                <a:gd name="GluePoint28X" fmla="*/ 899083 w 2382970"/>
                <a:gd name="GluePoint28Y" fmla="*/ 598205 h 974220"/>
                <a:gd name="GluePoint29X" fmla="*/ 839263 w 2382970"/>
                <a:gd name="GluePoint29Y" fmla="*/ 615297 h 974220"/>
                <a:gd name="GluePoint30X" fmla="*/ 762351 w 2382970"/>
                <a:gd name="GluePoint30Y" fmla="*/ 623843 h 974220"/>
                <a:gd name="GluePoint31X" fmla="*/ 711076 w 2382970"/>
                <a:gd name="GluePoint31Y" fmla="*/ 640934 h 974220"/>
                <a:gd name="GluePoint32X" fmla="*/ 574343 w 2382970"/>
                <a:gd name="GluePoint32Y" fmla="*/ 658026 h 974220"/>
                <a:gd name="GluePoint33X" fmla="*/ 360698 w 2382970"/>
                <a:gd name="GluePoint33Y" fmla="*/ 709301 h 974220"/>
                <a:gd name="GluePoint34X" fmla="*/ 292332 w 2382970"/>
                <a:gd name="GluePoint34Y" fmla="*/ 717846 h 974220"/>
                <a:gd name="GluePoint35X" fmla="*/ 172691 w 2382970"/>
                <a:gd name="GluePoint35Y" fmla="*/ 743484 h 974220"/>
                <a:gd name="GluePoint36X" fmla="*/ 138508 w 2382970"/>
                <a:gd name="GluePoint36Y" fmla="*/ 769121 h 974220"/>
                <a:gd name="GluePoint37X" fmla="*/ 104325 w 2382970"/>
                <a:gd name="GluePoint37Y" fmla="*/ 777667 h 974220"/>
                <a:gd name="GluePoint38X" fmla="*/ 78687 w 2382970"/>
                <a:gd name="GluePoint38Y" fmla="*/ 786213 h 974220"/>
                <a:gd name="GluePoint39X" fmla="*/ 10321 w 2382970"/>
                <a:gd name="GluePoint39Y" fmla="*/ 811850 h 974220"/>
                <a:gd name="GluePoint40X" fmla="*/ 1775 w 2382970"/>
                <a:gd name="GluePoint40Y" fmla="*/ 846033 h 974220"/>
                <a:gd name="GluePoint41X" fmla="*/ 78687 w 2382970"/>
                <a:gd name="GluePoint41Y" fmla="*/ 888762 h 974220"/>
                <a:gd name="GluePoint42X" fmla="*/ 112870 w 2382970"/>
                <a:gd name="GluePoint42Y" fmla="*/ 905854 h 974220"/>
                <a:gd name="GluePoint43X" fmla="*/ 147054 w 2382970"/>
                <a:gd name="GluePoint43Y" fmla="*/ 914400 h 974220"/>
                <a:gd name="GluePoint44X" fmla="*/ 215420 w 2382970"/>
                <a:gd name="GluePoint44Y" fmla="*/ 940037 h 974220"/>
                <a:gd name="GluePoint45X" fmla="*/ 292332 w 2382970"/>
                <a:gd name="GluePoint45Y" fmla="*/ 965675 h 974220"/>
                <a:gd name="GluePoint46X" fmla="*/ 317969 w 2382970"/>
                <a:gd name="GluePoint46Y" fmla="*/ 974220 h 974220"/>
                <a:gd name="GluePoint47X" fmla="*/ 2069857 w 2382970"/>
                <a:gd name="GluePoint47Y" fmla="*/ 974220 h 9742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Lst>
              <a:rect l="textAreaLeft" t="textAreaTop" r="textAreaRight" b="textAreaBottom"/>
              <a:pathLst>
                <a:path w="2382970" h="974220">
                  <a:moveTo>
                    <a:pt x="617072" y="42729"/>
                  </a:moveTo>
                  <a:cubicBezTo>
                    <a:pt x="699681" y="39880"/>
                    <a:pt x="782393" y="39184"/>
                    <a:pt x="864900" y="34183"/>
                  </a:cubicBezTo>
                  <a:cubicBezTo>
                    <a:pt x="876624" y="33472"/>
                    <a:pt x="887618" y="28185"/>
                    <a:pt x="899083" y="25637"/>
                  </a:cubicBezTo>
                  <a:cubicBezTo>
                    <a:pt x="913262" y="22486"/>
                    <a:pt x="927521" y="19689"/>
                    <a:pt x="941812" y="17091"/>
                  </a:cubicBezTo>
                  <a:cubicBezTo>
                    <a:pt x="1062083" y="-4776"/>
                    <a:pt x="930269" y="21110"/>
                    <a:pt x="1035816" y="0"/>
                  </a:cubicBezTo>
                  <a:lnTo>
                    <a:pt x="2326231" y="8546"/>
                  </a:lnTo>
                  <a:cubicBezTo>
                    <a:pt x="2343557" y="8767"/>
                    <a:pt x="2372027" y="653"/>
                    <a:pt x="2377506" y="17091"/>
                  </a:cubicBezTo>
                  <a:cubicBezTo>
                    <a:pt x="2390149" y="55021"/>
                    <a:pt x="2378117" y="97813"/>
                    <a:pt x="2368960" y="136732"/>
                  </a:cubicBezTo>
                  <a:cubicBezTo>
                    <a:pt x="2366192" y="148496"/>
                    <a:pt x="2352499" y="154505"/>
                    <a:pt x="2343323" y="162370"/>
                  </a:cubicBezTo>
                  <a:cubicBezTo>
                    <a:pt x="2332509" y="171639"/>
                    <a:pt x="2321218" y="180458"/>
                    <a:pt x="2309140" y="188007"/>
                  </a:cubicBezTo>
                  <a:cubicBezTo>
                    <a:pt x="2273172" y="210487"/>
                    <a:pt x="2258808" y="204157"/>
                    <a:pt x="2223682" y="239282"/>
                  </a:cubicBezTo>
                  <a:cubicBezTo>
                    <a:pt x="2215136" y="247828"/>
                    <a:pt x="2208100" y="258215"/>
                    <a:pt x="2198044" y="264919"/>
                  </a:cubicBezTo>
                  <a:cubicBezTo>
                    <a:pt x="2190549" y="269916"/>
                    <a:pt x="2180841" y="270302"/>
                    <a:pt x="2172407" y="273465"/>
                  </a:cubicBezTo>
                  <a:cubicBezTo>
                    <a:pt x="2158044" y="278851"/>
                    <a:pt x="2144041" y="285171"/>
                    <a:pt x="2129678" y="290557"/>
                  </a:cubicBezTo>
                  <a:cubicBezTo>
                    <a:pt x="2121243" y="293720"/>
                    <a:pt x="2112320" y="295555"/>
                    <a:pt x="2104040" y="299103"/>
                  </a:cubicBezTo>
                  <a:cubicBezTo>
                    <a:pt x="2016018" y="336826"/>
                    <a:pt x="2135294" y="294381"/>
                    <a:pt x="2018583" y="333286"/>
                  </a:cubicBezTo>
                  <a:cubicBezTo>
                    <a:pt x="1948499" y="356648"/>
                    <a:pt x="2059081" y="319434"/>
                    <a:pt x="1924579" y="367469"/>
                  </a:cubicBezTo>
                  <a:cubicBezTo>
                    <a:pt x="1907612" y="373528"/>
                    <a:pt x="1890032" y="377869"/>
                    <a:pt x="1873304" y="384560"/>
                  </a:cubicBezTo>
                  <a:cubicBezTo>
                    <a:pt x="1798850" y="414341"/>
                    <a:pt x="1882920" y="389902"/>
                    <a:pt x="1796392" y="418744"/>
                  </a:cubicBezTo>
                  <a:cubicBezTo>
                    <a:pt x="1785250" y="422458"/>
                    <a:pt x="1773702" y="424869"/>
                    <a:pt x="1762209" y="427289"/>
                  </a:cubicBezTo>
                  <a:cubicBezTo>
                    <a:pt x="1630041" y="455114"/>
                    <a:pt x="1667490" y="448743"/>
                    <a:pt x="1565655" y="461473"/>
                  </a:cubicBezTo>
                  <a:cubicBezTo>
                    <a:pt x="1507592" y="480826"/>
                    <a:pt x="1467213" y="495144"/>
                    <a:pt x="1394740" y="504202"/>
                  </a:cubicBezTo>
                  <a:lnTo>
                    <a:pt x="1326373" y="512747"/>
                  </a:lnTo>
                  <a:cubicBezTo>
                    <a:pt x="1265954" y="532887"/>
                    <a:pt x="1342804" y="509132"/>
                    <a:pt x="1232369" y="529839"/>
                  </a:cubicBezTo>
                  <a:cubicBezTo>
                    <a:pt x="1209281" y="534168"/>
                    <a:pt x="1186589" y="540478"/>
                    <a:pt x="1164003" y="546931"/>
                  </a:cubicBezTo>
                  <a:cubicBezTo>
                    <a:pt x="1162804" y="547274"/>
                    <a:pt x="1084704" y="570306"/>
                    <a:pt x="1069999" y="572568"/>
                  </a:cubicBezTo>
                  <a:cubicBezTo>
                    <a:pt x="1044504" y="576490"/>
                    <a:pt x="1018597" y="577288"/>
                    <a:pt x="993087" y="581114"/>
                  </a:cubicBezTo>
                  <a:cubicBezTo>
                    <a:pt x="961591" y="585838"/>
                    <a:pt x="930224" y="591532"/>
                    <a:pt x="899083" y="598205"/>
                  </a:cubicBezTo>
                  <a:cubicBezTo>
                    <a:pt x="842221" y="610390"/>
                    <a:pt x="908370" y="604665"/>
                    <a:pt x="839263" y="615297"/>
                  </a:cubicBezTo>
                  <a:cubicBezTo>
                    <a:pt x="813768" y="619219"/>
                    <a:pt x="787988" y="620994"/>
                    <a:pt x="762351" y="623843"/>
                  </a:cubicBezTo>
                  <a:cubicBezTo>
                    <a:pt x="745259" y="629540"/>
                    <a:pt x="728953" y="638699"/>
                    <a:pt x="711076" y="640934"/>
                  </a:cubicBezTo>
                  <a:lnTo>
                    <a:pt x="574343" y="658026"/>
                  </a:lnTo>
                  <a:cubicBezTo>
                    <a:pt x="484056" y="682650"/>
                    <a:pt x="458018" y="691607"/>
                    <a:pt x="360698" y="709301"/>
                  </a:cubicBezTo>
                  <a:cubicBezTo>
                    <a:pt x="338102" y="713409"/>
                    <a:pt x="314986" y="714070"/>
                    <a:pt x="292332" y="717846"/>
                  </a:cubicBezTo>
                  <a:cubicBezTo>
                    <a:pt x="234151" y="727543"/>
                    <a:pt x="219372" y="731813"/>
                    <a:pt x="172691" y="743484"/>
                  </a:cubicBezTo>
                  <a:cubicBezTo>
                    <a:pt x="161297" y="752030"/>
                    <a:pt x="151247" y="762751"/>
                    <a:pt x="138508" y="769121"/>
                  </a:cubicBezTo>
                  <a:cubicBezTo>
                    <a:pt x="128003" y="774374"/>
                    <a:pt x="115618" y="774440"/>
                    <a:pt x="104325" y="777667"/>
                  </a:cubicBezTo>
                  <a:cubicBezTo>
                    <a:pt x="95663" y="780142"/>
                    <a:pt x="86744" y="782184"/>
                    <a:pt x="78687" y="786213"/>
                  </a:cubicBezTo>
                  <a:cubicBezTo>
                    <a:pt x="20007" y="815553"/>
                    <a:pt x="92760" y="795362"/>
                    <a:pt x="10321" y="811850"/>
                  </a:cubicBezTo>
                  <a:cubicBezTo>
                    <a:pt x="7472" y="823244"/>
                    <a:pt x="-4450" y="836073"/>
                    <a:pt x="1775" y="846033"/>
                  </a:cubicBezTo>
                  <a:cubicBezTo>
                    <a:pt x="22089" y="878535"/>
                    <a:pt x="50426" y="876650"/>
                    <a:pt x="78687" y="888762"/>
                  </a:cubicBezTo>
                  <a:cubicBezTo>
                    <a:pt x="90396" y="893780"/>
                    <a:pt x="100942" y="901381"/>
                    <a:pt x="112870" y="905854"/>
                  </a:cubicBezTo>
                  <a:cubicBezTo>
                    <a:pt x="123867" y="909978"/>
                    <a:pt x="135659" y="911551"/>
                    <a:pt x="147054" y="914400"/>
                  </a:cubicBezTo>
                  <a:cubicBezTo>
                    <a:pt x="199712" y="949505"/>
                    <a:pt x="141498" y="915396"/>
                    <a:pt x="215420" y="940037"/>
                  </a:cubicBezTo>
                  <a:cubicBezTo>
                    <a:pt x="385976" y="996890"/>
                    <a:pt x="96435" y="916702"/>
                    <a:pt x="292332" y="965675"/>
                  </a:cubicBezTo>
                  <a:cubicBezTo>
                    <a:pt x="301071" y="967860"/>
                    <a:pt x="308961" y="974177"/>
                    <a:pt x="317969" y="974220"/>
                  </a:cubicBezTo>
                  <a:lnTo>
                    <a:pt x="2069857" y="974220"/>
                  </a:lnTo>
                </a:path>
              </a:pathLst>
            </a:custGeom>
            <a:noFill/>
            <a:ln w="50800">
              <a:solidFill>
                <a:srgbClr val="669900"/>
              </a:solidFill>
              <a:round/>
              <a:tailEnd len="med" type="stealth" w="me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gr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3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306"/>
                                        </p:tgtEl>
                                        <p:attrNameLst>
                                          <p:attrName>style.visibility</p:attrName>
                                        </p:attrNameLst>
                                      </p:cBhvr>
                                      <p:to>
                                        <p:strVal val="visible"/>
                                      </p:to>
                                    </p:set>
                                  </p:childTnLst>
                                </p:cTn>
                              </p:par>
                              <p:par>
                                <p:cTn id="11" presetID="1" presetClass="exit" fill="hold" nodeType="withEffect">
                                  <p:stCondLst>
                                    <p:cond delay="0"/>
                                  </p:stCondLst>
                                  <p:childTnLst>
                                    <p:set>
                                      <p:cBhvr>
                                        <p:cTn id="12" dur="1" fill="hold">
                                          <p:stCondLst>
                                            <p:cond delay="0"/>
                                          </p:stCondLst>
                                        </p:cTn>
                                        <p:tgtEl>
                                          <p:spTgt spid="30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7.4 </a:t>
            </a:r>
            <a:r>
              <a:rPr lang="zh-CN" sz="4400" b="1" u="none" strike="noStrike">
                <a:solidFill>
                  <a:schemeClr val="dk1"/>
                </a:solidFill>
                <a:effectLst/>
                <a:uFillTx/>
                <a:latin typeface="Bodoni MT Black"/>
              </a:rPr>
              <a:t>集成测试</a:t>
            </a:r>
            <a:endParaRPr lang="es-ES" sz="4400" b="0" u="none" strike="noStrike">
              <a:solidFill>
                <a:schemeClr val="dk1"/>
              </a:solidFill>
              <a:effectLst/>
              <a:uFillTx/>
              <a:latin typeface="Arial"/>
            </a:endParaRPr>
          </a:p>
        </p:txBody>
      </p:sp>
      <p:sp>
        <p:nvSpPr>
          <p:cNvPr id="310" name="TextBox 7"/>
          <p:cNvSpPr/>
          <p:nvPr/>
        </p:nvSpPr>
        <p:spPr>
          <a:xfrm>
            <a:off x="323640" y="908640"/>
            <a:ext cx="8362800" cy="51703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rPr>
              <a:t>模块结合进软件结构的具体过程由下述</a:t>
            </a:r>
            <a:r>
              <a:rPr lang="en-US" sz="2400" b="0" u="none" strike="noStrike">
                <a:solidFill>
                  <a:srgbClr val="ff0000"/>
                </a:solidFill>
                <a:effectLst/>
                <a:uFillTx/>
                <a:latin typeface="Bodoni MT Black"/>
              </a:rPr>
              <a:t>4</a:t>
            </a:r>
            <a:r>
              <a:rPr lang="zh-CN" sz="2400" b="0" u="none" strike="noStrike">
                <a:solidFill>
                  <a:schemeClr val="dk1"/>
                </a:solidFill>
                <a:effectLst/>
                <a:uFillTx/>
                <a:latin typeface="Bodoni MT Black"/>
              </a:rPr>
              <a:t>个步骤完成：</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① 对</a:t>
            </a:r>
            <a:r>
              <a:rPr lang="zh-CN" sz="2400" b="0" u="none" strike="noStrike">
                <a:solidFill>
                  <a:srgbClr val="ff0000"/>
                </a:solidFill>
                <a:effectLst/>
                <a:uFillTx/>
                <a:latin typeface="Bodoni MT Black"/>
              </a:rPr>
              <a:t>主控制模块</a:t>
            </a:r>
            <a:r>
              <a:rPr lang="zh-CN" sz="2400" b="0" u="none" strike="noStrike">
                <a:solidFill>
                  <a:schemeClr val="dk1"/>
                </a:solidFill>
                <a:effectLst/>
                <a:uFillTx/>
                <a:latin typeface="Bodoni MT Black"/>
              </a:rPr>
              <a:t>进行测试，测试时用</a:t>
            </a:r>
            <a:r>
              <a:rPr lang="zh-CN" sz="2400" b="0" u="none" strike="noStrike">
                <a:solidFill>
                  <a:srgbClr val="ff0000"/>
                </a:solidFill>
                <a:effectLst/>
                <a:uFillTx/>
                <a:latin typeface="Bodoni MT Black"/>
              </a:rPr>
              <a:t>存根程序</a:t>
            </a:r>
            <a:r>
              <a:rPr lang="zh-CN" sz="2400" b="0" u="none" strike="noStrike">
                <a:solidFill>
                  <a:schemeClr val="dk1"/>
                </a:solidFill>
                <a:effectLst/>
                <a:uFillTx/>
                <a:latin typeface="Bodoni MT Black"/>
              </a:rPr>
              <a:t>代替所有直接附属于主控制模块的模块；</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② 根据选定的结合策略（</a:t>
            </a:r>
            <a:r>
              <a:rPr lang="zh-CN" sz="2400" b="0" u="none" strike="noStrike">
                <a:solidFill>
                  <a:srgbClr val="ff0000"/>
                </a:solidFill>
                <a:effectLst/>
                <a:uFillTx/>
                <a:latin typeface="Bodoni MT Black"/>
                <a:ea typeface="宋体"/>
              </a:rPr>
              <a:t>深度优先</a:t>
            </a:r>
            <a:r>
              <a:rPr lang="zh-CN" sz="2400" b="0" u="none" strike="noStrike">
                <a:solidFill>
                  <a:schemeClr val="dk1"/>
                </a:solidFill>
                <a:effectLst/>
                <a:uFillTx/>
                <a:latin typeface="Bodoni MT Black"/>
                <a:ea typeface="宋体"/>
              </a:rPr>
              <a:t>或</a:t>
            </a:r>
            <a:r>
              <a:rPr lang="zh-CN" sz="2400" b="0" u="none" strike="noStrike">
                <a:solidFill>
                  <a:srgbClr val="ff0000"/>
                </a:solidFill>
                <a:effectLst/>
                <a:uFillTx/>
                <a:latin typeface="Bodoni MT Black"/>
                <a:ea typeface="宋体"/>
              </a:rPr>
              <a:t>宽度优先</a:t>
            </a:r>
            <a:r>
              <a:rPr lang="zh-CN" sz="2400" b="0" u="none" strike="noStrike">
                <a:solidFill>
                  <a:schemeClr val="dk1"/>
                </a:solidFill>
                <a:effectLst/>
                <a:uFillTx/>
                <a:latin typeface="Bodoni MT Black"/>
                <a:ea typeface="宋体"/>
              </a:rPr>
              <a:t>），每次用一个实际模块代换一个存根程序（新结合进来的模块往往又需要新的存根程序）；</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③ 在结合进一个模块的同时进行测试；</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④ 为了保证加入模块没有引进新的错误，可能需要进行</a:t>
            </a:r>
            <a:r>
              <a:rPr lang="zh-CN" sz="2400" b="0" u="none" strike="noStrike">
                <a:solidFill>
                  <a:srgbClr val="ff0000"/>
                </a:solidFill>
                <a:effectLst/>
                <a:uFillTx/>
                <a:latin typeface="Bodoni MT Black"/>
                <a:ea typeface="宋体"/>
              </a:rPr>
              <a:t>回归测试</a:t>
            </a:r>
            <a:r>
              <a:rPr lang="zh-CN" sz="2400" b="0" u="none" strike="noStrike">
                <a:solidFill>
                  <a:schemeClr val="dk1"/>
                </a:solidFill>
                <a:effectLst/>
                <a:uFillTx/>
                <a:latin typeface="Bodoni MT Black"/>
                <a:ea typeface="宋体"/>
              </a:rPr>
              <a:t>（即全部或部分地重复以前做过的测试）。</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ea typeface="宋体"/>
              </a:rPr>
              <a:t>从②开始不断地重复进行上述过程，直到构造起完整的软件结构为止。</a:t>
            </a:r>
            <a:endParaRPr lang="en-US" sz="2400" b="0" u="none" strike="noStrike">
              <a:solidFill>
                <a:srgbClr val="000000"/>
              </a:solidFill>
              <a:effectLst/>
              <a:uFillTx/>
              <a:latin typeface="Arial"/>
            </a:endParaRPr>
          </a:p>
        </p:txBody>
      </p:sp>
      <p:sp>
        <p:nvSpPr>
          <p:cNvPr id="311"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7.4.1 </a:t>
            </a:r>
            <a:r>
              <a:rPr lang="zh-CN" sz="2400" b="0" u="none" strike="noStrike">
                <a:solidFill>
                  <a:srgbClr val="d9d9d9"/>
                </a:solidFill>
                <a:effectLst/>
                <a:uFillTx/>
                <a:latin typeface="Bodoni MT Black"/>
                <a:ea typeface="宋体"/>
              </a:rPr>
              <a:t>自顶向下集成</a:t>
            </a:r>
            <a:endParaRPr lang="en-US" sz="2400" b="0" u="none" strike="noStrike">
              <a:solidFill>
                <a:srgbClr val="000000"/>
              </a:solidFill>
              <a:effectLst/>
              <a:uFillTx/>
              <a:latin typeface="Arial"/>
            </a:endParaRPr>
          </a:p>
        </p:txBody>
      </p:sp>
      <p:sp>
        <p:nvSpPr>
          <p:cNvPr id="312" name="1 Título"/>
          <p:cNvSpPr/>
          <p:nvPr/>
        </p:nvSpPr>
        <p:spPr>
          <a:xfrm>
            <a:off x="0" y="6300720"/>
            <a:ext cx="231588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7</a:t>
            </a:r>
            <a:r>
              <a:rPr lang="zh-CN" sz="2400" b="0" u="none" strike="noStrike">
                <a:solidFill>
                  <a:srgbClr val="d9d9d9"/>
                </a:solidFill>
                <a:effectLst/>
                <a:uFillTx/>
                <a:latin typeface="Bodoni MT Black"/>
                <a:ea typeface="宋体"/>
              </a:rPr>
              <a:t>章　实现</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7.4 </a:t>
            </a:r>
            <a:r>
              <a:rPr lang="zh-CN" sz="4400" b="1" u="none" strike="noStrike">
                <a:solidFill>
                  <a:schemeClr val="dk1"/>
                </a:solidFill>
                <a:effectLst/>
                <a:uFillTx/>
                <a:latin typeface="Bodoni MT Black"/>
              </a:rPr>
              <a:t>集成测试</a:t>
            </a:r>
            <a:endParaRPr lang="es-ES" sz="4400" b="0" u="none" strike="noStrike">
              <a:solidFill>
                <a:schemeClr val="dk1"/>
              </a:solidFill>
              <a:effectLst/>
              <a:uFillTx/>
              <a:latin typeface="Arial"/>
            </a:endParaRPr>
          </a:p>
        </p:txBody>
      </p:sp>
      <p:sp>
        <p:nvSpPr>
          <p:cNvPr id="314" name="TextBox 7"/>
          <p:cNvSpPr/>
          <p:nvPr/>
        </p:nvSpPr>
        <p:spPr>
          <a:xfrm>
            <a:off x="251640" y="1124640"/>
            <a:ext cx="8640720" cy="47088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1" u="none" strike="noStrike">
                <a:solidFill>
                  <a:srgbClr val="c00000"/>
                </a:solidFill>
                <a:effectLst/>
                <a:uFillTx/>
                <a:latin typeface="Bodoni MT Black"/>
              </a:rPr>
              <a:t>     </a:t>
            </a:r>
            <a:r>
              <a:rPr lang="zh-CN" sz="2400" b="1" u="none" strike="noStrike">
                <a:solidFill>
                  <a:srgbClr val="c00000"/>
                </a:solidFill>
                <a:effectLst/>
                <a:uFillTx/>
                <a:latin typeface="Bodoni MT Black"/>
              </a:rPr>
              <a:t>自顶向下</a:t>
            </a:r>
            <a:r>
              <a:rPr lang="zh-CN" sz="2400" b="0" u="none" strike="noStrike">
                <a:solidFill>
                  <a:schemeClr val="dk1"/>
                </a:solidFill>
                <a:effectLst/>
                <a:uFillTx/>
                <a:latin typeface="Bodoni MT Black"/>
              </a:rPr>
              <a:t>的结合策略能够在测试的早期对主要的控制或关键的抉择进行检验。在一个分解得好的软件结构中，关键的抉择位于层次系统的较上层，因此首先碰到。</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如果选择</a:t>
            </a:r>
            <a:r>
              <a:rPr lang="zh-CN" sz="2400" b="0" u="none" strike="noStrike">
                <a:solidFill>
                  <a:srgbClr val="ff0000"/>
                </a:solidFill>
                <a:effectLst/>
                <a:uFillTx/>
                <a:latin typeface="Bodoni MT Black"/>
              </a:rPr>
              <a:t>深度优先</a:t>
            </a:r>
            <a:r>
              <a:rPr lang="zh-CN" sz="2400" b="0" u="none" strike="noStrike">
                <a:solidFill>
                  <a:schemeClr val="dk1"/>
                </a:solidFill>
                <a:effectLst/>
                <a:uFillTx/>
                <a:latin typeface="Bodoni MT Black"/>
              </a:rPr>
              <a:t>的结合方法，可以在早期实现软件的一个完整的功能并且验证这个功能。</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在自顶向下测试的初期，</a:t>
            </a:r>
            <a:r>
              <a:rPr lang="zh-CN" sz="2400" b="0" u="none" strike="noStrike">
                <a:solidFill>
                  <a:srgbClr val="0070c0"/>
                </a:solidFill>
                <a:effectLst/>
                <a:uFillTx/>
                <a:latin typeface="Bodoni MT Black"/>
              </a:rPr>
              <a:t>存根程序代替了低层次的模块</a:t>
            </a:r>
            <a:r>
              <a:rPr lang="zh-CN" sz="2400" b="0" u="none" strike="noStrike">
                <a:solidFill>
                  <a:schemeClr val="dk1"/>
                </a:solidFill>
                <a:effectLst/>
                <a:uFillTx/>
                <a:latin typeface="Bodoni MT Black"/>
              </a:rPr>
              <a:t>，因此，在软件结构中没有重要的数据自下往上流。为了解决这个问题，测试人员有两种选择：</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① </a:t>
            </a:r>
            <a:r>
              <a:rPr lang="zh-CN" sz="2400" b="0" u="none" strike="noStrike">
                <a:solidFill>
                  <a:srgbClr val="ff0000"/>
                </a:solidFill>
                <a:effectLst/>
                <a:uFillTx/>
                <a:latin typeface="Bodoni MT Black"/>
              </a:rPr>
              <a:t>把许多测试推迟到用真实模块代替了存根程序以后再进行</a:t>
            </a:r>
            <a:r>
              <a:rPr lang="zh-CN" sz="2400" b="0" u="none" strike="noStrike">
                <a:solidFill>
                  <a:schemeClr val="dk1"/>
                </a:solidFill>
                <a:effectLst/>
                <a:uFillTx/>
                <a:latin typeface="Bodoni MT Black"/>
              </a:rPr>
              <a:t>；② </a:t>
            </a:r>
            <a:r>
              <a:rPr lang="zh-CN" sz="2400" b="0" u="none" strike="noStrike">
                <a:solidFill>
                  <a:srgbClr val="ff0000"/>
                </a:solidFill>
                <a:effectLst/>
                <a:uFillTx/>
                <a:latin typeface="Bodoni MT Black"/>
              </a:rPr>
              <a:t>从层次系统的底部向上组装软件</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p:txBody>
      </p:sp>
      <p:sp>
        <p:nvSpPr>
          <p:cNvPr id="315"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7.4.1 </a:t>
            </a:r>
            <a:r>
              <a:rPr lang="zh-CN" sz="2400" b="0" u="none" strike="noStrike">
                <a:solidFill>
                  <a:srgbClr val="d9d9d9"/>
                </a:solidFill>
                <a:effectLst/>
                <a:uFillTx/>
                <a:latin typeface="Bodoni MT Black"/>
                <a:ea typeface="宋体"/>
              </a:rPr>
              <a:t>自顶向下集成</a:t>
            </a:r>
            <a:endParaRPr lang="en-US" sz="2400" b="0" u="none" strike="noStrike">
              <a:solidFill>
                <a:srgbClr val="000000"/>
              </a:solidFill>
              <a:effectLst/>
              <a:uFillTx/>
              <a:latin typeface="Arial"/>
            </a:endParaRPr>
          </a:p>
        </p:txBody>
      </p:sp>
      <p:sp>
        <p:nvSpPr>
          <p:cNvPr id="316" name="1 Título"/>
          <p:cNvSpPr/>
          <p:nvPr/>
        </p:nvSpPr>
        <p:spPr>
          <a:xfrm>
            <a:off x="0" y="6300720"/>
            <a:ext cx="231588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7</a:t>
            </a:r>
            <a:r>
              <a:rPr lang="zh-CN" sz="2400" b="0" u="none" strike="noStrike">
                <a:solidFill>
                  <a:srgbClr val="d9d9d9"/>
                </a:solidFill>
                <a:effectLst/>
                <a:uFillTx/>
                <a:latin typeface="Bodoni MT Black"/>
                <a:ea typeface="宋体"/>
              </a:rPr>
              <a:t>章　实现</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7.4 </a:t>
            </a:r>
            <a:r>
              <a:rPr lang="zh-CN" sz="4400" b="1" u="none" strike="noStrike">
                <a:solidFill>
                  <a:schemeClr val="dk1"/>
                </a:solidFill>
                <a:effectLst/>
                <a:uFillTx/>
                <a:latin typeface="Bodoni MT Black"/>
              </a:rPr>
              <a:t>集成测试</a:t>
            </a:r>
            <a:endParaRPr lang="es-ES" sz="4400" b="0" u="none" strike="noStrike">
              <a:solidFill>
                <a:schemeClr val="dk1"/>
              </a:solidFill>
              <a:effectLst/>
              <a:uFillTx/>
              <a:latin typeface="Arial"/>
            </a:endParaRPr>
          </a:p>
        </p:txBody>
      </p:sp>
      <p:sp>
        <p:nvSpPr>
          <p:cNvPr id="318" name="PlaceHolder 2"/>
          <p:cNvSpPr>
            <a:spLocks noGrp="1"/>
          </p:cNvSpPr>
          <p:nvPr>
            <p:ph/>
          </p:nvPr>
        </p:nvSpPr>
        <p:spPr>
          <a:xfrm>
            <a:off x="395280" y="90864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7.4.2 </a:t>
            </a:r>
            <a:r>
              <a:rPr lang="zh-CN" sz="3200" b="1" u="none" strike="noStrike">
                <a:solidFill>
                  <a:schemeClr val="dk1"/>
                </a:solidFill>
                <a:effectLst/>
                <a:uFillTx/>
                <a:latin typeface="Bodoni MT Black"/>
              </a:rPr>
              <a:t>自底向上集成</a:t>
            </a:r>
            <a:endParaRPr lang="es-ES" sz="3200" b="0" u="none" strike="noStrike">
              <a:solidFill>
                <a:schemeClr val="dk1"/>
              </a:solidFill>
              <a:effectLst/>
              <a:uFillTx/>
              <a:latin typeface="Calibri"/>
            </a:endParaRPr>
          </a:p>
        </p:txBody>
      </p:sp>
      <p:sp>
        <p:nvSpPr>
          <p:cNvPr id="319" name="TextBox 7"/>
          <p:cNvSpPr/>
          <p:nvPr/>
        </p:nvSpPr>
        <p:spPr>
          <a:xfrm>
            <a:off x="251280" y="1426680"/>
            <a:ext cx="8641440" cy="47088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1" u="none" strike="noStrike">
                <a:solidFill>
                  <a:srgbClr val="c00000"/>
                </a:solidFill>
                <a:effectLst/>
                <a:uFillTx/>
                <a:latin typeface="Bodoni MT Black"/>
              </a:rPr>
              <a:t>    </a:t>
            </a:r>
            <a:r>
              <a:rPr lang="zh-CN" sz="2400" b="1" u="none" strike="noStrike">
                <a:solidFill>
                  <a:srgbClr val="c00000"/>
                </a:solidFill>
                <a:effectLst/>
                <a:uFillTx/>
                <a:latin typeface="Bodoni MT Black"/>
              </a:rPr>
              <a:t>自底向上测试</a:t>
            </a:r>
            <a:r>
              <a:rPr lang="zh-CN" sz="2400" b="0" u="none" strike="noStrike">
                <a:solidFill>
                  <a:schemeClr val="dk1"/>
                </a:solidFill>
                <a:effectLst/>
                <a:uFillTx/>
                <a:latin typeface="Bodoni MT Black"/>
              </a:rPr>
              <a:t>从</a:t>
            </a:r>
            <a:r>
              <a:rPr lang="en-US" sz="2400" b="0" u="none" strike="noStrike">
                <a:solidFill>
                  <a:srgbClr val="ff0000"/>
                </a:solidFill>
                <a:effectLst/>
                <a:uFillTx/>
                <a:latin typeface="Bodoni MT Black"/>
              </a:rPr>
              <a:t>“原子”模块</a:t>
            </a:r>
            <a:r>
              <a:rPr lang="zh-CN" sz="2400" b="0" u="none" strike="noStrike">
                <a:solidFill>
                  <a:schemeClr val="dk1"/>
                </a:solidFill>
                <a:effectLst/>
                <a:uFillTx/>
                <a:latin typeface="Bodoni MT Black"/>
              </a:rPr>
              <a:t>（即软件结构最低层的模块</a:t>
            </a:r>
            <a:r>
              <a:rPr lang="zh-CN" sz="2400" b="0" u="none" strike="noStrike">
                <a:solidFill>
                  <a:schemeClr val="dk1"/>
                </a:solidFill>
                <a:effectLst/>
                <a:uFillTx/>
                <a:latin typeface="Bodoni MT Black"/>
                <a:ea typeface="宋体"/>
              </a:rPr>
              <a:t>）开始组装和测试。因为是从底部向上结合模块，总能得到所需的下层模块处理功能，所以</a:t>
            </a:r>
            <a:r>
              <a:rPr lang="zh-CN" sz="2400" b="0" u="none" strike="noStrike">
                <a:solidFill>
                  <a:srgbClr val="0070c0"/>
                </a:solidFill>
                <a:effectLst/>
                <a:uFillTx/>
                <a:latin typeface="Bodoni MT Black"/>
                <a:ea typeface="宋体"/>
              </a:rPr>
              <a:t>不需要存根程序</a:t>
            </a:r>
            <a:r>
              <a:rPr lang="zh-CN" sz="2400" b="0" u="none" strike="noStrike">
                <a:solidFill>
                  <a:schemeClr val="dk1"/>
                </a:solidFill>
                <a:effectLst/>
                <a:uFillTx/>
                <a:latin typeface="Bodoni MT Black"/>
                <a:ea typeface="宋体"/>
              </a:rPr>
              <a:t>。用下述步骤可以实现自底向上的结合策略。</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① 把低层模块组合成实现某个特定的软件</a:t>
            </a:r>
            <a:r>
              <a:rPr lang="zh-CN" sz="2400" b="0" u="none" strike="noStrike">
                <a:solidFill>
                  <a:srgbClr val="ff0000"/>
                </a:solidFill>
                <a:effectLst/>
                <a:uFillTx/>
                <a:latin typeface="Bodoni MT Black"/>
                <a:ea typeface="宋体"/>
              </a:rPr>
              <a:t>子功能</a:t>
            </a:r>
            <a:r>
              <a:rPr lang="zh-CN" sz="2400" b="0" u="none" strike="noStrike">
                <a:solidFill>
                  <a:schemeClr val="dk1"/>
                </a:solidFill>
                <a:effectLst/>
                <a:uFillTx/>
                <a:latin typeface="Bodoni MT Black"/>
                <a:ea typeface="宋体"/>
              </a:rPr>
              <a:t>的族；</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② 写一个</a:t>
            </a:r>
            <a:r>
              <a:rPr lang="zh-CN" sz="2400" b="0" u="none" strike="noStrike">
                <a:solidFill>
                  <a:srgbClr val="ff0000"/>
                </a:solidFill>
                <a:effectLst/>
                <a:uFillTx/>
                <a:latin typeface="Bodoni MT Black"/>
                <a:ea typeface="宋体"/>
              </a:rPr>
              <a:t>驱动程序</a:t>
            </a:r>
            <a:r>
              <a:rPr lang="zh-CN" sz="2400" b="0" u="none" strike="noStrike">
                <a:solidFill>
                  <a:schemeClr val="dk1"/>
                </a:solidFill>
                <a:effectLst/>
                <a:uFillTx/>
                <a:latin typeface="Bodoni MT Black"/>
                <a:ea typeface="宋体"/>
              </a:rPr>
              <a:t>（用于测试的控制程序），协调测试数据的输入和输出；</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③ 对由模块组成的</a:t>
            </a:r>
            <a:r>
              <a:rPr lang="zh-CN" sz="2400" b="0" u="none" strike="noStrike">
                <a:solidFill>
                  <a:srgbClr val="ff0000"/>
                </a:solidFill>
                <a:effectLst/>
                <a:uFillTx/>
                <a:latin typeface="Bodoni MT Black"/>
                <a:ea typeface="宋体"/>
              </a:rPr>
              <a:t>子功能族</a:t>
            </a:r>
            <a:r>
              <a:rPr lang="zh-CN" sz="2400" b="0" u="none" strike="noStrike">
                <a:solidFill>
                  <a:schemeClr val="dk1"/>
                </a:solidFill>
                <a:effectLst/>
                <a:uFillTx/>
                <a:latin typeface="Bodoni MT Black"/>
                <a:ea typeface="宋体"/>
              </a:rPr>
              <a:t>进行测试；</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④ 去掉驱动程序，沿软件结构</a:t>
            </a:r>
            <a:r>
              <a:rPr lang="zh-CN" sz="2400" b="0" u="none" strike="noStrike">
                <a:solidFill>
                  <a:srgbClr val="ff0000"/>
                </a:solidFill>
                <a:effectLst/>
                <a:uFillTx/>
                <a:latin typeface="Bodoni MT Black"/>
                <a:ea typeface="宋体"/>
              </a:rPr>
              <a:t>自下向上移动</a:t>
            </a:r>
            <a:r>
              <a:rPr lang="zh-CN" sz="2400" b="0" u="none" strike="noStrike">
                <a:solidFill>
                  <a:schemeClr val="dk1"/>
                </a:solidFill>
                <a:effectLst/>
                <a:uFillTx/>
                <a:latin typeface="Bodoni MT Black"/>
                <a:ea typeface="宋体"/>
              </a:rPr>
              <a:t>，把子功能族组合起来形成更大的子功能族。</a:t>
            </a:r>
            <a:endParaRPr lang="en-US" sz="2400" b="0" u="none" strike="noStrike">
              <a:solidFill>
                <a:srgbClr val="000000"/>
              </a:solidFill>
              <a:effectLst/>
              <a:uFillTx/>
              <a:latin typeface="Arial"/>
            </a:endParaRPr>
          </a:p>
        </p:txBody>
      </p:sp>
      <p:sp>
        <p:nvSpPr>
          <p:cNvPr id="320"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321"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7.4.2 </a:t>
            </a:r>
            <a:r>
              <a:rPr lang="zh-CN" sz="2400" b="0" u="none" strike="noStrike">
                <a:solidFill>
                  <a:srgbClr val="d9d9d9"/>
                </a:solidFill>
                <a:effectLst/>
                <a:uFillTx/>
                <a:latin typeface="Bodoni MT Black"/>
              </a:rPr>
              <a:t>自底向上集成</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7.4 </a:t>
            </a:r>
            <a:r>
              <a:rPr lang="zh-CN" sz="4400" b="1" u="none" strike="noStrike">
                <a:solidFill>
                  <a:schemeClr val="dk1"/>
                </a:solidFill>
                <a:effectLst/>
                <a:uFillTx/>
                <a:latin typeface="Bodoni MT Black"/>
              </a:rPr>
              <a:t>集成测试</a:t>
            </a:r>
            <a:endParaRPr lang="es-ES" sz="4400" b="0" u="none" strike="noStrike">
              <a:solidFill>
                <a:schemeClr val="dk1"/>
              </a:solidFill>
              <a:effectLst/>
              <a:uFillTx/>
              <a:latin typeface="Arial"/>
            </a:endParaRPr>
          </a:p>
        </p:txBody>
      </p:sp>
      <p:sp>
        <p:nvSpPr>
          <p:cNvPr id="323" name="TextBox 7"/>
          <p:cNvSpPr/>
          <p:nvPr/>
        </p:nvSpPr>
        <p:spPr>
          <a:xfrm>
            <a:off x="251640" y="1071720"/>
            <a:ext cx="4177080" cy="474696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200" b="0" u="none" strike="noStrike">
                <a:solidFill>
                  <a:schemeClr val="dk1"/>
                </a:solidFill>
                <a:effectLst/>
                <a:uFillTx/>
                <a:latin typeface="Bodoni MT Black"/>
              </a:rPr>
              <a:t>首先把模块组合成族</a:t>
            </a:r>
            <a:r>
              <a:rPr lang="en-US" sz="2200" b="0" u="none" strike="noStrike">
                <a:solidFill>
                  <a:schemeClr val="dk1"/>
                </a:solidFill>
                <a:effectLst/>
                <a:uFillTx/>
                <a:latin typeface="Bodoni MT Black"/>
              </a:rPr>
              <a:t>1</a:t>
            </a:r>
            <a:r>
              <a:rPr lang="zh-CN" sz="2200" b="0" u="none" strike="noStrike">
                <a:solidFill>
                  <a:schemeClr val="dk1"/>
                </a:solidFill>
                <a:effectLst/>
                <a:uFillTx/>
                <a:latin typeface="Bodoni MT Black"/>
              </a:rPr>
              <a:t>、族</a:t>
            </a:r>
            <a:r>
              <a:rPr lang="en-US" sz="2200" b="0" u="none" strike="noStrike">
                <a:solidFill>
                  <a:schemeClr val="dk1"/>
                </a:solidFill>
                <a:effectLst/>
                <a:uFillTx/>
                <a:latin typeface="Bodoni MT Black"/>
              </a:rPr>
              <a:t>2</a:t>
            </a:r>
            <a:r>
              <a:rPr lang="zh-CN" sz="2200" b="0" u="none" strike="noStrike">
                <a:solidFill>
                  <a:schemeClr val="dk1"/>
                </a:solidFill>
                <a:effectLst/>
                <a:uFillTx/>
                <a:latin typeface="Bodoni MT Black"/>
              </a:rPr>
              <a:t>和族</a:t>
            </a:r>
            <a:r>
              <a:rPr lang="en-US" sz="2200" b="0" u="none" strike="noStrike">
                <a:solidFill>
                  <a:schemeClr val="dk1"/>
                </a:solidFill>
                <a:effectLst/>
                <a:uFillTx/>
                <a:latin typeface="Bodoni MT Black"/>
              </a:rPr>
              <a:t>3</a:t>
            </a:r>
            <a:r>
              <a:rPr lang="zh-CN" sz="2200" b="0" u="none" strike="noStrike">
                <a:solidFill>
                  <a:schemeClr val="dk1"/>
                </a:solidFill>
                <a:effectLst/>
                <a:uFillTx/>
                <a:latin typeface="Bodoni MT Black"/>
              </a:rPr>
              <a:t>，使用</a:t>
            </a:r>
            <a:r>
              <a:rPr lang="zh-CN" sz="2200" b="0" u="none" strike="noStrike">
                <a:solidFill>
                  <a:srgbClr val="ff0000"/>
                </a:solidFill>
                <a:effectLst/>
                <a:uFillTx/>
                <a:latin typeface="Bodoni MT Black"/>
              </a:rPr>
              <a:t>驱动程序</a:t>
            </a:r>
            <a:r>
              <a:rPr lang="zh-CN" sz="2200" b="0" u="none" strike="noStrike">
                <a:solidFill>
                  <a:schemeClr val="dk1"/>
                </a:solidFill>
                <a:effectLst/>
                <a:uFillTx/>
                <a:latin typeface="Bodoni MT Black"/>
              </a:rPr>
              <a:t>（图中用虚线方框表示</a:t>
            </a:r>
            <a:r>
              <a:rPr lang="zh-CN" sz="2200" b="0" u="none" strike="noStrike">
                <a:solidFill>
                  <a:schemeClr val="dk1"/>
                </a:solidFill>
                <a:effectLst/>
                <a:uFillTx/>
                <a:latin typeface="Bodoni MT Black"/>
                <a:ea typeface="宋体"/>
              </a:rPr>
              <a:t>）对每个子功能族进行测试。族</a:t>
            </a:r>
            <a:r>
              <a:rPr lang="en-US" sz="2200" b="0" u="none" strike="noStrike">
                <a:solidFill>
                  <a:schemeClr val="dk1"/>
                </a:solidFill>
                <a:effectLst/>
                <a:uFillTx/>
                <a:latin typeface="Bodoni MT Black"/>
                <a:ea typeface="宋体"/>
              </a:rPr>
              <a:t>1</a:t>
            </a:r>
            <a:r>
              <a:rPr lang="zh-CN" sz="2200" b="0" u="none" strike="noStrike">
                <a:solidFill>
                  <a:schemeClr val="dk1"/>
                </a:solidFill>
                <a:effectLst/>
                <a:uFillTx/>
                <a:latin typeface="Bodoni MT Black"/>
                <a:ea typeface="宋体"/>
              </a:rPr>
              <a:t>和族</a:t>
            </a:r>
            <a:r>
              <a:rPr lang="en-US" sz="2200" b="0" u="none" strike="noStrike">
                <a:solidFill>
                  <a:schemeClr val="dk1"/>
                </a:solidFill>
                <a:effectLst/>
                <a:uFillTx/>
                <a:latin typeface="Bodoni MT Black"/>
                <a:ea typeface="宋体"/>
              </a:rPr>
              <a:t>2</a:t>
            </a:r>
            <a:r>
              <a:rPr lang="zh-CN" sz="2200" b="0" u="none" strike="noStrike">
                <a:solidFill>
                  <a:schemeClr val="dk1"/>
                </a:solidFill>
                <a:effectLst/>
                <a:uFillTx/>
                <a:latin typeface="Bodoni MT Black"/>
                <a:ea typeface="宋体"/>
              </a:rPr>
              <a:t>中的模块附属于模块</a:t>
            </a:r>
            <a:r>
              <a:rPr lang="en-US" sz="2200" b="0" u="none" strike="noStrike">
                <a:solidFill>
                  <a:schemeClr val="dk1"/>
                </a:solidFill>
                <a:effectLst/>
                <a:uFillTx/>
                <a:latin typeface="Bodoni MT Black"/>
                <a:ea typeface="宋体"/>
              </a:rPr>
              <a:t>M</a:t>
            </a:r>
            <a:r>
              <a:rPr lang="en-US" sz="2200" b="0" u="none" strike="noStrike" baseline="-25000">
                <a:solidFill>
                  <a:schemeClr val="dk1"/>
                </a:solidFill>
                <a:effectLst/>
                <a:uFillTx/>
                <a:latin typeface="Bodoni MT Black"/>
                <a:ea typeface="宋体"/>
              </a:rPr>
              <a:t>a</a:t>
            </a:r>
            <a:r>
              <a:rPr lang="en-US" sz="2200" b="0" u="none" strike="noStrike">
                <a:solidFill>
                  <a:schemeClr val="dk1"/>
                </a:solidFill>
                <a:effectLst/>
                <a:uFillTx/>
                <a:latin typeface="Bodoni MT Black"/>
                <a:ea typeface="宋体"/>
              </a:rPr>
              <a:t> </a:t>
            </a:r>
            <a:r>
              <a:rPr lang="zh-CN" sz="2200" b="0" u="none" strike="noStrike">
                <a:solidFill>
                  <a:schemeClr val="dk1"/>
                </a:solidFill>
                <a:effectLst/>
                <a:uFillTx/>
                <a:latin typeface="Bodoni MT Black"/>
                <a:ea typeface="宋体"/>
              </a:rPr>
              <a:t>，去掉驱动程序</a:t>
            </a:r>
            <a:r>
              <a:rPr lang="en-US" sz="2200" b="0" u="none" strike="noStrike">
                <a:solidFill>
                  <a:schemeClr val="dk1"/>
                </a:solidFill>
                <a:effectLst/>
                <a:uFillTx/>
                <a:latin typeface="Bodoni MT Black"/>
                <a:ea typeface="宋体"/>
              </a:rPr>
              <a:t>D</a:t>
            </a:r>
            <a:r>
              <a:rPr lang="en-US" sz="2200" b="0" u="none" strike="noStrike" baseline="-25000">
                <a:solidFill>
                  <a:schemeClr val="dk1"/>
                </a:solidFill>
                <a:effectLst/>
                <a:uFillTx/>
                <a:latin typeface="Bodoni MT Black"/>
                <a:ea typeface="宋体"/>
              </a:rPr>
              <a:t>1</a:t>
            </a:r>
            <a:r>
              <a:rPr lang="zh-CN" sz="2200" b="0" u="none" strike="noStrike">
                <a:solidFill>
                  <a:schemeClr val="dk1"/>
                </a:solidFill>
                <a:effectLst/>
                <a:uFillTx/>
                <a:latin typeface="Bodoni MT Black"/>
                <a:ea typeface="宋体"/>
              </a:rPr>
              <a:t>和</a:t>
            </a:r>
            <a:r>
              <a:rPr lang="en-US" sz="2200" b="0" u="none" strike="noStrike">
                <a:solidFill>
                  <a:schemeClr val="dk1"/>
                </a:solidFill>
                <a:effectLst/>
                <a:uFillTx/>
                <a:latin typeface="Bodoni MT Black"/>
                <a:ea typeface="宋体"/>
              </a:rPr>
              <a:t>D</a:t>
            </a:r>
            <a:r>
              <a:rPr lang="en-US" sz="2200" b="0" u="none" strike="noStrike" baseline="-25000">
                <a:solidFill>
                  <a:schemeClr val="dk1"/>
                </a:solidFill>
                <a:effectLst/>
                <a:uFillTx/>
                <a:latin typeface="Bodoni MT Black"/>
                <a:ea typeface="宋体"/>
              </a:rPr>
              <a:t>2</a:t>
            </a:r>
            <a:r>
              <a:rPr lang="zh-CN" sz="2200" b="0" u="none" strike="noStrike">
                <a:solidFill>
                  <a:schemeClr val="dk1"/>
                </a:solidFill>
                <a:effectLst/>
                <a:uFillTx/>
                <a:latin typeface="Bodoni MT Black"/>
                <a:ea typeface="宋体"/>
              </a:rPr>
              <a:t>，把这两个族直接同</a:t>
            </a:r>
            <a:r>
              <a:rPr lang="en-US" sz="2200" b="0" u="none" strike="noStrike">
                <a:solidFill>
                  <a:schemeClr val="dk1"/>
                </a:solidFill>
                <a:effectLst/>
                <a:uFillTx/>
                <a:latin typeface="Bodoni MT Black"/>
                <a:ea typeface="宋体"/>
              </a:rPr>
              <a:t>M</a:t>
            </a:r>
            <a:r>
              <a:rPr lang="en-US" sz="2200" b="0" u="none" strike="noStrike" baseline="-25000">
                <a:solidFill>
                  <a:schemeClr val="dk1"/>
                </a:solidFill>
                <a:effectLst/>
                <a:uFillTx/>
                <a:latin typeface="Bodoni MT Black"/>
                <a:ea typeface="宋体"/>
              </a:rPr>
              <a:t>a</a:t>
            </a:r>
            <a:r>
              <a:rPr lang="zh-CN" sz="2200" b="0" u="none" strike="noStrike">
                <a:solidFill>
                  <a:schemeClr val="dk1"/>
                </a:solidFill>
                <a:effectLst/>
                <a:uFillTx/>
                <a:latin typeface="Bodoni MT Black"/>
                <a:ea typeface="宋体"/>
              </a:rPr>
              <a:t>连接起来。类似地，在和模块</a:t>
            </a:r>
            <a:r>
              <a:rPr lang="en-US" sz="2200" b="0" u="none" strike="noStrike">
                <a:solidFill>
                  <a:schemeClr val="dk1"/>
                </a:solidFill>
                <a:effectLst/>
                <a:uFillTx/>
                <a:latin typeface="Bodoni MT Black"/>
                <a:ea typeface="宋体"/>
              </a:rPr>
              <a:t>M</a:t>
            </a:r>
            <a:r>
              <a:rPr lang="en-US" sz="2200" b="0" u="none" strike="noStrike" baseline="-25000">
                <a:solidFill>
                  <a:schemeClr val="dk1"/>
                </a:solidFill>
                <a:effectLst/>
                <a:uFillTx/>
                <a:latin typeface="Bodoni MT Black"/>
                <a:ea typeface="宋体"/>
              </a:rPr>
              <a:t>b</a:t>
            </a:r>
            <a:r>
              <a:rPr lang="zh-CN" sz="2200" b="0" u="none" strike="noStrike">
                <a:solidFill>
                  <a:schemeClr val="dk1"/>
                </a:solidFill>
                <a:effectLst/>
                <a:uFillTx/>
                <a:latin typeface="Bodoni MT Black"/>
                <a:ea typeface="宋体"/>
              </a:rPr>
              <a:t>结合之前去掉族</a:t>
            </a:r>
            <a:r>
              <a:rPr lang="en-US" sz="2200" b="0" u="none" strike="noStrike">
                <a:solidFill>
                  <a:schemeClr val="dk1"/>
                </a:solidFill>
                <a:effectLst/>
                <a:uFillTx/>
                <a:latin typeface="Bodoni MT Black"/>
                <a:ea typeface="宋体"/>
              </a:rPr>
              <a:t>3</a:t>
            </a:r>
            <a:r>
              <a:rPr lang="zh-CN" sz="2200" b="0" u="none" strike="noStrike">
                <a:solidFill>
                  <a:schemeClr val="dk1"/>
                </a:solidFill>
                <a:effectLst/>
                <a:uFillTx/>
                <a:latin typeface="Bodoni MT Black"/>
                <a:ea typeface="宋体"/>
              </a:rPr>
              <a:t>的驱动程序</a:t>
            </a:r>
            <a:r>
              <a:rPr lang="en-US" sz="2200" b="0" u="none" strike="noStrike">
                <a:solidFill>
                  <a:schemeClr val="dk1"/>
                </a:solidFill>
                <a:effectLst/>
                <a:uFillTx/>
                <a:latin typeface="Bodoni MT Black"/>
                <a:ea typeface="宋体"/>
              </a:rPr>
              <a:t>D</a:t>
            </a:r>
            <a:r>
              <a:rPr lang="en-US" sz="2200" b="0" u="none" strike="noStrike" baseline="-25000">
                <a:solidFill>
                  <a:schemeClr val="dk1"/>
                </a:solidFill>
                <a:effectLst/>
                <a:uFillTx/>
                <a:latin typeface="Bodoni MT Black"/>
                <a:ea typeface="宋体"/>
              </a:rPr>
              <a:t>3</a:t>
            </a:r>
            <a:r>
              <a:rPr lang="zh-CN" sz="2200" b="0" u="none" strike="noStrike">
                <a:solidFill>
                  <a:schemeClr val="dk1"/>
                </a:solidFill>
                <a:effectLst/>
                <a:uFillTx/>
                <a:latin typeface="Bodoni MT Black"/>
                <a:ea typeface="宋体"/>
              </a:rPr>
              <a:t>。最终</a:t>
            </a:r>
            <a:r>
              <a:rPr lang="en-US" sz="2200" b="0" u="none" strike="noStrike">
                <a:solidFill>
                  <a:schemeClr val="dk1"/>
                </a:solidFill>
                <a:effectLst/>
                <a:uFillTx/>
                <a:latin typeface="Bodoni MT Black"/>
                <a:ea typeface="宋体"/>
              </a:rPr>
              <a:t>M</a:t>
            </a:r>
            <a:r>
              <a:rPr lang="en-US" sz="2200" b="0" u="none" strike="noStrike" baseline="-25000">
                <a:solidFill>
                  <a:schemeClr val="dk1"/>
                </a:solidFill>
                <a:effectLst/>
                <a:uFillTx/>
                <a:latin typeface="Bodoni MT Black"/>
                <a:ea typeface="宋体"/>
              </a:rPr>
              <a:t>a</a:t>
            </a:r>
            <a:r>
              <a:rPr lang="zh-CN" sz="2200" b="0" u="none" strike="noStrike">
                <a:solidFill>
                  <a:schemeClr val="dk1"/>
                </a:solidFill>
                <a:effectLst/>
                <a:uFillTx/>
                <a:latin typeface="Bodoni MT Black"/>
                <a:ea typeface="宋体"/>
              </a:rPr>
              <a:t>和</a:t>
            </a:r>
            <a:r>
              <a:rPr lang="en-US" sz="2200" b="0" u="none" strike="noStrike">
                <a:solidFill>
                  <a:schemeClr val="dk1"/>
                </a:solidFill>
                <a:effectLst/>
                <a:uFillTx/>
                <a:latin typeface="Bodoni MT Black"/>
                <a:ea typeface="宋体"/>
              </a:rPr>
              <a:t>M</a:t>
            </a:r>
            <a:r>
              <a:rPr lang="en-US" sz="2200" b="0" u="none" strike="noStrike" baseline="-25000">
                <a:solidFill>
                  <a:schemeClr val="dk1"/>
                </a:solidFill>
                <a:effectLst/>
                <a:uFillTx/>
                <a:latin typeface="Bodoni MT Black"/>
                <a:ea typeface="宋体"/>
              </a:rPr>
              <a:t>b</a:t>
            </a:r>
            <a:r>
              <a:rPr lang="zh-CN" sz="2200" b="0" u="none" strike="noStrike">
                <a:solidFill>
                  <a:schemeClr val="dk1"/>
                </a:solidFill>
                <a:effectLst/>
                <a:uFillTx/>
                <a:latin typeface="Bodoni MT Black"/>
                <a:ea typeface="宋体"/>
              </a:rPr>
              <a:t>这两个模块都与模块</a:t>
            </a:r>
            <a:r>
              <a:rPr lang="en-US" sz="2200" b="0" u="none" strike="noStrike">
                <a:solidFill>
                  <a:schemeClr val="dk1"/>
                </a:solidFill>
                <a:effectLst/>
                <a:uFillTx/>
                <a:latin typeface="Bodoni MT Black"/>
                <a:ea typeface="宋体"/>
              </a:rPr>
              <a:t>M</a:t>
            </a:r>
            <a:r>
              <a:rPr lang="en-US" sz="2200" b="0" u="none" strike="noStrike" baseline="-25000">
                <a:solidFill>
                  <a:schemeClr val="dk1"/>
                </a:solidFill>
                <a:effectLst/>
                <a:uFillTx/>
                <a:latin typeface="Bodoni MT Black"/>
                <a:ea typeface="宋体"/>
              </a:rPr>
              <a:t>c</a:t>
            </a:r>
            <a:r>
              <a:rPr lang="zh-CN" sz="2200" b="0" u="none" strike="noStrike">
                <a:solidFill>
                  <a:schemeClr val="dk1"/>
                </a:solidFill>
                <a:effectLst/>
                <a:uFillTx/>
                <a:latin typeface="Bodoni MT Black"/>
                <a:ea typeface="宋体"/>
              </a:rPr>
              <a:t>结合起来。随着结合向上移动，对测试驱动程序的需要减少了。</a:t>
            </a:r>
            <a:endParaRPr lang="en-US" sz="2200" b="0" u="none" strike="noStrike">
              <a:solidFill>
                <a:srgbClr val="000000"/>
              </a:solidFill>
              <a:effectLst/>
              <a:uFillTx/>
              <a:latin typeface="Arial"/>
            </a:endParaRPr>
          </a:p>
        </p:txBody>
      </p:sp>
      <p:pic>
        <p:nvPicPr>
          <p:cNvPr id="324" name="图片 1"/>
          <p:cNvPicPr/>
          <p:nvPr/>
        </p:nvPicPr>
        <p:blipFill>
          <a:blip r:embed="rId1"/>
          <a:stretch/>
        </p:blipFill>
        <p:spPr>
          <a:xfrm>
            <a:off x="4583160" y="1628640"/>
            <a:ext cx="4381200" cy="3456360"/>
          </a:xfrm>
          <a:prstGeom prst="rect">
            <a:avLst/>
          </a:prstGeom>
          <a:noFill/>
          <a:ln w="9525">
            <a:noFill/>
          </a:ln>
        </p:spPr>
      </p:pic>
      <p:sp>
        <p:nvSpPr>
          <p:cNvPr id="325"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326"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7.4.2 </a:t>
            </a:r>
            <a:r>
              <a:rPr lang="zh-CN" sz="2400" b="0" u="none" strike="noStrike">
                <a:solidFill>
                  <a:srgbClr val="d9d9d9"/>
                </a:solidFill>
                <a:effectLst/>
                <a:uFillTx/>
                <a:latin typeface="Bodoni MT Black"/>
              </a:rPr>
              <a:t>自底向上集成</a:t>
            </a:r>
            <a:endParaRPr lang="en-US" sz="2400" b="0" u="none" strike="noStrike">
              <a:solidFill>
                <a:srgbClr val="000000"/>
              </a:solidFill>
              <a:effectLst/>
              <a:uFillTx/>
              <a:latin typeface="Arial"/>
            </a:endParaRPr>
          </a:p>
        </p:txBody>
      </p:sp>
      <p:sp>
        <p:nvSpPr>
          <p:cNvPr id="327" name="矩形 1"/>
          <p:cNvSpPr/>
          <p:nvPr/>
        </p:nvSpPr>
        <p:spPr>
          <a:xfrm>
            <a:off x="5724000" y="3050280"/>
            <a:ext cx="1107720" cy="3690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1800" b="0" u="none" strike="noStrike">
                <a:solidFill>
                  <a:srgbClr val="ff0000"/>
                </a:solidFill>
                <a:effectLst/>
                <a:uFillTx/>
                <a:latin typeface="Bodoni MT Black"/>
                <a:ea typeface="宋体"/>
              </a:rPr>
              <a:t>驱动程序</a:t>
            </a:r>
            <a:endParaRPr lang="en-US" sz="1800" b="0" u="none" strike="noStrike">
              <a:solidFill>
                <a:srgbClr val="000000"/>
              </a:solidFill>
              <a:effectLst/>
              <a:uFillTx/>
              <a:latin typeface="Arial"/>
            </a:endParaRPr>
          </a:p>
        </p:txBody>
      </p:sp>
      <p:sp>
        <p:nvSpPr>
          <p:cNvPr id="328" name="矩形 7"/>
          <p:cNvSpPr/>
          <p:nvPr/>
        </p:nvSpPr>
        <p:spPr>
          <a:xfrm>
            <a:off x="7117920" y="3054960"/>
            <a:ext cx="1107720" cy="3690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1800" b="0" u="none" strike="noStrike">
                <a:solidFill>
                  <a:srgbClr val="ff0000"/>
                </a:solidFill>
                <a:effectLst/>
                <a:uFillTx/>
                <a:latin typeface="Bodoni MT Black"/>
                <a:ea typeface="宋体"/>
              </a:rPr>
              <a:t>驱动程序</a:t>
            </a:r>
            <a:endParaRPr lang="en-US" sz="1800" b="0" u="none" strike="noStrike">
              <a:solidFill>
                <a:srgbClr val="000000"/>
              </a:solidFill>
              <a:effectLst/>
              <a:uFillTx/>
              <a:latin typeface="Arial"/>
            </a:endParaRPr>
          </a:p>
        </p:txBody>
      </p:sp>
      <p:sp>
        <p:nvSpPr>
          <p:cNvPr id="329" name="椭圆 2"/>
          <p:cNvSpPr/>
          <p:nvPr/>
        </p:nvSpPr>
        <p:spPr>
          <a:xfrm>
            <a:off x="4815720" y="3345120"/>
            <a:ext cx="1417680" cy="1871640"/>
          </a:xfrm>
          <a:prstGeom prst="ellipse">
            <a:avLst/>
          </a:prstGeom>
          <a:solidFill>
            <a:srgbClr val="ffc000">
              <a:alpha val="3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30" name="椭圆 11"/>
          <p:cNvSpPr/>
          <p:nvPr/>
        </p:nvSpPr>
        <p:spPr>
          <a:xfrm>
            <a:off x="6300360" y="3339720"/>
            <a:ext cx="1444680" cy="1871640"/>
          </a:xfrm>
          <a:prstGeom prst="ellipse">
            <a:avLst/>
          </a:prstGeom>
          <a:solidFill>
            <a:srgbClr val="ffc000">
              <a:alpha val="3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31" name="椭圆 12"/>
          <p:cNvSpPr/>
          <p:nvPr/>
        </p:nvSpPr>
        <p:spPr>
          <a:xfrm>
            <a:off x="7808760" y="3414960"/>
            <a:ext cx="1155240" cy="1208160"/>
          </a:xfrm>
          <a:prstGeom prst="ellipse">
            <a:avLst/>
          </a:prstGeom>
          <a:solidFill>
            <a:srgbClr val="ffc000">
              <a:alpha val="3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grpSp>
        <p:nvGrpSpPr>
          <p:cNvPr id="332" name="组合 5"/>
          <p:cNvGrpSpPr/>
          <p:nvPr/>
        </p:nvGrpSpPr>
        <p:grpSpPr>
          <a:xfrm>
            <a:off x="5292000" y="3050280"/>
            <a:ext cx="3339360" cy="371520"/>
            <a:chOff x="5292000" y="3050280"/>
            <a:chExt cx="3339360" cy="371520"/>
          </a:xfrm>
        </p:grpSpPr>
        <p:sp>
          <p:nvSpPr>
            <p:cNvPr id="333" name="矩形 3"/>
            <p:cNvSpPr/>
            <p:nvPr/>
          </p:nvSpPr>
          <p:spPr>
            <a:xfrm>
              <a:off x="5292000" y="3050280"/>
              <a:ext cx="503640" cy="364320"/>
            </a:xfrm>
            <a:prstGeom prst="rect">
              <a:avLst/>
            </a:prstGeom>
            <a:solidFill>
              <a:srgbClr val="fb2d11">
                <a:alpha val="3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34" name="矩形 13"/>
            <p:cNvSpPr/>
            <p:nvPr/>
          </p:nvSpPr>
          <p:spPr>
            <a:xfrm>
              <a:off x="6743520" y="3057480"/>
              <a:ext cx="503640" cy="364320"/>
            </a:xfrm>
            <a:prstGeom prst="rect">
              <a:avLst/>
            </a:prstGeom>
            <a:solidFill>
              <a:srgbClr val="fb2d11">
                <a:alpha val="3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35" name="矩形 14"/>
            <p:cNvSpPr/>
            <p:nvPr/>
          </p:nvSpPr>
          <p:spPr>
            <a:xfrm>
              <a:off x="8127720" y="3057480"/>
              <a:ext cx="503640" cy="364320"/>
            </a:xfrm>
            <a:prstGeom prst="rect">
              <a:avLst/>
            </a:prstGeom>
            <a:solidFill>
              <a:srgbClr val="fb2d11">
                <a:alpha val="3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grpSp>
      <p:grpSp>
        <p:nvGrpSpPr>
          <p:cNvPr id="336" name="组合 4"/>
          <p:cNvGrpSpPr/>
          <p:nvPr/>
        </p:nvGrpSpPr>
        <p:grpSpPr>
          <a:xfrm>
            <a:off x="5981760" y="2339640"/>
            <a:ext cx="1902600" cy="396720"/>
            <a:chOff x="5981760" y="2339640"/>
            <a:chExt cx="1902600" cy="396720"/>
          </a:xfrm>
        </p:grpSpPr>
        <p:sp>
          <p:nvSpPr>
            <p:cNvPr id="337" name="矩形 15"/>
            <p:cNvSpPr/>
            <p:nvPr/>
          </p:nvSpPr>
          <p:spPr>
            <a:xfrm>
              <a:off x="5981760" y="2372040"/>
              <a:ext cx="503640" cy="364320"/>
            </a:xfrm>
            <a:prstGeom prst="rect">
              <a:avLst/>
            </a:prstGeom>
            <a:solidFill>
              <a:srgbClr val="669900">
                <a:alpha val="3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38" name="矩形 16"/>
            <p:cNvSpPr/>
            <p:nvPr/>
          </p:nvSpPr>
          <p:spPr>
            <a:xfrm>
              <a:off x="7380720" y="2339640"/>
              <a:ext cx="503640" cy="364320"/>
            </a:xfrm>
            <a:prstGeom prst="rect">
              <a:avLst/>
            </a:prstGeom>
            <a:solidFill>
              <a:srgbClr val="669900">
                <a:alpha val="3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grpSp>
    </p:spTree>
  </p:cSld>
  <mc:AlternateContent>
    <mc:Choice Requires="p14">
      <p:transition spd="slow" p14:dur="2000"/>
    </mc:Choice>
    <mc:Fallback>
      <p:transition spd="slow"/>
    </mc:Fallback>
  </mc:AlternateContent>
  <p:timing>
    <p:tnLst>
      <p:par>
        <p:cTn id="13" dur="indefinite" restart="never" nodeType="tmRoot">
          <p:childTnLst>
            <p:seq>
              <p:cTn id="14" dur="indefinite" nodeType="mainSeq">
                <p:childTnLst>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336"/>
                                        </p:tgtEl>
                                        <p:attrNameLst>
                                          <p:attrName>style.visibility</p:attrName>
                                        </p:attrNameLst>
                                      </p:cBhvr>
                                      <p:to>
                                        <p:strVal val="visible"/>
                                      </p:to>
                                    </p:set>
                                  </p:childTnLst>
                                </p:cTn>
                              </p:par>
                              <p:par>
                                <p:cTn id="19" presetID="1" presetClass="exit" fill="hold" nodeType="withEffect">
                                  <p:stCondLst>
                                    <p:cond delay="0"/>
                                  </p:stCondLst>
                                  <p:childTnLst>
                                    <p:set>
                                      <p:cBhvr>
                                        <p:cTn id="20" dur="1" fill="hold">
                                          <p:stCondLst>
                                            <p:cond delay="0"/>
                                          </p:stCondLst>
                                        </p:cTn>
                                        <p:tgtEl>
                                          <p:spTgt spid="33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7.4 </a:t>
            </a:r>
            <a:r>
              <a:rPr lang="zh-CN" sz="4400" b="1" u="none" strike="noStrike">
                <a:solidFill>
                  <a:schemeClr val="dk1"/>
                </a:solidFill>
                <a:effectLst/>
                <a:uFillTx/>
                <a:latin typeface="Bodoni MT Black"/>
              </a:rPr>
              <a:t>集成测试</a:t>
            </a:r>
            <a:endParaRPr lang="es-ES" sz="4400" b="0" u="none" strike="noStrike">
              <a:solidFill>
                <a:schemeClr val="dk1"/>
              </a:solidFill>
              <a:effectLst/>
              <a:uFillTx/>
              <a:latin typeface="Arial"/>
            </a:endParaRPr>
          </a:p>
        </p:txBody>
      </p:sp>
      <p:sp>
        <p:nvSpPr>
          <p:cNvPr id="340" name="PlaceHolder 2"/>
          <p:cNvSpPr>
            <a:spLocks noGrp="1"/>
          </p:cNvSpPr>
          <p:nvPr>
            <p:ph/>
          </p:nvPr>
        </p:nvSpPr>
        <p:spPr>
          <a:xfrm>
            <a:off x="395280" y="109548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7.4.3 </a:t>
            </a:r>
            <a:r>
              <a:rPr lang="zh-CN" sz="3200" b="1" u="none" strike="noStrike">
                <a:solidFill>
                  <a:schemeClr val="dk1"/>
                </a:solidFill>
                <a:effectLst/>
                <a:uFillTx/>
                <a:latin typeface="Bodoni MT Black"/>
              </a:rPr>
              <a:t>不同集成测试策略的比较</a:t>
            </a:r>
            <a:endParaRPr lang="es-ES" sz="3200" b="0" u="none" strike="noStrike">
              <a:solidFill>
                <a:schemeClr val="dk1"/>
              </a:solidFill>
              <a:effectLst/>
              <a:uFillTx/>
              <a:latin typeface="Calibri"/>
            </a:endParaRPr>
          </a:p>
        </p:txBody>
      </p:sp>
      <p:sp>
        <p:nvSpPr>
          <p:cNvPr id="341" name="TextBox 7"/>
          <p:cNvSpPr/>
          <p:nvPr/>
        </p:nvSpPr>
        <p:spPr>
          <a:xfrm>
            <a:off x="323640" y="1845000"/>
            <a:ext cx="8496720" cy="3785400"/>
          </a:xfrm>
          <a:prstGeom prst="rect">
            <a:avLst/>
          </a:prstGeom>
          <a:noFill/>
          <a:ln w="0">
            <a:noFill/>
          </a:ln>
        </p:spPr>
        <p:style>
          <a:lnRef idx="0"/>
          <a:fillRef idx="0"/>
          <a:effectRef idx="0"/>
          <a:fontRef idx="minor"/>
        </p:style>
        <p:txBody>
          <a:bodyPr lIns="90000" rIns="90000" tIns="45000" bIns="45000" anchor="t">
            <a:spAutoFit/>
          </a:bodyPr>
          <a:p>
            <a:pPr marL="343080" indent="-343080">
              <a:lnSpc>
                <a:spcPct val="125000"/>
              </a:lnSpc>
              <a:buClr>
                <a:srgbClr val="ff0000"/>
              </a:buClr>
              <a:buFont typeface="Wingdings" charset="2"/>
              <a:buChar char=""/>
            </a:pPr>
            <a:r>
              <a:rPr lang="zh-CN" sz="2400" b="0" u="none" strike="noStrike">
                <a:solidFill>
                  <a:srgbClr val="ff0000"/>
                </a:solidFill>
                <a:effectLst/>
                <a:uFillTx/>
                <a:latin typeface="Bodoni MT Black"/>
              </a:rPr>
              <a:t>自顶向下测试方法</a:t>
            </a:r>
            <a:r>
              <a:rPr lang="zh-CN" sz="2400" b="0" u="none" strike="noStrike">
                <a:solidFill>
                  <a:schemeClr val="dk1"/>
                </a:solidFill>
                <a:effectLst/>
                <a:uFillTx/>
                <a:latin typeface="Bodoni MT Black"/>
              </a:rPr>
              <a:t>的</a:t>
            </a:r>
            <a:r>
              <a:rPr lang="zh-CN" sz="2400" b="0" u="none" strike="noStrike">
                <a:solidFill>
                  <a:srgbClr val="ff0000"/>
                </a:solidFill>
                <a:effectLst/>
                <a:uFillTx/>
                <a:latin typeface="Bodoni MT Black"/>
              </a:rPr>
              <a:t>主要优点</a:t>
            </a:r>
            <a:r>
              <a:rPr lang="zh-CN" sz="2400" b="0" u="none" strike="noStrike">
                <a:solidFill>
                  <a:schemeClr val="dk1"/>
                </a:solidFill>
                <a:effectLst/>
                <a:uFillTx/>
                <a:latin typeface="Bodoni MT Black"/>
              </a:rPr>
              <a:t>是</a:t>
            </a:r>
            <a:r>
              <a:rPr lang="zh-CN" sz="2400" b="0" u="none" strike="noStrike">
                <a:solidFill>
                  <a:srgbClr val="ff0000"/>
                </a:solidFill>
                <a:effectLst/>
                <a:uFillTx/>
                <a:latin typeface="Bodoni MT Black"/>
              </a:rPr>
              <a:t>不需要测试驱动程序</a:t>
            </a:r>
            <a:r>
              <a:rPr lang="zh-CN" sz="2400" b="0" u="none" strike="noStrike">
                <a:solidFill>
                  <a:schemeClr val="dk1"/>
                </a:solidFill>
                <a:effectLst/>
                <a:uFillTx/>
                <a:latin typeface="Bodoni MT Black"/>
              </a:rPr>
              <a:t>，能够在测试阶段的早期实现并验证系统的主要功能，而且能在早期发现上层模块的接口错误。</a:t>
            </a:r>
            <a:endParaRPr lang="en-US" sz="2400" b="0" u="none" strike="noStrike">
              <a:solidFill>
                <a:srgbClr val="000000"/>
              </a:solidFill>
              <a:effectLst/>
              <a:uFillTx/>
              <a:latin typeface="Arial"/>
            </a:endParaRPr>
          </a:p>
          <a:p>
            <a:pPr marL="343080" indent="-343080">
              <a:lnSpc>
                <a:spcPct val="125000"/>
              </a:lnSpc>
              <a:buClr>
                <a:srgbClr val="ff0000"/>
              </a:buClr>
              <a:buFont typeface="Wingdings" charset="2"/>
              <a:buChar char=""/>
            </a:pPr>
            <a:r>
              <a:rPr lang="zh-CN" sz="2400" b="0" u="none" strike="noStrike">
                <a:solidFill>
                  <a:srgbClr val="ff0000"/>
                </a:solidFill>
                <a:effectLst/>
                <a:uFillTx/>
                <a:latin typeface="Bodoni MT Black"/>
              </a:rPr>
              <a:t>自顶向下测试方法</a:t>
            </a:r>
            <a:r>
              <a:rPr lang="zh-CN" sz="2400" b="0" u="none" strike="noStrike">
                <a:solidFill>
                  <a:schemeClr val="dk1"/>
                </a:solidFill>
                <a:effectLst/>
                <a:uFillTx/>
                <a:latin typeface="Bodoni MT Black"/>
              </a:rPr>
              <a:t>的</a:t>
            </a:r>
            <a:r>
              <a:rPr lang="zh-CN" sz="2400" b="0" u="none" strike="noStrike">
                <a:solidFill>
                  <a:srgbClr val="ff0000"/>
                </a:solidFill>
                <a:effectLst/>
                <a:uFillTx/>
                <a:latin typeface="Bodoni MT Black"/>
              </a:rPr>
              <a:t>主要缺点</a:t>
            </a:r>
            <a:r>
              <a:rPr lang="zh-CN" sz="2400" b="0" u="none" strike="noStrike">
                <a:solidFill>
                  <a:schemeClr val="dk1"/>
                </a:solidFill>
                <a:effectLst/>
                <a:uFillTx/>
                <a:latin typeface="Bodoni MT Black"/>
              </a:rPr>
              <a:t>是</a:t>
            </a:r>
            <a:r>
              <a:rPr lang="zh-CN" sz="2400" b="0" u="none" strike="noStrike">
                <a:solidFill>
                  <a:srgbClr val="ff0000"/>
                </a:solidFill>
                <a:effectLst/>
                <a:uFillTx/>
                <a:latin typeface="Bodoni MT Black"/>
              </a:rPr>
              <a:t>需要存根程序</a:t>
            </a:r>
            <a:r>
              <a:rPr lang="zh-CN" sz="2400" b="0" u="none" strike="noStrike">
                <a:solidFill>
                  <a:schemeClr val="dk1"/>
                </a:solidFill>
                <a:effectLst/>
                <a:uFillTx/>
                <a:latin typeface="Bodoni MT Black"/>
              </a:rPr>
              <a:t>，可能遇到与此相联系的测试困难，低层关键模块中的错误发现较晚，而且用这种方法在早期不能充分展开人力。</a:t>
            </a:r>
            <a:endParaRPr lang="en-US" sz="2400" b="0" u="none" strike="noStrike">
              <a:solidFill>
                <a:srgbClr val="000000"/>
              </a:solidFill>
              <a:effectLst/>
              <a:uFillTx/>
              <a:latin typeface="Arial"/>
            </a:endParaRPr>
          </a:p>
          <a:p>
            <a:pPr marL="343080" indent="-343080">
              <a:lnSpc>
                <a:spcPct val="125000"/>
              </a:lnSpc>
              <a:buClr>
                <a:srgbClr val="ff0000"/>
              </a:buClr>
              <a:buFont typeface="Wingdings" charset="2"/>
              <a:buChar char=""/>
            </a:pPr>
            <a:r>
              <a:rPr lang="zh-CN" sz="2400" b="0" u="none" strike="noStrike">
                <a:solidFill>
                  <a:srgbClr val="ff0000"/>
                </a:solidFill>
                <a:effectLst/>
                <a:uFillTx/>
                <a:latin typeface="Bodoni MT Black"/>
              </a:rPr>
              <a:t>自底向上测试方法的优缺点与上述自顶向下测试方法的优缺点刚好相反。</a:t>
            </a:r>
            <a:endParaRPr lang="en-US" sz="2400" b="0" u="none" strike="noStrike">
              <a:solidFill>
                <a:srgbClr val="000000"/>
              </a:solidFill>
              <a:effectLst/>
              <a:uFillTx/>
              <a:latin typeface="Arial"/>
            </a:endParaRPr>
          </a:p>
        </p:txBody>
      </p:sp>
      <p:sp>
        <p:nvSpPr>
          <p:cNvPr id="342"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343" name="1 Título"/>
          <p:cNvSpPr/>
          <p:nvPr/>
        </p:nvSpPr>
        <p:spPr>
          <a:xfrm>
            <a:off x="2340000" y="6291360"/>
            <a:ext cx="45162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7.4.3 </a:t>
            </a:r>
            <a:r>
              <a:rPr lang="zh-CN" sz="2400" b="0" u="none" strike="noStrike">
                <a:solidFill>
                  <a:srgbClr val="d9d9d9"/>
                </a:solidFill>
                <a:effectLst/>
                <a:uFillTx/>
                <a:latin typeface="Bodoni MT Black"/>
              </a:rPr>
              <a:t>不同集成测试策略的比较</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7.4 </a:t>
            </a:r>
            <a:r>
              <a:rPr lang="zh-CN" sz="4400" b="1" u="none" strike="noStrike">
                <a:solidFill>
                  <a:schemeClr val="dk1"/>
                </a:solidFill>
                <a:effectLst/>
                <a:uFillTx/>
                <a:latin typeface="Bodoni MT Black"/>
              </a:rPr>
              <a:t>集成测试</a:t>
            </a:r>
            <a:endParaRPr lang="es-ES" sz="4400" b="0" u="none" strike="noStrike">
              <a:solidFill>
                <a:schemeClr val="dk1"/>
              </a:solidFill>
              <a:effectLst/>
              <a:uFillTx/>
              <a:latin typeface="Arial"/>
            </a:endParaRPr>
          </a:p>
        </p:txBody>
      </p:sp>
      <p:sp>
        <p:nvSpPr>
          <p:cNvPr id="345" name="TextBox 7"/>
          <p:cNvSpPr/>
          <p:nvPr/>
        </p:nvSpPr>
        <p:spPr>
          <a:xfrm>
            <a:off x="251640" y="980640"/>
            <a:ext cx="8568720" cy="51703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0" u="none" strike="noStrike">
                <a:solidFill>
                  <a:schemeClr val="dk1"/>
                </a:solidFill>
                <a:effectLst/>
                <a:uFillTx/>
                <a:latin typeface="Bodoni MT Black"/>
              </a:rPr>
              <a:t>     </a:t>
            </a:r>
            <a:r>
              <a:rPr lang="zh-CN" sz="2400" b="0" u="none" strike="noStrike">
                <a:solidFill>
                  <a:schemeClr val="dk1"/>
                </a:solidFill>
                <a:effectLst/>
                <a:uFillTx/>
                <a:latin typeface="Bodoni MT Black"/>
              </a:rPr>
              <a:t>纯粹自顶向下或纯粹自底向上的策略可能都不实用，人们在实践中创造出许多</a:t>
            </a:r>
            <a:r>
              <a:rPr lang="zh-CN" sz="2400" b="0" u="none" strike="noStrike">
                <a:solidFill>
                  <a:srgbClr val="ff0000"/>
                </a:solidFill>
                <a:effectLst/>
                <a:uFillTx/>
                <a:latin typeface="Bodoni MT Black"/>
              </a:rPr>
              <a:t>混合策略</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marL="343080" indent="-343080">
              <a:lnSpc>
                <a:spcPct val="125000"/>
              </a:lnSpc>
              <a:buClr>
                <a:srgbClr val="c00000"/>
              </a:buClr>
              <a:buFont typeface="Wingdings" charset="2"/>
              <a:buChar char=""/>
              <a:tabLst>
                <a:tab algn="l" pos="0"/>
              </a:tabLst>
            </a:pPr>
            <a:r>
              <a:rPr lang="zh-CN" sz="2400" b="1" u="none" strike="noStrike">
                <a:solidFill>
                  <a:srgbClr val="c00000"/>
                </a:solidFill>
                <a:effectLst/>
                <a:uFillTx/>
                <a:latin typeface="Bodoni MT Black"/>
              </a:rPr>
              <a:t>改进的自顶向下测试方法</a:t>
            </a:r>
            <a:r>
              <a:rPr lang="zh-CN" sz="2400" b="0" u="none" strike="noStrike">
                <a:solidFill>
                  <a:schemeClr val="dk1"/>
                </a:solidFill>
                <a:effectLst/>
                <a:uFillTx/>
                <a:latin typeface="Bodoni MT Black"/>
              </a:rPr>
              <a:t>。基本上使用自顶向下的测试方法，但</a:t>
            </a:r>
            <a:r>
              <a:rPr lang="zh-CN" sz="2400" b="0" u="none" strike="noStrike">
                <a:solidFill>
                  <a:srgbClr val="ff0000"/>
                </a:solidFill>
                <a:effectLst/>
                <a:uFillTx/>
                <a:latin typeface="Bodoni MT Black"/>
              </a:rPr>
              <a:t>在早期使用自底向上的方法测试软件中的少数关键模块</a:t>
            </a:r>
            <a:r>
              <a:rPr lang="zh-CN" sz="2400" b="0" u="none" strike="noStrike">
                <a:solidFill>
                  <a:schemeClr val="dk1"/>
                </a:solidFill>
                <a:effectLst/>
                <a:uFillTx/>
                <a:latin typeface="Bodoni MT Black"/>
              </a:rPr>
              <a:t>。一般的自顶向下方法所具有的优点在这种方法中也都有，而且能在测试的早期发现关键模块中的错误；但它的缺点也比自顶向下方法多一条，即测试关键模块时需驱动程序。</a:t>
            </a:r>
            <a:endParaRPr lang="en-US" sz="2400" b="0" u="none" strike="noStrike">
              <a:solidFill>
                <a:srgbClr val="000000"/>
              </a:solidFill>
              <a:effectLst/>
              <a:uFillTx/>
              <a:latin typeface="Arial"/>
            </a:endParaRPr>
          </a:p>
          <a:p>
            <a:pPr marL="343080" indent="-343080">
              <a:lnSpc>
                <a:spcPct val="125000"/>
              </a:lnSpc>
              <a:buClr>
                <a:srgbClr val="c00000"/>
              </a:buClr>
              <a:buFont typeface="Wingdings" charset="2"/>
              <a:buChar char=""/>
              <a:tabLst>
                <a:tab algn="l" pos="0"/>
              </a:tabLst>
            </a:pPr>
            <a:r>
              <a:rPr lang="zh-CN" sz="2400" b="1" u="none" strike="noStrike">
                <a:solidFill>
                  <a:srgbClr val="c00000"/>
                </a:solidFill>
                <a:effectLst/>
                <a:uFillTx/>
                <a:latin typeface="Bodoni MT Black"/>
              </a:rPr>
              <a:t>混合法</a:t>
            </a:r>
            <a:r>
              <a:rPr lang="zh-CN" sz="2400" b="0" u="none" strike="noStrike">
                <a:solidFill>
                  <a:schemeClr val="dk1"/>
                </a:solidFill>
                <a:effectLst/>
                <a:uFillTx/>
                <a:latin typeface="Bodoni MT Black"/>
              </a:rPr>
              <a:t>。对软件结构中较上层使用的自顶向下方法与对软件结构中较下层使用的自底向上方法相结合。这种方法兼有两种方法的优点和缺点，当被测试的软件中关键模块比较多时，这种混合法可能是最好的折衷方法。</a:t>
            </a:r>
            <a:endParaRPr lang="en-US" sz="2400" b="0" u="none" strike="noStrike">
              <a:solidFill>
                <a:srgbClr val="000000"/>
              </a:solidFill>
              <a:effectLst/>
              <a:uFillTx/>
              <a:latin typeface="Arial"/>
            </a:endParaRPr>
          </a:p>
        </p:txBody>
      </p:sp>
      <p:sp>
        <p:nvSpPr>
          <p:cNvPr id="346"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347" name="1 Título"/>
          <p:cNvSpPr/>
          <p:nvPr/>
        </p:nvSpPr>
        <p:spPr>
          <a:xfrm>
            <a:off x="2340000" y="6291360"/>
            <a:ext cx="45162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7.4.3 </a:t>
            </a:r>
            <a:r>
              <a:rPr lang="zh-CN" sz="2400" b="0" u="none" strike="noStrike">
                <a:solidFill>
                  <a:srgbClr val="d9d9d9"/>
                </a:solidFill>
                <a:effectLst/>
                <a:uFillTx/>
                <a:latin typeface="Bodoni MT Black"/>
              </a:rPr>
              <a:t>不同集成测试策略的比较</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7.4 </a:t>
            </a:r>
            <a:r>
              <a:rPr lang="zh-CN" sz="4400" b="1" u="none" strike="noStrike">
                <a:solidFill>
                  <a:schemeClr val="dk1"/>
                </a:solidFill>
                <a:effectLst/>
                <a:uFillTx/>
                <a:latin typeface="Bodoni MT Black"/>
              </a:rPr>
              <a:t>集成测试</a:t>
            </a:r>
            <a:endParaRPr lang="es-ES" sz="4400" b="0" u="none" strike="noStrike">
              <a:solidFill>
                <a:schemeClr val="dk1"/>
              </a:solidFill>
              <a:effectLst/>
              <a:uFillTx/>
              <a:latin typeface="Arial"/>
            </a:endParaRPr>
          </a:p>
        </p:txBody>
      </p:sp>
      <p:sp>
        <p:nvSpPr>
          <p:cNvPr id="349" name="PlaceHolder 2"/>
          <p:cNvSpPr>
            <a:spLocks noGrp="1"/>
          </p:cNvSpPr>
          <p:nvPr>
            <p:ph/>
          </p:nvPr>
        </p:nvSpPr>
        <p:spPr>
          <a:xfrm>
            <a:off x="395280" y="98100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7.4.4 </a:t>
            </a:r>
            <a:r>
              <a:rPr lang="zh-CN" sz="3200" b="1" u="none" strike="noStrike">
                <a:solidFill>
                  <a:schemeClr val="dk1"/>
                </a:solidFill>
                <a:effectLst/>
                <a:uFillTx/>
                <a:latin typeface="Bodoni MT Black"/>
              </a:rPr>
              <a:t>回归测试</a:t>
            </a:r>
            <a:endParaRPr lang="es-ES" sz="3200" b="0" u="none" strike="noStrike">
              <a:solidFill>
                <a:schemeClr val="dk1"/>
              </a:solidFill>
              <a:effectLst/>
              <a:uFillTx/>
              <a:latin typeface="Calibri"/>
            </a:endParaRPr>
          </a:p>
        </p:txBody>
      </p:sp>
      <p:sp>
        <p:nvSpPr>
          <p:cNvPr id="350" name="TextBox 7"/>
          <p:cNvSpPr/>
          <p:nvPr/>
        </p:nvSpPr>
        <p:spPr>
          <a:xfrm>
            <a:off x="251640" y="1557360"/>
            <a:ext cx="8735760" cy="4246920"/>
          </a:xfrm>
          <a:prstGeom prst="rect">
            <a:avLst/>
          </a:prstGeom>
          <a:noFill/>
          <a:ln w="0">
            <a:noFill/>
          </a:ln>
        </p:spPr>
        <p:style>
          <a:lnRef idx="0"/>
          <a:fillRef idx="0"/>
          <a:effectRef idx="0"/>
          <a:fontRef idx="minor"/>
        </p:style>
        <p:txBody>
          <a:bodyPr lIns="90000" rIns="90000" tIns="45000" bIns="45000" anchor="t">
            <a:spAutoFit/>
          </a:bodyPr>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rPr>
              <a:t>集成测试时，当加入新模块，程序发生变化：建立新的数据流路径，可能出现新的</a:t>
            </a:r>
            <a:r>
              <a:rPr lang="en-US" sz="2400" b="0" u="none" strike="noStrike">
                <a:solidFill>
                  <a:schemeClr val="dk1"/>
                </a:solidFill>
                <a:effectLst/>
                <a:uFillTx/>
                <a:latin typeface="Bodoni MT Black"/>
              </a:rPr>
              <a:t>I/O</a:t>
            </a:r>
            <a:r>
              <a:rPr lang="zh-CN" sz="2400" b="0" u="none" strike="noStrike">
                <a:solidFill>
                  <a:schemeClr val="dk1"/>
                </a:solidFill>
                <a:effectLst/>
                <a:uFillTx/>
                <a:latin typeface="Bodoni MT Black"/>
              </a:rPr>
              <a:t>操作，激活新的控制逻辑。在集成测试的范畴中，</a:t>
            </a:r>
            <a:r>
              <a:rPr lang="zh-CN" sz="2400" b="1" u="none" strike="noStrike">
                <a:solidFill>
                  <a:srgbClr val="c00000"/>
                </a:solidFill>
                <a:effectLst/>
                <a:uFillTx/>
                <a:latin typeface="Bodoni MT Black"/>
              </a:rPr>
              <a:t>回归测试</a:t>
            </a:r>
            <a:r>
              <a:rPr lang="zh-CN" sz="2400" b="0" u="none" strike="noStrike">
                <a:solidFill>
                  <a:schemeClr val="dk1"/>
                </a:solidFill>
                <a:effectLst/>
                <a:uFillTx/>
                <a:latin typeface="Bodoni MT Black"/>
                <a:ea typeface="宋体"/>
              </a:rPr>
              <a:t>用于保证由于调试或其他原因引起的变化，</a:t>
            </a:r>
            <a:r>
              <a:rPr lang="zh-CN" sz="2400" b="0" u="none" strike="noStrike">
                <a:solidFill>
                  <a:srgbClr val="ff0000"/>
                </a:solidFill>
                <a:effectLst/>
                <a:uFillTx/>
                <a:latin typeface="Bodoni MT Black"/>
                <a:ea typeface="宋体"/>
              </a:rPr>
              <a:t>重新执行已经做过的测试的某个子集，以保证上述这些变化没有带来非预期的副作用或额外错误的测试活动。</a:t>
            </a:r>
            <a:endParaRPr lang="en-US" sz="2400" b="0" u="none" strike="noStrike">
              <a:solidFill>
                <a:srgbClr val="000000"/>
              </a:solidFill>
              <a:effectLst/>
              <a:uFillTx/>
              <a:latin typeface="Arial"/>
            </a:endParaRPr>
          </a:p>
          <a:p>
            <a:pPr marL="343080" indent="-343080">
              <a:lnSpc>
                <a:spcPct val="125000"/>
              </a:lnSpc>
              <a:buClr>
                <a:srgbClr val="ff0000"/>
              </a:buClr>
              <a:buFont typeface="Wingdings" charset="2"/>
              <a:buChar char=""/>
            </a:pPr>
            <a:r>
              <a:rPr lang="zh-CN" sz="2400" b="0" u="none" strike="noStrike">
                <a:solidFill>
                  <a:srgbClr val="ff0000"/>
                </a:solidFill>
                <a:effectLst/>
                <a:uFillTx/>
                <a:latin typeface="Bodoni MT Black"/>
                <a:ea typeface="宋体"/>
              </a:rPr>
              <a:t>回归测试</a:t>
            </a:r>
            <a:r>
              <a:rPr lang="zh-CN" sz="2400" b="0" u="none" strike="noStrike">
                <a:solidFill>
                  <a:schemeClr val="dk1"/>
                </a:solidFill>
                <a:effectLst/>
                <a:uFillTx/>
                <a:latin typeface="Bodoni MT Black"/>
                <a:ea typeface="宋体"/>
              </a:rPr>
              <a:t>可以通过</a:t>
            </a:r>
            <a:r>
              <a:rPr lang="zh-CN" sz="2400" b="0" u="none" strike="noStrike">
                <a:solidFill>
                  <a:srgbClr val="ff0000"/>
                </a:solidFill>
                <a:effectLst/>
                <a:uFillTx/>
                <a:latin typeface="Bodoni MT Black"/>
                <a:ea typeface="宋体"/>
              </a:rPr>
              <a:t>人工</a:t>
            </a:r>
            <a:r>
              <a:rPr lang="zh-CN" sz="2400" b="0" u="none" strike="noStrike">
                <a:solidFill>
                  <a:schemeClr val="dk1"/>
                </a:solidFill>
                <a:effectLst/>
                <a:uFillTx/>
                <a:latin typeface="Bodoni MT Black"/>
                <a:ea typeface="宋体"/>
              </a:rPr>
              <a:t>进行，也可以使用</a:t>
            </a:r>
            <a:r>
              <a:rPr lang="zh-CN" sz="2400" b="0" u="none" strike="noStrike">
                <a:solidFill>
                  <a:srgbClr val="ff0000"/>
                </a:solidFill>
                <a:effectLst/>
                <a:uFillTx/>
                <a:latin typeface="Bodoni MT Black"/>
                <a:ea typeface="宋体"/>
              </a:rPr>
              <a:t>自动化的捕获回放工具</a:t>
            </a:r>
            <a:r>
              <a:rPr lang="zh-CN" sz="2400" b="0" u="none" strike="noStrike">
                <a:solidFill>
                  <a:schemeClr val="dk1"/>
                </a:solidFill>
                <a:effectLst/>
                <a:uFillTx/>
                <a:latin typeface="Bodoni MT Black"/>
                <a:ea typeface="宋体"/>
              </a:rPr>
              <a:t>自动进行。利用</a:t>
            </a:r>
            <a:r>
              <a:rPr lang="zh-CN" sz="2400" b="0" u="none" strike="noStrike">
                <a:solidFill>
                  <a:srgbClr val="ff0000"/>
                </a:solidFill>
                <a:effectLst/>
                <a:uFillTx/>
                <a:latin typeface="Bodoni MT Black"/>
                <a:ea typeface="宋体"/>
              </a:rPr>
              <a:t>捕获回放工具</a:t>
            </a:r>
            <a:r>
              <a:rPr lang="zh-CN" sz="2400" b="0" u="none" strike="noStrike">
                <a:solidFill>
                  <a:schemeClr val="dk1"/>
                </a:solidFill>
                <a:effectLst/>
                <a:uFillTx/>
                <a:latin typeface="Bodoni MT Black"/>
                <a:ea typeface="宋体"/>
              </a:rPr>
              <a:t>，软件工程师能够捕获</a:t>
            </a:r>
            <a:r>
              <a:rPr lang="zh-CN" sz="2400" b="0" u="none" strike="noStrike">
                <a:solidFill>
                  <a:srgbClr val="ff0000"/>
                </a:solidFill>
                <a:effectLst/>
                <a:uFillTx/>
                <a:latin typeface="Bodoni MT Black"/>
                <a:ea typeface="宋体"/>
              </a:rPr>
              <a:t>测试用例</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实际运行结果</a:t>
            </a:r>
            <a:r>
              <a:rPr lang="zh-CN" sz="2400" b="0" u="none" strike="noStrike">
                <a:solidFill>
                  <a:schemeClr val="dk1"/>
                </a:solidFill>
                <a:effectLst/>
                <a:uFillTx/>
                <a:latin typeface="Bodoni MT Black"/>
                <a:ea typeface="宋体"/>
              </a:rPr>
              <a:t>，然后可以回放（即重新执行测试用例），并且比较软件变化前后所得到的运行结果。</a:t>
            </a:r>
            <a:endParaRPr lang="en-US" sz="2400" b="0" u="none" strike="noStrike">
              <a:solidFill>
                <a:srgbClr val="000000"/>
              </a:solidFill>
              <a:effectLst/>
              <a:uFillTx/>
              <a:latin typeface="Arial"/>
            </a:endParaRPr>
          </a:p>
        </p:txBody>
      </p:sp>
      <p:sp>
        <p:nvSpPr>
          <p:cNvPr id="351"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352"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7.4.4 </a:t>
            </a:r>
            <a:r>
              <a:rPr lang="zh-CN" sz="2400" b="0" u="none" strike="noStrike">
                <a:solidFill>
                  <a:srgbClr val="d9d9d9"/>
                </a:solidFill>
                <a:effectLst/>
                <a:uFillTx/>
                <a:latin typeface="Bodoni MT Black"/>
              </a:rPr>
              <a:t>回归测试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7.4 </a:t>
            </a:r>
            <a:r>
              <a:rPr lang="zh-CN" sz="4400" b="1" u="none" strike="noStrike">
                <a:solidFill>
                  <a:schemeClr val="dk1"/>
                </a:solidFill>
                <a:effectLst/>
                <a:uFillTx/>
                <a:latin typeface="Bodoni MT Black"/>
              </a:rPr>
              <a:t>集成测试</a:t>
            </a:r>
            <a:endParaRPr lang="es-ES" sz="4400" b="0" u="none" strike="noStrike">
              <a:solidFill>
                <a:schemeClr val="dk1"/>
              </a:solidFill>
              <a:effectLst/>
              <a:uFillTx/>
              <a:latin typeface="Arial"/>
            </a:endParaRPr>
          </a:p>
        </p:txBody>
      </p:sp>
      <p:sp>
        <p:nvSpPr>
          <p:cNvPr id="354" name="TextBox 7"/>
          <p:cNvSpPr/>
          <p:nvPr/>
        </p:nvSpPr>
        <p:spPr>
          <a:xfrm>
            <a:off x="287640" y="1340640"/>
            <a:ext cx="8568360" cy="37854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0" u="none" strike="noStrike">
                <a:solidFill>
                  <a:schemeClr val="dk1"/>
                </a:solidFill>
                <a:effectLst/>
                <a:uFillTx/>
                <a:latin typeface="Bodoni MT Black"/>
              </a:rPr>
              <a:t>     </a:t>
            </a:r>
            <a:r>
              <a:rPr lang="zh-CN" sz="2400" b="0" u="none" strike="noStrike">
                <a:solidFill>
                  <a:schemeClr val="dk1"/>
                </a:solidFill>
                <a:effectLst/>
                <a:uFillTx/>
                <a:latin typeface="Bodoni MT Black"/>
              </a:rPr>
              <a:t>回归测试集（已执行过的测试用例的子集）包括下述</a:t>
            </a:r>
            <a:r>
              <a:rPr lang="en-US" sz="2400" b="0" u="none" strike="noStrike">
                <a:solidFill>
                  <a:srgbClr val="ff0000"/>
                </a:solidFill>
                <a:effectLst/>
                <a:uFillTx/>
                <a:latin typeface="Bodoni MT Black"/>
              </a:rPr>
              <a:t>3</a:t>
            </a:r>
            <a:r>
              <a:rPr lang="zh-CN" sz="2400" b="0" u="none" strike="noStrike">
                <a:solidFill>
                  <a:schemeClr val="dk1"/>
                </a:solidFill>
                <a:effectLst/>
                <a:uFillTx/>
                <a:latin typeface="Bodoni MT Black"/>
              </a:rPr>
              <a:t>类不同的</a:t>
            </a:r>
            <a:r>
              <a:rPr lang="zh-CN" sz="2400" b="0" u="none" strike="noStrike">
                <a:solidFill>
                  <a:srgbClr val="ff0000"/>
                </a:solidFill>
                <a:effectLst/>
                <a:uFillTx/>
                <a:latin typeface="Bodoni MT Black"/>
              </a:rPr>
              <a:t>测试用例</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① 检测软件</a:t>
            </a:r>
            <a:r>
              <a:rPr lang="zh-CN" sz="2400" b="0" u="none" strike="noStrike">
                <a:solidFill>
                  <a:srgbClr val="ff0000"/>
                </a:solidFill>
                <a:effectLst/>
                <a:uFillTx/>
                <a:latin typeface="Bodoni MT Black"/>
              </a:rPr>
              <a:t>全部功能</a:t>
            </a:r>
            <a:r>
              <a:rPr lang="zh-CN" sz="2400" b="0" u="none" strike="noStrike">
                <a:solidFill>
                  <a:schemeClr val="dk1"/>
                </a:solidFill>
                <a:effectLst/>
                <a:uFillTx/>
                <a:latin typeface="Bodoni MT Black"/>
              </a:rPr>
              <a:t>的代表性测试用例。</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② 专门针对可能</a:t>
            </a:r>
            <a:r>
              <a:rPr lang="zh-CN" sz="2400" b="0" u="none" strike="noStrike">
                <a:solidFill>
                  <a:srgbClr val="ff0000"/>
                </a:solidFill>
                <a:effectLst/>
                <a:uFillTx/>
                <a:latin typeface="Bodoni MT Black"/>
              </a:rPr>
              <a:t>受修改影响的软件功能</a:t>
            </a:r>
            <a:r>
              <a:rPr lang="zh-CN" sz="2400" b="0" u="none" strike="noStrike">
                <a:solidFill>
                  <a:schemeClr val="dk1"/>
                </a:solidFill>
                <a:effectLst/>
                <a:uFillTx/>
                <a:latin typeface="Bodoni MT Black"/>
              </a:rPr>
              <a:t>的附加测试。</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③ 针对</a:t>
            </a:r>
            <a:r>
              <a:rPr lang="zh-CN" sz="2400" b="0" u="none" strike="noStrike">
                <a:solidFill>
                  <a:srgbClr val="ff0000"/>
                </a:solidFill>
                <a:effectLst/>
                <a:uFillTx/>
                <a:latin typeface="Bodoni MT Black"/>
              </a:rPr>
              <a:t>被修改过的软件成分</a:t>
            </a:r>
            <a:r>
              <a:rPr lang="zh-CN" sz="2400" b="0" u="none" strike="noStrike">
                <a:solidFill>
                  <a:schemeClr val="dk1"/>
                </a:solidFill>
                <a:effectLst/>
                <a:uFillTx/>
                <a:latin typeface="Bodoni MT Black"/>
              </a:rPr>
              <a:t>的测试。</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在集成测试过程中，回归测试用例的数量可能变得非常大。因此，应该把回归测试集设计成只包括</a:t>
            </a:r>
            <a:r>
              <a:rPr lang="zh-CN" sz="2400" b="0" u="none" strike="noStrike">
                <a:solidFill>
                  <a:srgbClr val="0070c0"/>
                </a:solidFill>
                <a:effectLst/>
                <a:uFillTx/>
                <a:latin typeface="Bodoni MT Black"/>
              </a:rPr>
              <a:t>可以检测程序每个主要功能中的一类或多类错误的一些测试用例</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p:txBody>
      </p:sp>
      <p:sp>
        <p:nvSpPr>
          <p:cNvPr id="355"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356"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7.4.4 </a:t>
            </a:r>
            <a:r>
              <a:rPr lang="zh-CN" sz="2400" b="0" u="none" strike="noStrike">
                <a:solidFill>
                  <a:srgbClr val="d9d9d9"/>
                </a:solidFill>
                <a:effectLst/>
                <a:uFillTx/>
                <a:latin typeface="Bodoni MT Black"/>
              </a:rPr>
              <a:t>回归测试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1 Título"/>
          <p:cNvSpPr/>
          <p:nvPr/>
        </p:nvSpPr>
        <p:spPr>
          <a:xfrm>
            <a:off x="684360" y="355680"/>
            <a:ext cx="7703640" cy="863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5760"/>
              </a:lnSpc>
            </a:pPr>
            <a:r>
              <a:rPr lang="zh-CN" sz="4400" b="1" u="none" strike="noStrike">
                <a:solidFill>
                  <a:schemeClr val="dk1"/>
                </a:solidFill>
                <a:effectLst/>
                <a:uFillTx/>
                <a:latin typeface="Bodoni MT Black"/>
              </a:rPr>
              <a:t>主要内容</a:t>
            </a:r>
            <a:endParaRPr lang="en-US" sz="4400" b="0" u="none" strike="noStrike">
              <a:solidFill>
                <a:srgbClr val="000000"/>
              </a:solidFill>
              <a:effectLst/>
              <a:uFillTx/>
              <a:latin typeface="Arial"/>
            </a:endParaRPr>
          </a:p>
        </p:txBody>
      </p:sp>
      <p:sp>
        <p:nvSpPr>
          <p:cNvPr id="358"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sp>
        <p:nvSpPr>
          <p:cNvPr id="359"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7.5 </a:t>
            </a:r>
            <a:r>
              <a:rPr lang="zh-CN" sz="2400" b="0" u="none" strike="noStrike">
                <a:solidFill>
                  <a:srgbClr val="d9d9d9"/>
                </a:solidFill>
                <a:effectLst/>
                <a:uFillTx/>
                <a:latin typeface="Bodoni MT Black"/>
                <a:ea typeface="宋体"/>
              </a:rPr>
              <a:t>确认测试</a:t>
            </a:r>
            <a:endParaRPr lang="en-US" sz="2400" b="0" u="none" strike="noStrike">
              <a:solidFill>
                <a:srgbClr val="000000"/>
              </a:solidFill>
              <a:effectLst/>
              <a:uFillTx/>
              <a:latin typeface="Arial"/>
            </a:endParaRPr>
          </a:p>
        </p:txBody>
      </p:sp>
      <p:pic>
        <p:nvPicPr>
          <p:cNvPr id="360"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361"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362" name="TextBox 3">
            <a:hlinkClick r:id="rId3" action="ppaction://hlinksldjump"/>
          </p:cNvPr>
          <p:cNvSpPr/>
          <p:nvPr/>
        </p:nvSpPr>
        <p:spPr>
          <a:xfrm>
            <a:off x="1071720" y="2071800"/>
            <a:ext cx="192852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363" name="TextBox 4"/>
          <p:cNvSpPr/>
          <p:nvPr/>
        </p:nvSpPr>
        <p:spPr>
          <a:xfrm>
            <a:off x="1000080" y="2714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364" name="TextBox 5"/>
          <p:cNvSpPr/>
          <p:nvPr/>
        </p:nvSpPr>
        <p:spPr>
          <a:xfrm>
            <a:off x="1000080" y="328608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365" name="TextBox 6"/>
          <p:cNvSpPr/>
          <p:nvPr/>
        </p:nvSpPr>
        <p:spPr>
          <a:xfrm>
            <a:off x="1000080" y="3857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366" name="Rectangle 3"/>
          <p:cNvSpPr/>
          <p:nvPr/>
        </p:nvSpPr>
        <p:spPr>
          <a:xfrm>
            <a:off x="539640" y="1292400"/>
            <a:ext cx="8135640" cy="4512960"/>
          </a:xfrm>
          <a:prstGeom prst="rect">
            <a:avLst/>
          </a:prstGeom>
          <a:noFill/>
          <a:ln w="0">
            <a:noFill/>
          </a:ln>
        </p:spPr>
        <p:style>
          <a:lnRef idx="0"/>
          <a:fillRef idx="0"/>
          <a:effectRef idx="0"/>
          <a:fontRef idx="minor"/>
        </p:style>
        <p:txBody>
          <a:bodyPr lIns="90000" rIns="90000" tIns="45000" bIns="45000" anchor="t">
            <a:noAutofit/>
          </a:bodyPr>
          <a:p>
            <a:pPr>
              <a:lnSpc>
                <a:spcPts val="2599"/>
              </a:lnSpc>
              <a:spcBef>
                <a:spcPts val="1199"/>
              </a:spcBef>
              <a:tabLst>
                <a:tab algn="l" pos="0"/>
              </a:tabLst>
            </a:pPr>
            <a:r>
              <a:rPr lang="en-US" sz="2400" b="0" u="none" strike="noStrike">
                <a:solidFill>
                  <a:srgbClr val="3c3c77"/>
                </a:solidFill>
                <a:effectLst/>
                <a:uFillTx/>
                <a:latin typeface="Bodoni MT Black"/>
                <a:ea typeface="黑体"/>
              </a:rPr>
              <a:t>   </a:t>
            </a:r>
            <a:r>
              <a:rPr lang="en-US" sz="2400" b="1" u="none" strike="noStrike">
                <a:solidFill>
                  <a:schemeClr val="dk1"/>
                </a:solidFill>
                <a:effectLst/>
                <a:uFillTx/>
                <a:latin typeface="Bodoni MT Black"/>
                <a:ea typeface="黑体"/>
              </a:rPr>
              <a:t>7.1   </a:t>
            </a:r>
            <a:r>
              <a:rPr lang="zh-CN" sz="2400" b="1" u="none" strike="noStrike">
                <a:solidFill>
                  <a:schemeClr val="dk1"/>
                </a:solidFill>
                <a:effectLst/>
                <a:uFillTx/>
                <a:latin typeface="Bodoni MT Black"/>
                <a:ea typeface="黑体"/>
              </a:rPr>
              <a:t>编码</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7.2   </a:t>
            </a:r>
            <a:r>
              <a:rPr lang="zh-CN" sz="2400" b="1" u="none" strike="noStrike">
                <a:solidFill>
                  <a:schemeClr val="dk1"/>
                </a:solidFill>
                <a:effectLst/>
                <a:uFillTx/>
                <a:latin typeface="Bodoni MT Black"/>
                <a:ea typeface="黑体"/>
              </a:rPr>
              <a:t>软件测试基础</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7.3   </a:t>
            </a:r>
            <a:r>
              <a:rPr lang="zh-CN" sz="2400" b="1" u="none" strike="noStrike">
                <a:solidFill>
                  <a:schemeClr val="dk1"/>
                </a:solidFill>
                <a:effectLst/>
                <a:uFillTx/>
                <a:latin typeface="Bodoni MT Black"/>
                <a:ea typeface="黑体"/>
              </a:rPr>
              <a:t>单元测试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7.4   </a:t>
            </a:r>
            <a:r>
              <a:rPr lang="zh-CN" sz="2400" b="1" u="none" strike="noStrike">
                <a:solidFill>
                  <a:schemeClr val="dk1"/>
                </a:solidFill>
                <a:effectLst/>
                <a:uFillTx/>
                <a:latin typeface="Bodoni MT Black"/>
                <a:ea typeface="黑体"/>
              </a:rPr>
              <a:t>集成测试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7.5   </a:t>
            </a:r>
            <a:r>
              <a:rPr lang="zh-CN" sz="2400" b="1" u="none" strike="noStrike">
                <a:solidFill>
                  <a:schemeClr val="dk1"/>
                </a:solidFill>
                <a:effectLst/>
                <a:uFillTx/>
                <a:latin typeface="Bodoni MT Black"/>
                <a:ea typeface="黑体"/>
              </a:rPr>
              <a:t>确认测试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7.6   </a:t>
            </a:r>
            <a:r>
              <a:rPr lang="zh-CN" sz="2400" b="1" u="none" strike="noStrike">
                <a:solidFill>
                  <a:schemeClr val="dk1"/>
                </a:solidFill>
                <a:effectLst/>
                <a:uFillTx/>
                <a:latin typeface="Bodoni MT Black"/>
                <a:ea typeface="黑体"/>
              </a:rPr>
              <a:t>白盒测试技术</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7.7   </a:t>
            </a:r>
            <a:r>
              <a:rPr lang="zh-CN" sz="2400" b="1" u="none" strike="noStrike">
                <a:solidFill>
                  <a:schemeClr val="dk1"/>
                </a:solidFill>
                <a:effectLst/>
                <a:uFillTx/>
                <a:latin typeface="Bodoni MT Black"/>
                <a:ea typeface="黑体"/>
              </a:rPr>
              <a:t>黑盒测试技术</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7.8   </a:t>
            </a:r>
            <a:r>
              <a:rPr lang="zh-CN" sz="2400" b="1" u="none" strike="noStrike">
                <a:solidFill>
                  <a:schemeClr val="dk1"/>
                </a:solidFill>
                <a:effectLst/>
                <a:uFillTx/>
                <a:latin typeface="Bodoni MT Black"/>
                <a:ea typeface="黑体"/>
              </a:rPr>
              <a:t>调试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7.9   </a:t>
            </a:r>
            <a:r>
              <a:rPr lang="zh-CN" sz="2400" b="1" u="none" strike="noStrike">
                <a:solidFill>
                  <a:schemeClr val="dk1"/>
                </a:solidFill>
                <a:effectLst/>
                <a:uFillTx/>
                <a:latin typeface="Bodoni MT Black"/>
                <a:ea typeface="黑体"/>
              </a:rPr>
              <a:t>软件可靠性</a:t>
            </a:r>
            <a:endParaRPr lang="en-US" sz="2400" b="0" u="none" strike="noStrike">
              <a:solidFill>
                <a:srgbClr val="000000"/>
              </a:solidFill>
              <a:effectLst/>
              <a:uFillTx/>
              <a:latin typeface="Arial"/>
            </a:endParaRPr>
          </a:p>
        </p:txBody>
      </p:sp>
      <p:sp>
        <p:nvSpPr>
          <p:cNvPr id="367" name="1 Título"/>
          <p:cNvSpPr/>
          <p:nvPr/>
        </p:nvSpPr>
        <p:spPr>
          <a:xfrm>
            <a:off x="0" y="6300720"/>
            <a:ext cx="231588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7</a:t>
            </a:r>
            <a:r>
              <a:rPr lang="zh-CN" sz="2400" b="0" u="none" strike="noStrike">
                <a:solidFill>
                  <a:srgbClr val="d9d9d9"/>
                </a:solidFill>
                <a:effectLst/>
                <a:uFillTx/>
                <a:latin typeface="Bodoni MT Black"/>
                <a:ea typeface="宋体"/>
              </a:rPr>
              <a:t>章　实现</a:t>
            </a:r>
            <a:endParaRPr lang="en-US" sz="2400" b="0" u="none" strike="noStrike">
              <a:solidFill>
                <a:srgbClr val="000000"/>
              </a:solidFill>
              <a:effectLst/>
              <a:uFillTx/>
              <a:latin typeface="Arial"/>
            </a:endParaRPr>
          </a:p>
        </p:txBody>
      </p:sp>
      <p:sp>
        <p:nvSpPr>
          <p:cNvPr id="368" name="矩形 12"/>
          <p:cNvSpPr/>
          <p:nvPr/>
        </p:nvSpPr>
        <p:spPr>
          <a:xfrm>
            <a:off x="827640" y="324972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369" name="等腰三角形 13"/>
          <p:cNvSpPr/>
          <p:nvPr/>
        </p:nvSpPr>
        <p:spPr>
          <a:xfrm rot="5400000">
            <a:off x="336240" y="3336120"/>
            <a:ext cx="537840" cy="4312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title"/>
          </p:nvPr>
        </p:nvSpPr>
        <p:spPr>
          <a:xfrm>
            <a:off x="457200" y="54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7.5 </a:t>
            </a:r>
            <a:r>
              <a:rPr lang="zh-CN" sz="4400" b="1" u="none" strike="noStrike">
                <a:solidFill>
                  <a:schemeClr val="dk1"/>
                </a:solidFill>
                <a:effectLst/>
                <a:uFillTx/>
                <a:latin typeface="Bodoni MT Black"/>
              </a:rPr>
              <a:t>确认测试</a:t>
            </a:r>
            <a:endParaRPr lang="es-ES" sz="4400" b="0" u="none" strike="noStrike">
              <a:solidFill>
                <a:schemeClr val="dk1"/>
              </a:solidFill>
              <a:effectLst/>
              <a:uFillTx/>
              <a:latin typeface="Arial"/>
            </a:endParaRPr>
          </a:p>
        </p:txBody>
      </p:sp>
      <p:sp>
        <p:nvSpPr>
          <p:cNvPr id="371" name="PlaceHolder 2"/>
          <p:cNvSpPr>
            <a:spLocks noGrp="1"/>
          </p:cNvSpPr>
          <p:nvPr>
            <p:ph/>
          </p:nvPr>
        </p:nvSpPr>
        <p:spPr>
          <a:xfrm>
            <a:off x="323640" y="1268640"/>
            <a:ext cx="8496720" cy="4679640"/>
          </a:xfrm>
          <a:prstGeom prst="rect">
            <a:avLst/>
          </a:prstGeom>
          <a:noFill/>
          <a:ln w="9360">
            <a:noFill/>
          </a:ln>
        </p:spPr>
        <p:txBody>
          <a:bodyPr numCol="1" spcCol="0" lIns="91440" rIns="91440" tIns="45720" bIns="45720" anchor="t">
            <a:noAutofit/>
          </a:bodyPr>
          <a:p>
            <a:pPr marL="343080" indent="-343080">
              <a:lnSpc>
                <a:spcPct val="125000"/>
              </a:lnSpc>
              <a:buClr>
                <a:srgbClr val="c00000"/>
              </a:buClr>
              <a:buFont typeface="Wingdings" charset="2"/>
              <a:buChar char=""/>
            </a:pPr>
            <a:r>
              <a:rPr lang="zh-CN" sz="2400" b="1" u="none" strike="noStrike">
                <a:solidFill>
                  <a:srgbClr val="c00000"/>
                </a:solidFill>
                <a:effectLst/>
                <a:uFillTx/>
                <a:latin typeface="Bodoni MT Black"/>
              </a:rPr>
              <a:t>确认测试</a:t>
            </a:r>
            <a:r>
              <a:rPr lang="zh-CN" sz="2400" b="0" u="none" strike="noStrike">
                <a:solidFill>
                  <a:schemeClr val="dk1"/>
                </a:solidFill>
                <a:effectLst/>
                <a:uFillTx/>
                <a:latin typeface="Bodoni MT Black"/>
              </a:rPr>
              <a:t>也称为</a:t>
            </a:r>
            <a:r>
              <a:rPr lang="zh-CN" sz="2400" b="0" u="none" strike="noStrike">
                <a:solidFill>
                  <a:srgbClr val="ff0000"/>
                </a:solidFill>
                <a:effectLst/>
                <a:uFillTx/>
                <a:latin typeface="Bodoni MT Black"/>
              </a:rPr>
              <a:t>验收测试</a:t>
            </a:r>
            <a:r>
              <a:rPr lang="zh-CN" sz="2400" b="0" u="none" strike="noStrike">
                <a:solidFill>
                  <a:schemeClr val="dk1"/>
                </a:solidFill>
                <a:effectLst/>
                <a:uFillTx/>
                <a:latin typeface="Bodoni MT Black"/>
              </a:rPr>
              <a:t>，它的目标是</a:t>
            </a:r>
            <a:r>
              <a:rPr lang="zh-CN" sz="2400" b="0" u="none" strike="noStrike">
                <a:solidFill>
                  <a:srgbClr val="ff0000"/>
                </a:solidFill>
                <a:effectLst/>
                <a:uFillTx/>
                <a:latin typeface="Bodoni MT Black"/>
              </a:rPr>
              <a:t>验证软件的有效性</a:t>
            </a:r>
            <a:r>
              <a:rPr lang="zh-CN" sz="2400" b="0" u="none" strike="noStrike">
                <a:solidFill>
                  <a:schemeClr val="dk1"/>
                </a:solidFill>
                <a:effectLst/>
                <a:uFillTx/>
                <a:latin typeface="Bodoni MT Black"/>
              </a:rPr>
              <a:t>。</a:t>
            </a:r>
            <a:r>
              <a:rPr lang="zh-CN" sz="2400" b="1" u="none" strike="noStrike">
                <a:solidFill>
                  <a:srgbClr val="c00000"/>
                </a:solidFill>
                <a:effectLst/>
                <a:uFillTx/>
                <a:latin typeface="Bodoni MT Black"/>
              </a:rPr>
              <a:t>验证</a:t>
            </a:r>
            <a:r>
              <a:rPr lang="zh-CN" sz="2400" b="0" u="none" strike="noStrike">
                <a:solidFill>
                  <a:schemeClr val="dk1"/>
                </a:solidFill>
                <a:effectLst/>
                <a:uFillTx/>
                <a:latin typeface="Bodoni MT Black"/>
              </a:rPr>
              <a:t>指的是保证软件</a:t>
            </a:r>
            <a:r>
              <a:rPr lang="zh-CN" sz="2400" b="0" u="none" strike="noStrike">
                <a:solidFill>
                  <a:srgbClr val="ff0000"/>
                </a:solidFill>
                <a:effectLst/>
                <a:uFillTx/>
                <a:latin typeface="Bodoni MT Black"/>
              </a:rPr>
              <a:t>正确实现某个特定要求</a:t>
            </a:r>
            <a:r>
              <a:rPr lang="zh-CN" sz="2400" b="0" u="none" strike="noStrike">
                <a:solidFill>
                  <a:schemeClr val="dk1"/>
                </a:solidFill>
                <a:effectLst/>
                <a:uFillTx/>
                <a:latin typeface="Bodoni MT Black"/>
              </a:rPr>
              <a:t>的一系列活动；</a:t>
            </a:r>
            <a:r>
              <a:rPr lang="zh-CN" sz="2400" b="1" u="none" strike="noStrike">
                <a:solidFill>
                  <a:srgbClr val="c00000"/>
                </a:solidFill>
                <a:effectLst/>
                <a:uFillTx/>
                <a:latin typeface="Bodoni MT Black"/>
              </a:rPr>
              <a:t>确认</a:t>
            </a:r>
            <a:r>
              <a:rPr lang="zh-CN" sz="2400" b="0" u="none" strike="noStrike">
                <a:solidFill>
                  <a:schemeClr val="dk1"/>
                </a:solidFill>
                <a:effectLst/>
                <a:uFillTx/>
                <a:latin typeface="Bodoni MT Black"/>
              </a:rPr>
              <a:t>指的是为了保证软件确实</a:t>
            </a:r>
            <a:r>
              <a:rPr lang="zh-CN" sz="2400" b="0" u="none" strike="noStrike">
                <a:solidFill>
                  <a:srgbClr val="ff0000"/>
                </a:solidFill>
                <a:effectLst/>
                <a:uFillTx/>
                <a:latin typeface="Bodoni MT Black"/>
              </a:rPr>
              <a:t>满足了用户需求</a:t>
            </a:r>
            <a:r>
              <a:rPr lang="zh-CN" sz="2400" b="0" u="none" strike="noStrike">
                <a:solidFill>
                  <a:schemeClr val="dk1"/>
                </a:solidFill>
                <a:effectLst/>
                <a:uFillTx/>
                <a:latin typeface="Bodoni MT Black"/>
              </a:rPr>
              <a:t>而进行的一系列活动。</a:t>
            </a:r>
            <a:endParaRPr lang="es-ES" sz="2400" b="0" u="none" strike="noStrike">
              <a:solidFill>
                <a:schemeClr val="dk1"/>
              </a:solidFill>
              <a:effectLst/>
              <a:uFillTx/>
              <a:latin typeface="Calibri"/>
            </a:endParaRPr>
          </a:p>
          <a:p>
            <a:pPr marL="343080" indent="-343080">
              <a:lnSpc>
                <a:spcPct val="125000"/>
              </a:lnSpc>
              <a:buClr>
                <a:srgbClr val="c00000"/>
              </a:buClr>
              <a:buFont typeface="Wingdings" charset="2"/>
              <a:buChar char=""/>
            </a:pPr>
            <a:r>
              <a:rPr lang="zh-CN" sz="2400" b="1" u="none" strike="noStrike">
                <a:solidFill>
                  <a:srgbClr val="c00000"/>
                </a:solidFill>
                <a:effectLst/>
                <a:uFillTx/>
                <a:latin typeface="Bodoni MT Black"/>
              </a:rPr>
              <a:t>软件有效性</a:t>
            </a:r>
            <a:r>
              <a:rPr lang="zh-CN" sz="2400" b="0" u="none" strike="noStrike">
                <a:solidFill>
                  <a:schemeClr val="dk1"/>
                </a:solidFill>
                <a:effectLst/>
                <a:uFillTx/>
                <a:latin typeface="Bodoni MT Black"/>
              </a:rPr>
              <a:t>的简单定义：如果软件的功能和性能如同用户所合理期待的那样，软件就是有效的。</a:t>
            </a:r>
            <a:endParaRPr lang="es-ES" sz="2400" b="0" u="none" strike="noStrike">
              <a:solidFill>
                <a:schemeClr val="dk1"/>
              </a:solidFill>
              <a:effectLst/>
              <a:uFillTx/>
              <a:latin typeface="Calibri"/>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rPr>
              <a:t>需求分析阶段产生的</a:t>
            </a:r>
            <a:r>
              <a:rPr lang="zh-CN" sz="2400" b="0" u="none" strike="noStrike">
                <a:solidFill>
                  <a:srgbClr val="ff0000"/>
                </a:solidFill>
                <a:effectLst/>
                <a:uFillTx/>
                <a:latin typeface="Bodoni MT Black"/>
              </a:rPr>
              <a:t>软件需求规格说明书</a:t>
            </a:r>
            <a:r>
              <a:rPr lang="zh-CN" sz="2400" b="0" u="none" strike="noStrike">
                <a:solidFill>
                  <a:schemeClr val="dk1"/>
                </a:solidFill>
                <a:effectLst/>
                <a:uFillTx/>
                <a:latin typeface="Bodoni MT Black"/>
              </a:rPr>
              <a:t>，准确地描述了用户对软件的合理期望，因此是软件有效性的标准，也是进行确认测试的基础。</a:t>
            </a:r>
            <a:endParaRPr lang="es-ES" sz="2400" b="0" u="none" strike="noStrike">
              <a:solidFill>
                <a:schemeClr val="dk1"/>
              </a:solidFill>
              <a:effectLst/>
              <a:uFillTx/>
              <a:latin typeface="Calibri"/>
            </a:endParaRPr>
          </a:p>
        </p:txBody>
      </p:sp>
      <p:sp>
        <p:nvSpPr>
          <p:cNvPr id="372"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7.5 </a:t>
            </a:r>
            <a:r>
              <a:rPr lang="zh-CN" sz="2400" b="0" u="none" strike="noStrike">
                <a:solidFill>
                  <a:srgbClr val="d9d9d9"/>
                </a:solidFill>
                <a:effectLst/>
                <a:uFillTx/>
                <a:latin typeface="Bodoni MT Black"/>
                <a:ea typeface="宋体"/>
              </a:rPr>
              <a:t>确认测试</a:t>
            </a:r>
            <a:endParaRPr lang="en-US" sz="2400" b="0" u="none" strike="noStrike">
              <a:solidFill>
                <a:srgbClr val="000000"/>
              </a:solidFill>
              <a:effectLst/>
              <a:uFillTx/>
              <a:latin typeface="Arial"/>
            </a:endParaRPr>
          </a:p>
        </p:txBody>
      </p:sp>
      <p:sp>
        <p:nvSpPr>
          <p:cNvPr id="373" name="1 Título"/>
          <p:cNvSpPr/>
          <p:nvPr/>
        </p:nvSpPr>
        <p:spPr>
          <a:xfrm>
            <a:off x="0" y="6300720"/>
            <a:ext cx="231588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7</a:t>
            </a:r>
            <a:r>
              <a:rPr lang="zh-CN" sz="2400" b="0" u="none" strike="noStrike">
                <a:solidFill>
                  <a:srgbClr val="d9d9d9"/>
                </a:solidFill>
                <a:effectLst/>
                <a:uFillTx/>
                <a:latin typeface="Bodoni MT Black"/>
                <a:ea typeface="宋体"/>
              </a:rPr>
              <a:t>章　实现</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7.5 </a:t>
            </a:r>
            <a:r>
              <a:rPr lang="zh-CN" sz="4400" b="1" u="none" strike="noStrike">
                <a:solidFill>
                  <a:schemeClr val="dk1"/>
                </a:solidFill>
                <a:effectLst/>
                <a:uFillTx/>
                <a:latin typeface="Bodoni MT Black"/>
              </a:rPr>
              <a:t>确认测试</a:t>
            </a:r>
            <a:endParaRPr lang="es-ES" sz="4400" b="0" u="none" strike="noStrike">
              <a:solidFill>
                <a:schemeClr val="dk1"/>
              </a:solidFill>
              <a:effectLst/>
              <a:uFillTx/>
              <a:latin typeface="Arial"/>
            </a:endParaRPr>
          </a:p>
        </p:txBody>
      </p:sp>
      <p:sp>
        <p:nvSpPr>
          <p:cNvPr id="375" name="PlaceHolder 2"/>
          <p:cNvSpPr>
            <a:spLocks noGrp="1"/>
          </p:cNvSpPr>
          <p:nvPr>
            <p:ph/>
          </p:nvPr>
        </p:nvSpPr>
        <p:spPr>
          <a:xfrm>
            <a:off x="395280" y="98100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7.5.1 </a:t>
            </a:r>
            <a:r>
              <a:rPr lang="zh-CN" sz="3200" b="1" u="none" strike="noStrike">
                <a:solidFill>
                  <a:schemeClr val="dk1"/>
                </a:solidFill>
                <a:effectLst/>
                <a:uFillTx/>
                <a:latin typeface="Bodoni MT Black"/>
              </a:rPr>
              <a:t>确认测试的范围</a:t>
            </a:r>
            <a:endParaRPr lang="es-ES" sz="3200" b="0" u="none" strike="noStrike">
              <a:solidFill>
                <a:schemeClr val="dk1"/>
              </a:solidFill>
              <a:effectLst/>
              <a:uFillTx/>
              <a:latin typeface="Calibri"/>
            </a:endParaRPr>
          </a:p>
        </p:txBody>
      </p:sp>
      <p:sp>
        <p:nvSpPr>
          <p:cNvPr id="376" name="TextBox 7"/>
          <p:cNvSpPr/>
          <p:nvPr/>
        </p:nvSpPr>
        <p:spPr>
          <a:xfrm>
            <a:off x="251640" y="1484640"/>
            <a:ext cx="8650800" cy="47088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rPr>
              <a:t>确认测试必须以</a:t>
            </a:r>
            <a:r>
              <a:rPr lang="zh-CN" sz="2400" b="0" u="none" strike="noStrike">
                <a:solidFill>
                  <a:srgbClr val="ff0000"/>
                </a:solidFill>
                <a:effectLst/>
                <a:uFillTx/>
                <a:latin typeface="Bodoni MT Black"/>
              </a:rPr>
              <a:t>用户</a:t>
            </a:r>
            <a:r>
              <a:rPr lang="zh-CN" sz="2400" b="0" u="none" strike="noStrike">
                <a:solidFill>
                  <a:schemeClr val="dk1"/>
                </a:solidFill>
                <a:effectLst/>
                <a:uFillTx/>
                <a:latin typeface="Bodoni MT Black"/>
              </a:rPr>
              <a:t>为主进行，用户应参与设计测试方案，使用</a:t>
            </a:r>
            <a:r>
              <a:rPr lang="zh-CN" sz="2400" b="0" u="none" strike="noStrike">
                <a:solidFill>
                  <a:srgbClr val="ff0000"/>
                </a:solidFill>
                <a:effectLst/>
                <a:uFillTx/>
                <a:latin typeface="Bodoni MT Black"/>
              </a:rPr>
              <a:t>用户界面</a:t>
            </a:r>
            <a:r>
              <a:rPr lang="zh-CN" sz="2400" b="0" u="none" strike="noStrike">
                <a:solidFill>
                  <a:schemeClr val="dk1"/>
                </a:solidFill>
                <a:effectLst/>
                <a:uFillTx/>
                <a:latin typeface="Bodoni MT Black"/>
              </a:rPr>
              <a:t>输入测试数据并且分析评价测试的输出结果。</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rPr>
              <a:t>确认测试通常使用</a:t>
            </a:r>
            <a:r>
              <a:rPr lang="zh-CN" sz="2400" b="0" u="none" strike="noStrike">
                <a:solidFill>
                  <a:srgbClr val="ff0000"/>
                </a:solidFill>
                <a:effectLst/>
                <a:uFillTx/>
                <a:latin typeface="Bodoni MT Black"/>
              </a:rPr>
              <a:t>黑盒测试法</a:t>
            </a:r>
            <a:r>
              <a:rPr lang="zh-CN" sz="2400" b="0" u="none" strike="noStrike">
                <a:solidFill>
                  <a:schemeClr val="dk1"/>
                </a:solidFill>
                <a:effectLst/>
                <a:uFillTx/>
                <a:latin typeface="Bodoni MT Black"/>
              </a:rPr>
              <a:t>。应该仔细设计</a:t>
            </a:r>
            <a:r>
              <a:rPr lang="zh-CN" sz="2400" b="0" u="none" strike="noStrike">
                <a:solidFill>
                  <a:srgbClr val="ff0000"/>
                </a:solidFill>
                <a:effectLst/>
                <a:uFillTx/>
                <a:latin typeface="Bodoni MT Black"/>
              </a:rPr>
              <a:t>测试计划</a:t>
            </a:r>
            <a:r>
              <a:rPr lang="zh-CN" sz="2400" b="0" u="none" strike="noStrike">
                <a:solidFill>
                  <a:schemeClr val="dk1"/>
                </a:solidFill>
                <a:effectLst/>
                <a:uFillTx/>
                <a:latin typeface="Bodoni MT Black"/>
              </a:rPr>
              <a:t>和</a:t>
            </a:r>
            <a:r>
              <a:rPr lang="zh-CN" sz="2400" b="0" u="none" strike="noStrike">
                <a:solidFill>
                  <a:srgbClr val="ff0000"/>
                </a:solidFill>
                <a:effectLst/>
                <a:uFillTx/>
                <a:latin typeface="Bodoni MT Black"/>
              </a:rPr>
              <a:t>测试过程</a:t>
            </a:r>
            <a:r>
              <a:rPr lang="zh-CN" sz="2400" b="0" u="none" strike="noStrike">
                <a:solidFill>
                  <a:schemeClr val="dk1"/>
                </a:solidFill>
                <a:effectLst/>
                <a:uFillTx/>
                <a:latin typeface="Bodoni MT Black"/>
              </a:rPr>
              <a:t>，测试计划包括要进行的测试的种类及进度安排，测试过程规定了用来检测软件是否与需求一致的测试方案。</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rPr>
              <a:t>通过测试和调试保证软件能满足所有</a:t>
            </a:r>
            <a:r>
              <a:rPr lang="zh-CN" sz="2400" b="0" u="none" strike="noStrike">
                <a:solidFill>
                  <a:srgbClr val="ff0000"/>
                </a:solidFill>
                <a:effectLst/>
                <a:uFillTx/>
                <a:latin typeface="Bodoni MT Black"/>
              </a:rPr>
              <a:t>功能要求</a:t>
            </a:r>
            <a:r>
              <a:rPr lang="zh-CN" sz="2400" b="0" u="none" strike="noStrike">
                <a:solidFill>
                  <a:schemeClr val="dk1"/>
                </a:solidFill>
                <a:effectLst/>
                <a:uFillTx/>
                <a:latin typeface="Bodoni MT Black"/>
              </a:rPr>
              <a:t>，能达到每个</a:t>
            </a:r>
            <a:r>
              <a:rPr lang="zh-CN" sz="2400" b="0" u="none" strike="noStrike">
                <a:solidFill>
                  <a:srgbClr val="ff0000"/>
                </a:solidFill>
                <a:effectLst/>
                <a:uFillTx/>
                <a:latin typeface="Bodoni MT Black"/>
              </a:rPr>
              <a:t>性能要求</a:t>
            </a:r>
            <a:r>
              <a:rPr lang="zh-CN" sz="2400" b="0" u="none" strike="noStrike">
                <a:solidFill>
                  <a:schemeClr val="dk1"/>
                </a:solidFill>
                <a:effectLst/>
                <a:uFillTx/>
                <a:latin typeface="Bodoni MT Black"/>
              </a:rPr>
              <a:t>，</a:t>
            </a:r>
            <a:r>
              <a:rPr lang="zh-CN" sz="2400" b="0" u="none" strike="noStrike">
                <a:solidFill>
                  <a:srgbClr val="ff0000"/>
                </a:solidFill>
                <a:effectLst/>
                <a:uFillTx/>
                <a:latin typeface="Bodoni MT Black"/>
              </a:rPr>
              <a:t>文档资料</a:t>
            </a:r>
            <a:r>
              <a:rPr lang="zh-CN" sz="2400" b="0" u="none" strike="noStrike">
                <a:solidFill>
                  <a:schemeClr val="dk1"/>
                </a:solidFill>
                <a:effectLst/>
                <a:uFillTx/>
                <a:latin typeface="Bodoni MT Black"/>
              </a:rPr>
              <a:t>是准确而完整的，还应保证软件能满足</a:t>
            </a:r>
            <a:r>
              <a:rPr lang="zh-CN" sz="2400" b="0" u="none" strike="noStrike">
                <a:solidFill>
                  <a:srgbClr val="ff0000"/>
                </a:solidFill>
                <a:effectLst/>
                <a:uFillTx/>
                <a:latin typeface="Bodoni MT Black"/>
              </a:rPr>
              <a:t>其他预定要求</a:t>
            </a:r>
            <a:r>
              <a:rPr lang="zh-CN" sz="2400" b="0" u="none" strike="noStrike">
                <a:solidFill>
                  <a:schemeClr val="dk1"/>
                </a:solidFill>
                <a:effectLst/>
                <a:uFillTx/>
                <a:latin typeface="Bodoni MT Black"/>
              </a:rPr>
              <a:t>（安全性、可移植性、兼容性和可维护性等）。</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rPr>
              <a:t>确认测试有</a:t>
            </a:r>
            <a:r>
              <a:rPr lang="zh-CN" sz="2400" b="0" u="none" strike="noStrike">
                <a:solidFill>
                  <a:srgbClr val="ff0000"/>
                </a:solidFill>
                <a:effectLst/>
                <a:uFillTx/>
                <a:latin typeface="Bodoni MT Black"/>
              </a:rPr>
              <a:t>两</a:t>
            </a:r>
            <a:r>
              <a:rPr lang="zh-CN" sz="2400" b="0" u="none" strike="noStrike">
                <a:solidFill>
                  <a:schemeClr val="dk1"/>
                </a:solidFill>
                <a:effectLst/>
                <a:uFillTx/>
                <a:latin typeface="Bodoni MT Black"/>
              </a:rPr>
              <a:t>种可能的结果：① 功能和性能与用户要求一致，软件是可以接受的。②</a:t>
            </a:r>
            <a:r>
              <a:rPr lang="en-US" sz="2400" b="0" u="none" strike="noStrike">
                <a:solidFill>
                  <a:schemeClr val="dk1"/>
                </a:solidFill>
                <a:effectLst/>
                <a:uFillTx/>
                <a:latin typeface="Bodoni MT Black"/>
              </a:rPr>
              <a:t> 功能和性能与用户要求有差距。</a:t>
            </a:r>
            <a:endParaRPr lang="en-US" sz="2400" b="0" u="none" strike="noStrike">
              <a:solidFill>
                <a:srgbClr val="000000"/>
              </a:solidFill>
              <a:effectLst/>
              <a:uFillTx/>
              <a:latin typeface="Arial"/>
            </a:endParaRPr>
          </a:p>
        </p:txBody>
      </p:sp>
      <p:sp>
        <p:nvSpPr>
          <p:cNvPr id="377"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378"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7.5.1 </a:t>
            </a:r>
            <a:r>
              <a:rPr lang="zh-CN" sz="2400" b="0" u="none" strike="noStrike">
                <a:solidFill>
                  <a:srgbClr val="d9d9d9"/>
                </a:solidFill>
                <a:effectLst/>
                <a:uFillTx/>
                <a:latin typeface="Bodoni MT Black"/>
              </a:rPr>
              <a:t>确认测试的范围</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7.5 </a:t>
            </a:r>
            <a:r>
              <a:rPr lang="zh-CN" sz="4400" b="1" u="none" strike="noStrike">
                <a:solidFill>
                  <a:schemeClr val="dk1"/>
                </a:solidFill>
                <a:effectLst/>
                <a:uFillTx/>
                <a:latin typeface="Bodoni MT Black"/>
              </a:rPr>
              <a:t>确认测试</a:t>
            </a:r>
            <a:endParaRPr lang="es-ES" sz="4400" b="0" u="none" strike="noStrike">
              <a:solidFill>
                <a:schemeClr val="dk1"/>
              </a:solidFill>
              <a:effectLst/>
              <a:uFillTx/>
              <a:latin typeface="Arial"/>
            </a:endParaRPr>
          </a:p>
        </p:txBody>
      </p:sp>
      <p:sp>
        <p:nvSpPr>
          <p:cNvPr id="380" name="PlaceHolder 2"/>
          <p:cNvSpPr>
            <a:spLocks noGrp="1"/>
          </p:cNvSpPr>
          <p:nvPr>
            <p:ph/>
          </p:nvPr>
        </p:nvSpPr>
        <p:spPr>
          <a:xfrm>
            <a:off x="395280" y="109548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7.5.2 </a:t>
            </a:r>
            <a:r>
              <a:rPr lang="zh-CN" sz="3200" b="1" u="none" strike="noStrike">
                <a:solidFill>
                  <a:schemeClr val="dk1"/>
                </a:solidFill>
                <a:effectLst/>
                <a:uFillTx/>
                <a:latin typeface="Bodoni MT Black"/>
              </a:rPr>
              <a:t>软件配置复查</a:t>
            </a:r>
            <a:endParaRPr lang="es-ES" sz="3200" b="0" u="none" strike="noStrike">
              <a:solidFill>
                <a:schemeClr val="dk1"/>
              </a:solidFill>
              <a:effectLst/>
              <a:uFillTx/>
              <a:latin typeface="Calibri"/>
            </a:endParaRPr>
          </a:p>
        </p:txBody>
      </p:sp>
      <p:sp>
        <p:nvSpPr>
          <p:cNvPr id="381" name="TextBox 7"/>
          <p:cNvSpPr/>
          <p:nvPr/>
        </p:nvSpPr>
        <p:spPr>
          <a:xfrm>
            <a:off x="251640" y="1845000"/>
            <a:ext cx="8434800" cy="37854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400" b="1" u="none" strike="noStrike">
                <a:solidFill>
                  <a:srgbClr val="c00000"/>
                </a:solidFill>
                <a:effectLst/>
                <a:uFillTx/>
                <a:latin typeface="Bodoni MT Black"/>
                <a:ea typeface="宋体"/>
              </a:rPr>
              <a:t>软件配置复查</a:t>
            </a:r>
            <a:r>
              <a:rPr lang="zh-CN" sz="2400" b="0" u="none" strike="noStrike">
                <a:solidFill>
                  <a:schemeClr val="dk1"/>
                </a:solidFill>
                <a:effectLst/>
                <a:uFillTx/>
                <a:latin typeface="Bodoni MT Black"/>
                <a:ea typeface="宋体"/>
              </a:rPr>
              <a:t>是确认测试的一个重要内容。复查的目的是</a:t>
            </a:r>
            <a:r>
              <a:rPr lang="zh-CN" sz="2400" b="0" u="none" strike="noStrike">
                <a:solidFill>
                  <a:srgbClr val="0070c0"/>
                </a:solidFill>
                <a:effectLst/>
                <a:uFillTx/>
                <a:latin typeface="Bodoni MT Black"/>
                <a:ea typeface="宋体"/>
              </a:rPr>
              <a:t>保证软件配置（含测试配置）的所有成分都齐全，质量符合要求，文档与程序完全一致，具有完成软件维护所必须的细节，而且已经编好目录。</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ea typeface="宋体"/>
              </a:rPr>
              <a:t>除了按合同规定的内容和要求，由人工审查软件配置之外，在确认测试过程中还应该严格遵循</a:t>
            </a:r>
            <a:r>
              <a:rPr lang="zh-CN" sz="2400" b="0" u="none" strike="noStrike">
                <a:solidFill>
                  <a:srgbClr val="ff0000"/>
                </a:solidFill>
                <a:effectLst/>
                <a:uFillTx/>
                <a:latin typeface="Bodoni MT Black"/>
                <a:ea typeface="宋体"/>
              </a:rPr>
              <a:t>用户指南</a:t>
            </a:r>
            <a:r>
              <a:rPr lang="zh-CN" sz="2400" b="0" u="none" strike="noStrike">
                <a:solidFill>
                  <a:schemeClr val="dk1"/>
                </a:solidFill>
                <a:effectLst/>
                <a:uFillTx/>
                <a:latin typeface="Bodoni MT Black"/>
                <a:ea typeface="宋体"/>
              </a:rPr>
              <a:t>及</a:t>
            </a:r>
            <a:r>
              <a:rPr lang="zh-CN" sz="2400" b="0" u="none" strike="noStrike">
                <a:solidFill>
                  <a:srgbClr val="ff0000"/>
                </a:solidFill>
                <a:effectLst/>
                <a:uFillTx/>
                <a:latin typeface="Bodoni MT Black"/>
                <a:ea typeface="宋体"/>
              </a:rPr>
              <a:t>其他操作程序</a:t>
            </a:r>
            <a:r>
              <a:rPr lang="zh-CN" sz="2400" b="0" u="none" strike="noStrike">
                <a:solidFill>
                  <a:schemeClr val="dk1"/>
                </a:solidFill>
                <a:effectLst/>
                <a:uFillTx/>
                <a:latin typeface="Bodoni MT Black"/>
                <a:ea typeface="宋体"/>
              </a:rPr>
              <a:t>，以便检验这些使用手册的</a:t>
            </a:r>
            <a:r>
              <a:rPr lang="zh-CN" sz="2400" b="0" u="none" strike="noStrike">
                <a:solidFill>
                  <a:srgbClr val="ff0000"/>
                </a:solidFill>
                <a:effectLst/>
                <a:uFillTx/>
                <a:latin typeface="Bodoni MT Black"/>
                <a:ea typeface="宋体"/>
              </a:rPr>
              <a:t>完整性</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正确性</a:t>
            </a:r>
            <a:r>
              <a:rPr lang="zh-CN" sz="2400" b="0" u="none" strike="noStrike">
                <a:solidFill>
                  <a:schemeClr val="dk1"/>
                </a:solidFill>
                <a:effectLst/>
                <a:uFillTx/>
                <a:latin typeface="Bodoni MT Black"/>
                <a:ea typeface="宋体"/>
              </a:rPr>
              <a:t>。必须仔细记录发现的遗漏或错误，并且适当地补充和改正。</a:t>
            </a:r>
            <a:endParaRPr lang="en-US" sz="2400" b="0" u="none" strike="noStrike">
              <a:solidFill>
                <a:srgbClr val="000000"/>
              </a:solidFill>
              <a:effectLst/>
              <a:uFillTx/>
              <a:latin typeface="Arial"/>
            </a:endParaRPr>
          </a:p>
        </p:txBody>
      </p:sp>
      <p:sp>
        <p:nvSpPr>
          <p:cNvPr id="382"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383"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7.5.2 </a:t>
            </a:r>
            <a:r>
              <a:rPr lang="zh-CN" sz="2400" b="0" u="none" strike="noStrike">
                <a:solidFill>
                  <a:srgbClr val="d9d9d9"/>
                </a:solidFill>
                <a:effectLst/>
                <a:uFillTx/>
                <a:latin typeface="Bodoni MT Black"/>
              </a:rPr>
              <a:t>软件配置复查</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7.5 </a:t>
            </a:r>
            <a:r>
              <a:rPr lang="zh-CN" sz="4400" b="1" u="none" strike="noStrike">
                <a:solidFill>
                  <a:schemeClr val="dk1"/>
                </a:solidFill>
                <a:effectLst/>
                <a:uFillTx/>
                <a:latin typeface="Bodoni MT Black"/>
              </a:rPr>
              <a:t>确认测试</a:t>
            </a:r>
            <a:endParaRPr lang="es-ES" sz="4400" b="0" u="none" strike="noStrike">
              <a:solidFill>
                <a:schemeClr val="dk1"/>
              </a:solidFill>
              <a:effectLst/>
              <a:uFillTx/>
              <a:latin typeface="Arial"/>
            </a:endParaRPr>
          </a:p>
        </p:txBody>
      </p:sp>
      <p:sp>
        <p:nvSpPr>
          <p:cNvPr id="385" name="PlaceHolder 2"/>
          <p:cNvSpPr>
            <a:spLocks noGrp="1"/>
          </p:cNvSpPr>
          <p:nvPr>
            <p:ph/>
          </p:nvPr>
        </p:nvSpPr>
        <p:spPr>
          <a:xfrm>
            <a:off x="395280" y="98100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7.5.3 Alpha</a:t>
            </a:r>
            <a:r>
              <a:rPr lang="zh-CN" sz="3200" b="1" u="none" strike="noStrike">
                <a:solidFill>
                  <a:schemeClr val="dk1"/>
                </a:solidFill>
                <a:effectLst/>
                <a:uFillTx/>
                <a:latin typeface="Bodoni MT Black"/>
              </a:rPr>
              <a:t>和</a:t>
            </a:r>
            <a:r>
              <a:rPr lang="en-US" sz="3200" b="1" u="none" strike="noStrike">
                <a:solidFill>
                  <a:schemeClr val="dk1"/>
                </a:solidFill>
                <a:effectLst/>
                <a:uFillTx/>
                <a:latin typeface="Bodoni MT Black"/>
              </a:rPr>
              <a:t>Beta</a:t>
            </a:r>
            <a:r>
              <a:rPr lang="zh-CN" sz="3200" b="1" u="none" strike="noStrike">
                <a:solidFill>
                  <a:schemeClr val="dk1"/>
                </a:solidFill>
                <a:effectLst/>
                <a:uFillTx/>
                <a:latin typeface="Bodoni MT Black"/>
              </a:rPr>
              <a:t>测试</a:t>
            </a:r>
            <a:endParaRPr lang="es-ES" sz="3200" b="0" u="none" strike="noStrike">
              <a:solidFill>
                <a:schemeClr val="dk1"/>
              </a:solidFill>
              <a:effectLst/>
              <a:uFillTx/>
              <a:latin typeface="Calibri"/>
            </a:endParaRPr>
          </a:p>
        </p:txBody>
      </p:sp>
      <p:sp>
        <p:nvSpPr>
          <p:cNvPr id="386" name="TextBox 7"/>
          <p:cNvSpPr/>
          <p:nvPr/>
        </p:nvSpPr>
        <p:spPr>
          <a:xfrm>
            <a:off x="225720" y="1628640"/>
            <a:ext cx="8738640" cy="42469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0" u="none" strike="noStrike">
                <a:solidFill>
                  <a:schemeClr val="dk1"/>
                </a:solidFill>
                <a:effectLst/>
                <a:uFillTx/>
                <a:latin typeface="Bodoni MT Black"/>
              </a:rPr>
              <a:t>     若软件是为许多客户开发的（向大众公开出售的盒装软件产品），则绝大多数软件开发商都使用</a:t>
            </a:r>
            <a:r>
              <a:rPr lang="en-US" sz="2400" b="1" u="none" strike="noStrike">
                <a:solidFill>
                  <a:srgbClr val="c00000"/>
                </a:solidFill>
                <a:effectLst/>
                <a:uFillTx/>
                <a:latin typeface="Bodoni MT Black"/>
              </a:rPr>
              <a:t>Alpha</a:t>
            </a:r>
            <a:r>
              <a:rPr lang="zh-CN" sz="2400" b="1" u="none" strike="noStrike">
                <a:solidFill>
                  <a:srgbClr val="c00000"/>
                </a:solidFill>
                <a:effectLst/>
                <a:uFillTx/>
                <a:latin typeface="Bodoni MT Black"/>
              </a:rPr>
              <a:t>测试</a:t>
            </a:r>
            <a:r>
              <a:rPr lang="zh-CN" sz="2400" b="0" u="none" strike="noStrike">
                <a:solidFill>
                  <a:schemeClr val="dk1"/>
                </a:solidFill>
                <a:effectLst/>
                <a:uFillTx/>
                <a:latin typeface="Bodoni MT Black"/>
              </a:rPr>
              <a:t>和</a:t>
            </a:r>
            <a:r>
              <a:rPr lang="en-US" sz="2400" b="1" u="none" strike="noStrike">
                <a:solidFill>
                  <a:srgbClr val="c00000"/>
                </a:solidFill>
                <a:effectLst/>
                <a:uFillTx/>
                <a:latin typeface="Bodoni MT Black"/>
              </a:rPr>
              <a:t>Beta</a:t>
            </a:r>
            <a:r>
              <a:rPr lang="zh-CN" sz="2400" b="1" u="none" strike="noStrike">
                <a:solidFill>
                  <a:srgbClr val="c00000"/>
                </a:solidFill>
                <a:effectLst/>
                <a:uFillTx/>
                <a:latin typeface="Bodoni MT Black"/>
              </a:rPr>
              <a:t>测试</a:t>
            </a:r>
            <a:r>
              <a:rPr lang="zh-CN" sz="2400" b="0" u="none" strike="noStrike">
                <a:solidFill>
                  <a:schemeClr val="dk1"/>
                </a:solidFill>
                <a:effectLst/>
                <a:uFillTx/>
                <a:latin typeface="Bodoni MT Black"/>
              </a:rPr>
              <a:t>过程，来发现那些看起来只有最终用户才能发现的错误。</a:t>
            </a:r>
            <a:endParaRPr lang="en-US" sz="2400" b="0" u="none" strike="noStrike">
              <a:solidFill>
                <a:srgbClr val="000000"/>
              </a:solidFill>
              <a:effectLst/>
              <a:uFillTx/>
              <a:latin typeface="Arial"/>
            </a:endParaRPr>
          </a:p>
          <a:p>
            <a:pPr marL="343080" indent="-343080">
              <a:lnSpc>
                <a:spcPct val="125000"/>
              </a:lnSpc>
              <a:buClr>
                <a:srgbClr val="ff0000"/>
              </a:buClr>
              <a:buFont typeface="Wingdings" charset="2"/>
              <a:buChar char=""/>
              <a:tabLst>
                <a:tab algn="l" pos="0"/>
              </a:tabLst>
            </a:pPr>
            <a:r>
              <a:rPr lang="en-US" sz="2400" b="0" u="none" strike="noStrike">
                <a:solidFill>
                  <a:srgbClr val="ff0000"/>
                </a:solidFill>
                <a:effectLst/>
                <a:uFillTx/>
                <a:latin typeface="Bodoni MT Black"/>
              </a:rPr>
              <a:t>Alpha</a:t>
            </a:r>
            <a:r>
              <a:rPr lang="zh-CN" sz="2400" b="0" u="none" strike="noStrike">
                <a:solidFill>
                  <a:srgbClr val="ff0000"/>
                </a:solidFill>
                <a:effectLst/>
                <a:uFillTx/>
                <a:latin typeface="Bodoni MT Black"/>
              </a:rPr>
              <a:t>测试</a:t>
            </a:r>
            <a:r>
              <a:rPr lang="zh-CN" sz="2400" b="0" u="none" strike="noStrike">
                <a:solidFill>
                  <a:schemeClr val="dk1"/>
                </a:solidFill>
                <a:effectLst/>
                <a:uFillTx/>
                <a:latin typeface="Bodoni MT Black"/>
              </a:rPr>
              <a:t>由用户在</a:t>
            </a:r>
            <a:r>
              <a:rPr lang="zh-CN" sz="2400" b="0" u="none" strike="noStrike">
                <a:solidFill>
                  <a:srgbClr val="ff0000"/>
                </a:solidFill>
                <a:effectLst/>
                <a:uFillTx/>
                <a:latin typeface="Bodoni MT Black"/>
              </a:rPr>
              <a:t>开发者的场所</a:t>
            </a:r>
            <a:r>
              <a:rPr lang="zh-CN" sz="2400" b="0" u="none" strike="noStrike">
                <a:solidFill>
                  <a:schemeClr val="dk1"/>
                </a:solidFill>
                <a:effectLst/>
                <a:uFillTx/>
                <a:latin typeface="Bodoni MT Black"/>
              </a:rPr>
              <a:t>进行，并且在开发者对用户的“指导”下进行测试。开发者负责记录发现的错误和使用中遇到的问题。</a:t>
            </a:r>
            <a:r>
              <a:rPr lang="en-US" sz="2400" b="0" u="none" strike="noStrike">
                <a:solidFill>
                  <a:srgbClr val="ff0000"/>
                </a:solidFill>
                <a:effectLst/>
                <a:uFillTx/>
                <a:latin typeface="Bodoni MT Black"/>
              </a:rPr>
              <a:t>Alpha</a:t>
            </a:r>
            <a:r>
              <a:rPr lang="zh-CN" sz="2400" b="0" u="none" strike="noStrike">
                <a:solidFill>
                  <a:srgbClr val="ff0000"/>
                </a:solidFill>
                <a:effectLst/>
                <a:uFillTx/>
                <a:latin typeface="Bodoni MT Black"/>
              </a:rPr>
              <a:t>测试</a:t>
            </a:r>
            <a:r>
              <a:rPr lang="zh-CN" sz="2400" b="0" u="none" strike="noStrike">
                <a:solidFill>
                  <a:schemeClr val="dk1"/>
                </a:solidFill>
                <a:effectLst/>
                <a:uFillTx/>
                <a:latin typeface="Bodoni MT Black"/>
              </a:rPr>
              <a:t>是在</a:t>
            </a:r>
            <a:r>
              <a:rPr lang="zh-CN" sz="2400" b="0" u="none" strike="noStrike">
                <a:solidFill>
                  <a:srgbClr val="ff0000"/>
                </a:solidFill>
                <a:effectLst/>
                <a:uFillTx/>
                <a:latin typeface="Bodoni MT Black"/>
              </a:rPr>
              <a:t>受控的环境</a:t>
            </a:r>
            <a:r>
              <a:rPr lang="zh-CN" sz="2400" b="0" u="none" strike="noStrike">
                <a:solidFill>
                  <a:schemeClr val="dk1"/>
                </a:solidFill>
                <a:effectLst/>
                <a:uFillTx/>
                <a:latin typeface="Bodoni MT Black"/>
              </a:rPr>
              <a:t>中进行的。</a:t>
            </a:r>
            <a:endParaRPr lang="en-US" sz="2400" b="0" u="none" strike="noStrike">
              <a:solidFill>
                <a:srgbClr val="000000"/>
              </a:solidFill>
              <a:effectLst/>
              <a:uFillTx/>
              <a:latin typeface="Arial"/>
            </a:endParaRPr>
          </a:p>
          <a:p>
            <a:pPr marL="343080" indent="-343080">
              <a:lnSpc>
                <a:spcPct val="125000"/>
              </a:lnSpc>
              <a:buClr>
                <a:srgbClr val="ff0000"/>
              </a:buClr>
              <a:buFont typeface="Wingdings" charset="2"/>
              <a:buChar char=""/>
              <a:tabLst>
                <a:tab algn="l" pos="0"/>
              </a:tabLst>
            </a:pPr>
            <a:r>
              <a:rPr lang="en-US" sz="2400" b="0" u="none" strike="noStrike">
                <a:solidFill>
                  <a:srgbClr val="ff0000"/>
                </a:solidFill>
                <a:effectLst/>
                <a:uFillTx/>
                <a:latin typeface="Bodoni MT Black"/>
              </a:rPr>
              <a:t>Beta</a:t>
            </a:r>
            <a:r>
              <a:rPr lang="zh-CN" sz="2400" b="0" u="none" strike="noStrike">
                <a:solidFill>
                  <a:srgbClr val="ff0000"/>
                </a:solidFill>
                <a:effectLst/>
                <a:uFillTx/>
                <a:latin typeface="Bodoni MT Black"/>
              </a:rPr>
              <a:t>测试</a:t>
            </a:r>
            <a:r>
              <a:rPr lang="zh-CN" sz="2400" b="0" u="none" strike="noStrike">
                <a:solidFill>
                  <a:schemeClr val="dk1"/>
                </a:solidFill>
                <a:effectLst/>
                <a:uFillTx/>
                <a:latin typeface="Bodoni MT Black"/>
              </a:rPr>
              <a:t>由软件的最终用户们在</a:t>
            </a:r>
            <a:r>
              <a:rPr lang="zh-CN" sz="2400" b="0" u="none" strike="noStrike">
                <a:solidFill>
                  <a:srgbClr val="ff0000"/>
                </a:solidFill>
                <a:effectLst/>
                <a:uFillTx/>
                <a:latin typeface="Bodoni MT Black"/>
              </a:rPr>
              <a:t>一个或多个客户场所</a:t>
            </a:r>
            <a:r>
              <a:rPr lang="zh-CN" sz="2400" b="0" u="none" strike="noStrike">
                <a:solidFill>
                  <a:schemeClr val="dk1"/>
                </a:solidFill>
                <a:effectLst/>
                <a:uFillTx/>
                <a:latin typeface="Bodoni MT Black"/>
              </a:rPr>
              <a:t>进行。与</a:t>
            </a:r>
            <a:r>
              <a:rPr lang="en-US" sz="2400" b="0" u="none" strike="noStrike">
                <a:solidFill>
                  <a:schemeClr val="dk1"/>
                </a:solidFill>
                <a:effectLst/>
                <a:uFillTx/>
                <a:latin typeface="Bodoni MT Black"/>
              </a:rPr>
              <a:t>Alpha</a:t>
            </a:r>
            <a:r>
              <a:rPr lang="zh-CN" sz="2400" b="0" u="none" strike="noStrike">
                <a:solidFill>
                  <a:schemeClr val="dk1"/>
                </a:solidFill>
                <a:effectLst/>
                <a:uFillTx/>
                <a:latin typeface="Bodoni MT Black"/>
              </a:rPr>
              <a:t>测试不同，开发者通常不在</a:t>
            </a:r>
            <a:r>
              <a:rPr lang="en-US" sz="2400" b="0" u="none" strike="noStrike">
                <a:solidFill>
                  <a:schemeClr val="dk1"/>
                </a:solidFill>
                <a:effectLst/>
                <a:uFillTx/>
                <a:latin typeface="Bodoni MT Black"/>
              </a:rPr>
              <a:t>Beta</a:t>
            </a:r>
            <a:r>
              <a:rPr lang="zh-CN" sz="2400" b="0" u="none" strike="noStrike">
                <a:solidFill>
                  <a:schemeClr val="dk1"/>
                </a:solidFill>
                <a:effectLst/>
                <a:uFillTx/>
                <a:latin typeface="Bodoni MT Black"/>
              </a:rPr>
              <a:t>测试的现场。</a:t>
            </a:r>
            <a:r>
              <a:rPr lang="en-US" sz="2400" b="0" u="none" strike="noStrike">
                <a:solidFill>
                  <a:srgbClr val="ff0000"/>
                </a:solidFill>
                <a:effectLst/>
                <a:uFillTx/>
                <a:latin typeface="Bodoni MT Black"/>
              </a:rPr>
              <a:t>Beta</a:t>
            </a:r>
            <a:r>
              <a:rPr lang="zh-CN" sz="2400" b="0" u="none" strike="noStrike">
                <a:solidFill>
                  <a:srgbClr val="ff0000"/>
                </a:solidFill>
                <a:effectLst/>
                <a:uFillTx/>
                <a:latin typeface="Bodoni MT Black"/>
              </a:rPr>
              <a:t>测试</a:t>
            </a:r>
            <a:r>
              <a:rPr lang="zh-CN" sz="2400" b="0" u="none" strike="noStrike">
                <a:solidFill>
                  <a:schemeClr val="dk1"/>
                </a:solidFill>
                <a:effectLst/>
                <a:uFillTx/>
                <a:latin typeface="Bodoni MT Black"/>
              </a:rPr>
              <a:t>是软件在开发者</a:t>
            </a:r>
            <a:r>
              <a:rPr lang="zh-CN" sz="2400" b="0" u="none" strike="noStrike">
                <a:solidFill>
                  <a:srgbClr val="ff0000"/>
                </a:solidFill>
                <a:effectLst/>
                <a:uFillTx/>
                <a:latin typeface="Bodoni MT Black"/>
              </a:rPr>
              <a:t>不能控制的环境</a:t>
            </a:r>
            <a:r>
              <a:rPr lang="zh-CN" sz="2400" b="0" u="none" strike="noStrike">
                <a:solidFill>
                  <a:schemeClr val="dk1"/>
                </a:solidFill>
                <a:effectLst/>
                <a:uFillTx/>
                <a:latin typeface="Bodoni MT Black"/>
              </a:rPr>
              <a:t>中的“真实”应用。</a:t>
            </a:r>
            <a:endParaRPr lang="en-US" sz="2400" b="0" u="none" strike="noStrike">
              <a:solidFill>
                <a:srgbClr val="000000"/>
              </a:solidFill>
              <a:effectLst/>
              <a:uFillTx/>
              <a:latin typeface="Arial"/>
            </a:endParaRPr>
          </a:p>
        </p:txBody>
      </p:sp>
      <p:sp>
        <p:nvSpPr>
          <p:cNvPr id="387"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388"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7.5.3 Alpha</a:t>
            </a:r>
            <a:r>
              <a:rPr lang="zh-CN" sz="2400" b="0" u="none" strike="noStrike">
                <a:solidFill>
                  <a:srgbClr val="d9d9d9"/>
                </a:solidFill>
                <a:effectLst/>
                <a:uFillTx/>
                <a:latin typeface="Bodoni MT Black"/>
              </a:rPr>
              <a:t>和</a:t>
            </a:r>
            <a:r>
              <a:rPr lang="en-US" sz="2400" b="0" u="none" strike="noStrike">
                <a:solidFill>
                  <a:srgbClr val="d9d9d9"/>
                </a:solidFill>
                <a:effectLst/>
                <a:uFillTx/>
                <a:latin typeface="Bodoni MT Black"/>
              </a:rPr>
              <a:t>Beta</a:t>
            </a:r>
            <a:r>
              <a:rPr lang="zh-CN" sz="2400" b="0" u="none" strike="noStrike">
                <a:solidFill>
                  <a:srgbClr val="d9d9d9"/>
                </a:solidFill>
                <a:effectLst/>
                <a:uFillTx/>
                <a:latin typeface="Bodoni MT Black"/>
              </a:rPr>
              <a:t>测试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1 Título"/>
          <p:cNvSpPr/>
          <p:nvPr/>
        </p:nvSpPr>
        <p:spPr>
          <a:xfrm>
            <a:off x="684360" y="355680"/>
            <a:ext cx="7703640" cy="863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5760"/>
              </a:lnSpc>
            </a:pPr>
            <a:r>
              <a:rPr lang="zh-CN" sz="4400" b="1" u="none" strike="noStrike">
                <a:solidFill>
                  <a:schemeClr val="dk1"/>
                </a:solidFill>
                <a:effectLst/>
                <a:uFillTx/>
                <a:latin typeface="Bodoni MT Black"/>
              </a:rPr>
              <a:t>主要内容</a:t>
            </a:r>
            <a:endParaRPr lang="en-US" sz="4400" b="0" u="none" strike="noStrike">
              <a:solidFill>
                <a:srgbClr val="000000"/>
              </a:solidFill>
              <a:effectLst/>
              <a:uFillTx/>
              <a:latin typeface="Arial"/>
            </a:endParaRPr>
          </a:p>
        </p:txBody>
      </p:sp>
      <p:sp>
        <p:nvSpPr>
          <p:cNvPr id="390"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sp>
        <p:nvSpPr>
          <p:cNvPr id="391"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7.6 </a:t>
            </a:r>
            <a:r>
              <a:rPr lang="zh-CN" sz="2400" b="0" u="none" strike="noStrike">
                <a:solidFill>
                  <a:srgbClr val="d9d9d9"/>
                </a:solidFill>
                <a:effectLst/>
                <a:uFillTx/>
                <a:latin typeface="Bodoni MT Black"/>
                <a:ea typeface="宋体"/>
              </a:rPr>
              <a:t>白盒测试技术</a:t>
            </a:r>
            <a:endParaRPr lang="en-US" sz="2400" b="0" u="none" strike="noStrike">
              <a:solidFill>
                <a:srgbClr val="000000"/>
              </a:solidFill>
              <a:effectLst/>
              <a:uFillTx/>
              <a:latin typeface="Arial"/>
            </a:endParaRPr>
          </a:p>
        </p:txBody>
      </p:sp>
      <p:pic>
        <p:nvPicPr>
          <p:cNvPr id="392"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393"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394" name="TextBox 3">
            <a:hlinkClick r:id="rId3" action="ppaction://hlinksldjump"/>
          </p:cNvPr>
          <p:cNvSpPr/>
          <p:nvPr/>
        </p:nvSpPr>
        <p:spPr>
          <a:xfrm>
            <a:off x="1071720" y="2071800"/>
            <a:ext cx="192852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395" name="TextBox 4"/>
          <p:cNvSpPr/>
          <p:nvPr/>
        </p:nvSpPr>
        <p:spPr>
          <a:xfrm>
            <a:off x="1000080" y="2714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396" name="TextBox 5"/>
          <p:cNvSpPr/>
          <p:nvPr/>
        </p:nvSpPr>
        <p:spPr>
          <a:xfrm>
            <a:off x="1000080" y="328608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397" name="TextBox 6"/>
          <p:cNvSpPr/>
          <p:nvPr/>
        </p:nvSpPr>
        <p:spPr>
          <a:xfrm>
            <a:off x="1000080" y="3857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398" name="Rectangle 3"/>
          <p:cNvSpPr/>
          <p:nvPr/>
        </p:nvSpPr>
        <p:spPr>
          <a:xfrm>
            <a:off x="539640" y="1292400"/>
            <a:ext cx="8135640" cy="4512960"/>
          </a:xfrm>
          <a:prstGeom prst="rect">
            <a:avLst/>
          </a:prstGeom>
          <a:noFill/>
          <a:ln w="0">
            <a:noFill/>
          </a:ln>
        </p:spPr>
        <p:style>
          <a:lnRef idx="0"/>
          <a:fillRef idx="0"/>
          <a:effectRef idx="0"/>
          <a:fontRef idx="minor"/>
        </p:style>
        <p:txBody>
          <a:bodyPr lIns="90000" rIns="90000" tIns="45000" bIns="45000" anchor="t">
            <a:noAutofit/>
          </a:bodyPr>
          <a:p>
            <a:pPr>
              <a:lnSpc>
                <a:spcPts val="2599"/>
              </a:lnSpc>
              <a:spcBef>
                <a:spcPts val="1199"/>
              </a:spcBef>
              <a:tabLst>
                <a:tab algn="l" pos="0"/>
              </a:tabLst>
            </a:pPr>
            <a:r>
              <a:rPr lang="en-US" sz="2400" b="0" u="none" strike="noStrike">
                <a:solidFill>
                  <a:srgbClr val="3c3c77"/>
                </a:solidFill>
                <a:effectLst/>
                <a:uFillTx/>
                <a:latin typeface="Bodoni MT Black"/>
                <a:ea typeface="黑体"/>
              </a:rPr>
              <a:t>   </a:t>
            </a:r>
            <a:r>
              <a:rPr lang="en-US" sz="2400" b="1" u="none" strike="noStrike">
                <a:solidFill>
                  <a:schemeClr val="dk1"/>
                </a:solidFill>
                <a:effectLst/>
                <a:uFillTx/>
                <a:latin typeface="Bodoni MT Black"/>
                <a:ea typeface="黑体"/>
              </a:rPr>
              <a:t>7.1   </a:t>
            </a:r>
            <a:r>
              <a:rPr lang="zh-CN" sz="2400" b="1" u="none" strike="noStrike">
                <a:solidFill>
                  <a:schemeClr val="dk1"/>
                </a:solidFill>
                <a:effectLst/>
                <a:uFillTx/>
                <a:latin typeface="Bodoni MT Black"/>
                <a:ea typeface="黑体"/>
              </a:rPr>
              <a:t>编码</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7.2   </a:t>
            </a:r>
            <a:r>
              <a:rPr lang="zh-CN" sz="2400" b="1" u="none" strike="noStrike">
                <a:solidFill>
                  <a:schemeClr val="dk1"/>
                </a:solidFill>
                <a:effectLst/>
                <a:uFillTx/>
                <a:latin typeface="Bodoni MT Black"/>
                <a:ea typeface="黑体"/>
              </a:rPr>
              <a:t>软件测试基础</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7.3   </a:t>
            </a:r>
            <a:r>
              <a:rPr lang="zh-CN" sz="2400" b="1" u="none" strike="noStrike">
                <a:solidFill>
                  <a:schemeClr val="dk1"/>
                </a:solidFill>
                <a:effectLst/>
                <a:uFillTx/>
                <a:latin typeface="Bodoni MT Black"/>
                <a:ea typeface="黑体"/>
              </a:rPr>
              <a:t>单元测试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7.4   </a:t>
            </a:r>
            <a:r>
              <a:rPr lang="zh-CN" sz="2400" b="1" u="none" strike="noStrike">
                <a:solidFill>
                  <a:schemeClr val="dk1"/>
                </a:solidFill>
                <a:effectLst/>
                <a:uFillTx/>
                <a:latin typeface="Bodoni MT Black"/>
                <a:ea typeface="黑体"/>
              </a:rPr>
              <a:t>集成测试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7.5   </a:t>
            </a:r>
            <a:r>
              <a:rPr lang="zh-CN" sz="2400" b="1" u="none" strike="noStrike">
                <a:solidFill>
                  <a:schemeClr val="dk1"/>
                </a:solidFill>
                <a:effectLst/>
                <a:uFillTx/>
                <a:latin typeface="Bodoni MT Black"/>
                <a:ea typeface="黑体"/>
              </a:rPr>
              <a:t>确认测试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7.6   </a:t>
            </a:r>
            <a:r>
              <a:rPr lang="zh-CN" sz="2400" b="1" u="none" strike="noStrike">
                <a:solidFill>
                  <a:schemeClr val="dk1"/>
                </a:solidFill>
                <a:effectLst/>
                <a:uFillTx/>
                <a:latin typeface="Bodoni MT Black"/>
                <a:ea typeface="黑体"/>
              </a:rPr>
              <a:t>白盒测试技术</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7.7   </a:t>
            </a:r>
            <a:r>
              <a:rPr lang="zh-CN" sz="2400" b="1" u="none" strike="noStrike">
                <a:solidFill>
                  <a:schemeClr val="dk1"/>
                </a:solidFill>
                <a:effectLst/>
                <a:uFillTx/>
                <a:latin typeface="Bodoni MT Black"/>
                <a:ea typeface="黑体"/>
              </a:rPr>
              <a:t>黑盒测试技术</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7.8   </a:t>
            </a:r>
            <a:r>
              <a:rPr lang="zh-CN" sz="2400" b="1" u="none" strike="noStrike">
                <a:solidFill>
                  <a:schemeClr val="dk1"/>
                </a:solidFill>
                <a:effectLst/>
                <a:uFillTx/>
                <a:latin typeface="Bodoni MT Black"/>
                <a:ea typeface="黑体"/>
              </a:rPr>
              <a:t>调试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7.9   </a:t>
            </a:r>
            <a:r>
              <a:rPr lang="zh-CN" sz="2400" b="1" u="none" strike="noStrike">
                <a:solidFill>
                  <a:schemeClr val="dk1"/>
                </a:solidFill>
                <a:effectLst/>
                <a:uFillTx/>
                <a:latin typeface="Bodoni MT Black"/>
                <a:ea typeface="黑体"/>
              </a:rPr>
              <a:t>软件可靠性</a:t>
            </a:r>
            <a:endParaRPr lang="en-US" sz="2400" b="0" u="none" strike="noStrike">
              <a:solidFill>
                <a:srgbClr val="000000"/>
              </a:solidFill>
              <a:effectLst/>
              <a:uFillTx/>
              <a:latin typeface="Arial"/>
            </a:endParaRPr>
          </a:p>
        </p:txBody>
      </p:sp>
      <p:sp>
        <p:nvSpPr>
          <p:cNvPr id="399" name="1 Título"/>
          <p:cNvSpPr/>
          <p:nvPr/>
        </p:nvSpPr>
        <p:spPr>
          <a:xfrm>
            <a:off x="0" y="6300720"/>
            <a:ext cx="231588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7</a:t>
            </a:r>
            <a:r>
              <a:rPr lang="zh-CN" sz="2400" b="0" u="none" strike="noStrike">
                <a:solidFill>
                  <a:srgbClr val="d9d9d9"/>
                </a:solidFill>
                <a:effectLst/>
                <a:uFillTx/>
                <a:latin typeface="Bodoni MT Black"/>
                <a:ea typeface="宋体"/>
              </a:rPr>
              <a:t>章　实现</a:t>
            </a:r>
            <a:endParaRPr lang="en-US" sz="2400" b="0" u="none" strike="noStrike">
              <a:solidFill>
                <a:srgbClr val="000000"/>
              </a:solidFill>
              <a:effectLst/>
              <a:uFillTx/>
              <a:latin typeface="Arial"/>
            </a:endParaRPr>
          </a:p>
        </p:txBody>
      </p:sp>
      <p:sp>
        <p:nvSpPr>
          <p:cNvPr id="400" name="矩形 12"/>
          <p:cNvSpPr/>
          <p:nvPr/>
        </p:nvSpPr>
        <p:spPr>
          <a:xfrm>
            <a:off x="827640" y="379404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401" name="等腰三角形 13"/>
          <p:cNvSpPr/>
          <p:nvPr/>
        </p:nvSpPr>
        <p:spPr>
          <a:xfrm rot="5400000">
            <a:off x="336240" y="3880800"/>
            <a:ext cx="537840" cy="4312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403" name="PlaceHolder 2"/>
          <p:cNvSpPr>
            <a:spLocks noGrp="1"/>
          </p:cNvSpPr>
          <p:nvPr>
            <p:ph/>
          </p:nvPr>
        </p:nvSpPr>
        <p:spPr>
          <a:xfrm>
            <a:off x="323640" y="1196640"/>
            <a:ext cx="8454960" cy="4728960"/>
          </a:xfrm>
          <a:prstGeom prst="rect">
            <a:avLst/>
          </a:prstGeom>
          <a:noFill/>
          <a:ln w="9360">
            <a:noFill/>
          </a:ln>
        </p:spPr>
        <p:txBody>
          <a:bodyPr numCol="1" spcCol="0" lIns="91440" rIns="91440" tIns="45720" bIns="45720" anchor="t">
            <a:noAutofit/>
          </a:bodyPr>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rPr>
              <a:t>通常把测试数据和预期的输出结果称为</a:t>
            </a:r>
            <a:r>
              <a:rPr lang="zh-CN" sz="2400" b="1" u="none" strike="noStrike">
                <a:solidFill>
                  <a:srgbClr val="ff0000"/>
                </a:solidFill>
                <a:effectLst/>
                <a:uFillTx/>
                <a:latin typeface="Bodoni MT Black"/>
              </a:rPr>
              <a:t>测试用例</a:t>
            </a:r>
            <a:r>
              <a:rPr lang="zh-CN" sz="2400" b="0" u="none" strike="noStrike">
                <a:solidFill>
                  <a:schemeClr val="dk1"/>
                </a:solidFill>
                <a:effectLst/>
                <a:uFillTx/>
                <a:latin typeface="Bodoni MT Black"/>
              </a:rPr>
              <a:t>。</a:t>
            </a:r>
            <a:endParaRPr lang="es-ES" sz="2400" b="0" u="none" strike="noStrike">
              <a:solidFill>
                <a:schemeClr val="dk1"/>
              </a:solidFill>
              <a:effectLst/>
              <a:uFillTx/>
              <a:latin typeface="Calibri"/>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rPr>
              <a:t>不同的测试数据发现程序错误的能力差别很大，为了提高测试效率降低测试成本，应该选用</a:t>
            </a:r>
            <a:r>
              <a:rPr lang="zh-CN" sz="2400" b="0" u="none" strike="noStrike">
                <a:solidFill>
                  <a:srgbClr val="ff0000"/>
                </a:solidFill>
                <a:effectLst/>
                <a:uFillTx/>
                <a:latin typeface="Bodoni MT Black"/>
              </a:rPr>
              <a:t>高效的测试数据</a:t>
            </a:r>
            <a:r>
              <a:rPr lang="zh-CN" sz="2400" b="0" u="none" strike="noStrike">
                <a:solidFill>
                  <a:schemeClr val="dk1"/>
                </a:solidFill>
                <a:effectLst/>
                <a:uFillTx/>
                <a:latin typeface="Bodoni MT Black"/>
              </a:rPr>
              <a:t>。因为不可能进行穷尽的测试，所以选用少量“最有效的”测试数据，做到尽可能完备的测试更重要。</a:t>
            </a:r>
            <a:endParaRPr lang="es-ES" sz="2400" b="0" u="none" strike="noStrike">
              <a:solidFill>
                <a:schemeClr val="dk1"/>
              </a:solidFill>
              <a:effectLst/>
              <a:uFillTx/>
              <a:latin typeface="Calibri"/>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rPr>
              <a:t>设计测试方案的基本目标是，</a:t>
            </a:r>
            <a:r>
              <a:rPr lang="zh-CN" sz="2400" b="0" u="none" strike="noStrike">
                <a:solidFill>
                  <a:srgbClr val="ff0000"/>
                </a:solidFill>
                <a:effectLst/>
                <a:uFillTx/>
                <a:latin typeface="Bodoni MT Black"/>
              </a:rPr>
              <a:t>确定一组最可能发现某个错误或某类错误的测试数据</a:t>
            </a:r>
            <a:r>
              <a:rPr lang="zh-CN" sz="2400" b="0" u="none" strike="noStrike">
                <a:solidFill>
                  <a:schemeClr val="dk1"/>
                </a:solidFill>
                <a:effectLst/>
                <a:uFillTx/>
                <a:latin typeface="Bodoni MT Black"/>
              </a:rPr>
              <a:t>。已经研究出许多设计测试数据的技术，这些技术各有优缺点；同一种技术在不同的应用场合效果可能相差很大，因此，通常需要联合使用</a:t>
            </a:r>
            <a:r>
              <a:rPr lang="zh-CN" sz="2400" b="0" u="none" strike="noStrike">
                <a:solidFill>
                  <a:srgbClr val="ff0000"/>
                </a:solidFill>
                <a:effectLst/>
                <a:uFillTx/>
                <a:latin typeface="Bodoni MT Black"/>
              </a:rPr>
              <a:t>多种设计测试数据的技术</a:t>
            </a:r>
            <a:r>
              <a:rPr lang="zh-CN" sz="2400" b="0" u="none" strike="noStrike">
                <a:solidFill>
                  <a:schemeClr val="dk1"/>
                </a:solidFill>
                <a:effectLst/>
                <a:uFillTx/>
                <a:latin typeface="Bodoni MT Black"/>
              </a:rPr>
              <a:t>。</a:t>
            </a:r>
            <a:endParaRPr lang="es-ES" sz="2400" b="0" u="none" strike="noStrike">
              <a:solidFill>
                <a:schemeClr val="dk1"/>
              </a:solidFill>
              <a:effectLst/>
              <a:uFillTx/>
              <a:latin typeface="Calibri"/>
            </a:endParaRPr>
          </a:p>
        </p:txBody>
      </p:sp>
      <p:sp>
        <p:nvSpPr>
          <p:cNvPr id="404"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7.6 </a:t>
            </a:r>
            <a:r>
              <a:rPr lang="zh-CN" sz="2400" b="0" u="none" strike="noStrike">
                <a:solidFill>
                  <a:srgbClr val="d9d9d9"/>
                </a:solidFill>
                <a:effectLst/>
                <a:uFillTx/>
                <a:latin typeface="Bodoni MT Black"/>
                <a:ea typeface="宋体"/>
              </a:rPr>
              <a:t>白盒测试技术</a:t>
            </a:r>
            <a:endParaRPr lang="en-US" sz="2400" b="0" u="none" strike="noStrike">
              <a:solidFill>
                <a:srgbClr val="000000"/>
              </a:solidFill>
              <a:effectLst/>
              <a:uFillTx/>
              <a:latin typeface="Arial"/>
            </a:endParaRPr>
          </a:p>
        </p:txBody>
      </p:sp>
      <p:sp>
        <p:nvSpPr>
          <p:cNvPr id="405" name="1 Título"/>
          <p:cNvSpPr/>
          <p:nvPr/>
        </p:nvSpPr>
        <p:spPr>
          <a:xfrm>
            <a:off x="0" y="6300720"/>
            <a:ext cx="231588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7</a:t>
            </a:r>
            <a:r>
              <a:rPr lang="zh-CN" sz="2400" b="0" u="none" strike="noStrike">
                <a:solidFill>
                  <a:srgbClr val="d9d9d9"/>
                </a:solidFill>
                <a:effectLst/>
                <a:uFillTx/>
                <a:latin typeface="Bodoni MT Black"/>
                <a:ea typeface="宋体"/>
              </a:rPr>
              <a:t>章　实现</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407" name="PlaceHolder 2"/>
          <p:cNvSpPr>
            <a:spLocks noGrp="1"/>
          </p:cNvSpPr>
          <p:nvPr>
            <p:ph/>
          </p:nvPr>
        </p:nvSpPr>
        <p:spPr>
          <a:xfrm>
            <a:off x="395280" y="98100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7.6.1 </a:t>
            </a:r>
            <a:r>
              <a:rPr lang="zh-CN" sz="3200" b="1" u="none" strike="noStrike">
                <a:solidFill>
                  <a:schemeClr val="dk1"/>
                </a:solidFill>
                <a:effectLst/>
                <a:uFillTx/>
                <a:latin typeface="Bodoni MT Black"/>
              </a:rPr>
              <a:t>逻辑覆盖</a:t>
            </a:r>
            <a:endParaRPr lang="es-ES" sz="3200" b="0" u="none" strike="noStrike">
              <a:solidFill>
                <a:schemeClr val="dk1"/>
              </a:solidFill>
              <a:effectLst/>
              <a:uFillTx/>
              <a:latin typeface="Calibri"/>
            </a:endParaRPr>
          </a:p>
        </p:txBody>
      </p:sp>
      <p:sp>
        <p:nvSpPr>
          <p:cNvPr id="408" name="TextBox 7"/>
          <p:cNvSpPr/>
          <p:nvPr/>
        </p:nvSpPr>
        <p:spPr>
          <a:xfrm>
            <a:off x="179640" y="1484640"/>
            <a:ext cx="8784720" cy="24001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1" u="none" strike="noStrike">
                <a:solidFill>
                  <a:srgbClr val="c00000"/>
                </a:solidFill>
                <a:effectLst/>
                <a:uFillTx/>
                <a:latin typeface="Bodoni MT Black"/>
              </a:rPr>
              <a:t>     </a:t>
            </a:r>
            <a:r>
              <a:rPr lang="zh-CN" sz="2400" b="1" u="none" strike="noStrike">
                <a:solidFill>
                  <a:srgbClr val="c00000"/>
                </a:solidFill>
                <a:effectLst/>
                <a:uFillTx/>
                <a:latin typeface="Bodoni MT Black"/>
              </a:rPr>
              <a:t>逻辑覆盖</a:t>
            </a:r>
            <a:r>
              <a:rPr lang="zh-CN" sz="2400" b="0" u="none" strike="noStrike">
                <a:solidFill>
                  <a:schemeClr val="dk1"/>
                </a:solidFill>
                <a:effectLst/>
                <a:uFillTx/>
                <a:latin typeface="Bodoni MT Black"/>
              </a:rPr>
              <a:t>是对一系列测试过程的总称，这组测试过程逐渐进行越来越完整的通路测试。</a:t>
            </a:r>
            <a:endParaRPr lang="en-US" sz="2400" b="0" u="none" strike="noStrike">
              <a:solidFill>
                <a:srgbClr val="000000"/>
              </a:solidFill>
              <a:effectLst/>
              <a:uFillTx/>
              <a:latin typeface="Arial"/>
            </a:endParaRPr>
          </a:p>
          <a:p>
            <a:pPr>
              <a:lnSpc>
                <a:spcPct val="125000"/>
              </a:lnSpc>
              <a:tabLst>
                <a:tab algn="l" pos="0"/>
              </a:tabLst>
            </a:pPr>
            <a:r>
              <a:rPr lang="en-US" sz="2400" b="1" u="none" strike="noStrike">
                <a:solidFill>
                  <a:schemeClr val="dk1"/>
                </a:solidFill>
                <a:effectLst/>
                <a:uFillTx/>
                <a:latin typeface="Bodoni MT Black"/>
              </a:rPr>
              <a:t>1. </a:t>
            </a:r>
            <a:r>
              <a:rPr lang="zh-CN" sz="2400" b="1" u="none" strike="noStrike">
                <a:solidFill>
                  <a:schemeClr val="dk1"/>
                </a:solidFill>
                <a:effectLst/>
                <a:uFillTx/>
                <a:latin typeface="Bodoni MT Black"/>
              </a:rPr>
              <a:t>语句覆盖</a:t>
            </a:r>
            <a:endParaRPr lang="en-US" sz="2400" b="0" u="none" strike="noStrike">
              <a:solidFill>
                <a:srgbClr val="000000"/>
              </a:solidFill>
              <a:effectLst/>
              <a:uFillTx/>
              <a:latin typeface="Arial"/>
            </a:endParaRPr>
          </a:p>
          <a:p>
            <a:pPr>
              <a:lnSpc>
                <a:spcPct val="125000"/>
              </a:lnSpc>
              <a:tabLst>
                <a:tab algn="l" pos="0"/>
              </a:tabLst>
            </a:pPr>
            <a:r>
              <a:rPr lang="en-US" sz="2400" b="1" u="none" strike="noStrike">
                <a:solidFill>
                  <a:srgbClr val="c00000"/>
                </a:solidFill>
                <a:effectLst/>
                <a:uFillTx/>
                <a:latin typeface="Bodoni MT Black"/>
              </a:rPr>
              <a:t>    语句覆盖</a:t>
            </a:r>
            <a:r>
              <a:rPr lang="zh-CN" sz="2400" b="0" u="none" strike="noStrike">
                <a:solidFill>
                  <a:schemeClr val="dk1"/>
                </a:solidFill>
                <a:effectLst/>
                <a:uFillTx/>
                <a:latin typeface="Bodoni MT Black"/>
              </a:rPr>
              <a:t>的含义是，选择足够多的测试数据，使被测程序中每个语句至少执行一次。</a:t>
            </a:r>
            <a:endParaRPr lang="en-US" sz="2400" b="0" u="none" strike="noStrike">
              <a:solidFill>
                <a:srgbClr val="000000"/>
              </a:solidFill>
              <a:effectLst/>
              <a:uFillTx/>
              <a:latin typeface="Arial"/>
            </a:endParaRPr>
          </a:p>
        </p:txBody>
      </p:sp>
      <p:sp>
        <p:nvSpPr>
          <p:cNvPr id="409"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410"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7.6.1 </a:t>
            </a:r>
            <a:r>
              <a:rPr lang="zh-CN" sz="2400" b="0" u="none" strike="noStrike">
                <a:solidFill>
                  <a:srgbClr val="d9d9d9"/>
                </a:solidFill>
                <a:effectLst/>
                <a:uFillTx/>
                <a:latin typeface="Bodoni MT Black"/>
              </a:rPr>
              <a:t>逻辑覆盖</a:t>
            </a:r>
            <a:endParaRPr lang="en-US" sz="2400" b="0" u="none" strike="noStrike">
              <a:solidFill>
                <a:srgbClr val="000000"/>
              </a:solidFill>
              <a:effectLst/>
              <a:uFillTx/>
              <a:latin typeface="Arial"/>
            </a:endParaRPr>
          </a:p>
        </p:txBody>
      </p:sp>
      <p:pic>
        <p:nvPicPr>
          <p:cNvPr id="411" name="图片 1"/>
          <p:cNvPicPr/>
          <p:nvPr/>
        </p:nvPicPr>
        <p:blipFill>
          <a:blip r:embed="rId1"/>
          <a:stretch/>
        </p:blipFill>
        <p:spPr>
          <a:xfrm>
            <a:off x="5940360" y="3362400"/>
            <a:ext cx="2746080" cy="2898360"/>
          </a:xfrm>
          <a:prstGeom prst="rect">
            <a:avLst/>
          </a:prstGeom>
          <a:solidFill>
            <a:srgbClr val="ff0000"/>
          </a:solidFill>
          <a:ln w="9525">
            <a:noFill/>
          </a:ln>
        </p:spPr>
      </p:pic>
      <p:sp>
        <p:nvSpPr>
          <p:cNvPr id="412" name="文本框 2"/>
          <p:cNvSpPr/>
          <p:nvPr/>
        </p:nvSpPr>
        <p:spPr>
          <a:xfrm>
            <a:off x="193680" y="3848040"/>
            <a:ext cx="5471640" cy="220788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zh-CN" sz="2200" b="0" u="none" strike="noStrike">
                <a:solidFill>
                  <a:schemeClr val="dk1"/>
                </a:solidFill>
                <a:effectLst/>
                <a:uFillTx/>
                <a:latin typeface="Bodoni MT Black"/>
              </a:rPr>
              <a:t>右图为被测试模块的流程图，为使每个语句都执行一次，程序的执行路径应该是</a:t>
            </a:r>
            <a:r>
              <a:rPr lang="en-US" sz="2200" b="0" u="none" strike="noStrike">
                <a:solidFill>
                  <a:srgbClr val="ff0000"/>
                </a:solidFill>
                <a:effectLst/>
                <a:uFillTx/>
                <a:latin typeface="Bodoni MT Black"/>
              </a:rPr>
              <a:t>s-a-c-b-e-d</a:t>
            </a:r>
            <a:r>
              <a:rPr lang="zh-CN" sz="2200" b="0" u="none" strike="noStrike">
                <a:solidFill>
                  <a:schemeClr val="dk1"/>
                </a:solidFill>
                <a:effectLst/>
                <a:uFillTx/>
                <a:latin typeface="Bodoni MT Black"/>
              </a:rPr>
              <a:t>，为此只需要输入下面的测试数据（实际上</a:t>
            </a:r>
            <a:r>
              <a:rPr lang="en-US" sz="2200" b="0" u="none" strike="noStrike">
                <a:solidFill>
                  <a:schemeClr val="dk1"/>
                </a:solidFill>
                <a:effectLst/>
                <a:uFillTx/>
                <a:latin typeface="Bodoni MT Black"/>
              </a:rPr>
              <a:t>X</a:t>
            </a:r>
            <a:r>
              <a:rPr lang="zh-CN" sz="2200" b="0" u="none" strike="noStrike">
                <a:solidFill>
                  <a:schemeClr val="dk1"/>
                </a:solidFill>
                <a:effectLst/>
                <a:uFillTx/>
                <a:latin typeface="Bodoni MT Black"/>
              </a:rPr>
              <a:t>可以是任意实数</a:t>
            </a:r>
            <a:r>
              <a:rPr lang="zh-CN" sz="2200" b="0" u="none" strike="noStrike">
                <a:solidFill>
                  <a:schemeClr val="dk1"/>
                </a:solidFill>
                <a:effectLst/>
                <a:uFillTx/>
                <a:latin typeface="Bodoni MT Black"/>
                <a:ea typeface="宋体"/>
              </a:rPr>
              <a:t>）：</a:t>
            </a:r>
            <a:r>
              <a:rPr lang="en-US" sz="2200" b="0" u="none" strike="noStrike">
                <a:solidFill>
                  <a:srgbClr val="ff0000"/>
                </a:solidFill>
                <a:effectLst/>
                <a:uFillTx/>
                <a:latin typeface="Bodoni MT Black"/>
                <a:ea typeface="宋体"/>
              </a:rPr>
              <a:t>A=2, B=0, X=4</a:t>
            </a:r>
            <a:r>
              <a:rPr lang="zh-CN" sz="2200" b="0" u="none" strike="noStrike">
                <a:solidFill>
                  <a:schemeClr val="dk1"/>
                </a:solidFill>
                <a:effectLst/>
                <a:uFillTx/>
                <a:latin typeface="Bodoni MT Black"/>
                <a:ea typeface="宋体"/>
              </a:rPr>
              <a:t>。</a:t>
            </a:r>
            <a:endParaRPr lang="en-US" sz="2200" b="0" u="none" strike="noStrike">
              <a:solidFill>
                <a:srgbClr val="000000"/>
              </a:solidFill>
              <a:effectLst/>
              <a:uFillTx/>
              <a:latin typeface="Arial"/>
            </a:endParaRPr>
          </a:p>
        </p:txBody>
      </p:sp>
      <p:sp>
        <p:nvSpPr>
          <p:cNvPr id="413" name="任意多边形 4"/>
          <p:cNvSpPr/>
          <p:nvPr/>
        </p:nvSpPr>
        <p:spPr>
          <a:xfrm>
            <a:off x="6490080" y="3674160"/>
            <a:ext cx="1797480" cy="2354040"/>
          </a:xfrm>
          <a:custGeom>
            <a:avLst/>
            <a:gdLst>
              <a:gd name="textAreaLeft" fmla="*/ 0 w 1797480"/>
              <a:gd name="textAreaRight" fmla="*/ 1797840 w 1797480"/>
              <a:gd name="textAreaTop" fmla="*/ 0 h 2354040"/>
              <a:gd name="textAreaBottom" fmla="*/ 2354400 h 2354040"/>
              <a:gd name="GluePoint1X" fmla="*/ 223674 w 1797783"/>
              <a:gd name="GluePoint1Y" fmla="*/ 0 h 2354224"/>
              <a:gd name="GluePoint2X" fmla="*/ 371955 w 1797783"/>
              <a:gd name="GluePoint2Y" fmla="*/ 181232 h 2354224"/>
              <a:gd name="GluePoint3X" fmla="*/ 264863 w 1797783"/>
              <a:gd name="GluePoint3Y" fmla="*/ 486032 h 2354224"/>
              <a:gd name="GluePoint4X" fmla="*/ 1599393 w 1797783"/>
              <a:gd name="GluePoint4Y" fmla="*/ 494270 h 2354224"/>
              <a:gd name="GluePoint5X" fmla="*/ 1607631 w 1797783"/>
              <a:gd name="GluePoint5Y" fmla="*/ 1136821 h 2354224"/>
              <a:gd name="GluePoint6X" fmla="*/ 157771 w 1797783"/>
              <a:gd name="GluePoint6Y" fmla="*/ 1161535 h 2354224"/>
              <a:gd name="GluePoint7X" fmla="*/ 198960 w 1797783"/>
              <a:gd name="GluePoint7Y" fmla="*/ 1696994 h 2354224"/>
              <a:gd name="GluePoint8X" fmla="*/ 1582917 w 1797783"/>
              <a:gd name="GluePoint8Y" fmla="*/ 1631092 h 2354224"/>
              <a:gd name="GluePoint9X" fmla="*/ 1657058 w 1797783"/>
              <a:gd name="GluePoint9Y" fmla="*/ 2051221 h 2354224"/>
              <a:gd name="GluePoint10X" fmla="*/ 248387 w 1797783"/>
              <a:gd name="GluePoint10Y" fmla="*/ 2117124 h 2354224"/>
              <a:gd name="GluePoint11X" fmla="*/ 157771 w 1797783"/>
              <a:gd name="GluePoint11Y" fmla="*/ 2339546 h 2354224"/>
              <a:gd name="GluePoint12X" fmla="*/ 174247 w 1797783"/>
              <a:gd name="GluePoint12Y" fmla="*/ 2314832 h 23542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1797783" h="2354224">
                <a:moveTo>
                  <a:pt x="223674" y="0"/>
                </a:moveTo>
                <a:cubicBezTo>
                  <a:pt x="294382" y="50113"/>
                  <a:pt x="365090" y="100227"/>
                  <a:pt x="371955" y="181232"/>
                </a:cubicBezTo>
                <a:cubicBezTo>
                  <a:pt x="378820" y="262237"/>
                  <a:pt x="60290" y="433859"/>
                  <a:pt x="264863" y="486032"/>
                </a:cubicBezTo>
                <a:cubicBezTo>
                  <a:pt x="469436" y="538205"/>
                  <a:pt x="1375598" y="385805"/>
                  <a:pt x="1599393" y="494270"/>
                </a:cubicBezTo>
                <a:cubicBezTo>
                  <a:pt x="1823188" y="602735"/>
                  <a:pt x="1847901" y="1025610"/>
                  <a:pt x="1607631" y="1136821"/>
                </a:cubicBezTo>
                <a:cubicBezTo>
                  <a:pt x="1367361" y="1248032"/>
                  <a:pt x="392549" y="1068173"/>
                  <a:pt x="157771" y="1161535"/>
                </a:cubicBezTo>
                <a:cubicBezTo>
                  <a:pt x="-77007" y="1254897"/>
                  <a:pt x="-38564" y="1618735"/>
                  <a:pt x="198960" y="1696994"/>
                </a:cubicBezTo>
                <a:cubicBezTo>
                  <a:pt x="436484" y="1775254"/>
                  <a:pt x="1339901" y="1572054"/>
                  <a:pt x="1582917" y="1631092"/>
                </a:cubicBezTo>
                <a:cubicBezTo>
                  <a:pt x="1825933" y="1690130"/>
                  <a:pt x="1879480" y="1970216"/>
                  <a:pt x="1657058" y="2051221"/>
                </a:cubicBezTo>
                <a:cubicBezTo>
                  <a:pt x="1434636" y="2132226"/>
                  <a:pt x="498268" y="2069070"/>
                  <a:pt x="248387" y="2117124"/>
                </a:cubicBezTo>
                <a:cubicBezTo>
                  <a:pt x="-1494" y="2165178"/>
                  <a:pt x="170128" y="2306595"/>
                  <a:pt x="157771" y="2339546"/>
                </a:cubicBezTo>
                <a:cubicBezTo>
                  <a:pt x="145414" y="2372497"/>
                  <a:pt x="159830" y="2343664"/>
                  <a:pt x="174247" y="2314832"/>
                </a:cubicBezTo>
              </a:path>
            </a:pathLst>
          </a:cu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Tree>
  </p:cSld>
  <mc:AlternateContent>
    <mc:Choice Requires="p14">
      <p:transition spd="slow" p14:dur="2000"/>
    </mc:Choice>
    <mc:Fallback>
      <p:transition spd="slow"/>
    </mc:Fallback>
  </mc:AlternateContent>
  <p:timing>
    <p:tnLst>
      <p:par>
        <p:cTn id="21" dur="indefinite" restart="never" nodeType="tmRoot">
          <p:childTnLst>
            <p:seq>
              <p:cTn id="22" dur="indefinite" nodeType="mainSeq">
                <p:childTnLst>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4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415" name="PlaceHolder 2"/>
          <p:cNvSpPr>
            <a:spLocks noGrp="1"/>
          </p:cNvSpPr>
          <p:nvPr>
            <p:ph/>
          </p:nvPr>
        </p:nvSpPr>
        <p:spPr>
          <a:xfrm>
            <a:off x="179640" y="954360"/>
            <a:ext cx="8229240" cy="604440"/>
          </a:xfrm>
          <a:prstGeom prst="rect">
            <a:avLst/>
          </a:prstGeom>
          <a:noFill/>
          <a:ln w="9360">
            <a:noFill/>
          </a:ln>
        </p:spPr>
        <p:txBody>
          <a:bodyPr numCol="1" spcCol="0" lIns="91440" rIns="91440" tIns="45720" bIns="45720" anchor="t">
            <a:noAutofit/>
          </a:bodyPr>
          <a:p>
            <a:pPr indent="0">
              <a:lnSpc>
                <a:spcPct val="100000"/>
              </a:lnSpc>
              <a:spcBef>
                <a:spcPts val="479"/>
              </a:spcBef>
              <a:buNone/>
              <a:tabLst>
                <a:tab algn="l" pos="0"/>
              </a:tabLst>
            </a:pPr>
            <a:r>
              <a:rPr lang="en-US" sz="2400" b="1" u="none" strike="noStrike">
                <a:solidFill>
                  <a:schemeClr val="dk1"/>
                </a:solidFill>
                <a:effectLst/>
                <a:uFillTx/>
                <a:latin typeface="Bodoni MT Black"/>
              </a:rPr>
              <a:t>1. </a:t>
            </a:r>
            <a:r>
              <a:rPr lang="zh-CN" sz="2400" b="1" u="none" strike="noStrike">
                <a:solidFill>
                  <a:schemeClr val="dk1"/>
                </a:solidFill>
                <a:effectLst/>
                <a:uFillTx/>
                <a:latin typeface="Bodoni MT Black"/>
              </a:rPr>
              <a:t>语句覆盖</a:t>
            </a:r>
            <a:endParaRPr lang="es-ES" sz="2400" b="0" u="none" strike="noStrike">
              <a:solidFill>
                <a:schemeClr val="dk1"/>
              </a:solidFill>
              <a:effectLst/>
              <a:uFillTx/>
              <a:latin typeface="Calibri"/>
            </a:endParaRPr>
          </a:p>
        </p:txBody>
      </p:sp>
      <p:sp>
        <p:nvSpPr>
          <p:cNvPr id="416" name="TextBox 7"/>
          <p:cNvSpPr/>
          <p:nvPr/>
        </p:nvSpPr>
        <p:spPr>
          <a:xfrm>
            <a:off x="107640" y="1340640"/>
            <a:ext cx="8928720" cy="19386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rPr>
              <a:t>语句覆盖对程序的逻辑覆盖很少，例子中两个判定条件都只测试了条件为真的情况，</a:t>
            </a:r>
            <a:r>
              <a:rPr lang="zh-CN" sz="2400" b="0" u="none" strike="noStrike">
                <a:solidFill>
                  <a:srgbClr val="ff0000"/>
                </a:solidFill>
                <a:effectLst/>
                <a:uFillTx/>
                <a:latin typeface="Bodoni MT Black"/>
              </a:rPr>
              <a:t>若条件为假时处理有错误，则不能发现。</a:t>
            </a:r>
            <a:r>
              <a:rPr lang="zh-CN" sz="2400" b="0" u="none" strike="noStrike">
                <a:solidFill>
                  <a:srgbClr val="0070c0"/>
                </a:solidFill>
                <a:effectLst/>
                <a:uFillTx/>
                <a:latin typeface="Bodoni MT Black"/>
              </a:rPr>
              <a:t>语句覆盖只关心</a:t>
            </a:r>
            <a:r>
              <a:rPr lang="zh-CN" sz="2400" b="1" u="none" strike="noStrike">
                <a:solidFill>
                  <a:srgbClr val="0070c0"/>
                </a:solidFill>
                <a:effectLst/>
                <a:uFillTx/>
                <a:latin typeface="Bodoni MT Black"/>
              </a:rPr>
              <a:t>判定表达式</a:t>
            </a:r>
            <a:r>
              <a:rPr lang="zh-CN" sz="2400" b="0" u="none" strike="noStrike">
                <a:solidFill>
                  <a:srgbClr val="0070c0"/>
                </a:solidFill>
                <a:effectLst/>
                <a:uFillTx/>
                <a:latin typeface="Bodoni MT Black"/>
              </a:rPr>
              <a:t>的值，而未分别测试判定表达式中每个条件取不同值时的情况。</a:t>
            </a:r>
            <a:r>
              <a:rPr lang="zh-CN" sz="2400" b="0" u="none" strike="noStrike">
                <a:solidFill>
                  <a:schemeClr val="dk1"/>
                </a:solidFill>
                <a:effectLst/>
                <a:uFillTx/>
                <a:latin typeface="Bodoni MT Black"/>
                <a:ea typeface="宋体"/>
              </a:rPr>
              <a:t>语句覆盖是</a:t>
            </a:r>
            <a:r>
              <a:rPr lang="zh-CN" sz="2400" b="0" u="none" strike="noStrike">
                <a:solidFill>
                  <a:srgbClr val="ff0000"/>
                </a:solidFill>
                <a:effectLst/>
                <a:uFillTx/>
                <a:latin typeface="Bodoni MT Black"/>
                <a:ea typeface="宋体"/>
              </a:rPr>
              <a:t>很弱</a:t>
            </a:r>
            <a:r>
              <a:rPr lang="zh-CN" sz="2400" b="0" u="none" strike="noStrike">
                <a:solidFill>
                  <a:schemeClr val="dk1"/>
                </a:solidFill>
                <a:effectLst/>
                <a:uFillTx/>
                <a:latin typeface="Bodoni MT Black"/>
                <a:ea typeface="宋体"/>
              </a:rPr>
              <a:t>的逻辑覆盖标准。</a:t>
            </a:r>
            <a:endParaRPr lang="en-US" sz="2400" b="0" u="none" strike="noStrike">
              <a:solidFill>
                <a:srgbClr val="000000"/>
              </a:solidFill>
              <a:effectLst/>
              <a:uFillTx/>
              <a:latin typeface="Arial"/>
            </a:endParaRPr>
          </a:p>
        </p:txBody>
      </p:sp>
      <p:sp>
        <p:nvSpPr>
          <p:cNvPr id="417"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418"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7.6.1 </a:t>
            </a:r>
            <a:r>
              <a:rPr lang="zh-CN" sz="2400" b="0" u="none" strike="noStrike">
                <a:solidFill>
                  <a:srgbClr val="d9d9d9"/>
                </a:solidFill>
                <a:effectLst/>
                <a:uFillTx/>
                <a:latin typeface="Bodoni MT Black"/>
              </a:rPr>
              <a:t>逻辑覆盖</a:t>
            </a:r>
            <a:endParaRPr lang="en-US" sz="2400" b="0" u="none" strike="noStrike">
              <a:solidFill>
                <a:srgbClr val="000000"/>
              </a:solidFill>
              <a:effectLst/>
              <a:uFillTx/>
              <a:latin typeface="Arial"/>
            </a:endParaRPr>
          </a:p>
        </p:txBody>
      </p:sp>
      <p:sp>
        <p:nvSpPr>
          <p:cNvPr id="419" name="矩形 1"/>
          <p:cNvSpPr/>
          <p:nvPr/>
        </p:nvSpPr>
        <p:spPr>
          <a:xfrm>
            <a:off x="107640" y="3351600"/>
            <a:ext cx="5760720" cy="263124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zh-CN" sz="2200" b="0" u="none" strike="noStrike">
                <a:solidFill>
                  <a:schemeClr val="dk1"/>
                </a:solidFill>
                <a:effectLst/>
                <a:uFillTx/>
                <a:latin typeface="Bodoni MT Black"/>
                <a:ea typeface="宋体"/>
              </a:rPr>
              <a:t>为执行</a:t>
            </a:r>
            <a:r>
              <a:rPr lang="en-US" sz="2200" b="0" u="none" strike="noStrike">
                <a:solidFill>
                  <a:srgbClr val="ff0000"/>
                </a:solidFill>
                <a:effectLst/>
                <a:uFillTx/>
                <a:latin typeface="Bodoni MT Black"/>
                <a:ea typeface="宋体"/>
              </a:rPr>
              <a:t>s-a-c-b-e-d</a:t>
            </a:r>
            <a:r>
              <a:rPr lang="zh-CN" sz="2200" b="0" u="none" strike="noStrike">
                <a:solidFill>
                  <a:schemeClr val="dk1"/>
                </a:solidFill>
                <a:effectLst/>
                <a:uFillTx/>
                <a:latin typeface="Bodoni MT Black"/>
                <a:ea typeface="宋体"/>
              </a:rPr>
              <a:t>路径，以测试每个语句，只需两个判定表达式都取真值，故使用上述一组测试数据就够了。但若程序把第一个判定表达式中的逻辑运算符</a:t>
            </a:r>
            <a:r>
              <a:rPr lang="en-US" sz="2200" b="0" u="none" strike="noStrike">
                <a:solidFill>
                  <a:schemeClr val="dk1"/>
                </a:solidFill>
                <a:effectLst/>
                <a:uFillTx/>
                <a:latin typeface="Bodoni MT Black"/>
                <a:ea typeface="宋体"/>
              </a:rPr>
              <a:t>AND</a:t>
            </a:r>
            <a:r>
              <a:rPr lang="zh-CN" sz="2200" b="0" u="none" strike="noStrike">
                <a:solidFill>
                  <a:schemeClr val="dk1"/>
                </a:solidFill>
                <a:effectLst/>
                <a:uFillTx/>
                <a:latin typeface="Bodoni MT Black"/>
                <a:ea typeface="宋体"/>
              </a:rPr>
              <a:t>错写成</a:t>
            </a:r>
            <a:r>
              <a:rPr lang="en-US" sz="2200" b="0" u="none" strike="noStrike">
                <a:solidFill>
                  <a:schemeClr val="dk1"/>
                </a:solidFill>
                <a:effectLst/>
                <a:uFillTx/>
                <a:latin typeface="Bodoni MT Black"/>
                <a:ea typeface="宋体"/>
              </a:rPr>
              <a:t>OR</a:t>
            </a:r>
            <a:r>
              <a:rPr lang="zh-CN" sz="2200" b="0" u="none" strike="noStrike">
                <a:solidFill>
                  <a:schemeClr val="dk1"/>
                </a:solidFill>
                <a:effectLst/>
                <a:uFillTx/>
                <a:latin typeface="Bodoni MT Black"/>
                <a:ea typeface="宋体"/>
              </a:rPr>
              <a:t>，或把第二个判定表达式中的条件</a:t>
            </a:r>
            <a:r>
              <a:rPr lang="en-US" sz="2200" b="0" u="none" strike="noStrike">
                <a:solidFill>
                  <a:schemeClr val="dk1"/>
                </a:solidFill>
                <a:effectLst/>
                <a:uFillTx/>
                <a:latin typeface="Bodoni MT Black"/>
                <a:ea typeface="宋体"/>
              </a:rPr>
              <a:t>X&gt;1</a:t>
            </a:r>
            <a:r>
              <a:rPr lang="zh-CN" sz="2200" b="0" u="none" strike="noStrike">
                <a:solidFill>
                  <a:schemeClr val="dk1"/>
                </a:solidFill>
                <a:effectLst/>
                <a:uFillTx/>
                <a:latin typeface="Bodoni MT Black"/>
                <a:ea typeface="宋体"/>
              </a:rPr>
              <a:t>误写成</a:t>
            </a:r>
            <a:r>
              <a:rPr lang="en-US" sz="2200" b="0" u="none" strike="noStrike">
                <a:solidFill>
                  <a:schemeClr val="dk1"/>
                </a:solidFill>
                <a:effectLst/>
                <a:uFillTx/>
                <a:latin typeface="Bodoni MT Black"/>
                <a:ea typeface="宋体"/>
              </a:rPr>
              <a:t>X&lt;1</a:t>
            </a:r>
            <a:r>
              <a:rPr lang="zh-CN" sz="2200" b="0" u="none" strike="noStrike">
                <a:solidFill>
                  <a:schemeClr val="dk1"/>
                </a:solidFill>
                <a:effectLst/>
                <a:uFillTx/>
                <a:latin typeface="Bodoni MT Black"/>
                <a:ea typeface="宋体"/>
              </a:rPr>
              <a:t>，使用上面的测试数据并不能查出这些错误。</a:t>
            </a:r>
            <a:endParaRPr lang="en-US" sz="2200" b="0" u="none" strike="noStrike">
              <a:solidFill>
                <a:srgbClr val="000000"/>
              </a:solidFill>
              <a:effectLst/>
              <a:uFillTx/>
              <a:latin typeface="Arial"/>
            </a:endParaRPr>
          </a:p>
        </p:txBody>
      </p:sp>
      <p:pic>
        <p:nvPicPr>
          <p:cNvPr id="420" name="图片 1"/>
          <p:cNvPicPr/>
          <p:nvPr/>
        </p:nvPicPr>
        <p:blipFill>
          <a:blip r:embed="rId1"/>
          <a:stretch/>
        </p:blipFill>
        <p:spPr>
          <a:xfrm>
            <a:off x="5940360" y="3362400"/>
            <a:ext cx="2746080" cy="2898360"/>
          </a:xfrm>
          <a:prstGeom prst="rect">
            <a:avLst/>
          </a:prstGeom>
          <a:solidFill>
            <a:srgbClr val="ff0000"/>
          </a:solidFill>
          <a:ln w="9525">
            <a:noFill/>
          </a:ln>
        </p:spPr>
      </p:pic>
      <p:sp>
        <p:nvSpPr>
          <p:cNvPr id="421" name="任意多边形 10"/>
          <p:cNvSpPr/>
          <p:nvPr/>
        </p:nvSpPr>
        <p:spPr>
          <a:xfrm>
            <a:off x="6490080" y="3674160"/>
            <a:ext cx="1797480" cy="2354040"/>
          </a:xfrm>
          <a:custGeom>
            <a:avLst/>
            <a:gdLst>
              <a:gd name="textAreaLeft" fmla="*/ 0 w 1797480"/>
              <a:gd name="textAreaRight" fmla="*/ 1797840 w 1797480"/>
              <a:gd name="textAreaTop" fmla="*/ 0 h 2354040"/>
              <a:gd name="textAreaBottom" fmla="*/ 2354400 h 2354040"/>
              <a:gd name="GluePoint1X" fmla="*/ 223674 w 1797783"/>
              <a:gd name="GluePoint1Y" fmla="*/ 0 h 2354224"/>
              <a:gd name="GluePoint2X" fmla="*/ 371955 w 1797783"/>
              <a:gd name="GluePoint2Y" fmla="*/ 181232 h 2354224"/>
              <a:gd name="GluePoint3X" fmla="*/ 264863 w 1797783"/>
              <a:gd name="GluePoint3Y" fmla="*/ 486032 h 2354224"/>
              <a:gd name="GluePoint4X" fmla="*/ 1599393 w 1797783"/>
              <a:gd name="GluePoint4Y" fmla="*/ 494270 h 2354224"/>
              <a:gd name="GluePoint5X" fmla="*/ 1607631 w 1797783"/>
              <a:gd name="GluePoint5Y" fmla="*/ 1136821 h 2354224"/>
              <a:gd name="GluePoint6X" fmla="*/ 157771 w 1797783"/>
              <a:gd name="GluePoint6Y" fmla="*/ 1161535 h 2354224"/>
              <a:gd name="GluePoint7X" fmla="*/ 198960 w 1797783"/>
              <a:gd name="GluePoint7Y" fmla="*/ 1696994 h 2354224"/>
              <a:gd name="GluePoint8X" fmla="*/ 1582917 w 1797783"/>
              <a:gd name="GluePoint8Y" fmla="*/ 1631092 h 2354224"/>
              <a:gd name="GluePoint9X" fmla="*/ 1657058 w 1797783"/>
              <a:gd name="GluePoint9Y" fmla="*/ 2051221 h 2354224"/>
              <a:gd name="GluePoint10X" fmla="*/ 248387 w 1797783"/>
              <a:gd name="GluePoint10Y" fmla="*/ 2117124 h 2354224"/>
              <a:gd name="GluePoint11X" fmla="*/ 157771 w 1797783"/>
              <a:gd name="GluePoint11Y" fmla="*/ 2339546 h 2354224"/>
              <a:gd name="GluePoint12X" fmla="*/ 174247 w 1797783"/>
              <a:gd name="GluePoint12Y" fmla="*/ 2314832 h 23542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1797783" h="2354224">
                <a:moveTo>
                  <a:pt x="223674" y="0"/>
                </a:moveTo>
                <a:cubicBezTo>
                  <a:pt x="294382" y="50113"/>
                  <a:pt x="365090" y="100227"/>
                  <a:pt x="371955" y="181232"/>
                </a:cubicBezTo>
                <a:cubicBezTo>
                  <a:pt x="378820" y="262237"/>
                  <a:pt x="60290" y="433859"/>
                  <a:pt x="264863" y="486032"/>
                </a:cubicBezTo>
                <a:cubicBezTo>
                  <a:pt x="469436" y="538205"/>
                  <a:pt x="1375598" y="385805"/>
                  <a:pt x="1599393" y="494270"/>
                </a:cubicBezTo>
                <a:cubicBezTo>
                  <a:pt x="1823188" y="602735"/>
                  <a:pt x="1847901" y="1025610"/>
                  <a:pt x="1607631" y="1136821"/>
                </a:cubicBezTo>
                <a:cubicBezTo>
                  <a:pt x="1367361" y="1248032"/>
                  <a:pt x="392549" y="1068173"/>
                  <a:pt x="157771" y="1161535"/>
                </a:cubicBezTo>
                <a:cubicBezTo>
                  <a:pt x="-77007" y="1254897"/>
                  <a:pt x="-38564" y="1618735"/>
                  <a:pt x="198960" y="1696994"/>
                </a:cubicBezTo>
                <a:cubicBezTo>
                  <a:pt x="436484" y="1775254"/>
                  <a:pt x="1339901" y="1572054"/>
                  <a:pt x="1582917" y="1631092"/>
                </a:cubicBezTo>
                <a:cubicBezTo>
                  <a:pt x="1825933" y="1690130"/>
                  <a:pt x="1879480" y="1970216"/>
                  <a:pt x="1657058" y="2051221"/>
                </a:cubicBezTo>
                <a:cubicBezTo>
                  <a:pt x="1434636" y="2132226"/>
                  <a:pt x="498268" y="2069070"/>
                  <a:pt x="248387" y="2117124"/>
                </a:cubicBezTo>
                <a:cubicBezTo>
                  <a:pt x="-1494" y="2165178"/>
                  <a:pt x="170128" y="2306595"/>
                  <a:pt x="157771" y="2339546"/>
                </a:cubicBezTo>
                <a:cubicBezTo>
                  <a:pt x="145414" y="2372497"/>
                  <a:pt x="159830" y="2343664"/>
                  <a:pt x="174247" y="2314832"/>
                </a:cubicBezTo>
              </a:path>
            </a:pathLst>
          </a:cu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423" name="PlaceHolder 2"/>
          <p:cNvSpPr>
            <a:spLocks noGrp="1"/>
          </p:cNvSpPr>
          <p:nvPr>
            <p:ph/>
          </p:nvPr>
        </p:nvSpPr>
        <p:spPr>
          <a:xfrm>
            <a:off x="251640" y="838440"/>
            <a:ext cx="8229240" cy="604440"/>
          </a:xfrm>
          <a:prstGeom prst="rect">
            <a:avLst/>
          </a:prstGeom>
          <a:noFill/>
          <a:ln w="9360">
            <a:noFill/>
          </a:ln>
        </p:spPr>
        <p:txBody>
          <a:bodyPr numCol="1" spcCol="0" lIns="91440" rIns="91440" tIns="45720" bIns="45720" anchor="t">
            <a:noAutofit/>
          </a:bodyPr>
          <a:p>
            <a:pPr indent="0">
              <a:lnSpc>
                <a:spcPct val="100000"/>
              </a:lnSpc>
              <a:spcBef>
                <a:spcPts val="479"/>
              </a:spcBef>
              <a:buNone/>
              <a:tabLst>
                <a:tab algn="l" pos="0"/>
              </a:tabLst>
            </a:pPr>
            <a:r>
              <a:rPr lang="en-US" sz="2400" b="1" u="none" strike="noStrike">
                <a:solidFill>
                  <a:schemeClr val="dk1"/>
                </a:solidFill>
                <a:effectLst/>
                <a:uFillTx/>
                <a:latin typeface="Bodoni MT Black"/>
              </a:rPr>
              <a:t>2. </a:t>
            </a:r>
            <a:r>
              <a:rPr lang="zh-CN" sz="2400" b="1" u="none" strike="noStrike">
                <a:solidFill>
                  <a:schemeClr val="dk1"/>
                </a:solidFill>
                <a:effectLst/>
                <a:uFillTx/>
                <a:latin typeface="Bodoni MT Black"/>
              </a:rPr>
              <a:t>判定覆盖</a:t>
            </a:r>
            <a:endParaRPr lang="es-ES" sz="2400" b="0" u="none" strike="noStrike">
              <a:solidFill>
                <a:schemeClr val="dk1"/>
              </a:solidFill>
              <a:effectLst/>
              <a:uFillTx/>
              <a:latin typeface="Calibri"/>
            </a:endParaRPr>
          </a:p>
        </p:txBody>
      </p:sp>
      <p:sp>
        <p:nvSpPr>
          <p:cNvPr id="424" name="TextBox 7"/>
          <p:cNvSpPr/>
          <p:nvPr/>
        </p:nvSpPr>
        <p:spPr>
          <a:xfrm>
            <a:off x="251640" y="1268640"/>
            <a:ext cx="8538120" cy="24001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400" b="1" u="none" strike="noStrike">
                <a:solidFill>
                  <a:srgbClr val="c00000"/>
                </a:solidFill>
                <a:effectLst/>
                <a:uFillTx/>
                <a:latin typeface="Bodoni MT Black"/>
              </a:rPr>
              <a:t>判定覆盖</a:t>
            </a:r>
            <a:r>
              <a:rPr lang="zh-CN" sz="2400" b="0" u="none" strike="noStrike">
                <a:solidFill>
                  <a:schemeClr val="dk1"/>
                </a:solidFill>
                <a:effectLst/>
                <a:uFillTx/>
                <a:latin typeface="Bodoni MT Black"/>
              </a:rPr>
              <a:t>又叫分支覆盖，它的含义是不仅每个语句必须至少执行一次，而且</a:t>
            </a:r>
            <a:r>
              <a:rPr lang="zh-CN" sz="2400" b="0" u="none" strike="noStrike">
                <a:solidFill>
                  <a:srgbClr val="ff0000"/>
                </a:solidFill>
                <a:effectLst/>
                <a:uFillTx/>
                <a:latin typeface="Bodoni MT Black"/>
              </a:rPr>
              <a:t>每个判定的每种可能的结果都应该至少执行一次</a:t>
            </a:r>
            <a:r>
              <a:rPr lang="zh-CN" sz="2400" b="0" u="none" strike="noStrike">
                <a:solidFill>
                  <a:schemeClr val="dk1"/>
                </a:solidFill>
                <a:effectLst/>
                <a:uFillTx/>
                <a:latin typeface="Bodoni MT Black"/>
              </a:rPr>
              <a:t>，也就是</a:t>
            </a:r>
            <a:r>
              <a:rPr lang="zh-CN" sz="2400" b="0" u="none" strike="noStrike">
                <a:solidFill>
                  <a:srgbClr val="ff0000"/>
                </a:solidFill>
                <a:effectLst/>
                <a:uFillTx/>
                <a:latin typeface="Bodoni MT Black"/>
              </a:rPr>
              <a:t>每个判定的每个分支都至少执行一次。</a:t>
            </a:r>
            <a:r>
              <a:rPr lang="zh-CN" sz="2400" b="0" u="none" strike="noStrike">
                <a:solidFill>
                  <a:schemeClr val="dk1"/>
                </a:solidFill>
                <a:effectLst/>
                <a:uFillTx/>
                <a:latin typeface="Bodoni MT Black"/>
              </a:rPr>
              <a:t>判定覆盖比语句覆盖</a:t>
            </a:r>
            <a:r>
              <a:rPr lang="zh-CN" sz="2400" b="0" u="none" strike="noStrike">
                <a:solidFill>
                  <a:srgbClr val="ff0000"/>
                </a:solidFill>
                <a:effectLst/>
                <a:uFillTx/>
                <a:latin typeface="Bodoni MT Black"/>
              </a:rPr>
              <a:t>强</a:t>
            </a:r>
            <a:r>
              <a:rPr lang="zh-CN" sz="2400" b="0" u="none" strike="noStrike">
                <a:solidFill>
                  <a:schemeClr val="dk1"/>
                </a:solidFill>
                <a:effectLst/>
                <a:uFillTx/>
                <a:latin typeface="Bodoni MT Black"/>
              </a:rPr>
              <a:t>，但是对程序逻辑的覆盖程度仍然不高，测试数据只覆盖了程序全部路径的</a:t>
            </a:r>
            <a:r>
              <a:rPr lang="zh-CN" sz="2400" b="0" u="none" strike="noStrike">
                <a:solidFill>
                  <a:srgbClr val="ff0000"/>
                </a:solidFill>
                <a:effectLst/>
                <a:uFillTx/>
                <a:latin typeface="Bodoni MT Black"/>
              </a:rPr>
              <a:t>一半</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p:txBody>
      </p:sp>
      <p:sp>
        <p:nvSpPr>
          <p:cNvPr id="425"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426"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7.6.1 </a:t>
            </a:r>
            <a:r>
              <a:rPr lang="zh-CN" sz="2400" b="0" u="none" strike="noStrike">
                <a:solidFill>
                  <a:srgbClr val="d9d9d9"/>
                </a:solidFill>
                <a:effectLst/>
                <a:uFillTx/>
                <a:latin typeface="Bodoni MT Black"/>
              </a:rPr>
              <a:t>逻辑覆盖</a:t>
            </a:r>
            <a:endParaRPr lang="en-US" sz="2400" b="0" u="none" strike="noStrike">
              <a:solidFill>
                <a:srgbClr val="000000"/>
              </a:solidFill>
              <a:effectLst/>
              <a:uFillTx/>
              <a:latin typeface="Arial"/>
            </a:endParaRPr>
          </a:p>
        </p:txBody>
      </p:sp>
      <p:sp>
        <p:nvSpPr>
          <p:cNvPr id="427" name="矩形 1"/>
          <p:cNvSpPr/>
          <p:nvPr/>
        </p:nvSpPr>
        <p:spPr>
          <a:xfrm>
            <a:off x="257040" y="3628080"/>
            <a:ext cx="5753880" cy="2477160"/>
          </a:xfrm>
          <a:prstGeom prst="rect">
            <a:avLst/>
          </a:prstGeom>
          <a:noFill/>
          <a:ln w="0">
            <a:noFill/>
          </a:ln>
        </p:spPr>
        <p:style>
          <a:lnRef idx="0"/>
          <a:fillRef idx="0"/>
          <a:effectRef idx="0"/>
          <a:fontRef idx="minor"/>
        </p:style>
        <p:txBody>
          <a:bodyPr lIns="90000" rIns="90000" tIns="45000" bIns="45000" anchor="t">
            <a:spAutoFit/>
          </a:bodyPr>
          <a:p>
            <a:pPr>
              <a:lnSpc>
                <a:spcPts val="3101"/>
              </a:lnSpc>
            </a:pPr>
            <a:r>
              <a:rPr lang="zh-CN" sz="2200" b="0" u="none" strike="noStrike">
                <a:solidFill>
                  <a:schemeClr val="dk1"/>
                </a:solidFill>
                <a:effectLst/>
                <a:uFillTx/>
                <a:latin typeface="Bodoni MT Black"/>
                <a:ea typeface="宋体"/>
              </a:rPr>
              <a:t>能够分别覆盖路径</a:t>
            </a:r>
            <a:r>
              <a:rPr lang="en-US" sz="2200" b="0" u="none" strike="noStrike">
                <a:solidFill>
                  <a:srgbClr val="ff0000"/>
                </a:solidFill>
                <a:effectLst/>
                <a:uFillTx/>
                <a:latin typeface="Bodoni MT Black"/>
                <a:ea typeface="宋体"/>
              </a:rPr>
              <a:t>s-a-c-b-e-d</a:t>
            </a:r>
            <a:r>
              <a:rPr lang="zh-CN" sz="2200" b="0" u="none" strike="noStrike">
                <a:solidFill>
                  <a:schemeClr val="dk1"/>
                </a:solidFill>
                <a:effectLst/>
                <a:uFillTx/>
                <a:latin typeface="Bodoni MT Black"/>
                <a:ea typeface="宋体"/>
              </a:rPr>
              <a:t>和</a:t>
            </a:r>
            <a:r>
              <a:rPr lang="en-US" sz="2200" b="0" u="none" strike="noStrike">
                <a:solidFill>
                  <a:srgbClr val="00b0f0"/>
                </a:solidFill>
                <a:effectLst/>
                <a:uFillTx/>
                <a:latin typeface="Bodoni MT Black"/>
                <a:ea typeface="宋体"/>
              </a:rPr>
              <a:t>s-a-b-d</a:t>
            </a:r>
            <a:r>
              <a:rPr lang="zh-CN" sz="2200" b="0" u="none" strike="noStrike">
                <a:solidFill>
                  <a:schemeClr val="dk1"/>
                </a:solidFill>
                <a:effectLst/>
                <a:uFillTx/>
                <a:latin typeface="Bodoni MT Black"/>
                <a:ea typeface="宋体"/>
              </a:rPr>
              <a:t>的两组测试数据，或者可以分别覆盖路径</a:t>
            </a:r>
            <a:r>
              <a:rPr lang="en-US" sz="2200" b="0" u="none" strike="noStrike">
                <a:solidFill>
                  <a:srgbClr val="ff0000"/>
                </a:solidFill>
                <a:effectLst/>
                <a:uFillTx/>
                <a:latin typeface="Bodoni MT Black"/>
                <a:ea typeface="宋体"/>
              </a:rPr>
              <a:t>s-a-c-b-d</a:t>
            </a:r>
            <a:r>
              <a:rPr lang="zh-CN" sz="2200" b="0" u="none" strike="noStrike">
                <a:solidFill>
                  <a:schemeClr val="dk1"/>
                </a:solidFill>
                <a:effectLst/>
                <a:uFillTx/>
                <a:latin typeface="Bodoni MT Black"/>
                <a:ea typeface="宋体"/>
              </a:rPr>
              <a:t>和</a:t>
            </a:r>
            <a:r>
              <a:rPr lang="en-US" sz="2200" b="0" u="none" strike="noStrike">
                <a:solidFill>
                  <a:srgbClr val="00b0f0"/>
                </a:solidFill>
                <a:effectLst/>
                <a:uFillTx/>
                <a:latin typeface="Bodoni MT Black"/>
                <a:ea typeface="宋体"/>
              </a:rPr>
              <a:t>s-a-b-e-d</a:t>
            </a:r>
            <a:r>
              <a:rPr lang="zh-CN" sz="2200" b="0" u="none" strike="noStrike">
                <a:solidFill>
                  <a:schemeClr val="dk1"/>
                </a:solidFill>
                <a:effectLst/>
                <a:uFillTx/>
                <a:latin typeface="Bodoni MT Black"/>
                <a:ea typeface="宋体"/>
              </a:rPr>
              <a:t>的两组测试数据，都满足判定覆盖标准。两组测试数据就可做到判定覆盖：① </a:t>
            </a:r>
            <a:r>
              <a:rPr lang="en-US" sz="2200" b="0" u="none" strike="noStrike">
                <a:solidFill>
                  <a:srgbClr val="ff0000"/>
                </a:solidFill>
                <a:effectLst/>
                <a:uFillTx/>
                <a:latin typeface="Bodoni MT Black"/>
                <a:ea typeface="宋体"/>
              </a:rPr>
              <a:t>A=3, B=0, X=3 </a:t>
            </a:r>
            <a:r>
              <a:rPr lang="zh-CN" sz="2200" b="0" u="none" strike="noStrike">
                <a:solidFill>
                  <a:schemeClr val="dk1"/>
                </a:solidFill>
                <a:effectLst/>
                <a:uFillTx/>
                <a:latin typeface="Bodoni MT Black"/>
                <a:ea typeface="宋体"/>
              </a:rPr>
              <a:t>（覆盖</a:t>
            </a:r>
            <a:r>
              <a:rPr lang="en-US" sz="2200" b="0" u="none" strike="noStrike">
                <a:solidFill>
                  <a:srgbClr val="ff0000"/>
                </a:solidFill>
                <a:effectLst/>
                <a:uFillTx/>
                <a:latin typeface="Bodoni MT Black"/>
                <a:ea typeface="宋体"/>
              </a:rPr>
              <a:t>s-a-c-b-d </a:t>
            </a:r>
            <a:r>
              <a:rPr lang="zh-CN" sz="2200" b="0" u="none" strike="noStrike">
                <a:solidFill>
                  <a:schemeClr val="dk1"/>
                </a:solidFill>
                <a:effectLst/>
                <a:uFillTx/>
                <a:latin typeface="Bodoni MT Black"/>
                <a:ea typeface="宋体"/>
              </a:rPr>
              <a:t>）</a:t>
            </a:r>
            <a:endParaRPr lang="en-US" sz="2200" b="0" u="none" strike="noStrike">
              <a:solidFill>
                <a:srgbClr val="000000"/>
              </a:solidFill>
              <a:effectLst/>
              <a:uFillTx/>
              <a:latin typeface="Arial"/>
            </a:endParaRPr>
          </a:p>
          <a:p>
            <a:pPr>
              <a:lnSpc>
                <a:spcPts val="3101"/>
              </a:lnSpc>
            </a:pPr>
            <a:r>
              <a:rPr lang="en-US" sz="2200" b="0" u="none" strike="noStrike">
                <a:solidFill>
                  <a:schemeClr val="dk1"/>
                </a:solidFill>
                <a:effectLst/>
                <a:uFillTx/>
                <a:latin typeface="Bodoni MT Black"/>
                <a:ea typeface="宋体"/>
              </a:rPr>
              <a:t>② </a:t>
            </a:r>
            <a:r>
              <a:rPr lang="en-US" sz="2200" b="0" u="none" strike="noStrike">
                <a:solidFill>
                  <a:srgbClr val="00b0f0"/>
                </a:solidFill>
                <a:effectLst/>
                <a:uFillTx/>
                <a:latin typeface="Bodoni MT Black"/>
                <a:ea typeface="宋体"/>
              </a:rPr>
              <a:t>A=2, B=1, X=1 </a:t>
            </a:r>
            <a:r>
              <a:rPr lang="zh-CN" sz="2200" b="0" u="none" strike="noStrike">
                <a:solidFill>
                  <a:schemeClr val="dk1"/>
                </a:solidFill>
                <a:effectLst/>
                <a:uFillTx/>
                <a:latin typeface="Bodoni MT Black"/>
                <a:ea typeface="宋体"/>
              </a:rPr>
              <a:t>（覆盖</a:t>
            </a:r>
            <a:r>
              <a:rPr lang="en-US" sz="2200" b="0" u="none" strike="noStrike">
                <a:solidFill>
                  <a:srgbClr val="00b0f0"/>
                </a:solidFill>
                <a:effectLst/>
                <a:uFillTx/>
                <a:latin typeface="Bodoni MT Black"/>
                <a:ea typeface="宋体"/>
              </a:rPr>
              <a:t>s-a-b-e-d </a:t>
            </a:r>
            <a:r>
              <a:rPr lang="zh-CN" sz="2200" b="0" u="none" strike="noStrike">
                <a:solidFill>
                  <a:schemeClr val="dk1"/>
                </a:solidFill>
                <a:effectLst/>
                <a:uFillTx/>
                <a:latin typeface="Bodoni MT Black"/>
                <a:ea typeface="宋体"/>
              </a:rPr>
              <a:t>）</a:t>
            </a:r>
            <a:endParaRPr lang="en-US" sz="2200" b="0" u="none" strike="noStrike">
              <a:solidFill>
                <a:srgbClr val="000000"/>
              </a:solidFill>
              <a:effectLst/>
              <a:uFillTx/>
              <a:latin typeface="Arial"/>
            </a:endParaRPr>
          </a:p>
        </p:txBody>
      </p:sp>
      <p:pic>
        <p:nvPicPr>
          <p:cNvPr id="428" name="图片 1"/>
          <p:cNvPicPr/>
          <p:nvPr/>
        </p:nvPicPr>
        <p:blipFill>
          <a:blip r:embed="rId1"/>
          <a:stretch/>
        </p:blipFill>
        <p:spPr>
          <a:xfrm>
            <a:off x="6362280" y="3501000"/>
            <a:ext cx="2746080" cy="2898360"/>
          </a:xfrm>
          <a:prstGeom prst="rect">
            <a:avLst/>
          </a:prstGeom>
          <a:solidFill>
            <a:srgbClr val="ff0000"/>
          </a:solidFill>
          <a:ln w="9525">
            <a:noFill/>
          </a:ln>
        </p:spPr>
      </p:pic>
      <p:grpSp>
        <p:nvGrpSpPr>
          <p:cNvPr id="429" name="组合 4"/>
          <p:cNvGrpSpPr/>
          <p:nvPr/>
        </p:nvGrpSpPr>
        <p:grpSpPr>
          <a:xfrm>
            <a:off x="6912000" y="3812760"/>
            <a:ext cx="1797480" cy="2354040"/>
            <a:chOff x="6912000" y="3812760"/>
            <a:chExt cx="1797480" cy="2354040"/>
          </a:xfrm>
        </p:grpSpPr>
        <p:sp>
          <p:nvSpPr>
            <p:cNvPr id="430" name="任意多边形 11"/>
            <p:cNvSpPr/>
            <p:nvPr/>
          </p:nvSpPr>
          <p:spPr>
            <a:xfrm>
              <a:off x="6912000" y="3812760"/>
              <a:ext cx="1797480" cy="2354040"/>
            </a:xfrm>
            <a:custGeom>
              <a:avLst/>
              <a:gdLst>
                <a:gd name="textAreaLeft" fmla="*/ 0 w 1797480"/>
                <a:gd name="textAreaRight" fmla="*/ 1797840 w 1797480"/>
                <a:gd name="textAreaTop" fmla="*/ 0 h 2354040"/>
                <a:gd name="textAreaBottom" fmla="*/ 2354400 h 2354040"/>
                <a:gd name="GluePoint1X" fmla="*/ 223674 w 1797783"/>
                <a:gd name="GluePoint1Y" fmla="*/ 0 h 2354224"/>
                <a:gd name="GluePoint2X" fmla="*/ 371955 w 1797783"/>
                <a:gd name="GluePoint2Y" fmla="*/ 181232 h 2354224"/>
                <a:gd name="GluePoint3X" fmla="*/ 264863 w 1797783"/>
                <a:gd name="GluePoint3Y" fmla="*/ 486032 h 2354224"/>
                <a:gd name="GluePoint4X" fmla="*/ 1599393 w 1797783"/>
                <a:gd name="GluePoint4Y" fmla="*/ 494270 h 2354224"/>
                <a:gd name="GluePoint5X" fmla="*/ 1607631 w 1797783"/>
                <a:gd name="GluePoint5Y" fmla="*/ 1136821 h 2354224"/>
                <a:gd name="GluePoint6X" fmla="*/ 157771 w 1797783"/>
                <a:gd name="GluePoint6Y" fmla="*/ 1161535 h 2354224"/>
                <a:gd name="GluePoint7X" fmla="*/ 198960 w 1797783"/>
                <a:gd name="GluePoint7Y" fmla="*/ 1696994 h 2354224"/>
                <a:gd name="GluePoint8X" fmla="*/ 1582917 w 1797783"/>
                <a:gd name="GluePoint8Y" fmla="*/ 1631092 h 2354224"/>
                <a:gd name="GluePoint9X" fmla="*/ 1657058 w 1797783"/>
                <a:gd name="GluePoint9Y" fmla="*/ 2051221 h 2354224"/>
                <a:gd name="GluePoint10X" fmla="*/ 248387 w 1797783"/>
                <a:gd name="GluePoint10Y" fmla="*/ 2117124 h 2354224"/>
                <a:gd name="GluePoint11X" fmla="*/ 157771 w 1797783"/>
                <a:gd name="GluePoint11Y" fmla="*/ 2339546 h 2354224"/>
                <a:gd name="GluePoint12X" fmla="*/ 174247 w 1797783"/>
                <a:gd name="GluePoint12Y" fmla="*/ 2314832 h 23542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1797783" h="2354224">
                  <a:moveTo>
                    <a:pt x="223674" y="0"/>
                  </a:moveTo>
                  <a:cubicBezTo>
                    <a:pt x="294382" y="50113"/>
                    <a:pt x="365090" y="100227"/>
                    <a:pt x="371955" y="181232"/>
                  </a:cubicBezTo>
                  <a:cubicBezTo>
                    <a:pt x="378820" y="262237"/>
                    <a:pt x="60290" y="433859"/>
                    <a:pt x="264863" y="486032"/>
                  </a:cubicBezTo>
                  <a:cubicBezTo>
                    <a:pt x="469436" y="538205"/>
                    <a:pt x="1375598" y="385805"/>
                    <a:pt x="1599393" y="494270"/>
                  </a:cubicBezTo>
                  <a:cubicBezTo>
                    <a:pt x="1823188" y="602735"/>
                    <a:pt x="1847901" y="1025610"/>
                    <a:pt x="1607631" y="1136821"/>
                  </a:cubicBezTo>
                  <a:cubicBezTo>
                    <a:pt x="1367361" y="1248032"/>
                    <a:pt x="392549" y="1068173"/>
                    <a:pt x="157771" y="1161535"/>
                  </a:cubicBezTo>
                  <a:cubicBezTo>
                    <a:pt x="-77007" y="1254897"/>
                    <a:pt x="-38564" y="1618735"/>
                    <a:pt x="198960" y="1696994"/>
                  </a:cubicBezTo>
                  <a:cubicBezTo>
                    <a:pt x="436484" y="1775254"/>
                    <a:pt x="1339901" y="1572054"/>
                    <a:pt x="1582917" y="1631092"/>
                  </a:cubicBezTo>
                  <a:cubicBezTo>
                    <a:pt x="1825933" y="1690130"/>
                    <a:pt x="1879480" y="1970216"/>
                    <a:pt x="1657058" y="2051221"/>
                  </a:cubicBezTo>
                  <a:cubicBezTo>
                    <a:pt x="1434636" y="2132226"/>
                    <a:pt x="498268" y="2069070"/>
                    <a:pt x="248387" y="2117124"/>
                  </a:cubicBezTo>
                  <a:cubicBezTo>
                    <a:pt x="-1494" y="2165178"/>
                    <a:pt x="170128" y="2306595"/>
                    <a:pt x="157771" y="2339546"/>
                  </a:cubicBezTo>
                  <a:cubicBezTo>
                    <a:pt x="145414" y="2372497"/>
                    <a:pt x="159830" y="2343664"/>
                    <a:pt x="174247" y="2314832"/>
                  </a:cubicBezTo>
                </a:path>
              </a:pathLst>
            </a:cu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431" name="任意多边形 3"/>
            <p:cNvSpPr/>
            <p:nvPr/>
          </p:nvSpPr>
          <p:spPr>
            <a:xfrm>
              <a:off x="6993360" y="3896640"/>
              <a:ext cx="26280" cy="2042640"/>
            </a:xfrm>
            <a:custGeom>
              <a:avLst/>
              <a:gdLst>
                <a:gd name="textAreaLeft" fmla="*/ 0 w 26280"/>
                <a:gd name="textAreaRight" fmla="*/ 26640 w 26280"/>
                <a:gd name="textAreaTop" fmla="*/ 0 h 2042640"/>
                <a:gd name="textAreaBottom" fmla="*/ 2043000 h 2042640"/>
                <a:gd name="GluePoint1X" fmla="*/ 2087 w 26800"/>
                <a:gd name="GluePoint1Y" fmla="*/ 0 h 2042984"/>
                <a:gd name="GluePoint2X" fmla="*/ 18563 w 26800"/>
                <a:gd name="GluePoint2Y" fmla="*/ 378941 h 2042984"/>
                <a:gd name="GluePoint3X" fmla="*/ 26800 w 26800"/>
                <a:gd name="GluePoint3Y" fmla="*/ 403654 h 2042984"/>
                <a:gd name="GluePoint4X" fmla="*/ 18563 w 26800"/>
                <a:gd name="GluePoint4Y" fmla="*/ 2042984 h 204298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800" h="2042984">
                  <a:moveTo>
                    <a:pt x="2087" y="0"/>
                  </a:moveTo>
                  <a:cubicBezTo>
                    <a:pt x="4076" y="81538"/>
                    <a:pt x="-10942" y="260917"/>
                    <a:pt x="18563" y="378941"/>
                  </a:cubicBezTo>
                  <a:cubicBezTo>
                    <a:pt x="20669" y="387365"/>
                    <a:pt x="24054" y="395416"/>
                    <a:pt x="26800" y="403654"/>
                  </a:cubicBezTo>
                  <a:cubicBezTo>
                    <a:pt x="17997" y="1856258"/>
                    <a:pt x="18563" y="1309808"/>
                    <a:pt x="18563" y="2042984"/>
                  </a:cubicBezTo>
                </a:path>
              </a:pathLst>
            </a:custGeom>
            <a:noFill/>
            <a:ln>
              <a:solidFill>
                <a:srgbClr val="00b0f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grpSp>
      <p:grpSp>
        <p:nvGrpSpPr>
          <p:cNvPr id="432" name="组合 13"/>
          <p:cNvGrpSpPr/>
          <p:nvPr/>
        </p:nvGrpSpPr>
        <p:grpSpPr>
          <a:xfrm>
            <a:off x="6767640" y="3838680"/>
            <a:ext cx="1989720" cy="2256840"/>
            <a:chOff x="6767640" y="3838680"/>
            <a:chExt cx="1989720" cy="2256840"/>
          </a:xfrm>
        </p:grpSpPr>
        <p:sp>
          <p:nvSpPr>
            <p:cNvPr id="433" name="任意多边形 5"/>
            <p:cNvSpPr/>
            <p:nvPr/>
          </p:nvSpPr>
          <p:spPr>
            <a:xfrm>
              <a:off x="6923520" y="3838680"/>
              <a:ext cx="1732320" cy="2256840"/>
            </a:xfrm>
            <a:custGeom>
              <a:avLst/>
              <a:gdLst>
                <a:gd name="textAreaLeft" fmla="*/ 0 w 1732320"/>
                <a:gd name="textAreaRight" fmla="*/ 1732680 w 1732320"/>
                <a:gd name="textAreaTop" fmla="*/ 0 h 2256840"/>
                <a:gd name="textAreaBottom" fmla="*/ 2257200 h 2256840"/>
                <a:gd name="GluePoint1X" fmla="*/ 210311 w 1732775"/>
                <a:gd name="GluePoint1Y" fmla="*/ 0 h 2257122"/>
                <a:gd name="GluePoint2X" fmla="*/ 210311 w 1732775"/>
                <a:gd name="GluePoint2Y" fmla="*/ 634314 h 2257122"/>
                <a:gd name="GluePoint3X" fmla="*/ 1561316 w 1732775"/>
                <a:gd name="GluePoint3Y" fmla="*/ 609600 h 2257122"/>
                <a:gd name="GluePoint4X" fmla="*/ 1561316 w 1732775"/>
                <a:gd name="GluePoint4Y" fmla="*/ 1021492 h 2257122"/>
                <a:gd name="GluePoint5X" fmla="*/ 169121 w 1732775"/>
                <a:gd name="GluePoint5Y" fmla="*/ 972065 h 2257122"/>
                <a:gd name="GluePoint6X" fmla="*/ 12602 w 1732775"/>
                <a:gd name="GluePoint6Y" fmla="*/ 2141838 h 2257122"/>
                <a:gd name="GluePoint7X" fmla="*/ 20840 w 1732775"/>
                <a:gd name="GluePoint7Y" fmla="*/ 2150076 h 225712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732775" h="2257122">
                  <a:moveTo>
                    <a:pt x="210311" y="0"/>
                  </a:moveTo>
                  <a:cubicBezTo>
                    <a:pt x="97727" y="266357"/>
                    <a:pt x="-14857" y="532714"/>
                    <a:pt x="210311" y="634314"/>
                  </a:cubicBezTo>
                  <a:cubicBezTo>
                    <a:pt x="435479" y="735914"/>
                    <a:pt x="1336149" y="545070"/>
                    <a:pt x="1561316" y="609600"/>
                  </a:cubicBezTo>
                  <a:cubicBezTo>
                    <a:pt x="1786483" y="674130"/>
                    <a:pt x="1793349" y="961081"/>
                    <a:pt x="1561316" y="1021492"/>
                  </a:cubicBezTo>
                  <a:cubicBezTo>
                    <a:pt x="1329284" y="1081903"/>
                    <a:pt x="427240" y="785341"/>
                    <a:pt x="169121" y="972065"/>
                  </a:cubicBezTo>
                  <a:cubicBezTo>
                    <a:pt x="-88998" y="1158789"/>
                    <a:pt x="37315" y="1945503"/>
                    <a:pt x="12602" y="2141838"/>
                  </a:cubicBezTo>
                  <a:cubicBezTo>
                    <a:pt x="-12111" y="2338173"/>
                    <a:pt x="4364" y="2244124"/>
                    <a:pt x="20840" y="2150076"/>
                  </a:cubicBezTo>
                </a:path>
              </a:pathLst>
            </a:cu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434" name="任意多边形 12"/>
            <p:cNvSpPr/>
            <p:nvPr/>
          </p:nvSpPr>
          <p:spPr>
            <a:xfrm>
              <a:off x="6767640" y="3871800"/>
              <a:ext cx="1989720" cy="2215440"/>
            </a:xfrm>
            <a:custGeom>
              <a:avLst/>
              <a:gdLst>
                <a:gd name="textAreaLeft" fmla="*/ 0 w 1989720"/>
                <a:gd name="textAreaRight" fmla="*/ 1990080 w 1989720"/>
                <a:gd name="textAreaTop" fmla="*/ 0 h 2215440"/>
                <a:gd name="textAreaBottom" fmla="*/ 2215800 h 2215440"/>
                <a:gd name="GluePoint1X" fmla="*/ 185272 w 1990202"/>
                <a:gd name="GluePoint1Y" fmla="*/ 0 h 2215978"/>
                <a:gd name="GluePoint2X" fmla="*/ 144083 w 1990202"/>
                <a:gd name="GluePoint2Y" fmla="*/ 1466335 h 2215978"/>
                <a:gd name="GluePoint3X" fmla="*/ 1775175 w 1990202"/>
                <a:gd name="GluePoint3Y" fmla="*/ 1614616 h 2215978"/>
                <a:gd name="GluePoint4X" fmla="*/ 1816364 w 1990202"/>
                <a:gd name="GluePoint4Y" fmla="*/ 2059459 h 2215978"/>
                <a:gd name="GluePoint5X" fmla="*/ 341791 w 1990202"/>
                <a:gd name="GluePoint5Y" fmla="*/ 2034746 h 2215978"/>
                <a:gd name="GluePoint6X" fmla="*/ 209986 w 1990202"/>
                <a:gd name="GluePoint6Y" fmla="*/ 2215978 h 221597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990202" h="2215978">
                  <a:moveTo>
                    <a:pt x="185272" y="0"/>
                  </a:moveTo>
                  <a:cubicBezTo>
                    <a:pt x="32185" y="598616"/>
                    <a:pt x="-120901" y="1197232"/>
                    <a:pt x="144083" y="1466335"/>
                  </a:cubicBezTo>
                  <a:cubicBezTo>
                    <a:pt x="409067" y="1735438"/>
                    <a:pt x="1496462" y="1515762"/>
                    <a:pt x="1775175" y="1614616"/>
                  </a:cubicBezTo>
                  <a:cubicBezTo>
                    <a:pt x="2053889" y="1713470"/>
                    <a:pt x="2055261" y="1989437"/>
                    <a:pt x="1816364" y="2059459"/>
                  </a:cubicBezTo>
                  <a:cubicBezTo>
                    <a:pt x="1577467" y="2129481"/>
                    <a:pt x="609521" y="2008660"/>
                    <a:pt x="341791" y="2034746"/>
                  </a:cubicBezTo>
                  <a:cubicBezTo>
                    <a:pt x="74061" y="2060832"/>
                    <a:pt x="142023" y="2138405"/>
                    <a:pt x="209986" y="2215978"/>
                  </a:cubicBezTo>
                </a:path>
              </a:pathLst>
            </a:custGeom>
            <a:noFill/>
            <a:ln>
              <a:solidFill>
                <a:srgbClr val="00b0f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grpSp>
    </p:spTree>
  </p:cSld>
  <mc:AlternateContent>
    <mc:Choice Requires="p14">
      <p:transition spd="slow" p14:dur="2000"/>
    </mc:Choice>
    <mc:Fallback>
      <p:transition spd="slow"/>
    </mc:Fallback>
  </mc:AlternateContent>
  <p:timing>
    <p:tnLst>
      <p:par>
        <p:cTn id="27" dur="indefinite" restart="never" nodeType="tmRoot">
          <p:childTnLst>
            <p:seq>
              <p:cTn id="28" dur="indefinite" nodeType="mainSeq">
                <p:childTnLst>
                  <p:par>
                    <p:cTn id="29" fill="hold">
                      <p:stCondLst>
                        <p:cond delay="indefinite"/>
                      </p:stCondLst>
                      <p:childTnLst>
                        <p:par>
                          <p:cTn id="30" fill="hold">
                            <p:stCondLst>
                              <p:cond delay="0"/>
                            </p:stCondLst>
                            <p:childTnLst>
                              <p:par>
                                <p:cTn id="31" presetID="1" presetClass="entr" fill="hold" nodeType="clickEffect">
                                  <p:stCondLst>
                                    <p:cond delay="0"/>
                                  </p:stCondLst>
                                  <p:childTnLst>
                                    <p:set>
                                      <p:cBhvr>
                                        <p:cTn id="32" dur="1" fill="hold">
                                          <p:stCondLst>
                                            <p:cond delay="0"/>
                                          </p:stCondLst>
                                        </p:cTn>
                                        <p:tgtEl>
                                          <p:spTgt spid="4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fill="hold" nodeType="clickEffect">
                                  <p:stCondLst>
                                    <p:cond delay="0"/>
                                  </p:stCondLst>
                                  <p:childTnLst>
                                    <p:set>
                                      <p:cBhvr>
                                        <p:cTn id="36" dur="1" fill="hold">
                                          <p:stCondLst>
                                            <p:cond delay="0"/>
                                          </p:stCondLst>
                                        </p:cTn>
                                        <p:tgtEl>
                                          <p:spTgt spid="432"/>
                                        </p:tgtEl>
                                        <p:attrNameLst>
                                          <p:attrName>style.visibility</p:attrName>
                                        </p:attrNameLst>
                                      </p:cBhvr>
                                      <p:to>
                                        <p:strVal val="visible"/>
                                      </p:to>
                                    </p:set>
                                  </p:childTnLst>
                                </p:cTn>
                              </p:par>
                              <p:par>
                                <p:cTn id="37" presetID="1" presetClass="exit" fill="hold" nodeType="withEffect">
                                  <p:stCondLst>
                                    <p:cond delay="0"/>
                                  </p:stCondLst>
                                  <p:childTnLst>
                                    <p:set>
                                      <p:cBhvr>
                                        <p:cTn id="38" dur="1" fill="hold">
                                          <p:stCondLst>
                                            <p:cond delay="0"/>
                                          </p:stCondLst>
                                        </p:cTn>
                                        <p:tgtEl>
                                          <p:spTgt spid="42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436" name="PlaceHolder 2"/>
          <p:cNvSpPr>
            <a:spLocks noGrp="1"/>
          </p:cNvSpPr>
          <p:nvPr>
            <p:ph/>
          </p:nvPr>
        </p:nvSpPr>
        <p:spPr>
          <a:xfrm>
            <a:off x="323640" y="960480"/>
            <a:ext cx="8229240" cy="604440"/>
          </a:xfrm>
          <a:prstGeom prst="rect">
            <a:avLst/>
          </a:prstGeom>
          <a:noFill/>
          <a:ln w="9360">
            <a:noFill/>
          </a:ln>
        </p:spPr>
        <p:txBody>
          <a:bodyPr numCol="1" spcCol="0" lIns="91440" rIns="91440" tIns="45720" bIns="45720" anchor="t">
            <a:noAutofit/>
          </a:bodyPr>
          <a:p>
            <a:pPr indent="0">
              <a:lnSpc>
                <a:spcPct val="100000"/>
              </a:lnSpc>
              <a:spcBef>
                <a:spcPts val="479"/>
              </a:spcBef>
              <a:buNone/>
              <a:tabLst>
                <a:tab algn="l" pos="0"/>
              </a:tabLst>
            </a:pPr>
            <a:r>
              <a:rPr lang="en-US" sz="2400" b="1" u="none" strike="noStrike">
                <a:solidFill>
                  <a:schemeClr val="dk1"/>
                </a:solidFill>
                <a:effectLst/>
                <a:uFillTx/>
                <a:latin typeface="Bodoni MT Black"/>
              </a:rPr>
              <a:t>3. </a:t>
            </a:r>
            <a:r>
              <a:rPr lang="zh-CN" sz="2400" b="1" u="none" strike="noStrike">
                <a:solidFill>
                  <a:schemeClr val="dk1"/>
                </a:solidFill>
                <a:effectLst/>
                <a:uFillTx/>
                <a:latin typeface="Bodoni MT Black"/>
              </a:rPr>
              <a:t>条件覆盖</a:t>
            </a:r>
            <a:endParaRPr lang="es-ES" sz="2400" b="0" u="none" strike="noStrike">
              <a:solidFill>
                <a:schemeClr val="dk1"/>
              </a:solidFill>
              <a:effectLst/>
              <a:uFillTx/>
              <a:latin typeface="Calibri"/>
            </a:endParaRPr>
          </a:p>
        </p:txBody>
      </p:sp>
      <p:sp>
        <p:nvSpPr>
          <p:cNvPr id="437" name="TextBox 7"/>
          <p:cNvSpPr/>
          <p:nvPr/>
        </p:nvSpPr>
        <p:spPr>
          <a:xfrm>
            <a:off x="198000" y="1457280"/>
            <a:ext cx="8694000" cy="19386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400" b="1" u="none" strike="noStrike">
                <a:solidFill>
                  <a:srgbClr val="c00000"/>
                </a:solidFill>
                <a:effectLst/>
                <a:uFillTx/>
                <a:latin typeface="Bodoni MT Black"/>
              </a:rPr>
              <a:t>条件覆盖</a:t>
            </a:r>
            <a:r>
              <a:rPr lang="zh-CN" sz="2400" b="0" u="none" strike="noStrike">
                <a:solidFill>
                  <a:schemeClr val="dk1"/>
                </a:solidFill>
                <a:effectLst/>
                <a:uFillTx/>
                <a:latin typeface="Bodoni MT Black"/>
              </a:rPr>
              <a:t>的含义是，不仅每个语句至少执行一次，而且</a:t>
            </a:r>
            <a:r>
              <a:rPr lang="zh-CN" sz="2400" b="0" u="none" strike="noStrike">
                <a:solidFill>
                  <a:srgbClr val="ff0000"/>
                </a:solidFill>
                <a:effectLst/>
                <a:uFillTx/>
                <a:latin typeface="Bodoni MT Black"/>
              </a:rPr>
              <a:t>使判定表达式中的每个条件都取到各种可能的结果</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rPr>
              <a:t>上例中共有</a:t>
            </a:r>
            <a:r>
              <a:rPr lang="zh-CN" sz="2400" b="0" u="none" strike="noStrike">
                <a:solidFill>
                  <a:srgbClr val="ff0000"/>
                </a:solidFill>
                <a:effectLst/>
                <a:uFillTx/>
                <a:latin typeface="Bodoni MT Black"/>
              </a:rPr>
              <a:t>两</a:t>
            </a:r>
            <a:r>
              <a:rPr lang="zh-CN" sz="2400" b="0" u="none" strike="noStrike">
                <a:solidFill>
                  <a:schemeClr val="dk1"/>
                </a:solidFill>
                <a:effectLst/>
                <a:uFillTx/>
                <a:latin typeface="Bodoni MT Black"/>
              </a:rPr>
              <a:t>个判定表达式，每个表达式中有</a:t>
            </a:r>
            <a:r>
              <a:rPr lang="zh-CN" sz="2400" b="0" u="none" strike="noStrike">
                <a:solidFill>
                  <a:srgbClr val="ff0000"/>
                </a:solidFill>
                <a:effectLst/>
                <a:uFillTx/>
                <a:latin typeface="Bodoni MT Black"/>
              </a:rPr>
              <a:t>两</a:t>
            </a:r>
            <a:r>
              <a:rPr lang="zh-CN" sz="2400" b="0" u="none" strike="noStrike">
                <a:solidFill>
                  <a:schemeClr val="dk1"/>
                </a:solidFill>
                <a:effectLst/>
                <a:uFillTx/>
                <a:latin typeface="Bodoni MT Black"/>
              </a:rPr>
              <a:t>个条件，为了做到条件覆盖，应该选取测试数据满足下面的要求。</a:t>
            </a:r>
            <a:endParaRPr lang="en-US" sz="2400" b="0" u="none" strike="noStrike">
              <a:solidFill>
                <a:srgbClr val="000000"/>
              </a:solidFill>
              <a:effectLst/>
              <a:uFillTx/>
              <a:latin typeface="Arial"/>
            </a:endParaRPr>
          </a:p>
        </p:txBody>
      </p:sp>
      <p:pic>
        <p:nvPicPr>
          <p:cNvPr id="438" name="图片 8"/>
          <p:cNvPicPr/>
          <p:nvPr/>
        </p:nvPicPr>
        <p:blipFill>
          <a:blip r:embed="rId1"/>
          <a:stretch/>
        </p:blipFill>
        <p:spPr>
          <a:xfrm>
            <a:off x="5724360" y="3362400"/>
            <a:ext cx="2460240" cy="2658600"/>
          </a:xfrm>
          <a:prstGeom prst="rect">
            <a:avLst/>
          </a:prstGeom>
          <a:noFill/>
          <a:ln w="9525">
            <a:noFill/>
          </a:ln>
        </p:spPr>
      </p:pic>
      <p:sp>
        <p:nvSpPr>
          <p:cNvPr id="439" name="文本框 2"/>
          <p:cNvSpPr/>
          <p:nvPr/>
        </p:nvSpPr>
        <p:spPr>
          <a:xfrm>
            <a:off x="523800" y="3614760"/>
            <a:ext cx="3973320" cy="178488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zh-CN" sz="2200" b="0" u="none" strike="noStrike">
                <a:solidFill>
                  <a:schemeClr val="dk1"/>
                </a:solidFill>
                <a:effectLst/>
                <a:uFillTx/>
                <a:latin typeface="Bodoni MT Black"/>
              </a:rPr>
              <a:t>在</a:t>
            </a:r>
            <a:r>
              <a:rPr lang="en-US" sz="2200" b="0" u="none" strike="noStrike">
                <a:solidFill>
                  <a:schemeClr val="dk1"/>
                </a:solidFill>
                <a:effectLst/>
                <a:uFillTx/>
                <a:latin typeface="Bodoni MT Black"/>
              </a:rPr>
              <a:t>a</a:t>
            </a:r>
            <a:r>
              <a:rPr lang="zh-CN" sz="2200" b="0" u="none" strike="noStrike">
                <a:solidFill>
                  <a:schemeClr val="dk1"/>
                </a:solidFill>
                <a:effectLst/>
                <a:uFillTx/>
                <a:latin typeface="Bodoni MT Black"/>
              </a:rPr>
              <a:t>点有下述各种结果出现：</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Bodoni MT Black"/>
              </a:rPr>
              <a:t>   </a:t>
            </a:r>
            <a:r>
              <a:rPr lang="en-US" sz="2200" b="1" u="none" strike="noStrike">
                <a:solidFill>
                  <a:schemeClr val="dk1"/>
                </a:solidFill>
                <a:effectLst/>
                <a:uFillTx/>
                <a:latin typeface="Bodoni MT Black"/>
              </a:rPr>
              <a:t>A&gt;1, A≤1, B=0, B≠0</a:t>
            </a:r>
            <a:r>
              <a:rPr lang="zh-CN" sz="2200" b="1" u="none" strike="noStrike">
                <a:solidFill>
                  <a:schemeClr val="dk1"/>
                </a:solidFill>
                <a:effectLst/>
                <a:uFillTx/>
                <a:latin typeface="Bodoni MT Black"/>
              </a:rPr>
              <a:t>；</a:t>
            </a:r>
            <a:endParaRPr lang="en-US" sz="2200" b="0" u="none" strike="noStrike">
              <a:solidFill>
                <a:srgbClr val="000000"/>
              </a:solidFill>
              <a:effectLst/>
              <a:uFillTx/>
              <a:latin typeface="Arial"/>
            </a:endParaRPr>
          </a:p>
          <a:p>
            <a:pPr>
              <a:lnSpc>
                <a:spcPct val="125000"/>
              </a:lnSpc>
            </a:pPr>
            <a:r>
              <a:rPr lang="zh-CN" sz="2200" b="0" u="none" strike="noStrike">
                <a:solidFill>
                  <a:schemeClr val="dk1"/>
                </a:solidFill>
                <a:effectLst/>
                <a:uFillTx/>
                <a:latin typeface="Bodoni MT Black"/>
              </a:rPr>
              <a:t>在</a:t>
            </a:r>
            <a:r>
              <a:rPr lang="en-US" sz="2200" b="0" u="none" strike="noStrike">
                <a:solidFill>
                  <a:schemeClr val="dk1"/>
                </a:solidFill>
                <a:effectLst/>
                <a:uFillTx/>
                <a:latin typeface="Bodoni MT Black"/>
              </a:rPr>
              <a:t>b</a:t>
            </a:r>
            <a:r>
              <a:rPr lang="zh-CN" sz="2200" b="0" u="none" strike="noStrike">
                <a:solidFill>
                  <a:schemeClr val="dk1"/>
                </a:solidFill>
                <a:effectLst/>
                <a:uFillTx/>
                <a:latin typeface="Bodoni MT Black"/>
              </a:rPr>
              <a:t>点有下述各种结果出现：</a:t>
            </a:r>
            <a:endParaRPr lang="en-US" sz="2200" b="0" u="none" strike="noStrike">
              <a:solidFill>
                <a:srgbClr val="000000"/>
              </a:solidFill>
              <a:effectLst/>
              <a:uFillTx/>
              <a:latin typeface="Arial"/>
            </a:endParaRPr>
          </a:p>
          <a:p>
            <a:pPr>
              <a:lnSpc>
                <a:spcPct val="125000"/>
              </a:lnSpc>
            </a:pPr>
            <a:r>
              <a:rPr lang="en-US" sz="2200" b="1" u="none" strike="noStrike">
                <a:solidFill>
                  <a:schemeClr val="dk1"/>
                </a:solidFill>
                <a:effectLst/>
                <a:uFillTx/>
                <a:latin typeface="Bodoni MT Black"/>
              </a:rPr>
              <a:t>   A=2, A≠2, X&gt;1, X≤1</a:t>
            </a:r>
            <a:r>
              <a:rPr lang="zh-CN" sz="2200" b="1" u="none" strike="noStrike">
                <a:solidFill>
                  <a:schemeClr val="dk1"/>
                </a:solidFill>
                <a:effectLst/>
                <a:uFillTx/>
                <a:latin typeface="Bodoni MT Black"/>
              </a:rPr>
              <a:t>；</a:t>
            </a:r>
            <a:endParaRPr lang="en-US" sz="2200" b="0" u="none" strike="noStrike">
              <a:solidFill>
                <a:srgbClr val="000000"/>
              </a:solidFill>
              <a:effectLst/>
              <a:uFillTx/>
              <a:latin typeface="Arial"/>
            </a:endParaRPr>
          </a:p>
        </p:txBody>
      </p:sp>
      <p:sp>
        <p:nvSpPr>
          <p:cNvPr id="440"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441"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7.6.1 </a:t>
            </a:r>
            <a:r>
              <a:rPr lang="zh-CN" sz="2400" b="0" u="none" strike="noStrike">
                <a:solidFill>
                  <a:srgbClr val="d9d9d9"/>
                </a:solidFill>
                <a:effectLst/>
                <a:uFillTx/>
                <a:latin typeface="Bodoni MT Black"/>
              </a:rPr>
              <a:t>逻辑覆盖</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PlaceHolder 1"/>
          <p:cNvSpPr>
            <a:spLocks noGrp="1"/>
          </p:cNvSpPr>
          <p:nvPr>
            <p:ph type="title"/>
          </p:nvPr>
        </p:nvSpPr>
        <p:spPr>
          <a:xfrm>
            <a:off x="216000" y="44280"/>
            <a:ext cx="84704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443" name="PlaceHolder 2"/>
          <p:cNvSpPr>
            <a:spLocks noGrp="1"/>
          </p:cNvSpPr>
          <p:nvPr>
            <p:ph/>
          </p:nvPr>
        </p:nvSpPr>
        <p:spPr>
          <a:xfrm>
            <a:off x="222480" y="896040"/>
            <a:ext cx="8470440" cy="604440"/>
          </a:xfrm>
          <a:prstGeom prst="rect">
            <a:avLst/>
          </a:prstGeom>
          <a:noFill/>
          <a:ln w="9360">
            <a:noFill/>
          </a:ln>
        </p:spPr>
        <p:txBody>
          <a:bodyPr numCol="1" spcCol="0" lIns="91440" rIns="91440" tIns="45720" bIns="45720" anchor="t">
            <a:noAutofit/>
          </a:bodyPr>
          <a:p>
            <a:pPr indent="0">
              <a:lnSpc>
                <a:spcPct val="100000"/>
              </a:lnSpc>
              <a:spcBef>
                <a:spcPts val="479"/>
              </a:spcBef>
              <a:buNone/>
              <a:tabLst>
                <a:tab algn="l" pos="0"/>
              </a:tabLst>
            </a:pPr>
            <a:r>
              <a:rPr lang="en-US" sz="2400" b="1" u="none" strike="noStrike">
                <a:solidFill>
                  <a:schemeClr val="dk1"/>
                </a:solidFill>
                <a:effectLst/>
                <a:uFillTx/>
                <a:latin typeface="Bodoni MT Black"/>
              </a:rPr>
              <a:t>3. </a:t>
            </a:r>
            <a:r>
              <a:rPr lang="zh-CN" sz="2400" b="1" u="none" strike="noStrike">
                <a:solidFill>
                  <a:schemeClr val="dk1"/>
                </a:solidFill>
                <a:effectLst/>
                <a:uFillTx/>
                <a:latin typeface="Bodoni MT Black"/>
              </a:rPr>
              <a:t>条件覆盖</a:t>
            </a:r>
            <a:endParaRPr lang="es-ES" sz="2400" b="0" u="none" strike="noStrike">
              <a:solidFill>
                <a:schemeClr val="dk1"/>
              </a:solidFill>
              <a:effectLst/>
              <a:uFillTx/>
              <a:latin typeface="Calibri"/>
            </a:endParaRPr>
          </a:p>
        </p:txBody>
      </p:sp>
      <p:sp>
        <p:nvSpPr>
          <p:cNvPr id="444" name="TextBox 7"/>
          <p:cNvSpPr/>
          <p:nvPr/>
        </p:nvSpPr>
        <p:spPr>
          <a:xfrm>
            <a:off x="154080" y="1271160"/>
            <a:ext cx="8893440" cy="178488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200" b="0" u="none" strike="noStrike">
                <a:solidFill>
                  <a:schemeClr val="dk1"/>
                </a:solidFill>
                <a:effectLst/>
                <a:uFillTx/>
                <a:latin typeface="Bodoni MT Black"/>
              </a:rPr>
              <a:t>    </a:t>
            </a:r>
            <a:r>
              <a:rPr lang="zh-CN" sz="2200" b="0" u="none" strike="noStrike">
                <a:solidFill>
                  <a:schemeClr val="dk1"/>
                </a:solidFill>
                <a:effectLst/>
                <a:uFillTx/>
                <a:latin typeface="Bodoni MT Black"/>
              </a:rPr>
              <a:t>只需要使用下面两组测试数据就可以达到上述覆盖标准：</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rPr>
              <a:t>    ① </a:t>
            </a:r>
            <a:r>
              <a:rPr lang="en-US" sz="2200" b="0" u="none" strike="noStrike">
                <a:solidFill>
                  <a:srgbClr val="ff0000"/>
                </a:solidFill>
                <a:effectLst/>
                <a:uFillTx/>
                <a:latin typeface="Bodoni MT Black"/>
              </a:rPr>
              <a:t>A=2, B=0, X=4</a:t>
            </a:r>
            <a:r>
              <a:rPr lang="zh-CN" sz="2200" b="0" u="none" strike="noStrike">
                <a:solidFill>
                  <a:schemeClr val="dk1"/>
                </a:solidFill>
                <a:effectLst/>
                <a:uFillTx/>
                <a:latin typeface="Bodoni MT Black"/>
              </a:rPr>
              <a:t>（</a:t>
            </a:r>
            <a:r>
              <a:rPr lang="zh-CN" sz="2200" b="0" u="none" strike="noStrike">
                <a:solidFill>
                  <a:schemeClr val="dk1"/>
                </a:solidFill>
                <a:effectLst/>
                <a:uFillTx/>
                <a:latin typeface="Bodoni MT Black"/>
                <a:ea typeface="宋体"/>
              </a:rPr>
              <a:t>满足</a:t>
            </a:r>
            <a:r>
              <a:rPr lang="en-US" sz="2200" b="0" u="none" strike="noStrike">
                <a:solidFill>
                  <a:schemeClr val="dk1"/>
                </a:solidFill>
                <a:effectLst/>
                <a:uFillTx/>
                <a:latin typeface="Bodoni MT Black"/>
                <a:ea typeface="宋体"/>
              </a:rPr>
              <a:t>A&gt;1,B=0,A=2</a:t>
            </a:r>
            <a:r>
              <a:rPr lang="zh-CN" sz="2200" b="0" u="none" strike="noStrike">
                <a:solidFill>
                  <a:schemeClr val="dk1"/>
                </a:solidFill>
                <a:effectLst/>
                <a:uFillTx/>
                <a:latin typeface="Bodoni MT Black"/>
                <a:ea typeface="宋体"/>
              </a:rPr>
              <a:t>和</a:t>
            </a:r>
            <a:r>
              <a:rPr lang="en-US" sz="2200" b="0" u="none" strike="noStrike">
                <a:solidFill>
                  <a:schemeClr val="dk1"/>
                </a:solidFill>
                <a:effectLst/>
                <a:uFillTx/>
                <a:latin typeface="Bodoni MT Black"/>
                <a:ea typeface="宋体"/>
              </a:rPr>
              <a:t>X&gt;1</a:t>
            </a:r>
            <a:r>
              <a:rPr lang="zh-CN" sz="2200" b="0" u="none" strike="noStrike">
                <a:solidFill>
                  <a:schemeClr val="dk1"/>
                </a:solidFill>
                <a:effectLst/>
                <a:uFillTx/>
                <a:latin typeface="Bodoni MT Black"/>
                <a:ea typeface="宋体"/>
              </a:rPr>
              <a:t>，执行路径</a:t>
            </a:r>
            <a:r>
              <a:rPr lang="en-US" sz="2200" b="0" u="none" strike="noStrike">
                <a:solidFill>
                  <a:srgbClr val="ff0000"/>
                </a:solidFill>
                <a:effectLst/>
                <a:uFillTx/>
                <a:latin typeface="Bodoni MT Black"/>
                <a:ea typeface="宋体"/>
              </a:rPr>
              <a:t>s-a-c-b-e-d</a:t>
            </a:r>
            <a:r>
              <a:rPr lang="zh-CN" sz="2200" b="0" u="none" strike="noStrike">
                <a:solidFill>
                  <a:schemeClr val="dk1"/>
                </a:solidFill>
                <a:effectLst/>
                <a:uFillTx/>
                <a:latin typeface="Bodoni MT Black"/>
                <a:ea typeface="宋体"/>
              </a:rPr>
              <a:t>）② </a:t>
            </a:r>
            <a:r>
              <a:rPr lang="en-US" sz="2200" b="0" u="none" strike="noStrike">
                <a:solidFill>
                  <a:srgbClr val="00b0f0"/>
                </a:solidFill>
                <a:effectLst/>
                <a:uFillTx/>
                <a:latin typeface="Bodoni MT Black"/>
                <a:ea typeface="宋体"/>
              </a:rPr>
              <a:t>A=1, B=1, X=1</a:t>
            </a:r>
            <a:r>
              <a:rPr lang="zh-CN" sz="2200" b="0" u="none" strike="noStrike">
                <a:solidFill>
                  <a:schemeClr val="dk1"/>
                </a:solidFill>
                <a:effectLst/>
                <a:uFillTx/>
                <a:latin typeface="Bodoni MT Black"/>
                <a:ea typeface="宋体"/>
              </a:rPr>
              <a:t>（满足</a:t>
            </a:r>
            <a:r>
              <a:rPr lang="en-US" sz="2200" b="0" u="none" strike="noStrike">
                <a:solidFill>
                  <a:schemeClr val="dk1"/>
                </a:solidFill>
                <a:effectLst/>
                <a:uFillTx/>
                <a:latin typeface="Bodoni MT Black"/>
                <a:ea typeface="宋体"/>
              </a:rPr>
              <a:t>A≤1,B≠0,A≠2</a:t>
            </a:r>
            <a:r>
              <a:rPr lang="zh-CN" sz="2200" b="0" u="none" strike="noStrike">
                <a:solidFill>
                  <a:schemeClr val="dk1"/>
                </a:solidFill>
                <a:effectLst/>
                <a:uFillTx/>
                <a:latin typeface="Bodoni MT Black"/>
                <a:ea typeface="宋体"/>
              </a:rPr>
              <a:t>和</a:t>
            </a:r>
            <a:r>
              <a:rPr lang="en-US" sz="2200" b="0" u="none" strike="noStrike">
                <a:solidFill>
                  <a:schemeClr val="dk1"/>
                </a:solidFill>
                <a:effectLst/>
                <a:uFillTx/>
                <a:latin typeface="Bodoni MT Black"/>
                <a:ea typeface="宋体"/>
              </a:rPr>
              <a:t>X≤1</a:t>
            </a:r>
            <a:r>
              <a:rPr lang="zh-CN" sz="2200" b="0" u="none" strike="noStrike">
                <a:solidFill>
                  <a:schemeClr val="dk1"/>
                </a:solidFill>
                <a:effectLst/>
                <a:uFillTx/>
                <a:latin typeface="Bodoni MT Black"/>
                <a:ea typeface="宋体"/>
              </a:rPr>
              <a:t>，执行路径</a:t>
            </a:r>
            <a:r>
              <a:rPr lang="en-US" sz="2200" b="0" u="none" strike="noStrike">
                <a:solidFill>
                  <a:srgbClr val="00b0f0"/>
                </a:solidFill>
                <a:effectLst/>
                <a:uFillTx/>
                <a:latin typeface="Bodoni MT Black"/>
                <a:ea typeface="宋体"/>
              </a:rPr>
              <a:t>s-a-b-d</a:t>
            </a:r>
            <a:r>
              <a:rPr lang="zh-CN" sz="2200" b="0" u="none" strike="noStrike">
                <a:solidFill>
                  <a:schemeClr val="dk1"/>
                </a:solidFill>
                <a:effectLst/>
                <a:uFillTx/>
                <a:latin typeface="Bodoni MT Black"/>
                <a:ea typeface="宋体"/>
              </a:rPr>
              <a:t>）    </a:t>
            </a:r>
            <a:endParaRPr lang="en-US" sz="2200" b="0" u="none" strike="noStrike">
              <a:solidFill>
                <a:srgbClr val="000000"/>
              </a:solidFill>
              <a:effectLst/>
              <a:uFillTx/>
              <a:latin typeface="Arial"/>
            </a:endParaRPr>
          </a:p>
        </p:txBody>
      </p:sp>
      <p:sp>
        <p:nvSpPr>
          <p:cNvPr id="445" name="1 Título"/>
          <p:cNvSpPr/>
          <p:nvPr/>
        </p:nvSpPr>
        <p:spPr>
          <a:xfrm>
            <a:off x="-67680" y="6291360"/>
            <a:ext cx="238356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446" name="1 Título"/>
          <p:cNvSpPr/>
          <p:nvPr/>
        </p:nvSpPr>
        <p:spPr>
          <a:xfrm>
            <a:off x="2682720" y="6291360"/>
            <a:ext cx="38527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7.6.1 </a:t>
            </a:r>
            <a:r>
              <a:rPr lang="zh-CN" sz="2400" b="0" u="none" strike="noStrike">
                <a:solidFill>
                  <a:srgbClr val="d9d9d9"/>
                </a:solidFill>
                <a:effectLst/>
                <a:uFillTx/>
                <a:latin typeface="Bodoni MT Black"/>
              </a:rPr>
              <a:t>逻辑覆盖</a:t>
            </a:r>
            <a:endParaRPr lang="en-US" sz="2400" b="0" u="none" strike="noStrike">
              <a:solidFill>
                <a:srgbClr val="000000"/>
              </a:solidFill>
              <a:effectLst/>
              <a:uFillTx/>
              <a:latin typeface="Arial"/>
            </a:endParaRPr>
          </a:p>
        </p:txBody>
      </p:sp>
      <p:sp>
        <p:nvSpPr>
          <p:cNvPr id="447" name="矩形 1"/>
          <p:cNvSpPr/>
          <p:nvPr/>
        </p:nvSpPr>
        <p:spPr>
          <a:xfrm>
            <a:off x="197640" y="2922840"/>
            <a:ext cx="6103080" cy="263124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200" b="0" u="none" strike="noStrike">
                <a:solidFill>
                  <a:schemeClr val="dk1"/>
                </a:solidFill>
                <a:effectLst/>
                <a:uFillTx/>
                <a:latin typeface="Bodoni MT Black"/>
                <a:ea typeface="宋体"/>
              </a:rPr>
              <a:t>若使用下面两组测试数据，则只满足条件覆盖标准并不满足判定覆盖标准（第二个判定表达式的值总为真）：①</a:t>
            </a:r>
            <a:r>
              <a:rPr lang="en-US" sz="2200" b="0" u="none" strike="noStrike">
                <a:solidFill>
                  <a:schemeClr val="dk1"/>
                </a:solidFill>
                <a:effectLst/>
                <a:uFillTx/>
                <a:latin typeface="Bodoni MT Black"/>
                <a:ea typeface="宋体"/>
              </a:rPr>
              <a:t> </a:t>
            </a:r>
            <a:r>
              <a:rPr lang="en-US" sz="2200" b="0" u="none" strike="noStrike">
                <a:solidFill>
                  <a:srgbClr val="ff0000"/>
                </a:solidFill>
                <a:effectLst/>
                <a:uFillTx/>
                <a:latin typeface="Bodoni MT Black"/>
                <a:ea typeface="宋体"/>
              </a:rPr>
              <a:t>A=2, B=0, X=1</a:t>
            </a:r>
            <a:r>
              <a:rPr lang="zh-CN" sz="2200" b="0" u="none" strike="noStrike">
                <a:solidFill>
                  <a:schemeClr val="dk1"/>
                </a:solidFill>
                <a:effectLst/>
                <a:uFillTx/>
                <a:latin typeface="Bodoni MT Black"/>
                <a:ea typeface="宋体"/>
              </a:rPr>
              <a:t>（满足</a:t>
            </a:r>
            <a:r>
              <a:rPr lang="en-US" sz="2200" b="0" u="none" strike="noStrike">
                <a:solidFill>
                  <a:schemeClr val="dk1"/>
                </a:solidFill>
                <a:effectLst/>
                <a:uFillTx/>
                <a:latin typeface="Bodoni MT Black"/>
                <a:ea typeface="宋体"/>
              </a:rPr>
              <a:t>A&gt;1,B=0,A=2</a:t>
            </a:r>
            <a:r>
              <a:rPr lang="zh-CN" sz="2200" b="0" u="none" strike="noStrike">
                <a:solidFill>
                  <a:schemeClr val="dk1"/>
                </a:solidFill>
                <a:effectLst/>
                <a:uFillTx/>
                <a:latin typeface="Bodoni MT Black"/>
                <a:ea typeface="宋体"/>
              </a:rPr>
              <a:t>和</a:t>
            </a:r>
            <a:r>
              <a:rPr lang="en-US" sz="2200" b="0" u="none" strike="noStrike">
                <a:solidFill>
                  <a:schemeClr val="dk1"/>
                </a:solidFill>
                <a:effectLst/>
                <a:uFillTx/>
                <a:latin typeface="Bodoni MT Black"/>
                <a:ea typeface="宋体"/>
              </a:rPr>
              <a:t>X≤1</a:t>
            </a:r>
            <a:r>
              <a:rPr lang="zh-CN" sz="2200" b="0" u="none" strike="noStrike">
                <a:solidFill>
                  <a:schemeClr val="dk1"/>
                </a:solidFill>
                <a:effectLst/>
                <a:uFillTx/>
                <a:latin typeface="Bodoni MT Black"/>
                <a:ea typeface="宋体"/>
              </a:rPr>
              <a:t>，执行路径</a:t>
            </a:r>
            <a:r>
              <a:rPr lang="en-US" sz="2200" b="0" u="none" strike="noStrike">
                <a:solidFill>
                  <a:srgbClr val="ff0000"/>
                </a:solidFill>
                <a:effectLst/>
                <a:uFillTx/>
                <a:latin typeface="Bodoni MT Black"/>
                <a:ea typeface="宋体"/>
              </a:rPr>
              <a:t>s-a-c-b-e-d</a:t>
            </a:r>
            <a:r>
              <a:rPr lang="zh-CN" sz="2200" b="0" u="none" strike="noStrike">
                <a:solidFill>
                  <a:schemeClr val="dk1"/>
                </a:solidFill>
                <a:effectLst/>
                <a:uFillTx/>
                <a:latin typeface="Bodoni MT Black"/>
                <a:ea typeface="宋体"/>
              </a:rPr>
              <a:t>）</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ea typeface="宋体"/>
              </a:rPr>
              <a:t>② </a:t>
            </a:r>
            <a:r>
              <a:rPr lang="en-US" sz="2200" b="0" u="none" strike="noStrike">
                <a:solidFill>
                  <a:srgbClr val="00b0f0"/>
                </a:solidFill>
                <a:effectLst/>
                <a:uFillTx/>
                <a:latin typeface="Bodoni MT Black"/>
                <a:ea typeface="宋体"/>
              </a:rPr>
              <a:t>A=1, B=1, X=2</a:t>
            </a:r>
            <a:r>
              <a:rPr lang="zh-CN" sz="2200" b="0" u="none" strike="noStrike">
                <a:solidFill>
                  <a:schemeClr val="dk1"/>
                </a:solidFill>
                <a:effectLst/>
                <a:uFillTx/>
                <a:latin typeface="Bodoni MT Black"/>
                <a:ea typeface="宋体"/>
              </a:rPr>
              <a:t>（满足</a:t>
            </a:r>
            <a:r>
              <a:rPr lang="en-US" sz="2200" b="0" u="none" strike="noStrike">
                <a:solidFill>
                  <a:schemeClr val="dk1"/>
                </a:solidFill>
                <a:effectLst/>
                <a:uFillTx/>
                <a:latin typeface="Bodoni MT Black"/>
                <a:ea typeface="宋体"/>
              </a:rPr>
              <a:t>A≤1,B≠0,A≠2</a:t>
            </a:r>
            <a:r>
              <a:rPr lang="zh-CN" sz="2200" b="0" u="none" strike="noStrike">
                <a:solidFill>
                  <a:schemeClr val="dk1"/>
                </a:solidFill>
                <a:effectLst/>
                <a:uFillTx/>
                <a:latin typeface="Bodoni MT Black"/>
                <a:ea typeface="宋体"/>
              </a:rPr>
              <a:t>和</a:t>
            </a:r>
            <a:r>
              <a:rPr lang="en-US" sz="2200" b="0" u="none" strike="noStrike">
                <a:solidFill>
                  <a:schemeClr val="dk1"/>
                </a:solidFill>
                <a:effectLst/>
                <a:uFillTx/>
                <a:latin typeface="Bodoni MT Black"/>
                <a:ea typeface="宋体"/>
              </a:rPr>
              <a:t>X&gt;1</a:t>
            </a:r>
            <a:r>
              <a:rPr lang="zh-CN" sz="2200" b="0" u="none" strike="noStrike">
                <a:solidFill>
                  <a:schemeClr val="dk1"/>
                </a:solidFill>
                <a:effectLst/>
                <a:uFillTx/>
                <a:latin typeface="Bodoni MT Black"/>
                <a:ea typeface="宋体"/>
              </a:rPr>
              <a:t>，执行路径</a:t>
            </a:r>
            <a:r>
              <a:rPr lang="en-US" sz="2200" b="0" u="none" strike="noStrike">
                <a:solidFill>
                  <a:srgbClr val="00b0f0"/>
                </a:solidFill>
                <a:effectLst/>
                <a:uFillTx/>
                <a:latin typeface="Bodoni MT Black"/>
                <a:ea typeface="宋体"/>
              </a:rPr>
              <a:t>s-a-b-e-d</a:t>
            </a:r>
            <a:r>
              <a:rPr lang="zh-CN" sz="2200" b="0" u="none" strike="noStrike">
                <a:solidFill>
                  <a:schemeClr val="dk1"/>
                </a:solidFill>
                <a:effectLst/>
                <a:uFillTx/>
                <a:latin typeface="Bodoni MT Black"/>
                <a:ea typeface="宋体"/>
              </a:rPr>
              <a:t>）</a:t>
            </a:r>
            <a:endParaRPr lang="en-US" sz="2200" b="0" u="none" strike="noStrike">
              <a:solidFill>
                <a:srgbClr val="000000"/>
              </a:solidFill>
              <a:effectLst/>
              <a:uFillTx/>
              <a:latin typeface="Arial"/>
            </a:endParaRPr>
          </a:p>
        </p:txBody>
      </p:sp>
      <p:sp>
        <p:nvSpPr>
          <p:cNvPr id="448" name="矩形 2"/>
          <p:cNvSpPr/>
          <p:nvPr/>
        </p:nvSpPr>
        <p:spPr>
          <a:xfrm>
            <a:off x="239400" y="5544720"/>
            <a:ext cx="8904240" cy="96660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zh-CN" sz="2400" b="0" u="none" strike="noStrike">
                <a:solidFill>
                  <a:schemeClr val="dk1"/>
                </a:solidFill>
                <a:effectLst/>
                <a:uFillTx/>
                <a:latin typeface="Bodoni MT Black"/>
                <a:ea typeface="宋体"/>
              </a:rPr>
              <a:t>条件覆盖常比判定覆盖</a:t>
            </a:r>
            <a:r>
              <a:rPr lang="zh-CN" sz="2400" b="0" u="none" strike="noStrike">
                <a:solidFill>
                  <a:srgbClr val="ff0000"/>
                </a:solidFill>
                <a:effectLst/>
                <a:uFillTx/>
                <a:latin typeface="Bodoni MT Black"/>
                <a:ea typeface="宋体"/>
              </a:rPr>
              <a:t>强</a:t>
            </a:r>
            <a:r>
              <a:rPr lang="zh-CN" sz="2400" b="0" u="none" strike="noStrike">
                <a:solidFill>
                  <a:schemeClr val="dk1"/>
                </a:solidFill>
                <a:effectLst/>
                <a:uFillTx/>
                <a:latin typeface="Bodoni MT Black"/>
                <a:ea typeface="宋体"/>
              </a:rPr>
              <a:t>，但</a:t>
            </a:r>
            <a:r>
              <a:rPr lang="zh-CN" sz="2400" b="0" u="none" strike="noStrike">
                <a:solidFill>
                  <a:srgbClr val="ff0000"/>
                </a:solidFill>
                <a:effectLst/>
                <a:uFillTx/>
                <a:latin typeface="Bodoni MT Black"/>
                <a:ea typeface="宋体"/>
              </a:rPr>
              <a:t>满足条件覆盖的测试数据不一定满足判定覆盖</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pic>
        <p:nvPicPr>
          <p:cNvPr id="449" name="图片 1"/>
          <p:cNvPicPr/>
          <p:nvPr/>
        </p:nvPicPr>
        <p:blipFill>
          <a:blip r:embed="rId1"/>
          <a:stretch/>
        </p:blipFill>
        <p:spPr>
          <a:xfrm>
            <a:off x="6301080" y="2563200"/>
            <a:ext cx="2746080" cy="2898360"/>
          </a:xfrm>
          <a:prstGeom prst="rect">
            <a:avLst/>
          </a:prstGeom>
          <a:solidFill>
            <a:srgbClr val="ff0000"/>
          </a:solidFill>
          <a:ln w="9525">
            <a:noFill/>
          </a:ln>
        </p:spPr>
      </p:pic>
      <p:grpSp>
        <p:nvGrpSpPr>
          <p:cNvPr id="450" name="组合 11"/>
          <p:cNvGrpSpPr/>
          <p:nvPr/>
        </p:nvGrpSpPr>
        <p:grpSpPr>
          <a:xfrm>
            <a:off x="6806520" y="2961720"/>
            <a:ext cx="1797480" cy="2354040"/>
            <a:chOff x="6806520" y="2961720"/>
            <a:chExt cx="1797480" cy="2354040"/>
          </a:xfrm>
        </p:grpSpPr>
        <p:sp>
          <p:nvSpPr>
            <p:cNvPr id="451" name="任意多边形 12"/>
            <p:cNvSpPr/>
            <p:nvPr/>
          </p:nvSpPr>
          <p:spPr>
            <a:xfrm>
              <a:off x="6806520" y="2961720"/>
              <a:ext cx="1797480" cy="2354040"/>
            </a:xfrm>
            <a:custGeom>
              <a:avLst/>
              <a:gdLst>
                <a:gd name="textAreaLeft" fmla="*/ 0 w 1797480"/>
                <a:gd name="textAreaRight" fmla="*/ 1797840 w 1797480"/>
                <a:gd name="textAreaTop" fmla="*/ 0 h 2354040"/>
                <a:gd name="textAreaBottom" fmla="*/ 2354400 h 2354040"/>
                <a:gd name="GluePoint1X" fmla="*/ 223674 w 1797783"/>
                <a:gd name="GluePoint1Y" fmla="*/ 0 h 2354224"/>
                <a:gd name="GluePoint2X" fmla="*/ 371955 w 1797783"/>
                <a:gd name="GluePoint2Y" fmla="*/ 181232 h 2354224"/>
                <a:gd name="GluePoint3X" fmla="*/ 264863 w 1797783"/>
                <a:gd name="GluePoint3Y" fmla="*/ 486032 h 2354224"/>
                <a:gd name="GluePoint4X" fmla="*/ 1599393 w 1797783"/>
                <a:gd name="GluePoint4Y" fmla="*/ 494270 h 2354224"/>
                <a:gd name="GluePoint5X" fmla="*/ 1607631 w 1797783"/>
                <a:gd name="GluePoint5Y" fmla="*/ 1136821 h 2354224"/>
                <a:gd name="GluePoint6X" fmla="*/ 157771 w 1797783"/>
                <a:gd name="GluePoint6Y" fmla="*/ 1161535 h 2354224"/>
                <a:gd name="GluePoint7X" fmla="*/ 198960 w 1797783"/>
                <a:gd name="GluePoint7Y" fmla="*/ 1696994 h 2354224"/>
                <a:gd name="GluePoint8X" fmla="*/ 1582917 w 1797783"/>
                <a:gd name="GluePoint8Y" fmla="*/ 1631092 h 2354224"/>
                <a:gd name="GluePoint9X" fmla="*/ 1657058 w 1797783"/>
                <a:gd name="GluePoint9Y" fmla="*/ 2051221 h 2354224"/>
                <a:gd name="GluePoint10X" fmla="*/ 248387 w 1797783"/>
                <a:gd name="GluePoint10Y" fmla="*/ 2117124 h 2354224"/>
                <a:gd name="GluePoint11X" fmla="*/ 157771 w 1797783"/>
                <a:gd name="GluePoint11Y" fmla="*/ 2339546 h 2354224"/>
                <a:gd name="GluePoint12X" fmla="*/ 174247 w 1797783"/>
                <a:gd name="GluePoint12Y" fmla="*/ 2314832 h 23542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1797783" h="2354224">
                  <a:moveTo>
                    <a:pt x="223674" y="0"/>
                  </a:moveTo>
                  <a:cubicBezTo>
                    <a:pt x="294382" y="50113"/>
                    <a:pt x="365090" y="100227"/>
                    <a:pt x="371955" y="181232"/>
                  </a:cubicBezTo>
                  <a:cubicBezTo>
                    <a:pt x="378820" y="262237"/>
                    <a:pt x="60290" y="433859"/>
                    <a:pt x="264863" y="486032"/>
                  </a:cubicBezTo>
                  <a:cubicBezTo>
                    <a:pt x="469436" y="538205"/>
                    <a:pt x="1375598" y="385805"/>
                    <a:pt x="1599393" y="494270"/>
                  </a:cubicBezTo>
                  <a:cubicBezTo>
                    <a:pt x="1823188" y="602735"/>
                    <a:pt x="1847901" y="1025610"/>
                    <a:pt x="1607631" y="1136821"/>
                  </a:cubicBezTo>
                  <a:cubicBezTo>
                    <a:pt x="1367361" y="1248032"/>
                    <a:pt x="392549" y="1068173"/>
                    <a:pt x="157771" y="1161535"/>
                  </a:cubicBezTo>
                  <a:cubicBezTo>
                    <a:pt x="-77007" y="1254897"/>
                    <a:pt x="-38564" y="1618735"/>
                    <a:pt x="198960" y="1696994"/>
                  </a:cubicBezTo>
                  <a:cubicBezTo>
                    <a:pt x="436484" y="1775254"/>
                    <a:pt x="1339901" y="1572054"/>
                    <a:pt x="1582917" y="1631092"/>
                  </a:cubicBezTo>
                  <a:cubicBezTo>
                    <a:pt x="1825933" y="1690130"/>
                    <a:pt x="1879480" y="1970216"/>
                    <a:pt x="1657058" y="2051221"/>
                  </a:cubicBezTo>
                  <a:cubicBezTo>
                    <a:pt x="1434636" y="2132226"/>
                    <a:pt x="498268" y="2069070"/>
                    <a:pt x="248387" y="2117124"/>
                  </a:cubicBezTo>
                  <a:cubicBezTo>
                    <a:pt x="-1494" y="2165178"/>
                    <a:pt x="170128" y="2306595"/>
                    <a:pt x="157771" y="2339546"/>
                  </a:cubicBezTo>
                  <a:cubicBezTo>
                    <a:pt x="145414" y="2372497"/>
                    <a:pt x="159830" y="2343664"/>
                    <a:pt x="174247" y="2314832"/>
                  </a:cubicBezTo>
                </a:path>
              </a:pathLst>
            </a:cu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452" name="任意多边形 13"/>
            <p:cNvSpPr/>
            <p:nvPr/>
          </p:nvSpPr>
          <p:spPr>
            <a:xfrm>
              <a:off x="6888240" y="3045600"/>
              <a:ext cx="26280" cy="2042640"/>
            </a:xfrm>
            <a:custGeom>
              <a:avLst/>
              <a:gdLst>
                <a:gd name="textAreaLeft" fmla="*/ 0 w 26280"/>
                <a:gd name="textAreaRight" fmla="*/ 26640 w 26280"/>
                <a:gd name="textAreaTop" fmla="*/ 0 h 2042640"/>
                <a:gd name="textAreaBottom" fmla="*/ 2043000 h 2042640"/>
                <a:gd name="GluePoint1X" fmla="*/ 2087 w 26800"/>
                <a:gd name="GluePoint1Y" fmla="*/ 0 h 2042984"/>
                <a:gd name="GluePoint2X" fmla="*/ 18563 w 26800"/>
                <a:gd name="GluePoint2Y" fmla="*/ 378941 h 2042984"/>
                <a:gd name="GluePoint3X" fmla="*/ 26800 w 26800"/>
                <a:gd name="GluePoint3Y" fmla="*/ 403654 h 2042984"/>
                <a:gd name="GluePoint4X" fmla="*/ 18563 w 26800"/>
                <a:gd name="GluePoint4Y" fmla="*/ 2042984 h 204298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800" h="2042984">
                  <a:moveTo>
                    <a:pt x="2087" y="0"/>
                  </a:moveTo>
                  <a:cubicBezTo>
                    <a:pt x="4076" y="81538"/>
                    <a:pt x="-10942" y="260917"/>
                    <a:pt x="18563" y="378941"/>
                  </a:cubicBezTo>
                  <a:cubicBezTo>
                    <a:pt x="20669" y="387365"/>
                    <a:pt x="24054" y="395416"/>
                    <a:pt x="26800" y="403654"/>
                  </a:cubicBezTo>
                  <a:cubicBezTo>
                    <a:pt x="17997" y="1856258"/>
                    <a:pt x="18563" y="1309808"/>
                    <a:pt x="18563" y="2042984"/>
                  </a:cubicBezTo>
                </a:path>
              </a:pathLst>
            </a:custGeom>
            <a:noFill/>
            <a:ln>
              <a:solidFill>
                <a:srgbClr val="00b0f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grpSp>
      <p:grpSp>
        <p:nvGrpSpPr>
          <p:cNvPr id="453" name="组合 4"/>
          <p:cNvGrpSpPr/>
          <p:nvPr/>
        </p:nvGrpSpPr>
        <p:grpSpPr>
          <a:xfrm>
            <a:off x="6806520" y="2949480"/>
            <a:ext cx="1869480" cy="2356560"/>
            <a:chOff x="6806520" y="2949480"/>
            <a:chExt cx="1869480" cy="2356560"/>
          </a:xfrm>
        </p:grpSpPr>
        <p:sp>
          <p:nvSpPr>
            <p:cNvPr id="454" name="任意多边形 18"/>
            <p:cNvSpPr/>
            <p:nvPr/>
          </p:nvSpPr>
          <p:spPr>
            <a:xfrm>
              <a:off x="6806520" y="2952000"/>
              <a:ext cx="1797480" cy="2354040"/>
            </a:xfrm>
            <a:custGeom>
              <a:avLst/>
              <a:gdLst>
                <a:gd name="textAreaLeft" fmla="*/ 0 w 1797480"/>
                <a:gd name="textAreaRight" fmla="*/ 1797840 w 1797480"/>
                <a:gd name="textAreaTop" fmla="*/ 0 h 2354040"/>
                <a:gd name="textAreaBottom" fmla="*/ 2354400 h 2354040"/>
                <a:gd name="GluePoint1X" fmla="*/ 223674 w 1797783"/>
                <a:gd name="GluePoint1Y" fmla="*/ 0 h 2354224"/>
                <a:gd name="GluePoint2X" fmla="*/ 371955 w 1797783"/>
                <a:gd name="GluePoint2Y" fmla="*/ 181232 h 2354224"/>
                <a:gd name="GluePoint3X" fmla="*/ 264863 w 1797783"/>
                <a:gd name="GluePoint3Y" fmla="*/ 486032 h 2354224"/>
                <a:gd name="GluePoint4X" fmla="*/ 1599393 w 1797783"/>
                <a:gd name="GluePoint4Y" fmla="*/ 494270 h 2354224"/>
                <a:gd name="GluePoint5X" fmla="*/ 1607631 w 1797783"/>
                <a:gd name="GluePoint5Y" fmla="*/ 1136821 h 2354224"/>
                <a:gd name="GluePoint6X" fmla="*/ 157771 w 1797783"/>
                <a:gd name="GluePoint6Y" fmla="*/ 1161535 h 2354224"/>
                <a:gd name="GluePoint7X" fmla="*/ 198960 w 1797783"/>
                <a:gd name="GluePoint7Y" fmla="*/ 1696994 h 2354224"/>
                <a:gd name="GluePoint8X" fmla="*/ 1582917 w 1797783"/>
                <a:gd name="GluePoint8Y" fmla="*/ 1631092 h 2354224"/>
                <a:gd name="GluePoint9X" fmla="*/ 1657058 w 1797783"/>
                <a:gd name="GluePoint9Y" fmla="*/ 2051221 h 2354224"/>
                <a:gd name="GluePoint10X" fmla="*/ 248387 w 1797783"/>
                <a:gd name="GluePoint10Y" fmla="*/ 2117124 h 2354224"/>
                <a:gd name="GluePoint11X" fmla="*/ 157771 w 1797783"/>
                <a:gd name="GluePoint11Y" fmla="*/ 2339546 h 2354224"/>
                <a:gd name="GluePoint12X" fmla="*/ 174247 w 1797783"/>
                <a:gd name="GluePoint12Y" fmla="*/ 2314832 h 23542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1797783" h="2354224">
                  <a:moveTo>
                    <a:pt x="223674" y="0"/>
                  </a:moveTo>
                  <a:cubicBezTo>
                    <a:pt x="294382" y="50113"/>
                    <a:pt x="365090" y="100227"/>
                    <a:pt x="371955" y="181232"/>
                  </a:cubicBezTo>
                  <a:cubicBezTo>
                    <a:pt x="378820" y="262237"/>
                    <a:pt x="60290" y="433859"/>
                    <a:pt x="264863" y="486032"/>
                  </a:cubicBezTo>
                  <a:cubicBezTo>
                    <a:pt x="469436" y="538205"/>
                    <a:pt x="1375598" y="385805"/>
                    <a:pt x="1599393" y="494270"/>
                  </a:cubicBezTo>
                  <a:cubicBezTo>
                    <a:pt x="1823188" y="602735"/>
                    <a:pt x="1847901" y="1025610"/>
                    <a:pt x="1607631" y="1136821"/>
                  </a:cubicBezTo>
                  <a:cubicBezTo>
                    <a:pt x="1367361" y="1248032"/>
                    <a:pt x="392549" y="1068173"/>
                    <a:pt x="157771" y="1161535"/>
                  </a:cubicBezTo>
                  <a:cubicBezTo>
                    <a:pt x="-77007" y="1254897"/>
                    <a:pt x="-38564" y="1618735"/>
                    <a:pt x="198960" y="1696994"/>
                  </a:cubicBezTo>
                  <a:cubicBezTo>
                    <a:pt x="436484" y="1775254"/>
                    <a:pt x="1339901" y="1572054"/>
                    <a:pt x="1582917" y="1631092"/>
                  </a:cubicBezTo>
                  <a:cubicBezTo>
                    <a:pt x="1825933" y="1690130"/>
                    <a:pt x="1879480" y="1970216"/>
                    <a:pt x="1657058" y="2051221"/>
                  </a:cubicBezTo>
                  <a:cubicBezTo>
                    <a:pt x="1434636" y="2132226"/>
                    <a:pt x="498268" y="2069070"/>
                    <a:pt x="248387" y="2117124"/>
                  </a:cubicBezTo>
                  <a:cubicBezTo>
                    <a:pt x="-1494" y="2165178"/>
                    <a:pt x="170128" y="2306595"/>
                    <a:pt x="157771" y="2339546"/>
                  </a:cubicBezTo>
                  <a:cubicBezTo>
                    <a:pt x="145414" y="2372497"/>
                    <a:pt x="159830" y="2343664"/>
                    <a:pt x="174247" y="2314832"/>
                  </a:cubicBezTo>
                </a:path>
              </a:pathLst>
            </a:cu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455" name="任意多边形 3"/>
            <p:cNvSpPr/>
            <p:nvPr/>
          </p:nvSpPr>
          <p:spPr>
            <a:xfrm>
              <a:off x="6898680" y="2949480"/>
              <a:ext cx="1777320" cy="2352600"/>
            </a:xfrm>
            <a:custGeom>
              <a:avLst/>
              <a:gdLst>
                <a:gd name="textAreaLeft" fmla="*/ 0 w 1777320"/>
                <a:gd name="textAreaRight" fmla="*/ 1777680 w 1777320"/>
                <a:gd name="textAreaTop" fmla="*/ 0 h 2352600"/>
                <a:gd name="textAreaBottom" fmla="*/ 2352960 h 2352600"/>
                <a:gd name="GluePoint1X" fmla="*/ 114055 w 1777739"/>
                <a:gd name="GluePoint1Y" fmla="*/ 0 h 2352982"/>
                <a:gd name="GluePoint2X" fmla="*/ 155244 w 1777739"/>
                <a:gd name="GluePoint2Y" fmla="*/ 1491049 h 2352982"/>
                <a:gd name="GluePoint3X" fmla="*/ 1621579 w 1777739"/>
                <a:gd name="GluePoint3Y" fmla="*/ 1598141 h 2352982"/>
                <a:gd name="GluePoint4X" fmla="*/ 1572152 w 1777739"/>
                <a:gd name="GluePoint4Y" fmla="*/ 2059460 h 2352982"/>
                <a:gd name="GluePoint5X" fmla="*/ 171720 w 1777739"/>
                <a:gd name="GluePoint5Y" fmla="*/ 2026508 h 2352982"/>
                <a:gd name="GluePoint6X" fmla="*/ 105817 w 1777739"/>
                <a:gd name="GluePoint6Y" fmla="*/ 2331308 h 2352982"/>
                <a:gd name="GluePoint7X" fmla="*/ 105817 w 1777739"/>
                <a:gd name="GluePoint7Y" fmla="*/ 2323070 h 2352982"/>
                <a:gd name="GluePoint8X" fmla="*/ 130530 w 1777739"/>
                <a:gd name="GluePoint8Y" fmla="*/ 2281881 h 235298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777739" h="2352982">
                  <a:moveTo>
                    <a:pt x="114055" y="0"/>
                  </a:moveTo>
                  <a:cubicBezTo>
                    <a:pt x="9022" y="612346"/>
                    <a:pt x="-96010" y="1224692"/>
                    <a:pt x="155244" y="1491049"/>
                  </a:cubicBezTo>
                  <a:cubicBezTo>
                    <a:pt x="406498" y="1757406"/>
                    <a:pt x="1385428" y="1503406"/>
                    <a:pt x="1621579" y="1598141"/>
                  </a:cubicBezTo>
                  <a:cubicBezTo>
                    <a:pt x="1857730" y="1692876"/>
                    <a:pt x="1813795" y="1988066"/>
                    <a:pt x="1572152" y="2059460"/>
                  </a:cubicBezTo>
                  <a:cubicBezTo>
                    <a:pt x="1330509" y="2130854"/>
                    <a:pt x="416109" y="1981200"/>
                    <a:pt x="171720" y="2026508"/>
                  </a:cubicBezTo>
                  <a:cubicBezTo>
                    <a:pt x="-72669" y="2071816"/>
                    <a:pt x="116801" y="2281881"/>
                    <a:pt x="105817" y="2331308"/>
                  </a:cubicBezTo>
                  <a:cubicBezTo>
                    <a:pt x="94833" y="2380735"/>
                    <a:pt x="101698" y="2331308"/>
                    <a:pt x="105817" y="2323070"/>
                  </a:cubicBezTo>
                  <a:cubicBezTo>
                    <a:pt x="109936" y="2314832"/>
                    <a:pt x="120233" y="2298356"/>
                    <a:pt x="130530" y="2281881"/>
                  </a:cubicBezTo>
                </a:path>
              </a:pathLst>
            </a:custGeom>
            <a:noFill/>
            <a:ln>
              <a:solidFill>
                <a:srgbClr val="00b0f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grpSp>
    </p:spTree>
  </p:cSld>
  <mc:AlternateContent>
    <mc:Choice Requires="p14">
      <p:transition spd="slow" p14:dur="2000"/>
    </mc:Choice>
    <mc:Fallback>
      <p:transition spd="slow"/>
    </mc:Fallback>
  </mc:AlternateContent>
  <p:timing>
    <p:tnLst>
      <p:par>
        <p:cTn id="39" dur="indefinite" restart="never" nodeType="tmRoot">
          <p:childTnLst>
            <p:seq>
              <p:cTn id="40" dur="indefinite" nodeType="mainSeq">
                <p:childTnLst>
                  <p:par>
                    <p:cTn id="41" fill="hold">
                      <p:stCondLst>
                        <p:cond delay="indefinite"/>
                      </p:stCondLst>
                      <p:childTnLst>
                        <p:par>
                          <p:cTn id="42" fill="hold">
                            <p:stCondLst>
                              <p:cond delay="0"/>
                            </p:stCondLst>
                            <p:childTnLst>
                              <p:par>
                                <p:cTn id="43" presetID="1" presetClass="entr" fill="hold" nodeType="clickEffect">
                                  <p:stCondLst>
                                    <p:cond delay="0"/>
                                  </p:stCondLst>
                                  <p:childTnLst>
                                    <p:set>
                                      <p:cBhvr>
                                        <p:cTn id="44" dur="1" fill="hold">
                                          <p:stCondLst>
                                            <p:cond delay="0"/>
                                          </p:stCondLst>
                                        </p:cTn>
                                        <p:tgtEl>
                                          <p:spTgt spid="45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fill="hold" nodeType="clickEffect">
                                  <p:stCondLst>
                                    <p:cond delay="0"/>
                                  </p:stCondLst>
                                  <p:childTnLst>
                                    <p:set>
                                      <p:cBhvr>
                                        <p:cTn id="48" dur="1" fill="hold">
                                          <p:stCondLst>
                                            <p:cond delay="0"/>
                                          </p:stCondLst>
                                        </p:cTn>
                                        <p:tgtEl>
                                          <p:spTgt spid="453"/>
                                        </p:tgtEl>
                                        <p:attrNameLst>
                                          <p:attrName>style.visibility</p:attrName>
                                        </p:attrNameLst>
                                      </p:cBhvr>
                                      <p:to>
                                        <p:strVal val="visible"/>
                                      </p:to>
                                    </p:set>
                                  </p:childTnLst>
                                </p:cTn>
                              </p:par>
                              <p:par>
                                <p:cTn id="49" presetID="1" presetClass="exit" fill="hold" nodeType="withEffect">
                                  <p:stCondLst>
                                    <p:cond delay="0"/>
                                  </p:stCondLst>
                                  <p:childTnLst>
                                    <p:set>
                                      <p:cBhvr>
                                        <p:cTn id="50" dur="1" fill="hold">
                                          <p:stCondLst>
                                            <p:cond delay="0"/>
                                          </p:stCondLst>
                                        </p:cTn>
                                        <p:tgtEl>
                                          <p:spTgt spid="45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6"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457" name="PlaceHolder 2"/>
          <p:cNvSpPr>
            <a:spLocks noGrp="1"/>
          </p:cNvSpPr>
          <p:nvPr>
            <p:ph/>
          </p:nvPr>
        </p:nvSpPr>
        <p:spPr>
          <a:xfrm>
            <a:off x="251640" y="973800"/>
            <a:ext cx="8229240" cy="604440"/>
          </a:xfrm>
          <a:prstGeom prst="rect">
            <a:avLst/>
          </a:prstGeom>
          <a:noFill/>
          <a:ln w="9360">
            <a:noFill/>
          </a:ln>
        </p:spPr>
        <p:txBody>
          <a:bodyPr numCol="1" spcCol="0" lIns="91440" rIns="91440" tIns="45720" bIns="45720" anchor="t">
            <a:noAutofit/>
          </a:bodyPr>
          <a:p>
            <a:pPr indent="0">
              <a:lnSpc>
                <a:spcPct val="100000"/>
              </a:lnSpc>
              <a:spcBef>
                <a:spcPts val="479"/>
              </a:spcBef>
              <a:buNone/>
              <a:tabLst>
                <a:tab algn="l" pos="0"/>
              </a:tabLst>
            </a:pPr>
            <a:r>
              <a:rPr lang="en-US" sz="2400" b="1" u="none" strike="noStrike">
                <a:solidFill>
                  <a:schemeClr val="dk1"/>
                </a:solidFill>
                <a:effectLst/>
                <a:uFillTx/>
                <a:latin typeface="Bodoni MT Black"/>
              </a:rPr>
              <a:t>4. </a:t>
            </a:r>
            <a:r>
              <a:rPr lang="zh-CN" sz="2400" b="1" u="none" strike="noStrike">
                <a:solidFill>
                  <a:schemeClr val="dk1"/>
                </a:solidFill>
                <a:effectLst/>
                <a:uFillTx/>
                <a:latin typeface="Bodoni MT Black"/>
              </a:rPr>
              <a:t>判定</a:t>
            </a:r>
            <a:r>
              <a:rPr lang="en-US" sz="2400" b="1" u="none" strike="noStrike">
                <a:solidFill>
                  <a:schemeClr val="dk1"/>
                </a:solidFill>
                <a:effectLst/>
                <a:uFillTx/>
                <a:latin typeface="Bodoni MT Black"/>
              </a:rPr>
              <a:t>/</a:t>
            </a:r>
            <a:r>
              <a:rPr lang="zh-CN" sz="2400" b="1" u="none" strike="noStrike">
                <a:solidFill>
                  <a:schemeClr val="dk1"/>
                </a:solidFill>
                <a:effectLst/>
                <a:uFillTx/>
                <a:latin typeface="Bodoni MT Black"/>
              </a:rPr>
              <a:t>条件覆盖</a:t>
            </a:r>
            <a:endParaRPr lang="es-ES" sz="2400" b="0" u="none" strike="noStrike">
              <a:solidFill>
                <a:schemeClr val="dk1"/>
              </a:solidFill>
              <a:effectLst/>
              <a:uFillTx/>
              <a:latin typeface="Calibri"/>
            </a:endParaRPr>
          </a:p>
        </p:txBody>
      </p:sp>
      <p:sp>
        <p:nvSpPr>
          <p:cNvPr id="458" name="TextBox 7"/>
          <p:cNvSpPr/>
          <p:nvPr/>
        </p:nvSpPr>
        <p:spPr>
          <a:xfrm>
            <a:off x="229680" y="1509840"/>
            <a:ext cx="8734320" cy="405468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1" u="none" strike="noStrike">
                <a:solidFill>
                  <a:srgbClr val="c00000"/>
                </a:solidFill>
                <a:effectLst/>
                <a:uFillTx/>
                <a:latin typeface="Bodoni MT Black"/>
              </a:rPr>
              <a:t>     </a:t>
            </a:r>
            <a:r>
              <a:rPr lang="zh-CN" sz="2400" b="1" u="none" strike="noStrike">
                <a:solidFill>
                  <a:srgbClr val="c00000"/>
                </a:solidFill>
                <a:effectLst/>
                <a:uFillTx/>
                <a:latin typeface="Bodoni MT Black"/>
              </a:rPr>
              <a:t>判定</a:t>
            </a:r>
            <a:r>
              <a:rPr lang="en-US" sz="2400" b="1" u="none" strike="noStrike">
                <a:solidFill>
                  <a:srgbClr val="c00000"/>
                </a:solidFill>
                <a:effectLst/>
                <a:uFillTx/>
                <a:latin typeface="Bodoni MT Black"/>
              </a:rPr>
              <a:t>/</a:t>
            </a:r>
            <a:r>
              <a:rPr lang="zh-CN" sz="2400" b="1" u="none" strike="noStrike">
                <a:solidFill>
                  <a:srgbClr val="c00000"/>
                </a:solidFill>
                <a:effectLst/>
                <a:uFillTx/>
                <a:latin typeface="Bodoni MT Black"/>
              </a:rPr>
              <a:t>条件覆盖</a:t>
            </a:r>
            <a:r>
              <a:rPr lang="zh-CN" sz="2400" b="0" u="none" strike="noStrike">
                <a:solidFill>
                  <a:schemeClr val="dk1"/>
                </a:solidFill>
                <a:effectLst/>
                <a:uFillTx/>
                <a:latin typeface="Bodoni MT Black"/>
              </a:rPr>
              <a:t>是一种能同时满足判定覆盖和条件覆盖的逻辑覆盖，它的含义是，选取足够多的测试数据，</a:t>
            </a:r>
            <a:r>
              <a:rPr lang="zh-CN" sz="2400" b="0" u="none" strike="noStrike">
                <a:solidFill>
                  <a:srgbClr val="ff0000"/>
                </a:solidFill>
                <a:effectLst/>
                <a:uFillTx/>
                <a:latin typeface="Bodoni MT Black"/>
              </a:rPr>
              <a:t>使得判定表达式中的每个条件都取到各种可能的值，而且每个判定表达式也都取到各种可能的结果。</a:t>
            </a:r>
            <a:endParaRPr lang="en-US" sz="2400" b="0" u="none" strike="noStrike">
              <a:solidFill>
                <a:srgbClr val="000000"/>
              </a:solidFill>
              <a:effectLst/>
              <a:uFillTx/>
              <a:latin typeface="Arial"/>
            </a:endParaRPr>
          </a:p>
          <a:p>
            <a:pPr>
              <a:lnSpc>
                <a:spcPts val="3101"/>
              </a:lnSpc>
              <a:tabLst>
                <a:tab algn="l" pos="0"/>
              </a:tabLst>
            </a:pPr>
            <a:r>
              <a:rPr lang="en-US" sz="2200" b="0" u="none" strike="noStrike">
                <a:solidFill>
                  <a:schemeClr val="dk1"/>
                </a:solidFill>
                <a:effectLst/>
                <a:uFillTx/>
                <a:latin typeface="Bodoni MT Black"/>
              </a:rPr>
              <a:t>    对于上例而言，下述两组测试数据满足判定</a:t>
            </a:r>
            <a:r>
              <a:rPr lang="en-US" sz="2200" b="0" u="none" strike="noStrike">
                <a:solidFill>
                  <a:schemeClr val="dk1"/>
                </a:solidFill>
                <a:effectLst/>
                <a:uFillTx/>
                <a:latin typeface="Bodoni MT Black"/>
              </a:rPr>
              <a:t>/</a:t>
            </a:r>
            <a:r>
              <a:rPr lang="zh-CN" sz="2200" b="0" u="none" strike="noStrike">
                <a:solidFill>
                  <a:schemeClr val="dk1"/>
                </a:solidFill>
                <a:effectLst/>
                <a:uFillTx/>
                <a:latin typeface="Bodoni MT Black"/>
              </a:rPr>
              <a:t>条件覆盖标准：</a:t>
            </a:r>
            <a:endParaRPr lang="en-US" sz="2200" b="0" u="none" strike="noStrike">
              <a:solidFill>
                <a:srgbClr val="000000"/>
              </a:solidFill>
              <a:effectLst/>
              <a:uFillTx/>
              <a:latin typeface="Arial"/>
            </a:endParaRPr>
          </a:p>
          <a:p>
            <a:pPr>
              <a:lnSpc>
                <a:spcPts val="3101"/>
              </a:lnSpc>
              <a:tabLst>
                <a:tab algn="l" pos="0"/>
              </a:tabLst>
            </a:pPr>
            <a:r>
              <a:rPr lang="en-US" sz="2200" b="0" u="none" strike="noStrike">
                <a:solidFill>
                  <a:schemeClr val="dk1"/>
                </a:solidFill>
                <a:effectLst/>
                <a:uFillTx/>
                <a:latin typeface="Bodoni MT Black"/>
              </a:rPr>
              <a:t>    ① A=2, B=0, X=4</a:t>
            </a:r>
            <a:endParaRPr lang="en-US" sz="2200" b="0" u="none" strike="noStrike">
              <a:solidFill>
                <a:srgbClr val="000000"/>
              </a:solidFill>
              <a:effectLst/>
              <a:uFillTx/>
              <a:latin typeface="Arial"/>
            </a:endParaRPr>
          </a:p>
          <a:p>
            <a:pPr>
              <a:lnSpc>
                <a:spcPts val="3101"/>
              </a:lnSpc>
              <a:tabLst>
                <a:tab algn="l" pos="0"/>
              </a:tabLst>
            </a:pPr>
            <a:r>
              <a:rPr lang="en-US" sz="2200" b="0" u="none" strike="noStrike">
                <a:solidFill>
                  <a:schemeClr val="dk1"/>
                </a:solidFill>
                <a:effectLst/>
                <a:uFillTx/>
                <a:latin typeface="Bodoni MT Black"/>
              </a:rPr>
              <a:t>    ② A=1, B=1, X=1</a:t>
            </a:r>
            <a:endParaRPr lang="en-US" sz="22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但这两组测试数据也就是为了满足条件覆盖标准最初选取的两组数据，因此，</a:t>
            </a:r>
            <a:r>
              <a:rPr lang="zh-CN" sz="2400" b="0" u="none" strike="noStrike">
                <a:solidFill>
                  <a:srgbClr val="ff0000"/>
                </a:solidFill>
                <a:effectLst/>
                <a:uFillTx/>
                <a:latin typeface="Bodoni MT Black"/>
              </a:rPr>
              <a:t>有时判定</a:t>
            </a:r>
            <a:r>
              <a:rPr lang="en-US" sz="2400" b="0" u="none" strike="noStrike">
                <a:solidFill>
                  <a:srgbClr val="ff0000"/>
                </a:solidFill>
                <a:effectLst/>
                <a:uFillTx/>
                <a:latin typeface="Bodoni MT Black"/>
              </a:rPr>
              <a:t>/</a:t>
            </a:r>
            <a:r>
              <a:rPr lang="zh-CN" sz="2400" b="0" u="none" strike="noStrike">
                <a:solidFill>
                  <a:srgbClr val="ff0000"/>
                </a:solidFill>
                <a:effectLst/>
                <a:uFillTx/>
                <a:latin typeface="Bodoni MT Black"/>
              </a:rPr>
              <a:t>条件覆盖也并不比条件覆盖更强。</a:t>
            </a:r>
            <a:endParaRPr lang="en-US" sz="2400" b="0" u="none" strike="noStrike">
              <a:solidFill>
                <a:srgbClr val="000000"/>
              </a:solidFill>
              <a:effectLst/>
              <a:uFillTx/>
              <a:latin typeface="Arial"/>
            </a:endParaRPr>
          </a:p>
        </p:txBody>
      </p:sp>
      <p:sp>
        <p:nvSpPr>
          <p:cNvPr id="459"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460"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7.6.1 </a:t>
            </a:r>
            <a:r>
              <a:rPr lang="zh-CN" sz="2400" b="0" u="none" strike="noStrike">
                <a:solidFill>
                  <a:srgbClr val="d9d9d9"/>
                </a:solidFill>
                <a:effectLst/>
                <a:uFillTx/>
                <a:latin typeface="Bodoni MT Black"/>
              </a:rPr>
              <a:t>逻辑覆盖</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462" name="PlaceHolder 2"/>
          <p:cNvSpPr>
            <a:spLocks noGrp="1"/>
          </p:cNvSpPr>
          <p:nvPr>
            <p:ph/>
          </p:nvPr>
        </p:nvSpPr>
        <p:spPr>
          <a:xfrm>
            <a:off x="251640" y="1052640"/>
            <a:ext cx="8229240" cy="604440"/>
          </a:xfrm>
          <a:prstGeom prst="rect">
            <a:avLst/>
          </a:prstGeom>
          <a:noFill/>
          <a:ln w="9360">
            <a:noFill/>
          </a:ln>
        </p:spPr>
        <p:txBody>
          <a:bodyPr numCol="1" spcCol="0" lIns="91440" rIns="91440" tIns="45720" bIns="45720" anchor="t">
            <a:noAutofit/>
          </a:bodyPr>
          <a:p>
            <a:pPr indent="0">
              <a:lnSpc>
                <a:spcPct val="100000"/>
              </a:lnSpc>
              <a:spcBef>
                <a:spcPts val="479"/>
              </a:spcBef>
              <a:buNone/>
              <a:tabLst>
                <a:tab algn="l" pos="0"/>
              </a:tabLst>
            </a:pPr>
            <a:r>
              <a:rPr lang="en-US" sz="2400" b="1" u="none" strike="noStrike">
                <a:solidFill>
                  <a:schemeClr val="dk1"/>
                </a:solidFill>
                <a:effectLst/>
                <a:uFillTx/>
                <a:latin typeface="Bodoni MT Black"/>
              </a:rPr>
              <a:t>5. </a:t>
            </a:r>
            <a:r>
              <a:rPr lang="zh-CN" sz="2400" b="1" u="none" strike="noStrike">
                <a:solidFill>
                  <a:schemeClr val="dk1"/>
                </a:solidFill>
                <a:effectLst/>
                <a:uFillTx/>
                <a:latin typeface="Bodoni MT Black"/>
              </a:rPr>
              <a:t>条件组合覆盖</a:t>
            </a:r>
            <a:endParaRPr lang="es-ES" sz="2400" b="0" u="none" strike="noStrike">
              <a:solidFill>
                <a:schemeClr val="dk1"/>
              </a:solidFill>
              <a:effectLst/>
              <a:uFillTx/>
              <a:latin typeface="Calibri"/>
            </a:endParaRPr>
          </a:p>
        </p:txBody>
      </p:sp>
      <p:sp>
        <p:nvSpPr>
          <p:cNvPr id="463" name="TextBox 7"/>
          <p:cNvSpPr/>
          <p:nvPr/>
        </p:nvSpPr>
        <p:spPr>
          <a:xfrm>
            <a:off x="218880" y="1550160"/>
            <a:ext cx="8745480" cy="14299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1" u="none" strike="noStrike">
                <a:solidFill>
                  <a:srgbClr val="c00000"/>
                </a:solidFill>
                <a:effectLst/>
                <a:uFillTx/>
                <a:latin typeface="Bodoni MT Black"/>
                <a:ea typeface="宋体"/>
              </a:rPr>
              <a:t>     </a:t>
            </a:r>
            <a:r>
              <a:rPr lang="zh-CN" sz="2400" b="1" u="none" strike="noStrike">
                <a:solidFill>
                  <a:srgbClr val="c00000"/>
                </a:solidFill>
                <a:effectLst/>
                <a:uFillTx/>
                <a:latin typeface="Bodoni MT Black"/>
                <a:ea typeface="宋体"/>
              </a:rPr>
              <a:t>条件组合覆盖</a:t>
            </a:r>
            <a:r>
              <a:rPr lang="zh-CN" sz="2400" b="0" u="none" strike="noStrike">
                <a:solidFill>
                  <a:schemeClr val="dk1"/>
                </a:solidFill>
                <a:effectLst/>
                <a:uFillTx/>
                <a:latin typeface="Bodoni MT Black"/>
                <a:ea typeface="宋体"/>
              </a:rPr>
              <a:t>是更强的逻辑覆盖标准，它要求选取足够多的测试数据，</a:t>
            </a:r>
            <a:r>
              <a:rPr lang="zh-CN" sz="2400" b="0" u="none" strike="noStrike">
                <a:solidFill>
                  <a:srgbClr val="ff0000"/>
                </a:solidFill>
                <a:effectLst/>
                <a:uFillTx/>
                <a:latin typeface="Bodoni MT Black"/>
                <a:ea typeface="宋体"/>
              </a:rPr>
              <a:t>使得每个判定表达式中条件的各种可能组合都至少出现一次</a:t>
            </a:r>
            <a:r>
              <a:rPr lang="zh-CN" sz="2400" b="0" u="none" strike="noStrike">
                <a:solidFill>
                  <a:schemeClr val="dk1"/>
                </a:solidFill>
                <a:effectLst/>
                <a:uFillTx/>
                <a:latin typeface="Bodoni MT Black"/>
                <a:ea typeface="宋体"/>
              </a:rPr>
              <a:t>。    </a:t>
            </a:r>
            <a:endParaRPr lang="en-US" sz="2400" b="0" u="none" strike="noStrike">
              <a:solidFill>
                <a:srgbClr val="000000"/>
              </a:solidFill>
              <a:effectLst/>
              <a:uFillTx/>
              <a:latin typeface="Arial"/>
            </a:endParaRPr>
          </a:p>
        </p:txBody>
      </p:sp>
      <p:sp>
        <p:nvSpPr>
          <p:cNvPr id="464" name="文本框 1"/>
          <p:cNvSpPr/>
          <p:nvPr/>
        </p:nvSpPr>
        <p:spPr>
          <a:xfrm>
            <a:off x="228240" y="3141000"/>
            <a:ext cx="4943880" cy="220788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zh-CN" sz="2200" b="0" u="none" strike="noStrike">
                <a:solidFill>
                  <a:schemeClr val="dk1"/>
                </a:solidFill>
                <a:effectLst/>
                <a:uFillTx/>
                <a:latin typeface="Bodoni MT Black"/>
                <a:ea typeface="宋体"/>
              </a:rPr>
              <a:t>对于上例，共有</a:t>
            </a:r>
            <a:r>
              <a:rPr lang="en-US" sz="2200" b="0" u="none" strike="noStrike">
                <a:solidFill>
                  <a:srgbClr val="ff0000"/>
                </a:solidFill>
                <a:effectLst/>
                <a:uFillTx/>
                <a:latin typeface="Bodoni MT Black"/>
                <a:ea typeface="宋体"/>
              </a:rPr>
              <a:t>8</a:t>
            </a:r>
            <a:r>
              <a:rPr lang="zh-CN" sz="2200" b="0" u="none" strike="noStrike">
                <a:solidFill>
                  <a:schemeClr val="dk1"/>
                </a:solidFill>
                <a:effectLst/>
                <a:uFillTx/>
                <a:latin typeface="Bodoni MT Black"/>
                <a:ea typeface="宋体"/>
              </a:rPr>
              <a:t>种可能的条件组合：</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Bodoni MT Black"/>
                <a:ea typeface="宋体"/>
              </a:rPr>
              <a:t>(1) A&gt;1, B=0     (2) A&gt;1, B≠0</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Bodoni MT Black"/>
                <a:ea typeface="宋体"/>
              </a:rPr>
              <a:t>(3) A≤1, B=0     (4) A≤1, B≠0</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Bodoni MT Black"/>
                <a:ea typeface="宋体"/>
              </a:rPr>
              <a:t>(5) A=2, X&gt;1     (6) A=2, X≤1</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Bodoni MT Black"/>
                <a:ea typeface="宋体"/>
              </a:rPr>
              <a:t>(7) A≠2, X&gt;1     (8) A≠2, X≤1</a:t>
            </a:r>
            <a:endParaRPr lang="en-US" sz="2200" b="0" u="none" strike="noStrike">
              <a:solidFill>
                <a:srgbClr val="000000"/>
              </a:solidFill>
              <a:effectLst/>
              <a:uFillTx/>
              <a:latin typeface="Arial"/>
            </a:endParaRPr>
          </a:p>
        </p:txBody>
      </p:sp>
      <p:pic>
        <p:nvPicPr>
          <p:cNvPr id="465" name="图片 8"/>
          <p:cNvPicPr/>
          <p:nvPr/>
        </p:nvPicPr>
        <p:blipFill>
          <a:blip r:embed="rId1"/>
          <a:stretch/>
        </p:blipFill>
        <p:spPr>
          <a:xfrm>
            <a:off x="5436000" y="2915640"/>
            <a:ext cx="2608560" cy="2817360"/>
          </a:xfrm>
          <a:prstGeom prst="rect">
            <a:avLst/>
          </a:prstGeom>
          <a:noFill/>
          <a:ln w="9525">
            <a:noFill/>
          </a:ln>
        </p:spPr>
      </p:pic>
      <p:sp>
        <p:nvSpPr>
          <p:cNvPr id="466"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467"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7.6.1 </a:t>
            </a:r>
            <a:r>
              <a:rPr lang="zh-CN" sz="2400" b="0" u="none" strike="noStrike">
                <a:solidFill>
                  <a:srgbClr val="d9d9d9"/>
                </a:solidFill>
                <a:effectLst/>
                <a:uFillTx/>
                <a:latin typeface="Bodoni MT Black"/>
              </a:rPr>
              <a:t>逻辑覆盖</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8"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469" name="PlaceHolder 2"/>
          <p:cNvSpPr>
            <a:spLocks noGrp="1"/>
          </p:cNvSpPr>
          <p:nvPr>
            <p:ph/>
          </p:nvPr>
        </p:nvSpPr>
        <p:spPr>
          <a:xfrm>
            <a:off x="251640" y="973800"/>
            <a:ext cx="8229240" cy="604440"/>
          </a:xfrm>
          <a:prstGeom prst="rect">
            <a:avLst/>
          </a:prstGeom>
          <a:noFill/>
          <a:ln w="9360">
            <a:noFill/>
          </a:ln>
        </p:spPr>
        <p:txBody>
          <a:bodyPr numCol="1" spcCol="0" lIns="91440" rIns="91440" tIns="45720" bIns="45720" anchor="t">
            <a:noAutofit/>
          </a:bodyPr>
          <a:p>
            <a:pPr indent="0">
              <a:lnSpc>
                <a:spcPct val="100000"/>
              </a:lnSpc>
              <a:spcBef>
                <a:spcPts val="479"/>
              </a:spcBef>
              <a:buNone/>
              <a:tabLst>
                <a:tab algn="l" pos="0"/>
              </a:tabLst>
            </a:pPr>
            <a:r>
              <a:rPr lang="en-US" sz="2400" b="1" u="none" strike="noStrike">
                <a:solidFill>
                  <a:schemeClr val="dk1"/>
                </a:solidFill>
                <a:effectLst/>
                <a:uFillTx/>
                <a:latin typeface="Bodoni MT Black"/>
              </a:rPr>
              <a:t>5. </a:t>
            </a:r>
            <a:r>
              <a:rPr lang="zh-CN" sz="2400" b="1" u="none" strike="noStrike">
                <a:solidFill>
                  <a:schemeClr val="dk1"/>
                </a:solidFill>
                <a:effectLst/>
                <a:uFillTx/>
                <a:latin typeface="Bodoni MT Black"/>
              </a:rPr>
              <a:t>条件组合覆盖</a:t>
            </a:r>
            <a:endParaRPr lang="es-ES" sz="2400" b="0" u="none" strike="noStrike">
              <a:solidFill>
                <a:schemeClr val="dk1"/>
              </a:solidFill>
              <a:effectLst/>
              <a:uFillTx/>
              <a:latin typeface="Calibri"/>
            </a:endParaRPr>
          </a:p>
        </p:txBody>
      </p:sp>
      <p:sp>
        <p:nvSpPr>
          <p:cNvPr id="470" name="TextBox 7"/>
          <p:cNvSpPr/>
          <p:nvPr/>
        </p:nvSpPr>
        <p:spPr>
          <a:xfrm>
            <a:off x="252360" y="1534320"/>
            <a:ext cx="8567640" cy="4067280"/>
          </a:xfrm>
          <a:prstGeom prst="rect">
            <a:avLst/>
          </a:prstGeom>
          <a:noFill/>
          <a:ln w="0">
            <a:noFill/>
          </a:ln>
        </p:spPr>
        <p:style>
          <a:lnRef idx="0"/>
          <a:fillRef idx="0"/>
          <a:effectRef idx="0"/>
          <a:fontRef idx="minor"/>
        </p:style>
        <p:txBody>
          <a:bodyPr lIns="90000" rIns="90000" tIns="45000" bIns="45000" anchor="t">
            <a:spAutoFit/>
          </a:bodyPr>
          <a:p>
            <a:pPr>
              <a:lnSpc>
                <a:spcPts val="3101"/>
              </a:lnSpc>
              <a:tabLst>
                <a:tab algn="l" pos="0"/>
              </a:tabLst>
            </a:pPr>
            <a:r>
              <a:rPr lang="en-US" sz="2200" b="0" u="none" strike="noStrike">
                <a:solidFill>
                  <a:schemeClr val="dk1"/>
                </a:solidFill>
                <a:effectLst/>
                <a:uFillTx/>
                <a:latin typeface="Bodoni MT Black"/>
              </a:rPr>
              <a:t>    </a:t>
            </a:r>
            <a:r>
              <a:rPr lang="zh-CN" sz="2200" b="0" u="none" strike="noStrike">
                <a:solidFill>
                  <a:schemeClr val="dk1"/>
                </a:solidFill>
                <a:effectLst/>
                <a:uFillTx/>
                <a:latin typeface="Bodoni MT Black"/>
              </a:rPr>
              <a:t>下面</a:t>
            </a:r>
            <a:r>
              <a:rPr lang="en-US" sz="2200" b="0" u="none" strike="noStrike">
                <a:solidFill>
                  <a:srgbClr val="ff0000"/>
                </a:solidFill>
                <a:effectLst/>
                <a:uFillTx/>
                <a:latin typeface="Bodoni MT Black"/>
              </a:rPr>
              <a:t>4</a:t>
            </a:r>
            <a:r>
              <a:rPr lang="zh-CN" sz="2200" b="0" u="none" strike="noStrike">
                <a:solidFill>
                  <a:schemeClr val="dk1"/>
                </a:solidFill>
                <a:effectLst/>
                <a:uFillTx/>
                <a:latin typeface="Bodoni MT Black"/>
              </a:rPr>
              <a:t>组测试数据使上面列出的</a:t>
            </a:r>
            <a:r>
              <a:rPr lang="en-US" sz="2200" b="0" u="none" strike="noStrike">
                <a:solidFill>
                  <a:schemeClr val="dk1"/>
                </a:solidFill>
                <a:effectLst/>
                <a:uFillTx/>
                <a:latin typeface="Bodoni MT Black"/>
              </a:rPr>
              <a:t>8</a:t>
            </a:r>
            <a:r>
              <a:rPr lang="zh-CN" sz="2200" b="0" u="none" strike="noStrike">
                <a:solidFill>
                  <a:schemeClr val="dk1"/>
                </a:solidFill>
                <a:effectLst/>
                <a:uFillTx/>
                <a:latin typeface="Bodoni MT Black"/>
              </a:rPr>
              <a:t>种条件组合每种至少出现一次：</a:t>
            </a:r>
            <a:endParaRPr lang="en-US" sz="2200" b="0" u="none" strike="noStrike">
              <a:solidFill>
                <a:srgbClr val="000000"/>
              </a:solidFill>
              <a:effectLst/>
              <a:uFillTx/>
              <a:latin typeface="Arial"/>
            </a:endParaRPr>
          </a:p>
          <a:p>
            <a:pPr>
              <a:lnSpc>
                <a:spcPts val="3101"/>
              </a:lnSpc>
              <a:tabLst>
                <a:tab algn="l" pos="0"/>
              </a:tabLst>
            </a:pPr>
            <a:r>
              <a:rPr lang="en-US" sz="2200" b="0" u="none" strike="noStrike">
                <a:solidFill>
                  <a:schemeClr val="dk1"/>
                </a:solidFill>
                <a:effectLst/>
                <a:uFillTx/>
                <a:latin typeface="Bodoni MT Black"/>
              </a:rPr>
              <a:t>    ① </a:t>
            </a:r>
            <a:r>
              <a:rPr lang="en-US" sz="2200" b="0" u="none" strike="noStrike">
                <a:solidFill>
                  <a:srgbClr val="ff0000"/>
                </a:solidFill>
                <a:effectLst/>
                <a:uFillTx/>
                <a:latin typeface="Bodoni MT Black"/>
              </a:rPr>
              <a:t>A=2, B=0, X=4</a:t>
            </a:r>
            <a:endParaRPr lang="en-US" sz="2200" b="0" u="none" strike="noStrike">
              <a:solidFill>
                <a:srgbClr val="000000"/>
              </a:solidFill>
              <a:effectLst/>
              <a:uFillTx/>
              <a:latin typeface="Arial"/>
            </a:endParaRPr>
          </a:p>
          <a:p>
            <a:pPr>
              <a:lnSpc>
                <a:spcPts val="3101"/>
              </a:lnSpc>
              <a:tabLst>
                <a:tab algn="l" pos="0"/>
              </a:tabLst>
            </a:pPr>
            <a:r>
              <a:rPr lang="en-US" sz="2200" b="0" u="none" strike="noStrike">
                <a:solidFill>
                  <a:schemeClr val="dk1"/>
                </a:solidFill>
                <a:effectLst/>
                <a:uFillTx/>
                <a:latin typeface="Bodoni MT Black"/>
              </a:rPr>
              <a:t>      （针对</a:t>
            </a:r>
            <a:r>
              <a:rPr lang="en-US" sz="2200" b="0" u="none" strike="noStrike">
                <a:solidFill>
                  <a:schemeClr val="dk1"/>
                </a:solidFill>
                <a:effectLst/>
                <a:uFillTx/>
                <a:latin typeface="Bodoni MT Black"/>
              </a:rPr>
              <a:t>(</a:t>
            </a:r>
            <a:r>
              <a:rPr lang="en-US" sz="2200" b="0" u="none" strike="noStrike">
                <a:solidFill>
                  <a:schemeClr val="dk1"/>
                </a:solidFill>
                <a:effectLst/>
                <a:uFillTx/>
                <a:latin typeface="Bodoni MT Black"/>
                <a:ea typeface="宋体"/>
              </a:rPr>
              <a:t>1)</a:t>
            </a:r>
            <a:r>
              <a:rPr lang="zh-CN" sz="2200" b="0" u="none" strike="noStrike">
                <a:solidFill>
                  <a:schemeClr val="dk1"/>
                </a:solidFill>
                <a:effectLst/>
                <a:uFillTx/>
                <a:latin typeface="Bodoni MT Black"/>
                <a:ea typeface="宋体"/>
              </a:rPr>
              <a:t>和</a:t>
            </a:r>
            <a:r>
              <a:rPr lang="en-US" sz="2200" b="0" u="none" strike="noStrike">
                <a:solidFill>
                  <a:schemeClr val="dk1"/>
                </a:solidFill>
                <a:effectLst/>
                <a:uFillTx/>
                <a:latin typeface="Bodoni MT Black"/>
                <a:ea typeface="宋体"/>
              </a:rPr>
              <a:t>(5)</a:t>
            </a:r>
            <a:r>
              <a:rPr lang="zh-CN" sz="2200" b="0" u="none" strike="noStrike">
                <a:solidFill>
                  <a:schemeClr val="dk1"/>
                </a:solidFill>
                <a:effectLst/>
                <a:uFillTx/>
                <a:latin typeface="Bodoni MT Black"/>
                <a:ea typeface="宋体"/>
              </a:rPr>
              <a:t>，执行路径</a:t>
            </a:r>
            <a:r>
              <a:rPr lang="en-US" sz="2200" b="0" u="none" strike="noStrike">
                <a:solidFill>
                  <a:srgbClr val="ff0000"/>
                </a:solidFill>
                <a:effectLst/>
                <a:uFillTx/>
                <a:latin typeface="Bodoni MT Black"/>
                <a:ea typeface="宋体"/>
              </a:rPr>
              <a:t>s-a-c-b-e-d</a:t>
            </a:r>
            <a:r>
              <a:rPr lang="zh-CN" sz="2200" b="0" u="none" strike="noStrike">
                <a:solidFill>
                  <a:schemeClr val="dk1"/>
                </a:solidFill>
                <a:effectLst/>
                <a:uFillTx/>
                <a:latin typeface="Bodoni MT Black"/>
                <a:ea typeface="宋体"/>
              </a:rPr>
              <a:t>）</a:t>
            </a:r>
            <a:endParaRPr lang="en-US" sz="2200" b="0" u="none" strike="noStrike">
              <a:solidFill>
                <a:srgbClr val="000000"/>
              </a:solidFill>
              <a:effectLst/>
              <a:uFillTx/>
              <a:latin typeface="Arial"/>
            </a:endParaRPr>
          </a:p>
          <a:p>
            <a:pPr>
              <a:lnSpc>
                <a:spcPts val="3101"/>
              </a:lnSpc>
              <a:tabLst>
                <a:tab algn="l" pos="0"/>
              </a:tabLst>
            </a:pPr>
            <a:r>
              <a:rPr lang="en-US" sz="2200" b="0" u="none" strike="noStrike">
                <a:solidFill>
                  <a:schemeClr val="dk1"/>
                </a:solidFill>
                <a:effectLst/>
                <a:uFillTx/>
                <a:latin typeface="Bodoni MT Black"/>
                <a:ea typeface="宋体"/>
              </a:rPr>
              <a:t>    ② </a:t>
            </a:r>
            <a:r>
              <a:rPr lang="en-US" sz="2200" b="0" u="none" strike="noStrike">
                <a:solidFill>
                  <a:srgbClr val="00b0f0"/>
                </a:solidFill>
                <a:effectLst/>
                <a:uFillTx/>
                <a:latin typeface="Bodoni MT Black"/>
                <a:ea typeface="宋体"/>
              </a:rPr>
              <a:t>A=2, B=1, X=1</a:t>
            </a:r>
            <a:endParaRPr lang="en-US" sz="2200" b="0" u="none" strike="noStrike">
              <a:solidFill>
                <a:srgbClr val="000000"/>
              </a:solidFill>
              <a:effectLst/>
              <a:uFillTx/>
              <a:latin typeface="Arial"/>
            </a:endParaRPr>
          </a:p>
          <a:p>
            <a:pPr>
              <a:lnSpc>
                <a:spcPts val="3101"/>
              </a:lnSpc>
              <a:tabLst>
                <a:tab algn="l" pos="0"/>
              </a:tabLst>
            </a:pPr>
            <a:r>
              <a:rPr lang="en-US" sz="2200" b="0" u="none" strike="noStrike">
                <a:solidFill>
                  <a:schemeClr val="dk1"/>
                </a:solidFill>
                <a:effectLst/>
                <a:uFillTx/>
                <a:latin typeface="Bodoni MT Black"/>
                <a:ea typeface="宋体"/>
              </a:rPr>
              <a:t>      （针对</a:t>
            </a:r>
            <a:r>
              <a:rPr lang="en-US" sz="2200" b="0" u="none" strike="noStrike">
                <a:solidFill>
                  <a:schemeClr val="dk1"/>
                </a:solidFill>
                <a:effectLst/>
                <a:uFillTx/>
                <a:latin typeface="Bodoni MT Black"/>
                <a:ea typeface="宋体"/>
              </a:rPr>
              <a:t>(2)</a:t>
            </a:r>
            <a:r>
              <a:rPr lang="zh-CN" sz="2200" b="0" u="none" strike="noStrike">
                <a:solidFill>
                  <a:schemeClr val="dk1"/>
                </a:solidFill>
                <a:effectLst/>
                <a:uFillTx/>
                <a:latin typeface="Bodoni MT Black"/>
                <a:ea typeface="宋体"/>
              </a:rPr>
              <a:t>和</a:t>
            </a:r>
            <a:r>
              <a:rPr lang="en-US" sz="2200" b="0" u="none" strike="noStrike">
                <a:solidFill>
                  <a:schemeClr val="dk1"/>
                </a:solidFill>
                <a:effectLst/>
                <a:uFillTx/>
                <a:latin typeface="Bodoni MT Black"/>
                <a:ea typeface="宋体"/>
              </a:rPr>
              <a:t>(6)</a:t>
            </a:r>
            <a:r>
              <a:rPr lang="zh-CN" sz="2200" b="0" u="none" strike="noStrike">
                <a:solidFill>
                  <a:schemeClr val="dk1"/>
                </a:solidFill>
                <a:effectLst/>
                <a:uFillTx/>
                <a:latin typeface="Bodoni MT Black"/>
                <a:ea typeface="宋体"/>
              </a:rPr>
              <a:t>，执行路径</a:t>
            </a:r>
            <a:r>
              <a:rPr lang="en-US" sz="2200" b="0" u="none" strike="noStrike">
                <a:solidFill>
                  <a:srgbClr val="00b0f0"/>
                </a:solidFill>
                <a:effectLst/>
                <a:uFillTx/>
                <a:latin typeface="Bodoni MT Black"/>
                <a:ea typeface="宋体"/>
              </a:rPr>
              <a:t>s-a-b-e-d</a:t>
            </a:r>
            <a:r>
              <a:rPr lang="zh-CN" sz="2200" b="0" u="none" strike="noStrike">
                <a:solidFill>
                  <a:schemeClr val="dk1"/>
                </a:solidFill>
                <a:effectLst/>
                <a:uFillTx/>
                <a:latin typeface="Bodoni MT Black"/>
                <a:ea typeface="宋体"/>
              </a:rPr>
              <a:t>）</a:t>
            </a:r>
            <a:endParaRPr lang="en-US" sz="2200" b="0" u="none" strike="noStrike">
              <a:solidFill>
                <a:srgbClr val="000000"/>
              </a:solidFill>
              <a:effectLst/>
              <a:uFillTx/>
              <a:latin typeface="Arial"/>
            </a:endParaRPr>
          </a:p>
          <a:p>
            <a:pPr>
              <a:lnSpc>
                <a:spcPts val="3101"/>
              </a:lnSpc>
              <a:tabLst>
                <a:tab algn="l" pos="0"/>
              </a:tabLst>
            </a:pPr>
            <a:r>
              <a:rPr lang="en-US" sz="2200" b="0" u="none" strike="noStrike">
                <a:solidFill>
                  <a:schemeClr val="dk1"/>
                </a:solidFill>
                <a:effectLst/>
                <a:uFillTx/>
                <a:latin typeface="Bodoni MT Black"/>
                <a:ea typeface="宋体"/>
              </a:rPr>
              <a:t>    ③ </a:t>
            </a:r>
            <a:r>
              <a:rPr lang="en-US" sz="2200" b="0" u="none" strike="noStrike">
                <a:solidFill>
                  <a:srgbClr val="00b0f0"/>
                </a:solidFill>
                <a:effectLst/>
                <a:uFillTx/>
                <a:latin typeface="Bodoni MT Black"/>
                <a:ea typeface="宋体"/>
              </a:rPr>
              <a:t>A=1, B=0, X=2</a:t>
            </a:r>
            <a:endParaRPr lang="en-US" sz="2200" b="0" u="none" strike="noStrike">
              <a:solidFill>
                <a:srgbClr val="000000"/>
              </a:solidFill>
              <a:effectLst/>
              <a:uFillTx/>
              <a:latin typeface="Arial"/>
            </a:endParaRPr>
          </a:p>
          <a:p>
            <a:pPr>
              <a:lnSpc>
                <a:spcPts val="3101"/>
              </a:lnSpc>
              <a:tabLst>
                <a:tab algn="l" pos="0"/>
              </a:tabLst>
            </a:pPr>
            <a:r>
              <a:rPr lang="en-US" sz="2200" b="0" u="none" strike="noStrike">
                <a:solidFill>
                  <a:schemeClr val="dk1"/>
                </a:solidFill>
                <a:effectLst/>
                <a:uFillTx/>
                <a:latin typeface="Bodoni MT Black"/>
                <a:ea typeface="宋体"/>
              </a:rPr>
              <a:t>      （针对</a:t>
            </a:r>
            <a:r>
              <a:rPr lang="en-US" sz="2200" b="0" u="none" strike="noStrike">
                <a:solidFill>
                  <a:schemeClr val="dk1"/>
                </a:solidFill>
                <a:effectLst/>
                <a:uFillTx/>
                <a:latin typeface="Bodoni MT Black"/>
                <a:ea typeface="宋体"/>
              </a:rPr>
              <a:t>(3)</a:t>
            </a:r>
            <a:r>
              <a:rPr lang="zh-CN" sz="2200" b="0" u="none" strike="noStrike">
                <a:solidFill>
                  <a:schemeClr val="dk1"/>
                </a:solidFill>
                <a:effectLst/>
                <a:uFillTx/>
                <a:latin typeface="Bodoni MT Black"/>
                <a:ea typeface="宋体"/>
              </a:rPr>
              <a:t>和</a:t>
            </a:r>
            <a:r>
              <a:rPr lang="en-US" sz="2200" b="0" u="none" strike="noStrike">
                <a:solidFill>
                  <a:schemeClr val="dk1"/>
                </a:solidFill>
                <a:effectLst/>
                <a:uFillTx/>
                <a:latin typeface="Bodoni MT Black"/>
                <a:ea typeface="宋体"/>
              </a:rPr>
              <a:t>(7)</a:t>
            </a:r>
            <a:r>
              <a:rPr lang="zh-CN" sz="2200" b="0" u="none" strike="noStrike">
                <a:solidFill>
                  <a:schemeClr val="dk1"/>
                </a:solidFill>
                <a:effectLst/>
                <a:uFillTx/>
                <a:latin typeface="Bodoni MT Black"/>
                <a:ea typeface="宋体"/>
              </a:rPr>
              <a:t>，执行路径</a:t>
            </a:r>
            <a:r>
              <a:rPr lang="en-US" sz="2200" b="0" u="none" strike="noStrike">
                <a:solidFill>
                  <a:srgbClr val="00b0f0"/>
                </a:solidFill>
                <a:effectLst/>
                <a:uFillTx/>
                <a:latin typeface="Bodoni MT Black"/>
                <a:ea typeface="宋体"/>
              </a:rPr>
              <a:t>s-a-b-e-d</a:t>
            </a:r>
            <a:r>
              <a:rPr lang="zh-CN" sz="2200" b="0" u="none" strike="noStrike">
                <a:solidFill>
                  <a:schemeClr val="dk1"/>
                </a:solidFill>
                <a:effectLst/>
                <a:uFillTx/>
                <a:latin typeface="Bodoni MT Black"/>
                <a:ea typeface="宋体"/>
              </a:rPr>
              <a:t>）</a:t>
            </a:r>
            <a:endParaRPr lang="en-US" sz="2200" b="0" u="none" strike="noStrike">
              <a:solidFill>
                <a:srgbClr val="000000"/>
              </a:solidFill>
              <a:effectLst/>
              <a:uFillTx/>
              <a:latin typeface="Arial"/>
            </a:endParaRPr>
          </a:p>
          <a:p>
            <a:pPr>
              <a:lnSpc>
                <a:spcPts val="3101"/>
              </a:lnSpc>
              <a:tabLst>
                <a:tab algn="l" pos="0"/>
              </a:tabLst>
            </a:pPr>
            <a:r>
              <a:rPr lang="en-US" sz="2200" b="0" u="none" strike="noStrike">
                <a:solidFill>
                  <a:schemeClr val="dk1"/>
                </a:solidFill>
                <a:effectLst/>
                <a:uFillTx/>
                <a:latin typeface="Bodoni MT Black"/>
                <a:ea typeface="宋体"/>
              </a:rPr>
              <a:t>    ④ </a:t>
            </a:r>
            <a:r>
              <a:rPr lang="en-US" sz="2200" b="0" u="none" strike="noStrike">
                <a:solidFill>
                  <a:srgbClr val="00b050"/>
                </a:solidFill>
                <a:effectLst/>
                <a:uFillTx/>
                <a:latin typeface="Bodoni MT Black"/>
                <a:ea typeface="宋体"/>
              </a:rPr>
              <a:t>A=1, B=1, X=1</a:t>
            </a:r>
            <a:endParaRPr lang="en-US" sz="2200" b="0" u="none" strike="noStrike">
              <a:solidFill>
                <a:srgbClr val="000000"/>
              </a:solidFill>
              <a:effectLst/>
              <a:uFillTx/>
              <a:latin typeface="Arial"/>
            </a:endParaRPr>
          </a:p>
          <a:p>
            <a:pPr>
              <a:lnSpc>
                <a:spcPts val="3101"/>
              </a:lnSpc>
              <a:tabLst>
                <a:tab algn="l" pos="0"/>
              </a:tabLst>
            </a:pPr>
            <a:r>
              <a:rPr lang="en-US" sz="2200" b="0" u="none" strike="noStrike">
                <a:solidFill>
                  <a:schemeClr val="dk1"/>
                </a:solidFill>
                <a:effectLst/>
                <a:uFillTx/>
                <a:latin typeface="Bodoni MT Black"/>
                <a:ea typeface="宋体"/>
              </a:rPr>
              <a:t>      （针对</a:t>
            </a:r>
            <a:r>
              <a:rPr lang="en-US" sz="2200" b="0" u="none" strike="noStrike">
                <a:solidFill>
                  <a:schemeClr val="dk1"/>
                </a:solidFill>
                <a:effectLst/>
                <a:uFillTx/>
                <a:latin typeface="Bodoni MT Black"/>
                <a:ea typeface="宋体"/>
              </a:rPr>
              <a:t>(4)</a:t>
            </a:r>
            <a:r>
              <a:rPr lang="zh-CN" sz="2200" b="0" u="none" strike="noStrike">
                <a:solidFill>
                  <a:schemeClr val="dk1"/>
                </a:solidFill>
                <a:effectLst/>
                <a:uFillTx/>
                <a:latin typeface="Bodoni MT Black"/>
                <a:ea typeface="宋体"/>
              </a:rPr>
              <a:t>和</a:t>
            </a:r>
            <a:r>
              <a:rPr lang="en-US" sz="2200" b="0" u="none" strike="noStrike">
                <a:solidFill>
                  <a:schemeClr val="dk1"/>
                </a:solidFill>
                <a:effectLst/>
                <a:uFillTx/>
                <a:latin typeface="Bodoni MT Black"/>
                <a:ea typeface="宋体"/>
              </a:rPr>
              <a:t>(8) </a:t>
            </a:r>
            <a:r>
              <a:rPr lang="zh-CN" sz="2200" b="0" u="none" strike="noStrike">
                <a:solidFill>
                  <a:schemeClr val="dk1"/>
                </a:solidFill>
                <a:effectLst/>
                <a:uFillTx/>
                <a:latin typeface="Bodoni MT Black"/>
                <a:ea typeface="宋体"/>
              </a:rPr>
              <a:t>，执行路径</a:t>
            </a:r>
            <a:r>
              <a:rPr lang="en-US" sz="2200" b="0" u="none" strike="noStrike">
                <a:solidFill>
                  <a:srgbClr val="00b050"/>
                </a:solidFill>
                <a:effectLst/>
                <a:uFillTx/>
                <a:latin typeface="Bodoni MT Black"/>
                <a:ea typeface="宋体"/>
              </a:rPr>
              <a:t>s-a-b-d</a:t>
            </a:r>
            <a:r>
              <a:rPr lang="zh-CN" sz="2200" b="0" u="none" strike="noStrike">
                <a:solidFill>
                  <a:schemeClr val="dk1"/>
                </a:solidFill>
                <a:effectLst/>
                <a:uFillTx/>
                <a:latin typeface="Bodoni MT Black"/>
                <a:ea typeface="宋体"/>
              </a:rPr>
              <a:t>）</a:t>
            </a:r>
            <a:endParaRPr lang="en-US" sz="2200" b="0" u="none" strike="noStrike">
              <a:solidFill>
                <a:srgbClr val="000000"/>
              </a:solidFill>
              <a:effectLst/>
              <a:uFillTx/>
              <a:latin typeface="Arial"/>
            </a:endParaRPr>
          </a:p>
          <a:p>
            <a:pPr>
              <a:lnSpc>
                <a:spcPts val="3101"/>
              </a:lnSpc>
              <a:tabLst>
                <a:tab algn="l" pos="0"/>
              </a:tabLst>
            </a:pPr>
            <a:r>
              <a:rPr lang="en-US" sz="2400" b="0" u="none" strike="noStrike">
                <a:solidFill>
                  <a:schemeClr val="dk1"/>
                </a:solidFill>
                <a:effectLst/>
                <a:uFillTx/>
                <a:latin typeface="Bodoni MT Black"/>
                <a:ea typeface="宋体"/>
              </a:rPr>
              <a:t>    </a:t>
            </a:r>
            <a:endParaRPr lang="en-US" sz="2400" b="0" u="none" strike="noStrike">
              <a:solidFill>
                <a:srgbClr val="000000"/>
              </a:solidFill>
              <a:effectLst/>
              <a:uFillTx/>
              <a:latin typeface="Arial"/>
            </a:endParaRPr>
          </a:p>
        </p:txBody>
      </p:sp>
      <p:sp>
        <p:nvSpPr>
          <p:cNvPr id="471"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472"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7.6.1 </a:t>
            </a:r>
            <a:r>
              <a:rPr lang="zh-CN" sz="2400" b="0" u="none" strike="noStrike">
                <a:solidFill>
                  <a:srgbClr val="d9d9d9"/>
                </a:solidFill>
                <a:effectLst/>
                <a:uFillTx/>
                <a:latin typeface="Bodoni MT Black"/>
              </a:rPr>
              <a:t>逻辑覆盖</a:t>
            </a:r>
            <a:endParaRPr lang="en-US" sz="2400" b="0" u="none" strike="noStrike">
              <a:solidFill>
                <a:srgbClr val="000000"/>
              </a:solidFill>
              <a:effectLst/>
              <a:uFillTx/>
              <a:latin typeface="Arial"/>
            </a:endParaRPr>
          </a:p>
        </p:txBody>
      </p:sp>
      <p:pic>
        <p:nvPicPr>
          <p:cNvPr id="473" name="图片 1"/>
          <p:cNvPicPr/>
          <p:nvPr/>
        </p:nvPicPr>
        <p:blipFill>
          <a:blip r:embed="rId1"/>
          <a:stretch/>
        </p:blipFill>
        <p:spPr>
          <a:xfrm>
            <a:off x="5940000" y="2493000"/>
            <a:ext cx="2746080" cy="2898360"/>
          </a:xfrm>
          <a:prstGeom prst="rect">
            <a:avLst/>
          </a:prstGeom>
          <a:solidFill>
            <a:srgbClr val="ff0000"/>
          </a:solidFill>
          <a:ln w="9525">
            <a:noFill/>
          </a:ln>
        </p:spPr>
      </p:pic>
      <p:grpSp>
        <p:nvGrpSpPr>
          <p:cNvPr id="474" name="组合 10"/>
          <p:cNvGrpSpPr/>
          <p:nvPr/>
        </p:nvGrpSpPr>
        <p:grpSpPr>
          <a:xfrm>
            <a:off x="6445440" y="2891520"/>
            <a:ext cx="1797480" cy="2354040"/>
            <a:chOff x="6445440" y="2891520"/>
            <a:chExt cx="1797480" cy="2354040"/>
          </a:xfrm>
        </p:grpSpPr>
        <p:sp>
          <p:nvSpPr>
            <p:cNvPr id="475" name="任意多边形 11"/>
            <p:cNvSpPr/>
            <p:nvPr/>
          </p:nvSpPr>
          <p:spPr>
            <a:xfrm>
              <a:off x="6445440" y="2891520"/>
              <a:ext cx="1797480" cy="2354040"/>
            </a:xfrm>
            <a:custGeom>
              <a:avLst/>
              <a:gdLst>
                <a:gd name="textAreaLeft" fmla="*/ 0 w 1797480"/>
                <a:gd name="textAreaRight" fmla="*/ 1797840 w 1797480"/>
                <a:gd name="textAreaTop" fmla="*/ 0 h 2354040"/>
                <a:gd name="textAreaBottom" fmla="*/ 2354400 h 2354040"/>
                <a:gd name="GluePoint1X" fmla="*/ 223674 w 1797783"/>
                <a:gd name="GluePoint1Y" fmla="*/ 0 h 2354224"/>
                <a:gd name="GluePoint2X" fmla="*/ 371955 w 1797783"/>
                <a:gd name="GluePoint2Y" fmla="*/ 181232 h 2354224"/>
                <a:gd name="GluePoint3X" fmla="*/ 264863 w 1797783"/>
                <a:gd name="GluePoint3Y" fmla="*/ 486032 h 2354224"/>
                <a:gd name="GluePoint4X" fmla="*/ 1599393 w 1797783"/>
                <a:gd name="GluePoint4Y" fmla="*/ 494270 h 2354224"/>
                <a:gd name="GluePoint5X" fmla="*/ 1607631 w 1797783"/>
                <a:gd name="GluePoint5Y" fmla="*/ 1136821 h 2354224"/>
                <a:gd name="GluePoint6X" fmla="*/ 157771 w 1797783"/>
                <a:gd name="GluePoint6Y" fmla="*/ 1161535 h 2354224"/>
                <a:gd name="GluePoint7X" fmla="*/ 198960 w 1797783"/>
                <a:gd name="GluePoint7Y" fmla="*/ 1696994 h 2354224"/>
                <a:gd name="GluePoint8X" fmla="*/ 1582917 w 1797783"/>
                <a:gd name="GluePoint8Y" fmla="*/ 1631092 h 2354224"/>
                <a:gd name="GluePoint9X" fmla="*/ 1657058 w 1797783"/>
                <a:gd name="GluePoint9Y" fmla="*/ 2051221 h 2354224"/>
                <a:gd name="GluePoint10X" fmla="*/ 248387 w 1797783"/>
                <a:gd name="GluePoint10Y" fmla="*/ 2117124 h 2354224"/>
                <a:gd name="GluePoint11X" fmla="*/ 157771 w 1797783"/>
                <a:gd name="GluePoint11Y" fmla="*/ 2339546 h 2354224"/>
                <a:gd name="GluePoint12X" fmla="*/ 174247 w 1797783"/>
                <a:gd name="GluePoint12Y" fmla="*/ 2314832 h 23542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1797783" h="2354224">
                  <a:moveTo>
                    <a:pt x="223674" y="0"/>
                  </a:moveTo>
                  <a:cubicBezTo>
                    <a:pt x="294382" y="50113"/>
                    <a:pt x="365090" y="100227"/>
                    <a:pt x="371955" y="181232"/>
                  </a:cubicBezTo>
                  <a:cubicBezTo>
                    <a:pt x="378820" y="262237"/>
                    <a:pt x="60290" y="433859"/>
                    <a:pt x="264863" y="486032"/>
                  </a:cubicBezTo>
                  <a:cubicBezTo>
                    <a:pt x="469436" y="538205"/>
                    <a:pt x="1375598" y="385805"/>
                    <a:pt x="1599393" y="494270"/>
                  </a:cubicBezTo>
                  <a:cubicBezTo>
                    <a:pt x="1823188" y="602735"/>
                    <a:pt x="1847901" y="1025610"/>
                    <a:pt x="1607631" y="1136821"/>
                  </a:cubicBezTo>
                  <a:cubicBezTo>
                    <a:pt x="1367361" y="1248032"/>
                    <a:pt x="392549" y="1068173"/>
                    <a:pt x="157771" y="1161535"/>
                  </a:cubicBezTo>
                  <a:cubicBezTo>
                    <a:pt x="-77007" y="1254897"/>
                    <a:pt x="-38564" y="1618735"/>
                    <a:pt x="198960" y="1696994"/>
                  </a:cubicBezTo>
                  <a:cubicBezTo>
                    <a:pt x="436484" y="1775254"/>
                    <a:pt x="1339901" y="1572054"/>
                    <a:pt x="1582917" y="1631092"/>
                  </a:cubicBezTo>
                  <a:cubicBezTo>
                    <a:pt x="1825933" y="1690130"/>
                    <a:pt x="1879480" y="1970216"/>
                    <a:pt x="1657058" y="2051221"/>
                  </a:cubicBezTo>
                  <a:cubicBezTo>
                    <a:pt x="1434636" y="2132226"/>
                    <a:pt x="498268" y="2069070"/>
                    <a:pt x="248387" y="2117124"/>
                  </a:cubicBezTo>
                  <a:cubicBezTo>
                    <a:pt x="-1494" y="2165178"/>
                    <a:pt x="170128" y="2306595"/>
                    <a:pt x="157771" y="2339546"/>
                  </a:cubicBezTo>
                  <a:cubicBezTo>
                    <a:pt x="145414" y="2372497"/>
                    <a:pt x="159830" y="2343664"/>
                    <a:pt x="174247" y="2314832"/>
                  </a:cubicBezTo>
                </a:path>
              </a:pathLst>
            </a:cu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476" name="任意多边形 12"/>
            <p:cNvSpPr/>
            <p:nvPr/>
          </p:nvSpPr>
          <p:spPr>
            <a:xfrm>
              <a:off x="6527160" y="2975400"/>
              <a:ext cx="26280" cy="2042640"/>
            </a:xfrm>
            <a:custGeom>
              <a:avLst/>
              <a:gdLst>
                <a:gd name="textAreaLeft" fmla="*/ 0 w 26280"/>
                <a:gd name="textAreaRight" fmla="*/ 26640 w 26280"/>
                <a:gd name="textAreaTop" fmla="*/ 0 h 2042640"/>
                <a:gd name="textAreaBottom" fmla="*/ 2043000 h 2042640"/>
                <a:gd name="GluePoint1X" fmla="*/ 2087 w 26800"/>
                <a:gd name="GluePoint1Y" fmla="*/ 0 h 2042984"/>
                <a:gd name="GluePoint2X" fmla="*/ 18563 w 26800"/>
                <a:gd name="GluePoint2Y" fmla="*/ 378941 h 2042984"/>
                <a:gd name="GluePoint3X" fmla="*/ 26800 w 26800"/>
                <a:gd name="GluePoint3Y" fmla="*/ 403654 h 2042984"/>
                <a:gd name="GluePoint4X" fmla="*/ 18563 w 26800"/>
                <a:gd name="GluePoint4Y" fmla="*/ 2042984 h 204298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800" h="2042984">
                  <a:moveTo>
                    <a:pt x="2087" y="0"/>
                  </a:moveTo>
                  <a:cubicBezTo>
                    <a:pt x="4076" y="81538"/>
                    <a:pt x="-10942" y="260917"/>
                    <a:pt x="18563" y="378941"/>
                  </a:cubicBezTo>
                  <a:cubicBezTo>
                    <a:pt x="20669" y="387365"/>
                    <a:pt x="24054" y="395416"/>
                    <a:pt x="26800" y="403654"/>
                  </a:cubicBezTo>
                  <a:cubicBezTo>
                    <a:pt x="17997" y="1856258"/>
                    <a:pt x="18563" y="1309808"/>
                    <a:pt x="18563" y="2042984"/>
                  </a:cubicBezTo>
                </a:path>
              </a:pathLst>
            </a:custGeom>
            <a:noFill/>
            <a:ln>
              <a:solidFill>
                <a:srgbClr val="00b05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grpSp>
      <p:grpSp>
        <p:nvGrpSpPr>
          <p:cNvPr id="477" name="组合 13"/>
          <p:cNvGrpSpPr/>
          <p:nvPr/>
        </p:nvGrpSpPr>
        <p:grpSpPr>
          <a:xfrm>
            <a:off x="6445440" y="2879280"/>
            <a:ext cx="1869480" cy="2356560"/>
            <a:chOff x="6445440" y="2879280"/>
            <a:chExt cx="1869480" cy="2356560"/>
          </a:xfrm>
        </p:grpSpPr>
        <p:sp>
          <p:nvSpPr>
            <p:cNvPr id="478" name="任意多边形 14"/>
            <p:cNvSpPr/>
            <p:nvPr/>
          </p:nvSpPr>
          <p:spPr>
            <a:xfrm>
              <a:off x="6445440" y="2881800"/>
              <a:ext cx="1797480" cy="2354040"/>
            </a:xfrm>
            <a:custGeom>
              <a:avLst/>
              <a:gdLst>
                <a:gd name="textAreaLeft" fmla="*/ 0 w 1797480"/>
                <a:gd name="textAreaRight" fmla="*/ 1797840 w 1797480"/>
                <a:gd name="textAreaTop" fmla="*/ 0 h 2354040"/>
                <a:gd name="textAreaBottom" fmla="*/ 2354400 h 2354040"/>
                <a:gd name="GluePoint1X" fmla="*/ 223674 w 1797783"/>
                <a:gd name="GluePoint1Y" fmla="*/ 0 h 2354224"/>
                <a:gd name="GluePoint2X" fmla="*/ 371955 w 1797783"/>
                <a:gd name="GluePoint2Y" fmla="*/ 181232 h 2354224"/>
                <a:gd name="GluePoint3X" fmla="*/ 264863 w 1797783"/>
                <a:gd name="GluePoint3Y" fmla="*/ 486032 h 2354224"/>
                <a:gd name="GluePoint4X" fmla="*/ 1599393 w 1797783"/>
                <a:gd name="GluePoint4Y" fmla="*/ 494270 h 2354224"/>
                <a:gd name="GluePoint5X" fmla="*/ 1607631 w 1797783"/>
                <a:gd name="GluePoint5Y" fmla="*/ 1136821 h 2354224"/>
                <a:gd name="GluePoint6X" fmla="*/ 157771 w 1797783"/>
                <a:gd name="GluePoint6Y" fmla="*/ 1161535 h 2354224"/>
                <a:gd name="GluePoint7X" fmla="*/ 198960 w 1797783"/>
                <a:gd name="GluePoint7Y" fmla="*/ 1696994 h 2354224"/>
                <a:gd name="GluePoint8X" fmla="*/ 1582917 w 1797783"/>
                <a:gd name="GluePoint8Y" fmla="*/ 1631092 h 2354224"/>
                <a:gd name="GluePoint9X" fmla="*/ 1657058 w 1797783"/>
                <a:gd name="GluePoint9Y" fmla="*/ 2051221 h 2354224"/>
                <a:gd name="GluePoint10X" fmla="*/ 248387 w 1797783"/>
                <a:gd name="GluePoint10Y" fmla="*/ 2117124 h 2354224"/>
                <a:gd name="GluePoint11X" fmla="*/ 157771 w 1797783"/>
                <a:gd name="GluePoint11Y" fmla="*/ 2339546 h 2354224"/>
                <a:gd name="GluePoint12X" fmla="*/ 174247 w 1797783"/>
                <a:gd name="GluePoint12Y" fmla="*/ 2314832 h 23542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1797783" h="2354224">
                  <a:moveTo>
                    <a:pt x="223674" y="0"/>
                  </a:moveTo>
                  <a:cubicBezTo>
                    <a:pt x="294382" y="50113"/>
                    <a:pt x="365090" y="100227"/>
                    <a:pt x="371955" y="181232"/>
                  </a:cubicBezTo>
                  <a:cubicBezTo>
                    <a:pt x="378820" y="262237"/>
                    <a:pt x="60290" y="433859"/>
                    <a:pt x="264863" y="486032"/>
                  </a:cubicBezTo>
                  <a:cubicBezTo>
                    <a:pt x="469436" y="538205"/>
                    <a:pt x="1375598" y="385805"/>
                    <a:pt x="1599393" y="494270"/>
                  </a:cubicBezTo>
                  <a:cubicBezTo>
                    <a:pt x="1823188" y="602735"/>
                    <a:pt x="1847901" y="1025610"/>
                    <a:pt x="1607631" y="1136821"/>
                  </a:cubicBezTo>
                  <a:cubicBezTo>
                    <a:pt x="1367361" y="1248032"/>
                    <a:pt x="392549" y="1068173"/>
                    <a:pt x="157771" y="1161535"/>
                  </a:cubicBezTo>
                  <a:cubicBezTo>
                    <a:pt x="-77007" y="1254897"/>
                    <a:pt x="-38564" y="1618735"/>
                    <a:pt x="198960" y="1696994"/>
                  </a:cubicBezTo>
                  <a:cubicBezTo>
                    <a:pt x="436484" y="1775254"/>
                    <a:pt x="1339901" y="1572054"/>
                    <a:pt x="1582917" y="1631092"/>
                  </a:cubicBezTo>
                  <a:cubicBezTo>
                    <a:pt x="1825933" y="1690130"/>
                    <a:pt x="1879480" y="1970216"/>
                    <a:pt x="1657058" y="2051221"/>
                  </a:cubicBezTo>
                  <a:cubicBezTo>
                    <a:pt x="1434636" y="2132226"/>
                    <a:pt x="498268" y="2069070"/>
                    <a:pt x="248387" y="2117124"/>
                  </a:cubicBezTo>
                  <a:cubicBezTo>
                    <a:pt x="-1494" y="2165178"/>
                    <a:pt x="170128" y="2306595"/>
                    <a:pt x="157771" y="2339546"/>
                  </a:cubicBezTo>
                  <a:cubicBezTo>
                    <a:pt x="145414" y="2372497"/>
                    <a:pt x="159830" y="2343664"/>
                    <a:pt x="174247" y="2314832"/>
                  </a:cubicBezTo>
                </a:path>
              </a:pathLst>
            </a:cu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479" name="任意多边形 15"/>
            <p:cNvSpPr/>
            <p:nvPr/>
          </p:nvSpPr>
          <p:spPr>
            <a:xfrm>
              <a:off x="6537600" y="2879280"/>
              <a:ext cx="1777320" cy="2352600"/>
            </a:xfrm>
            <a:custGeom>
              <a:avLst/>
              <a:gdLst>
                <a:gd name="textAreaLeft" fmla="*/ 0 w 1777320"/>
                <a:gd name="textAreaRight" fmla="*/ 1777680 w 1777320"/>
                <a:gd name="textAreaTop" fmla="*/ 0 h 2352600"/>
                <a:gd name="textAreaBottom" fmla="*/ 2352960 h 2352600"/>
                <a:gd name="GluePoint1X" fmla="*/ 114055 w 1777739"/>
                <a:gd name="GluePoint1Y" fmla="*/ 0 h 2352982"/>
                <a:gd name="GluePoint2X" fmla="*/ 155244 w 1777739"/>
                <a:gd name="GluePoint2Y" fmla="*/ 1491049 h 2352982"/>
                <a:gd name="GluePoint3X" fmla="*/ 1621579 w 1777739"/>
                <a:gd name="GluePoint3Y" fmla="*/ 1598141 h 2352982"/>
                <a:gd name="GluePoint4X" fmla="*/ 1572152 w 1777739"/>
                <a:gd name="GluePoint4Y" fmla="*/ 2059460 h 2352982"/>
                <a:gd name="GluePoint5X" fmla="*/ 171720 w 1777739"/>
                <a:gd name="GluePoint5Y" fmla="*/ 2026508 h 2352982"/>
                <a:gd name="GluePoint6X" fmla="*/ 105817 w 1777739"/>
                <a:gd name="GluePoint6Y" fmla="*/ 2331308 h 2352982"/>
                <a:gd name="GluePoint7X" fmla="*/ 105817 w 1777739"/>
                <a:gd name="GluePoint7Y" fmla="*/ 2323070 h 2352982"/>
                <a:gd name="GluePoint8X" fmla="*/ 130530 w 1777739"/>
                <a:gd name="GluePoint8Y" fmla="*/ 2281881 h 235298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777739" h="2352982">
                  <a:moveTo>
                    <a:pt x="114055" y="0"/>
                  </a:moveTo>
                  <a:cubicBezTo>
                    <a:pt x="9022" y="612346"/>
                    <a:pt x="-96010" y="1224692"/>
                    <a:pt x="155244" y="1491049"/>
                  </a:cubicBezTo>
                  <a:cubicBezTo>
                    <a:pt x="406498" y="1757406"/>
                    <a:pt x="1385428" y="1503406"/>
                    <a:pt x="1621579" y="1598141"/>
                  </a:cubicBezTo>
                  <a:cubicBezTo>
                    <a:pt x="1857730" y="1692876"/>
                    <a:pt x="1813795" y="1988066"/>
                    <a:pt x="1572152" y="2059460"/>
                  </a:cubicBezTo>
                  <a:cubicBezTo>
                    <a:pt x="1330509" y="2130854"/>
                    <a:pt x="416109" y="1981200"/>
                    <a:pt x="171720" y="2026508"/>
                  </a:cubicBezTo>
                  <a:cubicBezTo>
                    <a:pt x="-72669" y="2071816"/>
                    <a:pt x="116801" y="2281881"/>
                    <a:pt x="105817" y="2331308"/>
                  </a:cubicBezTo>
                  <a:cubicBezTo>
                    <a:pt x="94833" y="2380735"/>
                    <a:pt x="101698" y="2331308"/>
                    <a:pt x="105817" y="2323070"/>
                  </a:cubicBezTo>
                  <a:cubicBezTo>
                    <a:pt x="109936" y="2314832"/>
                    <a:pt x="120233" y="2298356"/>
                    <a:pt x="130530" y="2281881"/>
                  </a:cubicBezTo>
                </a:path>
              </a:pathLst>
            </a:custGeom>
            <a:noFill/>
            <a:ln>
              <a:solidFill>
                <a:srgbClr val="00b0f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gr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0"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481" name="PlaceHolder 2"/>
          <p:cNvSpPr>
            <a:spLocks noGrp="1"/>
          </p:cNvSpPr>
          <p:nvPr>
            <p:ph/>
          </p:nvPr>
        </p:nvSpPr>
        <p:spPr>
          <a:xfrm>
            <a:off x="251640" y="973800"/>
            <a:ext cx="8229240" cy="604440"/>
          </a:xfrm>
          <a:prstGeom prst="rect">
            <a:avLst/>
          </a:prstGeom>
          <a:noFill/>
          <a:ln w="9360">
            <a:noFill/>
          </a:ln>
        </p:spPr>
        <p:txBody>
          <a:bodyPr numCol="1" spcCol="0" lIns="91440" rIns="91440" tIns="45720" bIns="45720" anchor="t">
            <a:noAutofit/>
          </a:bodyPr>
          <a:p>
            <a:pPr indent="0">
              <a:lnSpc>
                <a:spcPct val="100000"/>
              </a:lnSpc>
              <a:spcBef>
                <a:spcPts val="479"/>
              </a:spcBef>
              <a:buNone/>
              <a:tabLst>
                <a:tab algn="l" pos="0"/>
              </a:tabLst>
            </a:pPr>
            <a:r>
              <a:rPr lang="en-US" sz="2400" b="1" u="none" strike="noStrike">
                <a:solidFill>
                  <a:schemeClr val="dk1"/>
                </a:solidFill>
                <a:effectLst/>
                <a:uFillTx/>
                <a:latin typeface="Bodoni MT Black"/>
              </a:rPr>
              <a:t>5. </a:t>
            </a:r>
            <a:r>
              <a:rPr lang="zh-CN" sz="2400" b="1" u="none" strike="noStrike">
                <a:solidFill>
                  <a:schemeClr val="dk1"/>
                </a:solidFill>
                <a:effectLst/>
                <a:uFillTx/>
                <a:latin typeface="Bodoni MT Black"/>
              </a:rPr>
              <a:t>条件组合覆盖</a:t>
            </a:r>
            <a:endParaRPr lang="es-ES" sz="2400" b="0" u="none" strike="noStrike">
              <a:solidFill>
                <a:schemeClr val="dk1"/>
              </a:solidFill>
              <a:effectLst/>
              <a:uFillTx/>
              <a:latin typeface="Calibri"/>
            </a:endParaRPr>
          </a:p>
        </p:txBody>
      </p:sp>
      <p:sp>
        <p:nvSpPr>
          <p:cNvPr id="482" name="TextBox 7"/>
          <p:cNvSpPr/>
          <p:nvPr/>
        </p:nvSpPr>
        <p:spPr>
          <a:xfrm>
            <a:off x="252360" y="1534320"/>
            <a:ext cx="8434080" cy="24001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0" u="none" strike="noStrike">
                <a:solidFill>
                  <a:schemeClr val="dk1"/>
                </a:solidFill>
                <a:effectLst/>
                <a:uFillTx/>
                <a:latin typeface="Bodoni MT Black"/>
              </a:rPr>
              <a:t>     </a:t>
            </a:r>
            <a:r>
              <a:rPr lang="zh-CN" sz="2400" b="0" u="none" strike="noStrike">
                <a:solidFill>
                  <a:schemeClr val="dk1"/>
                </a:solidFill>
                <a:effectLst/>
                <a:uFillTx/>
                <a:latin typeface="Bodoni MT Black"/>
              </a:rPr>
              <a:t>满足条件组合覆盖标准的测试数据，也一定满足判定覆盖、条件覆盖和判定</a:t>
            </a:r>
            <a:r>
              <a:rPr lang="en-US" sz="2400" b="0" u="none" strike="noStrike">
                <a:solidFill>
                  <a:schemeClr val="dk1"/>
                </a:solidFill>
                <a:effectLst/>
                <a:uFillTx/>
                <a:latin typeface="Bodoni MT Black"/>
              </a:rPr>
              <a:t>/</a:t>
            </a:r>
            <a:r>
              <a:rPr lang="zh-CN" sz="2400" b="0" u="none" strike="noStrike">
                <a:solidFill>
                  <a:schemeClr val="dk1"/>
                </a:solidFill>
                <a:effectLst/>
                <a:uFillTx/>
                <a:latin typeface="Bodoni MT Black"/>
              </a:rPr>
              <a:t>条件覆盖标准。因此，条件组合覆盖是前述几种覆盖标准中</a:t>
            </a:r>
            <a:r>
              <a:rPr lang="zh-CN" sz="2400" b="0" u="none" strike="noStrike">
                <a:solidFill>
                  <a:srgbClr val="ff0000"/>
                </a:solidFill>
                <a:effectLst/>
                <a:uFillTx/>
                <a:latin typeface="Bodoni MT Black"/>
              </a:rPr>
              <a:t>最强的</a:t>
            </a:r>
            <a:r>
              <a:rPr lang="zh-CN" sz="2400" b="0" u="none" strike="noStrike">
                <a:solidFill>
                  <a:schemeClr val="dk1"/>
                </a:solidFill>
                <a:effectLst/>
                <a:uFillTx/>
                <a:latin typeface="Bodoni MT Black"/>
              </a:rPr>
              <a:t>。但是，</a:t>
            </a:r>
            <a:r>
              <a:rPr lang="zh-CN" sz="2400" b="0" u="none" strike="noStrike">
                <a:solidFill>
                  <a:srgbClr val="ff0000"/>
                </a:solidFill>
                <a:effectLst/>
                <a:uFillTx/>
                <a:latin typeface="Bodoni MT Black"/>
              </a:rPr>
              <a:t>满足条件组合覆盖标准的测试数据并不一定能使程序中的每条路径都执行到</a:t>
            </a:r>
            <a:r>
              <a:rPr lang="zh-CN" sz="2400" b="0" u="none" strike="noStrike">
                <a:solidFill>
                  <a:schemeClr val="dk1"/>
                </a:solidFill>
                <a:effectLst/>
                <a:uFillTx/>
                <a:latin typeface="Bodoni MT Black"/>
              </a:rPr>
              <a:t>，例如，上述</a:t>
            </a:r>
            <a:r>
              <a:rPr lang="en-US" sz="2400" b="0" u="none" strike="noStrike">
                <a:solidFill>
                  <a:schemeClr val="dk1"/>
                </a:solidFill>
                <a:effectLst/>
                <a:uFillTx/>
                <a:latin typeface="Bodoni MT Black"/>
              </a:rPr>
              <a:t>4</a:t>
            </a:r>
            <a:r>
              <a:rPr lang="zh-CN" sz="2400" b="0" u="none" strike="noStrike">
                <a:solidFill>
                  <a:schemeClr val="dk1"/>
                </a:solidFill>
                <a:effectLst/>
                <a:uFillTx/>
                <a:latin typeface="Bodoni MT Black"/>
              </a:rPr>
              <a:t>组测试数据都没有测试到路径</a:t>
            </a:r>
            <a:r>
              <a:rPr lang="en-US" sz="2400" b="0" u="none" strike="noStrike">
                <a:solidFill>
                  <a:srgbClr val="ffc000"/>
                </a:solidFill>
                <a:effectLst/>
                <a:uFillTx/>
                <a:latin typeface="Bodoni MT Black"/>
              </a:rPr>
              <a:t>s-a-c-b-d</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p:txBody>
      </p:sp>
      <p:sp>
        <p:nvSpPr>
          <p:cNvPr id="483"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484"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7.6.1 </a:t>
            </a:r>
            <a:r>
              <a:rPr lang="zh-CN" sz="2400" b="0" u="none" strike="noStrike">
                <a:solidFill>
                  <a:srgbClr val="d9d9d9"/>
                </a:solidFill>
                <a:effectLst/>
                <a:uFillTx/>
                <a:latin typeface="Bodoni MT Black"/>
              </a:rPr>
              <a:t>逻辑覆盖</a:t>
            </a:r>
            <a:endParaRPr lang="en-US" sz="2400" b="0" u="none" strike="noStrike">
              <a:solidFill>
                <a:srgbClr val="000000"/>
              </a:solidFill>
              <a:effectLst/>
              <a:uFillTx/>
              <a:latin typeface="Arial"/>
            </a:endParaRPr>
          </a:p>
        </p:txBody>
      </p:sp>
      <p:pic>
        <p:nvPicPr>
          <p:cNvPr id="485" name="图片 1"/>
          <p:cNvPicPr/>
          <p:nvPr/>
        </p:nvPicPr>
        <p:blipFill>
          <a:blip r:embed="rId1"/>
          <a:stretch/>
        </p:blipFill>
        <p:spPr>
          <a:xfrm>
            <a:off x="6228360" y="3414240"/>
            <a:ext cx="2746080" cy="2898360"/>
          </a:xfrm>
          <a:prstGeom prst="rect">
            <a:avLst/>
          </a:prstGeom>
          <a:solidFill>
            <a:srgbClr val="ff0000"/>
          </a:solidFill>
          <a:ln w="9525">
            <a:noFill/>
          </a:ln>
        </p:spPr>
      </p:pic>
      <p:grpSp>
        <p:nvGrpSpPr>
          <p:cNvPr id="486" name="组合 1"/>
          <p:cNvGrpSpPr/>
          <p:nvPr/>
        </p:nvGrpSpPr>
        <p:grpSpPr>
          <a:xfrm>
            <a:off x="6733800" y="3800520"/>
            <a:ext cx="1869120" cy="2366280"/>
            <a:chOff x="6733800" y="3800520"/>
            <a:chExt cx="1869120" cy="2366280"/>
          </a:xfrm>
        </p:grpSpPr>
        <p:grpSp>
          <p:nvGrpSpPr>
            <p:cNvPr id="487" name="组合 7"/>
            <p:cNvGrpSpPr/>
            <p:nvPr/>
          </p:nvGrpSpPr>
          <p:grpSpPr>
            <a:xfrm>
              <a:off x="6733800" y="3812760"/>
              <a:ext cx="1797480" cy="2354040"/>
              <a:chOff x="6733800" y="3812760"/>
              <a:chExt cx="1797480" cy="2354040"/>
            </a:xfrm>
          </p:grpSpPr>
          <p:sp>
            <p:nvSpPr>
              <p:cNvPr id="488" name="任意多边形 10"/>
              <p:cNvSpPr/>
              <p:nvPr/>
            </p:nvSpPr>
            <p:spPr>
              <a:xfrm>
                <a:off x="6733800" y="3812760"/>
                <a:ext cx="1797480" cy="2354040"/>
              </a:xfrm>
              <a:custGeom>
                <a:avLst/>
                <a:gdLst>
                  <a:gd name="textAreaLeft" fmla="*/ 0 w 1797480"/>
                  <a:gd name="textAreaRight" fmla="*/ 1797840 w 1797480"/>
                  <a:gd name="textAreaTop" fmla="*/ 0 h 2354040"/>
                  <a:gd name="textAreaBottom" fmla="*/ 2354400 h 2354040"/>
                  <a:gd name="GluePoint1X" fmla="*/ 223674 w 1797783"/>
                  <a:gd name="GluePoint1Y" fmla="*/ 0 h 2354224"/>
                  <a:gd name="GluePoint2X" fmla="*/ 371955 w 1797783"/>
                  <a:gd name="GluePoint2Y" fmla="*/ 181232 h 2354224"/>
                  <a:gd name="GluePoint3X" fmla="*/ 264863 w 1797783"/>
                  <a:gd name="GluePoint3Y" fmla="*/ 486032 h 2354224"/>
                  <a:gd name="GluePoint4X" fmla="*/ 1599393 w 1797783"/>
                  <a:gd name="GluePoint4Y" fmla="*/ 494270 h 2354224"/>
                  <a:gd name="GluePoint5X" fmla="*/ 1607631 w 1797783"/>
                  <a:gd name="GluePoint5Y" fmla="*/ 1136821 h 2354224"/>
                  <a:gd name="GluePoint6X" fmla="*/ 157771 w 1797783"/>
                  <a:gd name="GluePoint6Y" fmla="*/ 1161535 h 2354224"/>
                  <a:gd name="GluePoint7X" fmla="*/ 198960 w 1797783"/>
                  <a:gd name="GluePoint7Y" fmla="*/ 1696994 h 2354224"/>
                  <a:gd name="GluePoint8X" fmla="*/ 1582917 w 1797783"/>
                  <a:gd name="GluePoint8Y" fmla="*/ 1631092 h 2354224"/>
                  <a:gd name="GluePoint9X" fmla="*/ 1657058 w 1797783"/>
                  <a:gd name="GluePoint9Y" fmla="*/ 2051221 h 2354224"/>
                  <a:gd name="GluePoint10X" fmla="*/ 248387 w 1797783"/>
                  <a:gd name="GluePoint10Y" fmla="*/ 2117124 h 2354224"/>
                  <a:gd name="GluePoint11X" fmla="*/ 157771 w 1797783"/>
                  <a:gd name="GluePoint11Y" fmla="*/ 2339546 h 2354224"/>
                  <a:gd name="GluePoint12X" fmla="*/ 174247 w 1797783"/>
                  <a:gd name="GluePoint12Y" fmla="*/ 2314832 h 23542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1797783" h="2354224">
                    <a:moveTo>
                      <a:pt x="223674" y="0"/>
                    </a:moveTo>
                    <a:cubicBezTo>
                      <a:pt x="294382" y="50113"/>
                      <a:pt x="365090" y="100227"/>
                      <a:pt x="371955" y="181232"/>
                    </a:cubicBezTo>
                    <a:cubicBezTo>
                      <a:pt x="378820" y="262237"/>
                      <a:pt x="60290" y="433859"/>
                      <a:pt x="264863" y="486032"/>
                    </a:cubicBezTo>
                    <a:cubicBezTo>
                      <a:pt x="469436" y="538205"/>
                      <a:pt x="1375598" y="385805"/>
                      <a:pt x="1599393" y="494270"/>
                    </a:cubicBezTo>
                    <a:cubicBezTo>
                      <a:pt x="1823188" y="602735"/>
                      <a:pt x="1847901" y="1025610"/>
                      <a:pt x="1607631" y="1136821"/>
                    </a:cubicBezTo>
                    <a:cubicBezTo>
                      <a:pt x="1367361" y="1248032"/>
                      <a:pt x="392549" y="1068173"/>
                      <a:pt x="157771" y="1161535"/>
                    </a:cubicBezTo>
                    <a:cubicBezTo>
                      <a:pt x="-77007" y="1254897"/>
                      <a:pt x="-38564" y="1618735"/>
                      <a:pt x="198960" y="1696994"/>
                    </a:cubicBezTo>
                    <a:cubicBezTo>
                      <a:pt x="436484" y="1775254"/>
                      <a:pt x="1339901" y="1572054"/>
                      <a:pt x="1582917" y="1631092"/>
                    </a:cubicBezTo>
                    <a:cubicBezTo>
                      <a:pt x="1825933" y="1690130"/>
                      <a:pt x="1879480" y="1970216"/>
                      <a:pt x="1657058" y="2051221"/>
                    </a:cubicBezTo>
                    <a:cubicBezTo>
                      <a:pt x="1434636" y="2132226"/>
                      <a:pt x="498268" y="2069070"/>
                      <a:pt x="248387" y="2117124"/>
                    </a:cubicBezTo>
                    <a:cubicBezTo>
                      <a:pt x="-1494" y="2165178"/>
                      <a:pt x="170128" y="2306595"/>
                      <a:pt x="157771" y="2339546"/>
                    </a:cubicBezTo>
                    <a:cubicBezTo>
                      <a:pt x="145414" y="2372497"/>
                      <a:pt x="159830" y="2343664"/>
                      <a:pt x="174247" y="2314832"/>
                    </a:cubicBezTo>
                  </a:path>
                </a:pathLst>
              </a:cu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489" name="任意多边形 11"/>
              <p:cNvSpPr/>
              <p:nvPr/>
            </p:nvSpPr>
            <p:spPr>
              <a:xfrm>
                <a:off x="6815160" y="3896640"/>
                <a:ext cx="26280" cy="2042640"/>
              </a:xfrm>
              <a:custGeom>
                <a:avLst/>
                <a:gdLst>
                  <a:gd name="textAreaLeft" fmla="*/ 0 w 26280"/>
                  <a:gd name="textAreaRight" fmla="*/ 26640 w 26280"/>
                  <a:gd name="textAreaTop" fmla="*/ 0 h 2042640"/>
                  <a:gd name="textAreaBottom" fmla="*/ 2043000 h 2042640"/>
                  <a:gd name="GluePoint1X" fmla="*/ 2087 w 26800"/>
                  <a:gd name="GluePoint1Y" fmla="*/ 0 h 2042984"/>
                  <a:gd name="GluePoint2X" fmla="*/ 18563 w 26800"/>
                  <a:gd name="GluePoint2Y" fmla="*/ 378941 h 2042984"/>
                  <a:gd name="GluePoint3X" fmla="*/ 26800 w 26800"/>
                  <a:gd name="GluePoint3Y" fmla="*/ 403654 h 2042984"/>
                  <a:gd name="GluePoint4X" fmla="*/ 18563 w 26800"/>
                  <a:gd name="GluePoint4Y" fmla="*/ 2042984 h 204298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800" h="2042984">
                    <a:moveTo>
                      <a:pt x="2087" y="0"/>
                    </a:moveTo>
                    <a:cubicBezTo>
                      <a:pt x="4076" y="81538"/>
                      <a:pt x="-10942" y="260917"/>
                      <a:pt x="18563" y="378941"/>
                    </a:cubicBezTo>
                    <a:cubicBezTo>
                      <a:pt x="20669" y="387365"/>
                      <a:pt x="24054" y="395416"/>
                      <a:pt x="26800" y="403654"/>
                    </a:cubicBezTo>
                    <a:cubicBezTo>
                      <a:pt x="17997" y="1856258"/>
                      <a:pt x="18563" y="1309808"/>
                      <a:pt x="18563" y="2042984"/>
                    </a:cubicBezTo>
                  </a:path>
                </a:pathLst>
              </a:custGeom>
              <a:noFill/>
              <a:ln>
                <a:solidFill>
                  <a:srgbClr val="00b05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grpSp>
        <p:grpSp>
          <p:nvGrpSpPr>
            <p:cNvPr id="490" name="组合 12"/>
            <p:cNvGrpSpPr/>
            <p:nvPr/>
          </p:nvGrpSpPr>
          <p:grpSpPr>
            <a:xfrm>
              <a:off x="6733800" y="3800520"/>
              <a:ext cx="1869120" cy="2356560"/>
              <a:chOff x="6733800" y="3800520"/>
              <a:chExt cx="1869120" cy="2356560"/>
            </a:xfrm>
          </p:grpSpPr>
          <p:sp>
            <p:nvSpPr>
              <p:cNvPr id="491" name="任意多边形 13"/>
              <p:cNvSpPr/>
              <p:nvPr/>
            </p:nvSpPr>
            <p:spPr>
              <a:xfrm>
                <a:off x="6733800" y="3803040"/>
                <a:ext cx="1797480" cy="2354040"/>
              </a:xfrm>
              <a:custGeom>
                <a:avLst/>
                <a:gdLst>
                  <a:gd name="textAreaLeft" fmla="*/ 0 w 1797480"/>
                  <a:gd name="textAreaRight" fmla="*/ 1797840 w 1797480"/>
                  <a:gd name="textAreaTop" fmla="*/ 0 h 2354040"/>
                  <a:gd name="textAreaBottom" fmla="*/ 2354400 h 2354040"/>
                  <a:gd name="GluePoint1X" fmla="*/ 223674 w 1797783"/>
                  <a:gd name="GluePoint1Y" fmla="*/ 0 h 2354224"/>
                  <a:gd name="GluePoint2X" fmla="*/ 371955 w 1797783"/>
                  <a:gd name="GluePoint2Y" fmla="*/ 181232 h 2354224"/>
                  <a:gd name="GluePoint3X" fmla="*/ 264863 w 1797783"/>
                  <a:gd name="GluePoint3Y" fmla="*/ 486032 h 2354224"/>
                  <a:gd name="GluePoint4X" fmla="*/ 1599393 w 1797783"/>
                  <a:gd name="GluePoint4Y" fmla="*/ 494270 h 2354224"/>
                  <a:gd name="GluePoint5X" fmla="*/ 1607631 w 1797783"/>
                  <a:gd name="GluePoint5Y" fmla="*/ 1136821 h 2354224"/>
                  <a:gd name="GluePoint6X" fmla="*/ 157771 w 1797783"/>
                  <a:gd name="GluePoint6Y" fmla="*/ 1161535 h 2354224"/>
                  <a:gd name="GluePoint7X" fmla="*/ 198960 w 1797783"/>
                  <a:gd name="GluePoint7Y" fmla="*/ 1696994 h 2354224"/>
                  <a:gd name="GluePoint8X" fmla="*/ 1582917 w 1797783"/>
                  <a:gd name="GluePoint8Y" fmla="*/ 1631092 h 2354224"/>
                  <a:gd name="GluePoint9X" fmla="*/ 1657058 w 1797783"/>
                  <a:gd name="GluePoint9Y" fmla="*/ 2051221 h 2354224"/>
                  <a:gd name="GluePoint10X" fmla="*/ 248387 w 1797783"/>
                  <a:gd name="GluePoint10Y" fmla="*/ 2117124 h 2354224"/>
                  <a:gd name="GluePoint11X" fmla="*/ 157771 w 1797783"/>
                  <a:gd name="GluePoint11Y" fmla="*/ 2339546 h 2354224"/>
                  <a:gd name="GluePoint12X" fmla="*/ 174247 w 1797783"/>
                  <a:gd name="GluePoint12Y" fmla="*/ 2314832 h 23542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1797783" h="2354224">
                    <a:moveTo>
                      <a:pt x="223674" y="0"/>
                    </a:moveTo>
                    <a:cubicBezTo>
                      <a:pt x="294382" y="50113"/>
                      <a:pt x="365090" y="100227"/>
                      <a:pt x="371955" y="181232"/>
                    </a:cubicBezTo>
                    <a:cubicBezTo>
                      <a:pt x="378820" y="262237"/>
                      <a:pt x="60290" y="433859"/>
                      <a:pt x="264863" y="486032"/>
                    </a:cubicBezTo>
                    <a:cubicBezTo>
                      <a:pt x="469436" y="538205"/>
                      <a:pt x="1375598" y="385805"/>
                      <a:pt x="1599393" y="494270"/>
                    </a:cubicBezTo>
                    <a:cubicBezTo>
                      <a:pt x="1823188" y="602735"/>
                      <a:pt x="1847901" y="1025610"/>
                      <a:pt x="1607631" y="1136821"/>
                    </a:cubicBezTo>
                    <a:cubicBezTo>
                      <a:pt x="1367361" y="1248032"/>
                      <a:pt x="392549" y="1068173"/>
                      <a:pt x="157771" y="1161535"/>
                    </a:cubicBezTo>
                    <a:cubicBezTo>
                      <a:pt x="-77007" y="1254897"/>
                      <a:pt x="-38564" y="1618735"/>
                      <a:pt x="198960" y="1696994"/>
                    </a:cubicBezTo>
                    <a:cubicBezTo>
                      <a:pt x="436484" y="1775254"/>
                      <a:pt x="1339901" y="1572054"/>
                      <a:pt x="1582917" y="1631092"/>
                    </a:cubicBezTo>
                    <a:cubicBezTo>
                      <a:pt x="1825933" y="1690130"/>
                      <a:pt x="1879480" y="1970216"/>
                      <a:pt x="1657058" y="2051221"/>
                    </a:cubicBezTo>
                    <a:cubicBezTo>
                      <a:pt x="1434636" y="2132226"/>
                      <a:pt x="498268" y="2069070"/>
                      <a:pt x="248387" y="2117124"/>
                    </a:cubicBezTo>
                    <a:cubicBezTo>
                      <a:pt x="-1494" y="2165178"/>
                      <a:pt x="170128" y="2306595"/>
                      <a:pt x="157771" y="2339546"/>
                    </a:cubicBezTo>
                    <a:cubicBezTo>
                      <a:pt x="145414" y="2372497"/>
                      <a:pt x="159830" y="2343664"/>
                      <a:pt x="174247" y="2314832"/>
                    </a:cubicBezTo>
                  </a:path>
                </a:pathLst>
              </a:cu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492" name="任意多边形 14"/>
              <p:cNvSpPr/>
              <p:nvPr/>
            </p:nvSpPr>
            <p:spPr>
              <a:xfrm>
                <a:off x="6825600" y="3800520"/>
                <a:ext cx="1777320" cy="2352600"/>
              </a:xfrm>
              <a:custGeom>
                <a:avLst/>
                <a:gdLst>
                  <a:gd name="textAreaLeft" fmla="*/ 0 w 1777320"/>
                  <a:gd name="textAreaRight" fmla="*/ 1777680 w 1777320"/>
                  <a:gd name="textAreaTop" fmla="*/ 0 h 2352600"/>
                  <a:gd name="textAreaBottom" fmla="*/ 2352960 h 2352600"/>
                  <a:gd name="GluePoint1X" fmla="*/ 114055 w 1777739"/>
                  <a:gd name="GluePoint1Y" fmla="*/ 0 h 2352982"/>
                  <a:gd name="GluePoint2X" fmla="*/ 155244 w 1777739"/>
                  <a:gd name="GluePoint2Y" fmla="*/ 1491049 h 2352982"/>
                  <a:gd name="GluePoint3X" fmla="*/ 1621579 w 1777739"/>
                  <a:gd name="GluePoint3Y" fmla="*/ 1598141 h 2352982"/>
                  <a:gd name="GluePoint4X" fmla="*/ 1572152 w 1777739"/>
                  <a:gd name="GluePoint4Y" fmla="*/ 2059460 h 2352982"/>
                  <a:gd name="GluePoint5X" fmla="*/ 171720 w 1777739"/>
                  <a:gd name="GluePoint5Y" fmla="*/ 2026508 h 2352982"/>
                  <a:gd name="GluePoint6X" fmla="*/ 105817 w 1777739"/>
                  <a:gd name="GluePoint6Y" fmla="*/ 2331308 h 2352982"/>
                  <a:gd name="GluePoint7X" fmla="*/ 105817 w 1777739"/>
                  <a:gd name="GluePoint7Y" fmla="*/ 2323070 h 2352982"/>
                  <a:gd name="GluePoint8X" fmla="*/ 130530 w 1777739"/>
                  <a:gd name="GluePoint8Y" fmla="*/ 2281881 h 235298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777739" h="2352982">
                    <a:moveTo>
                      <a:pt x="114055" y="0"/>
                    </a:moveTo>
                    <a:cubicBezTo>
                      <a:pt x="9022" y="612346"/>
                      <a:pt x="-96010" y="1224692"/>
                      <a:pt x="155244" y="1491049"/>
                    </a:cubicBezTo>
                    <a:cubicBezTo>
                      <a:pt x="406498" y="1757406"/>
                      <a:pt x="1385428" y="1503406"/>
                      <a:pt x="1621579" y="1598141"/>
                    </a:cubicBezTo>
                    <a:cubicBezTo>
                      <a:pt x="1857730" y="1692876"/>
                      <a:pt x="1813795" y="1988066"/>
                      <a:pt x="1572152" y="2059460"/>
                    </a:cubicBezTo>
                    <a:cubicBezTo>
                      <a:pt x="1330509" y="2130854"/>
                      <a:pt x="416109" y="1981200"/>
                      <a:pt x="171720" y="2026508"/>
                    </a:cubicBezTo>
                    <a:cubicBezTo>
                      <a:pt x="-72669" y="2071816"/>
                      <a:pt x="116801" y="2281881"/>
                      <a:pt x="105817" y="2331308"/>
                    </a:cubicBezTo>
                    <a:cubicBezTo>
                      <a:pt x="94833" y="2380735"/>
                      <a:pt x="101698" y="2331308"/>
                      <a:pt x="105817" y="2323070"/>
                    </a:cubicBezTo>
                    <a:cubicBezTo>
                      <a:pt x="109936" y="2314832"/>
                      <a:pt x="120233" y="2298356"/>
                      <a:pt x="130530" y="2281881"/>
                    </a:cubicBezTo>
                  </a:path>
                </a:pathLst>
              </a:custGeom>
              <a:noFill/>
              <a:ln>
                <a:solidFill>
                  <a:srgbClr val="00b0f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grpSp>
      </p:grpSp>
      <p:sp>
        <p:nvSpPr>
          <p:cNvPr id="493" name="任意多边形 2"/>
          <p:cNvSpPr/>
          <p:nvPr/>
        </p:nvSpPr>
        <p:spPr>
          <a:xfrm>
            <a:off x="6593040" y="3781080"/>
            <a:ext cx="1892880" cy="2347560"/>
          </a:xfrm>
          <a:custGeom>
            <a:avLst/>
            <a:gdLst>
              <a:gd name="textAreaLeft" fmla="*/ 0 w 1892880"/>
              <a:gd name="textAreaRight" fmla="*/ 1893240 w 1892880"/>
              <a:gd name="textAreaTop" fmla="*/ 0 h 2347560"/>
              <a:gd name="textAreaBottom" fmla="*/ 2347920 h 2347560"/>
              <a:gd name="GluePoint1X" fmla="*/ 244452 w 1893265"/>
              <a:gd name="GluePoint1Y" fmla="*/ 0 h 2347783"/>
              <a:gd name="GluePoint2X" fmla="*/ 227977 w 1893265"/>
              <a:gd name="GluePoint2Y" fmla="*/ 601362 h 2347783"/>
              <a:gd name="GluePoint3X" fmla="*/ 1628409 w 1893265"/>
              <a:gd name="GluePoint3Y" fmla="*/ 634313 h 2347783"/>
              <a:gd name="GluePoint4X" fmla="*/ 1760215 w 1893265"/>
              <a:gd name="GluePoint4Y" fmla="*/ 1054443 h 2347783"/>
              <a:gd name="GluePoint5X" fmla="*/ 162074 w 1893265"/>
              <a:gd name="GluePoint5Y" fmla="*/ 1070918 h 2347783"/>
              <a:gd name="GluePoint6X" fmla="*/ 137361 w 1893265"/>
              <a:gd name="GluePoint6Y" fmla="*/ 2347783 h 234778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893265" h="2347783">
                <a:moveTo>
                  <a:pt x="244452" y="0"/>
                </a:moveTo>
                <a:cubicBezTo>
                  <a:pt x="120885" y="247821"/>
                  <a:pt x="-2682" y="495643"/>
                  <a:pt x="227977" y="601362"/>
                </a:cubicBezTo>
                <a:cubicBezTo>
                  <a:pt x="458636" y="707081"/>
                  <a:pt x="1373036" y="558799"/>
                  <a:pt x="1628409" y="634313"/>
                </a:cubicBezTo>
                <a:cubicBezTo>
                  <a:pt x="1883782" y="709827"/>
                  <a:pt x="2004604" y="981676"/>
                  <a:pt x="1760215" y="1054443"/>
                </a:cubicBezTo>
                <a:cubicBezTo>
                  <a:pt x="1515826" y="1127210"/>
                  <a:pt x="432550" y="855361"/>
                  <a:pt x="162074" y="1070918"/>
                </a:cubicBezTo>
                <a:cubicBezTo>
                  <a:pt x="-108402" y="1286475"/>
                  <a:pt x="14479" y="1817129"/>
                  <a:pt x="137361" y="2347783"/>
                </a:cubicBezTo>
              </a:path>
            </a:pathLst>
          </a:custGeom>
          <a:noFill/>
          <a:ln>
            <a:solidFill>
              <a:srgbClr val="ffc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Tree>
  </p:cSld>
  <mc:AlternateContent>
    <mc:Choice Requires="p14">
      <p:transition spd="slow" p14:dur="2000"/>
    </mc:Choice>
    <mc:Fallback>
      <p:transition spd="slow"/>
    </mc:Fallback>
  </mc:AlternateContent>
  <p:timing>
    <p:tnLst>
      <p:par>
        <p:cTn id="51" dur="indefinite" restart="never" nodeType="tmRoot">
          <p:childTnLst>
            <p:seq>
              <p:cTn id="52" dur="indefinite" nodeType="mainSeq">
                <p:childTnLst>
                  <p:par>
                    <p:cTn id="53" fill="hold">
                      <p:stCondLst>
                        <p:cond delay="indefinite"/>
                      </p:stCondLst>
                      <p:childTnLst>
                        <p:par>
                          <p:cTn id="54" fill="hold">
                            <p:stCondLst>
                              <p:cond delay="0"/>
                            </p:stCondLst>
                            <p:childTnLst>
                              <p:par>
                                <p:cTn id="55" presetID="1" presetClass="entr" fill="hold" nodeType="clickEffect">
                                  <p:stCondLst>
                                    <p:cond delay="0"/>
                                  </p:stCondLst>
                                  <p:childTnLst>
                                    <p:set>
                                      <p:cBhvr>
                                        <p:cTn id="56" dur="1" fill="hold">
                                          <p:stCondLst>
                                            <p:cond delay="0"/>
                                          </p:stCondLst>
                                        </p:cTn>
                                        <p:tgtEl>
                                          <p:spTgt spid="48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fill="hold" nodeType="clickEffect">
                                  <p:stCondLst>
                                    <p:cond delay="0"/>
                                  </p:stCondLst>
                                  <p:childTnLst>
                                    <p:set>
                                      <p:cBhvr>
                                        <p:cTn id="60" dur="1" fill="hold">
                                          <p:stCondLst>
                                            <p:cond delay="0"/>
                                          </p:stCondLst>
                                        </p:cTn>
                                        <p:tgtEl>
                                          <p:spTgt spid="493"/>
                                        </p:tgtEl>
                                        <p:attrNameLst>
                                          <p:attrName>style.visibility</p:attrName>
                                        </p:attrNameLst>
                                      </p:cBhvr>
                                      <p:to>
                                        <p:strVal val="visible"/>
                                      </p:to>
                                    </p:set>
                                  </p:childTnLst>
                                </p:cTn>
                              </p:par>
                              <p:par>
                                <p:cTn id="61" presetID="1" presetClass="exit" fill="hold" nodeType="withEffect">
                                  <p:stCondLst>
                                    <p:cond delay="0"/>
                                  </p:stCondLst>
                                  <p:childTnLst>
                                    <p:set>
                                      <p:cBhvr>
                                        <p:cTn id="62" dur="1" fill="hold">
                                          <p:stCondLst>
                                            <p:cond delay="0"/>
                                          </p:stCondLst>
                                        </p:cTn>
                                        <p:tgtEl>
                                          <p:spTgt spid="48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495" name="PlaceHolder 2"/>
          <p:cNvSpPr>
            <a:spLocks noGrp="1"/>
          </p:cNvSpPr>
          <p:nvPr>
            <p:ph/>
          </p:nvPr>
        </p:nvSpPr>
        <p:spPr>
          <a:xfrm>
            <a:off x="323640" y="1048320"/>
            <a:ext cx="8229240" cy="604440"/>
          </a:xfrm>
          <a:prstGeom prst="rect">
            <a:avLst/>
          </a:prstGeom>
          <a:noFill/>
          <a:ln w="9360">
            <a:noFill/>
          </a:ln>
        </p:spPr>
        <p:txBody>
          <a:bodyPr numCol="1" spcCol="0" lIns="91440" rIns="91440" tIns="45720" bIns="45720" anchor="t">
            <a:noAutofit/>
          </a:bodyPr>
          <a:p>
            <a:pPr indent="0">
              <a:lnSpc>
                <a:spcPct val="100000"/>
              </a:lnSpc>
              <a:spcBef>
                <a:spcPts val="479"/>
              </a:spcBef>
              <a:buNone/>
              <a:tabLst>
                <a:tab algn="l" pos="0"/>
              </a:tabLst>
            </a:pPr>
            <a:r>
              <a:rPr lang="en-US" sz="2400" b="1" u="none" strike="noStrike">
                <a:solidFill>
                  <a:schemeClr val="dk1"/>
                </a:solidFill>
                <a:effectLst/>
                <a:uFillTx/>
                <a:latin typeface="Bodoni MT Black"/>
              </a:rPr>
              <a:t>6. </a:t>
            </a:r>
            <a:r>
              <a:rPr lang="zh-CN" sz="2400" b="1" u="none" strike="noStrike">
                <a:solidFill>
                  <a:schemeClr val="dk1"/>
                </a:solidFill>
                <a:effectLst/>
                <a:uFillTx/>
                <a:latin typeface="Bodoni MT Black"/>
              </a:rPr>
              <a:t>点覆盖</a:t>
            </a:r>
            <a:endParaRPr lang="es-ES" sz="2400" b="0" u="none" strike="noStrike">
              <a:solidFill>
                <a:schemeClr val="dk1"/>
              </a:solidFill>
              <a:effectLst/>
              <a:uFillTx/>
              <a:latin typeface="Calibri"/>
            </a:endParaRPr>
          </a:p>
        </p:txBody>
      </p:sp>
      <p:sp>
        <p:nvSpPr>
          <p:cNvPr id="496" name="TextBox 7"/>
          <p:cNvSpPr/>
          <p:nvPr/>
        </p:nvSpPr>
        <p:spPr>
          <a:xfrm>
            <a:off x="323640" y="1578240"/>
            <a:ext cx="8568720" cy="42469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从对</a:t>
            </a:r>
            <a:r>
              <a:rPr lang="zh-CN" sz="2400" b="0" u="none" strike="noStrike">
                <a:solidFill>
                  <a:srgbClr val="ff0000"/>
                </a:solidFill>
                <a:effectLst/>
                <a:uFillTx/>
                <a:latin typeface="Bodoni MT Black"/>
                <a:ea typeface="宋体"/>
              </a:rPr>
              <a:t>程序路径的覆盖程度</a:t>
            </a:r>
            <a:r>
              <a:rPr lang="zh-CN" sz="2400" b="0" u="none" strike="noStrike">
                <a:solidFill>
                  <a:schemeClr val="dk1"/>
                </a:solidFill>
                <a:effectLst/>
                <a:uFillTx/>
                <a:latin typeface="Bodoni MT Black"/>
                <a:ea typeface="宋体"/>
              </a:rPr>
              <a:t>分析，能够提出下述一些主要的逻辑覆盖标准。</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     图论中</a:t>
            </a:r>
            <a:r>
              <a:rPr lang="zh-CN" sz="2400" b="1" u="none" strike="noStrike">
                <a:solidFill>
                  <a:srgbClr val="c00000"/>
                </a:solidFill>
                <a:effectLst/>
                <a:uFillTx/>
                <a:latin typeface="Bodoni MT Black"/>
                <a:ea typeface="宋体"/>
              </a:rPr>
              <a:t>点覆盖</a:t>
            </a:r>
            <a:r>
              <a:rPr lang="zh-CN" sz="2400" b="0" u="none" strike="noStrike">
                <a:solidFill>
                  <a:schemeClr val="dk1"/>
                </a:solidFill>
                <a:effectLst/>
                <a:uFillTx/>
                <a:latin typeface="Bodoni MT Black"/>
                <a:ea typeface="宋体"/>
              </a:rPr>
              <a:t>的定义如下：如果连通图</a:t>
            </a:r>
            <a:r>
              <a:rPr lang="en-US" sz="2400" b="0" u="none" strike="noStrike">
                <a:solidFill>
                  <a:schemeClr val="dk1"/>
                </a:solidFill>
                <a:effectLst/>
                <a:uFillTx/>
                <a:latin typeface="Bodoni MT Black"/>
                <a:ea typeface="宋体"/>
              </a:rPr>
              <a:t>G</a:t>
            </a:r>
            <a:r>
              <a:rPr lang="zh-CN" sz="2400" b="0" u="none" strike="noStrike">
                <a:solidFill>
                  <a:schemeClr val="dk1"/>
                </a:solidFill>
                <a:effectLst/>
                <a:uFillTx/>
                <a:latin typeface="Bodoni MT Black"/>
                <a:ea typeface="宋体"/>
              </a:rPr>
              <a:t>的子图</a:t>
            </a:r>
            <a:r>
              <a:rPr lang="en-US" sz="2400" b="0" u="none" strike="noStrike">
                <a:solidFill>
                  <a:schemeClr val="dk1"/>
                </a:solidFill>
                <a:effectLst/>
                <a:uFillTx/>
                <a:latin typeface="Bodoni MT Black"/>
                <a:ea typeface="宋体"/>
              </a:rPr>
              <a:t>G′</a:t>
            </a:r>
            <a:r>
              <a:rPr lang="zh-CN" sz="2400" b="0" u="none" strike="noStrike">
                <a:solidFill>
                  <a:schemeClr val="dk1"/>
                </a:solidFill>
                <a:effectLst/>
                <a:uFillTx/>
                <a:latin typeface="Bodoni MT Black"/>
                <a:ea typeface="宋体"/>
              </a:rPr>
              <a:t>是连通的，而且包含</a:t>
            </a:r>
            <a:r>
              <a:rPr lang="en-US" sz="2400" b="0" u="none" strike="noStrike">
                <a:solidFill>
                  <a:schemeClr val="dk1"/>
                </a:solidFill>
                <a:effectLst/>
                <a:uFillTx/>
                <a:latin typeface="Bodoni MT Black"/>
                <a:ea typeface="宋体"/>
              </a:rPr>
              <a:t>G</a:t>
            </a:r>
            <a:r>
              <a:rPr lang="zh-CN" sz="2400" b="0" u="none" strike="noStrike">
                <a:solidFill>
                  <a:schemeClr val="dk1"/>
                </a:solidFill>
                <a:effectLst/>
                <a:uFillTx/>
                <a:latin typeface="Bodoni MT Black"/>
                <a:ea typeface="宋体"/>
              </a:rPr>
              <a:t>的所有结点，则称</a:t>
            </a:r>
            <a:r>
              <a:rPr lang="en-US" sz="2400" b="0" u="none" strike="noStrike">
                <a:solidFill>
                  <a:schemeClr val="dk1"/>
                </a:solidFill>
                <a:effectLst/>
                <a:uFillTx/>
                <a:latin typeface="Bodoni MT Black"/>
                <a:ea typeface="宋体"/>
              </a:rPr>
              <a:t>G′</a:t>
            </a:r>
            <a:r>
              <a:rPr lang="zh-CN" sz="2400" b="0" u="none" strike="noStrike">
                <a:solidFill>
                  <a:schemeClr val="dk1"/>
                </a:solidFill>
                <a:effectLst/>
                <a:uFillTx/>
                <a:latin typeface="Bodoni MT Black"/>
                <a:ea typeface="宋体"/>
              </a:rPr>
              <a:t>是</a:t>
            </a:r>
            <a:r>
              <a:rPr lang="en-US" sz="2400" b="0" u="none" strike="noStrike">
                <a:solidFill>
                  <a:schemeClr val="dk1"/>
                </a:solidFill>
                <a:effectLst/>
                <a:uFillTx/>
                <a:latin typeface="Bodoni MT Black"/>
                <a:ea typeface="宋体"/>
              </a:rPr>
              <a:t>G</a:t>
            </a:r>
            <a:r>
              <a:rPr lang="zh-CN" sz="2400" b="0" u="none" strike="noStrike">
                <a:solidFill>
                  <a:schemeClr val="dk1"/>
                </a:solidFill>
                <a:effectLst/>
                <a:uFillTx/>
                <a:latin typeface="Bodoni MT Black"/>
                <a:ea typeface="宋体"/>
              </a:rPr>
              <a:t>的点覆盖。</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     在第</a:t>
            </a:r>
            <a:r>
              <a:rPr lang="en-US" sz="2400" b="0" u="none" strike="noStrike">
                <a:solidFill>
                  <a:schemeClr val="dk1"/>
                </a:solidFill>
                <a:effectLst/>
                <a:uFillTx/>
                <a:latin typeface="Bodoni MT Black"/>
                <a:ea typeface="宋体"/>
              </a:rPr>
              <a:t>6</a:t>
            </a:r>
            <a:r>
              <a:rPr lang="zh-CN" sz="2400" b="0" u="none" strike="noStrike">
                <a:solidFill>
                  <a:schemeClr val="dk1"/>
                </a:solidFill>
                <a:effectLst/>
                <a:uFillTx/>
                <a:latin typeface="Bodoni MT Black"/>
                <a:ea typeface="宋体"/>
              </a:rPr>
              <a:t>章中已经讲述了从程序流程图导出流图的方法。在正常情况下</a:t>
            </a:r>
            <a:r>
              <a:rPr lang="zh-CN" sz="2400" b="0" u="none" strike="noStrike">
                <a:solidFill>
                  <a:srgbClr val="ff0000"/>
                </a:solidFill>
                <a:effectLst/>
                <a:uFillTx/>
                <a:latin typeface="Bodoni MT Black"/>
                <a:ea typeface="宋体"/>
              </a:rPr>
              <a:t>流图是连通的有向图</a:t>
            </a:r>
            <a:r>
              <a:rPr lang="zh-CN" sz="2400" b="0" u="none" strike="noStrike">
                <a:solidFill>
                  <a:schemeClr val="dk1"/>
                </a:solidFill>
                <a:effectLst/>
                <a:uFillTx/>
                <a:latin typeface="Bodoni MT Black"/>
                <a:ea typeface="宋体"/>
              </a:rPr>
              <a:t>。满足点覆盖标准要求选取足够多的测试数据，使得程序执行路径至少经过流图的每个结点一次，由于流图的每个结点与一条或多条语句相对应，显然，</a:t>
            </a:r>
            <a:r>
              <a:rPr lang="zh-CN" sz="2400" b="1" u="none" strike="noStrike">
                <a:solidFill>
                  <a:srgbClr val="ff0000"/>
                </a:solidFill>
                <a:effectLst/>
                <a:uFillTx/>
                <a:latin typeface="Bodoni MT Black"/>
                <a:ea typeface="宋体"/>
              </a:rPr>
              <a:t>点覆盖标准和语句覆盖标准是相同的</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497"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498"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7.6.1 </a:t>
            </a:r>
            <a:r>
              <a:rPr lang="zh-CN" sz="2400" b="0" u="none" strike="noStrike">
                <a:solidFill>
                  <a:srgbClr val="d9d9d9"/>
                </a:solidFill>
                <a:effectLst/>
                <a:uFillTx/>
                <a:latin typeface="Bodoni MT Black"/>
              </a:rPr>
              <a:t>逻辑覆盖</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500" name="PlaceHolder 2"/>
          <p:cNvSpPr>
            <a:spLocks noGrp="1"/>
          </p:cNvSpPr>
          <p:nvPr>
            <p:ph/>
          </p:nvPr>
        </p:nvSpPr>
        <p:spPr>
          <a:xfrm>
            <a:off x="395280" y="1125360"/>
            <a:ext cx="8229240" cy="603000"/>
          </a:xfrm>
          <a:prstGeom prst="rect">
            <a:avLst/>
          </a:prstGeom>
          <a:noFill/>
          <a:ln w="9360">
            <a:noFill/>
          </a:ln>
        </p:spPr>
        <p:txBody>
          <a:bodyPr numCol="1" spcCol="0" lIns="91440" rIns="91440" tIns="45720" bIns="45720" anchor="t">
            <a:noAutofit/>
          </a:bodyPr>
          <a:p>
            <a:pPr indent="0">
              <a:lnSpc>
                <a:spcPct val="100000"/>
              </a:lnSpc>
              <a:spcBef>
                <a:spcPts val="479"/>
              </a:spcBef>
              <a:buNone/>
              <a:tabLst>
                <a:tab algn="l" pos="0"/>
              </a:tabLst>
            </a:pPr>
            <a:r>
              <a:rPr lang="en-US" sz="2400" b="1" u="none" strike="noStrike">
                <a:solidFill>
                  <a:schemeClr val="dk1"/>
                </a:solidFill>
                <a:effectLst/>
                <a:uFillTx/>
                <a:latin typeface="Bodoni MT Black"/>
              </a:rPr>
              <a:t>7. </a:t>
            </a:r>
            <a:r>
              <a:rPr lang="zh-CN" sz="2400" b="1" u="none" strike="noStrike">
                <a:solidFill>
                  <a:schemeClr val="dk1"/>
                </a:solidFill>
                <a:effectLst/>
                <a:uFillTx/>
                <a:latin typeface="Bodoni MT Black"/>
              </a:rPr>
              <a:t>边覆盖和路径覆盖</a:t>
            </a:r>
            <a:endParaRPr lang="es-ES" sz="2400" b="0" u="none" strike="noStrike">
              <a:solidFill>
                <a:schemeClr val="dk1"/>
              </a:solidFill>
              <a:effectLst/>
              <a:uFillTx/>
              <a:latin typeface="Calibri"/>
            </a:endParaRPr>
          </a:p>
        </p:txBody>
      </p:sp>
      <p:sp>
        <p:nvSpPr>
          <p:cNvPr id="501" name="TextBox 7"/>
          <p:cNvSpPr/>
          <p:nvPr/>
        </p:nvSpPr>
        <p:spPr>
          <a:xfrm>
            <a:off x="323640" y="1772640"/>
            <a:ext cx="8496720" cy="33235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0" u="none" strike="noStrike">
                <a:solidFill>
                  <a:schemeClr val="dk1"/>
                </a:solidFill>
                <a:effectLst/>
                <a:uFillTx/>
                <a:latin typeface="Bodoni MT Black"/>
                <a:ea typeface="宋体"/>
              </a:rPr>
              <a:t>     </a:t>
            </a:r>
            <a:r>
              <a:rPr lang="zh-CN" sz="2400" b="1" u="none" strike="noStrike">
                <a:solidFill>
                  <a:srgbClr val="c00000"/>
                </a:solidFill>
                <a:effectLst/>
                <a:uFillTx/>
                <a:latin typeface="Bodoni MT Black"/>
                <a:ea typeface="宋体"/>
              </a:rPr>
              <a:t>边覆盖</a:t>
            </a:r>
            <a:r>
              <a:rPr lang="zh-CN" sz="2400" b="0" u="none" strike="noStrike">
                <a:solidFill>
                  <a:schemeClr val="dk1"/>
                </a:solidFill>
                <a:effectLst/>
                <a:uFillTx/>
                <a:latin typeface="Bodoni MT Black"/>
                <a:ea typeface="宋体"/>
              </a:rPr>
              <a:t>的定义是：如果连通图</a:t>
            </a:r>
            <a:r>
              <a:rPr lang="en-US" sz="2400" b="0" u="none" strike="noStrike">
                <a:solidFill>
                  <a:schemeClr val="dk1"/>
                </a:solidFill>
                <a:effectLst/>
                <a:uFillTx/>
                <a:latin typeface="Bodoni MT Black"/>
                <a:ea typeface="宋体"/>
              </a:rPr>
              <a:t>G</a:t>
            </a:r>
            <a:r>
              <a:rPr lang="zh-CN" sz="2400" b="0" u="none" strike="noStrike">
                <a:solidFill>
                  <a:schemeClr val="dk1"/>
                </a:solidFill>
                <a:effectLst/>
                <a:uFillTx/>
                <a:latin typeface="Bodoni MT Black"/>
                <a:ea typeface="宋体"/>
              </a:rPr>
              <a:t>的子图</a:t>
            </a:r>
            <a:r>
              <a:rPr lang="en-US" sz="2400" b="0" u="none" strike="noStrike">
                <a:solidFill>
                  <a:schemeClr val="dk1"/>
                </a:solidFill>
                <a:effectLst/>
                <a:uFillTx/>
                <a:latin typeface="Bodoni MT Black"/>
                <a:ea typeface="宋体"/>
              </a:rPr>
              <a:t>G″</a:t>
            </a:r>
            <a:r>
              <a:rPr lang="zh-CN" sz="2400" b="0" u="none" strike="noStrike">
                <a:solidFill>
                  <a:schemeClr val="dk1"/>
                </a:solidFill>
                <a:effectLst/>
                <a:uFillTx/>
                <a:latin typeface="Bodoni MT Black"/>
                <a:ea typeface="宋体"/>
              </a:rPr>
              <a:t>是连通的，而且包含</a:t>
            </a:r>
            <a:r>
              <a:rPr lang="en-US" sz="2400" b="0" u="none" strike="noStrike">
                <a:solidFill>
                  <a:schemeClr val="dk1"/>
                </a:solidFill>
                <a:effectLst/>
                <a:uFillTx/>
                <a:latin typeface="Bodoni MT Black"/>
                <a:ea typeface="宋体"/>
              </a:rPr>
              <a:t>G</a:t>
            </a:r>
            <a:r>
              <a:rPr lang="zh-CN" sz="2400" b="0" u="none" strike="noStrike">
                <a:solidFill>
                  <a:schemeClr val="dk1"/>
                </a:solidFill>
                <a:effectLst/>
                <a:uFillTx/>
                <a:latin typeface="Bodoni MT Black"/>
                <a:ea typeface="宋体"/>
              </a:rPr>
              <a:t>的所有边，则称</a:t>
            </a:r>
            <a:r>
              <a:rPr lang="en-US" sz="2400" b="0" u="none" strike="noStrike">
                <a:solidFill>
                  <a:schemeClr val="dk1"/>
                </a:solidFill>
                <a:effectLst/>
                <a:uFillTx/>
                <a:latin typeface="Bodoni MT Black"/>
                <a:ea typeface="宋体"/>
              </a:rPr>
              <a:t>G″</a:t>
            </a:r>
            <a:r>
              <a:rPr lang="zh-CN" sz="2400" b="0" u="none" strike="noStrike">
                <a:solidFill>
                  <a:schemeClr val="dk1"/>
                </a:solidFill>
                <a:effectLst/>
                <a:uFillTx/>
                <a:latin typeface="Bodoni MT Black"/>
                <a:ea typeface="宋体"/>
              </a:rPr>
              <a:t>是</a:t>
            </a:r>
            <a:r>
              <a:rPr lang="en-US" sz="2400" b="0" u="none" strike="noStrike">
                <a:solidFill>
                  <a:schemeClr val="dk1"/>
                </a:solidFill>
                <a:effectLst/>
                <a:uFillTx/>
                <a:latin typeface="Bodoni MT Black"/>
                <a:ea typeface="宋体"/>
              </a:rPr>
              <a:t>G</a:t>
            </a:r>
            <a:r>
              <a:rPr lang="zh-CN" sz="2400" b="0" u="none" strike="noStrike">
                <a:solidFill>
                  <a:schemeClr val="dk1"/>
                </a:solidFill>
                <a:effectLst/>
                <a:uFillTx/>
                <a:latin typeface="Bodoni MT Black"/>
                <a:ea typeface="宋体"/>
              </a:rPr>
              <a:t>的边覆盖。为了满足边覆盖的测试标准，要求选取足够多测试数据，使得程序执行路径至少经过流图中每条边一次。</a:t>
            </a:r>
            <a:r>
              <a:rPr lang="zh-CN" sz="2400" b="1" u="none" strike="noStrike">
                <a:solidFill>
                  <a:srgbClr val="ff0000"/>
                </a:solidFill>
                <a:effectLst/>
                <a:uFillTx/>
                <a:latin typeface="Bodoni MT Black"/>
                <a:ea typeface="宋体"/>
              </a:rPr>
              <a:t>通常边覆盖和判定覆盖是一致的</a:t>
            </a:r>
            <a:r>
              <a:rPr lang="zh-CN" sz="2400" b="1"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a:lnSpc>
                <a:spcPct val="125000"/>
              </a:lnSpc>
              <a:tabLst>
                <a:tab algn="l" pos="0"/>
              </a:tabLst>
            </a:pPr>
            <a:r>
              <a:rPr lang="en-US" sz="2400" b="1" u="none" strike="noStrike">
                <a:solidFill>
                  <a:srgbClr val="c00000"/>
                </a:solidFill>
                <a:effectLst/>
                <a:uFillTx/>
                <a:latin typeface="Bodoni MT Black"/>
                <a:ea typeface="宋体"/>
              </a:rPr>
              <a:t>     路径覆盖</a:t>
            </a:r>
            <a:r>
              <a:rPr lang="zh-CN" sz="2400" b="0" u="none" strike="noStrike">
                <a:solidFill>
                  <a:schemeClr val="dk1"/>
                </a:solidFill>
                <a:effectLst/>
                <a:uFillTx/>
                <a:latin typeface="Bodoni MT Black"/>
                <a:ea typeface="宋体"/>
              </a:rPr>
              <a:t>的含义是：选取足够多测试数据，使程序的</a:t>
            </a:r>
            <a:r>
              <a:rPr lang="zh-CN" sz="2400" b="0" u="none" strike="noStrike">
                <a:solidFill>
                  <a:srgbClr val="ff0000"/>
                </a:solidFill>
                <a:effectLst/>
                <a:uFillTx/>
                <a:latin typeface="Bodoni MT Black"/>
                <a:ea typeface="宋体"/>
              </a:rPr>
              <a:t>每条可能路径</a:t>
            </a:r>
            <a:r>
              <a:rPr lang="zh-CN" sz="2400" b="0" u="none" strike="noStrike">
                <a:solidFill>
                  <a:schemeClr val="dk1"/>
                </a:solidFill>
                <a:effectLst/>
                <a:uFillTx/>
                <a:latin typeface="Bodoni MT Black"/>
                <a:ea typeface="宋体"/>
              </a:rPr>
              <a:t>都至少执行一次（如果程序图中有环，则要求每个环至少经过一次）。</a:t>
            </a:r>
            <a:endParaRPr lang="en-US" sz="2400" b="0" u="none" strike="noStrike">
              <a:solidFill>
                <a:srgbClr val="000000"/>
              </a:solidFill>
              <a:effectLst/>
              <a:uFillTx/>
              <a:latin typeface="Arial"/>
            </a:endParaRPr>
          </a:p>
        </p:txBody>
      </p:sp>
      <p:sp>
        <p:nvSpPr>
          <p:cNvPr id="502"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503"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7.6.1 </a:t>
            </a:r>
            <a:r>
              <a:rPr lang="zh-CN" sz="2400" b="0" u="none" strike="noStrike">
                <a:solidFill>
                  <a:srgbClr val="d9d9d9"/>
                </a:solidFill>
                <a:effectLst/>
                <a:uFillTx/>
                <a:latin typeface="Bodoni MT Black"/>
              </a:rPr>
              <a:t>逻辑覆盖</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505" name="PlaceHolder 2"/>
          <p:cNvSpPr>
            <a:spLocks noGrp="1"/>
          </p:cNvSpPr>
          <p:nvPr>
            <p:ph/>
          </p:nvPr>
        </p:nvSpPr>
        <p:spPr>
          <a:xfrm>
            <a:off x="351360" y="980640"/>
            <a:ext cx="8229240" cy="60300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7.6.2 </a:t>
            </a:r>
            <a:r>
              <a:rPr lang="zh-CN" sz="3200" b="1" u="none" strike="noStrike">
                <a:solidFill>
                  <a:schemeClr val="dk1"/>
                </a:solidFill>
                <a:effectLst/>
                <a:uFillTx/>
                <a:latin typeface="Bodoni MT Black"/>
              </a:rPr>
              <a:t>控制结构测试</a:t>
            </a:r>
            <a:endParaRPr lang="es-ES" sz="3200" b="0" u="none" strike="noStrike">
              <a:solidFill>
                <a:schemeClr val="dk1"/>
              </a:solidFill>
              <a:effectLst/>
              <a:uFillTx/>
              <a:latin typeface="Calibri"/>
            </a:endParaRPr>
          </a:p>
        </p:txBody>
      </p:sp>
      <p:sp>
        <p:nvSpPr>
          <p:cNvPr id="506" name="TextBox 7"/>
          <p:cNvSpPr/>
          <p:nvPr/>
        </p:nvSpPr>
        <p:spPr>
          <a:xfrm>
            <a:off x="369720" y="1728720"/>
            <a:ext cx="8280000" cy="4041720"/>
          </a:xfrm>
          <a:prstGeom prst="rect">
            <a:avLst/>
          </a:prstGeom>
          <a:noFill/>
          <a:ln w="0">
            <a:noFill/>
          </a:ln>
        </p:spPr>
        <p:style>
          <a:lnRef idx="0"/>
          <a:fillRef idx="0"/>
          <a:effectRef idx="0"/>
          <a:fontRef idx="minor"/>
        </p:style>
        <p:txBody>
          <a:bodyPr lIns="90000" rIns="90000" tIns="45000" bIns="45000" anchor="t">
            <a:spAutoFit/>
          </a:bodyPr>
          <a:p>
            <a:pPr>
              <a:lnSpc>
                <a:spcPts val="3200"/>
              </a:lnSpc>
              <a:tabLst>
                <a:tab algn="l" pos="0"/>
              </a:tabLst>
            </a:pPr>
            <a:r>
              <a:rPr lang="en-US" sz="2400" b="1" u="none" strike="noStrike">
                <a:solidFill>
                  <a:srgbClr val="c00000"/>
                </a:solidFill>
                <a:effectLst/>
                <a:uFillTx/>
                <a:latin typeface="Bodoni MT Black"/>
              </a:rPr>
              <a:t>    </a:t>
            </a:r>
            <a:endParaRPr lang="en-US" sz="2400" b="0" u="none" strike="noStrike">
              <a:solidFill>
                <a:srgbClr val="000000"/>
              </a:solidFill>
              <a:effectLst/>
              <a:uFillTx/>
              <a:latin typeface="Arial"/>
            </a:endParaRPr>
          </a:p>
          <a:p>
            <a:pPr>
              <a:lnSpc>
                <a:spcPct val="125000"/>
              </a:lnSpc>
              <a:tabLst>
                <a:tab algn="l" pos="0"/>
              </a:tabLst>
            </a:pPr>
            <a:r>
              <a:rPr lang="en-US" sz="2400" b="1" u="none" strike="noStrike">
                <a:solidFill>
                  <a:srgbClr val="c00000"/>
                </a:solidFill>
                <a:effectLst/>
                <a:uFillTx/>
                <a:latin typeface="Bodoni MT Black"/>
              </a:rPr>
              <a:t>     </a:t>
            </a:r>
            <a:r>
              <a:rPr lang="zh-CN" sz="2400" b="1" u="none" strike="noStrike">
                <a:solidFill>
                  <a:srgbClr val="c00000"/>
                </a:solidFill>
                <a:effectLst/>
                <a:uFillTx/>
                <a:latin typeface="Bodoni MT Black"/>
              </a:rPr>
              <a:t>基本路径测试</a:t>
            </a:r>
            <a:r>
              <a:rPr lang="zh-CN" sz="2400" b="0" u="none" strike="noStrike">
                <a:solidFill>
                  <a:schemeClr val="dk1"/>
                </a:solidFill>
                <a:effectLst/>
                <a:uFillTx/>
                <a:latin typeface="Bodoni MT Black"/>
              </a:rPr>
              <a:t>是</a:t>
            </a:r>
            <a:r>
              <a:rPr lang="en-US" sz="2400" b="0" u="none" strike="noStrike">
                <a:solidFill>
                  <a:schemeClr val="dk1"/>
                </a:solidFill>
                <a:effectLst/>
                <a:uFillTx/>
                <a:latin typeface="Times New Roman"/>
              </a:rPr>
              <a:t>McCabe</a:t>
            </a:r>
            <a:r>
              <a:rPr lang="zh-CN" sz="2400" b="0" u="none" strike="noStrike">
                <a:solidFill>
                  <a:schemeClr val="dk1"/>
                </a:solidFill>
                <a:effectLst/>
                <a:uFillTx/>
                <a:latin typeface="Bodoni MT Black"/>
              </a:rPr>
              <a:t>提出的一种白盒测试技术。使用基本路径测试</a:t>
            </a:r>
            <a:r>
              <a:rPr lang="zh-CN" sz="2400" b="0" u="none" strike="noStrike">
                <a:solidFill>
                  <a:srgbClr val="0070c0"/>
                </a:solidFill>
                <a:effectLst/>
                <a:uFillTx/>
                <a:latin typeface="Bodoni MT Black"/>
              </a:rPr>
              <a:t>设计测试用例</a:t>
            </a:r>
            <a:r>
              <a:rPr lang="zh-CN" sz="2400" b="0" u="none" strike="noStrike">
                <a:solidFill>
                  <a:schemeClr val="dk1"/>
                </a:solidFill>
                <a:effectLst/>
                <a:uFillTx/>
                <a:latin typeface="Bodoni MT Black"/>
              </a:rPr>
              <a:t>时，首先计算</a:t>
            </a:r>
            <a:r>
              <a:rPr lang="zh-CN" sz="2400" b="0" u="none" strike="noStrike">
                <a:solidFill>
                  <a:srgbClr val="ff0000"/>
                </a:solidFill>
                <a:effectLst/>
                <a:uFillTx/>
                <a:latin typeface="Bodoni MT Black"/>
              </a:rPr>
              <a:t>程序的环形复杂度</a:t>
            </a:r>
            <a:r>
              <a:rPr lang="zh-CN" sz="2400" b="0" u="none" strike="noStrike">
                <a:solidFill>
                  <a:schemeClr val="dk1"/>
                </a:solidFill>
                <a:effectLst/>
                <a:uFillTx/>
                <a:latin typeface="Bodoni MT Black"/>
              </a:rPr>
              <a:t>，并用该复杂度为指南定义</a:t>
            </a:r>
            <a:r>
              <a:rPr lang="zh-CN" sz="2400" b="0" u="none" strike="noStrike">
                <a:solidFill>
                  <a:srgbClr val="ff0000"/>
                </a:solidFill>
                <a:effectLst/>
                <a:uFillTx/>
                <a:latin typeface="Bodoni MT Black"/>
              </a:rPr>
              <a:t>执行路径的基本集合</a:t>
            </a:r>
            <a:r>
              <a:rPr lang="zh-CN" sz="2400" b="0" u="none" strike="noStrike">
                <a:solidFill>
                  <a:schemeClr val="dk1"/>
                </a:solidFill>
                <a:effectLst/>
                <a:uFillTx/>
                <a:latin typeface="Bodoni MT Black"/>
              </a:rPr>
              <a:t>，从该基本集合导出的测试用例可以保证程序中的每条语句至少执行一次，而且每个条件在执行时都将分别取真、假两种值。</a:t>
            </a:r>
            <a:endParaRPr lang="en-US" sz="2400" b="0" u="none" strike="noStrike">
              <a:solidFill>
                <a:srgbClr val="000000"/>
              </a:solidFill>
              <a:effectLst/>
              <a:uFillTx/>
              <a:latin typeface="Arial"/>
            </a:endParaRPr>
          </a:p>
          <a:p>
            <a:pPr>
              <a:lnSpc>
                <a:spcPts val="3200"/>
              </a:lnSpc>
              <a:tabLst>
                <a:tab algn="l" pos="0"/>
              </a:tabLst>
            </a:pPr>
            <a:r>
              <a:rPr lang="en-US" sz="2400" b="0" u="none" strike="noStrike">
                <a:solidFill>
                  <a:schemeClr val="dk1"/>
                </a:solidFill>
                <a:effectLst/>
                <a:uFillTx/>
                <a:latin typeface="Bodoni MT Black"/>
              </a:rPr>
              <a:t>    </a:t>
            </a:r>
            <a:endParaRPr lang="en-US" sz="2400" b="0" u="none" strike="noStrike">
              <a:solidFill>
                <a:srgbClr val="000000"/>
              </a:solidFill>
              <a:effectLst/>
              <a:uFillTx/>
              <a:latin typeface="Arial"/>
            </a:endParaRPr>
          </a:p>
          <a:p>
            <a:pPr>
              <a:lnSpc>
                <a:spcPts val="3200"/>
              </a:lnSpc>
              <a:tabLst>
                <a:tab algn="l" pos="0"/>
              </a:tabLst>
            </a:pPr>
            <a:r>
              <a:rPr lang="zh-CN" sz="2400" b="0" u="none" strike="noStrike">
                <a:solidFill>
                  <a:schemeClr val="dk1"/>
                </a:solidFill>
                <a:effectLst/>
                <a:uFillTx/>
                <a:latin typeface="Bodoni MT Black"/>
              </a:rPr>
              <a:t>使用基本路径测试技术设计测试用例的步骤如下：</a:t>
            </a:r>
            <a:endParaRPr lang="en-US" sz="2400" b="0" u="none" strike="noStrike">
              <a:solidFill>
                <a:srgbClr val="000000"/>
              </a:solidFill>
              <a:effectLst/>
              <a:uFillTx/>
              <a:latin typeface="Arial"/>
            </a:endParaRPr>
          </a:p>
          <a:p>
            <a:pPr>
              <a:lnSpc>
                <a:spcPts val="3200"/>
              </a:lnSpc>
              <a:tabLst>
                <a:tab algn="l" pos="0"/>
              </a:tabLst>
            </a:pPr>
            <a:r>
              <a:rPr lang="en-US" sz="2400" b="0" u="none" strike="noStrike">
                <a:solidFill>
                  <a:schemeClr val="dk1"/>
                </a:solidFill>
                <a:effectLst/>
                <a:uFillTx/>
                <a:latin typeface="Bodoni MT Black"/>
              </a:rPr>
              <a:t>    </a:t>
            </a:r>
            <a:endParaRPr lang="en-US" sz="2400" b="0" u="none" strike="noStrike">
              <a:solidFill>
                <a:srgbClr val="000000"/>
              </a:solidFill>
              <a:effectLst/>
              <a:uFillTx/>
              <a:latin typeface="Arial"/>
            </a:endParaRPr>
          </a:p>
        </p:txBody>
      </p:sp>
      <p:sp>
        <p:nvSpPr>
          <p:cNvPr id="507"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508"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7.6.2 </a:t>
            </a:r>
            <a:r>
              <a:rPr lang="zh-CN" sz="2400" b="0" u="none" strike="noStrike">
                <a:solidFill>
                  <a:srgbClr val="d9d9d9"/>
                </a:solidFill>
                <a:effectLst/>
                <a:uFillTx/>
                <a:latin typeface="Bodoni MT Black"/>
              </a:rPr>
              <a:t>控制结构测试</a:t>
            </a:r>
            <a:endParaRPr lang="en-US" sz="2400" b="0" u="none" strike="noStrike">
              <a:solidFill>
                <a:srgbClr val="000000"/>
              </a:solidFill>
              <a:effectLst/>
              <a:uFillTx/>
              <a:latin typeface="Arial"/>
            </a:endParaRPr>
          </a:p>
        </p:txBody>
      </p:sp>
      <p:sp>
        <p:nvSpPr>
          <p:cNvPr id="509" name="内容占位符 4"/>
          <p:cNvSpPr/>
          <p:nvPr/>
        </p:nvSpPr>
        <p:spPr>
          <a:xfrm>
            <a:off x="349200" y="1701720"/>
            <a:ext cx="8229240" cy="604440"/>
          </a:xfrm>
          <a:prstGeom prst="rect">
            <a:avLst/>
          </a:prstGeom>
          <a:noFill/>
          <a:ln w="9525">
            <a:noFill/>
          </a:ln>
        </p:spPr>
        <p:style>
          <a:lnRef idx="0"/>
          <a:fillRef idx="0"/>
          <a:effectRef idx="0"/>
          <a:fontRef idx="minor"/>
        </p:style>
        <p:txBody>
          <a:bodyPr numCol="1" spcCol="0" anchor="t">
            <a:noAutofit/>
          </a:bodyPr>
          <a:p>
            <a:pPr>
              <a:lnSpc>
                <a:spcPct val="100000"/>
              </a:lnSpc>
              <a:spcBef>
                <a:spcPts val="479"/>
              </a:spcBef>
              <a:tabLst>
                <a:tab algn="l" pos="0"/>
              </a:tabLst>
            </a:pPr>
            <a:r>
              <a:rPr lang="en-US" sz="2400" b="1" u="none" strike="noStrike">
                <a:solidFill>
                  <a:schemeClr val="dk1"/>
                </a:solidFill>
                <a:effectLst/>
                <a:uFillTx/>
                <a:latin typeface="Bodoni MT Black"/>
              </a:rPr>
              <a:t>1. </a:t>
            </a:r>
            <a:r>
              <a:rPr lang="zh-CN" sz="2400" b="1" u="none" strike="noStrike">
                <a:solidFill>
                  <a:schemeClr val="dk1"/>
                </a:solidFill>
                <a:effectLst/>
                <a:uFillTx/>
                <a:latin typeface="Bodoni MT Black"/>
              </a:rPr>
              <a:t>基本路径测试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PlaceHolder 1"/>
          <p:cNvSpPr>
            <a:spLocks noGrp="1"/>
          </p:cNvSpPr>
          <p:nvPr>
            <p:ph type="title"/>
          </p:nvPr>
        </p:nvSpPr>
        <p:spPr>
          <a:xfrm>
            <a:off x="457200" y="-1764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511" name="PlaceHolder 2"/>
          <p:cNvSpPr>
            <a:spLocks noGrp="1"/>
          </p:cNvSpPr>
          <p:nvPr>
            <p:ph/>
          </p:nvPr>
        </p:nvSpPr>
        <p:spPr>
          <a:xfrm>
            <a:off x="395280" y="1023840"/>
            <a:ext cx="8229240" cy="604440"/>
          </a:xfrm>
          <a:prstGeom prst="rect">
            <a:avLst/>
          </a:prstGeom>
          <a:noFill/>
          <a:ln w="9360">
            <a:noFill/>
          </a:ln>
        </p:spPr>
        <p:txBody>
          <a:bodyPr numCol="1" spcCol="0" lIns="91440" rIns="91440" tIns="45720" bIns="45720" anchor="t">
            <a:noAutofit/>
          </a:bodyPr>
          <a:p>
            <a:pPr indent="0">
              <a:lnSpc>
                <a:spcPct val="100000"/>
              </a:lnSpc>
              <a:spcBef>
                <a:spcPts val="479"/>
              </a:spcBef>
              <a:buNone/>
              <a:tabLst>
                <a:tab algn="l" pos="0"/>
              </a:tabLst>
            </a:pPr>
            <a:r>
              <a:rPr lang="en-US" sz="2400" b="0" u="none" strike="noStrike">
                <a:solidFill>
                  <a:srgbClr val="ff0000"/>
                </a:solidFill>
                <a:effectLst/>
                <a:uFillTx/>
                <a:latin typeface="Bodoni MT Black"/>
              </a:rPr>
              <a:t> </a:t>
            </a:r>
            <a:r>
              <a:rPr lang="en-US" sz="2400" b="1" u="none" strike="noStrike">
                <a:solidFill>
                  <a:srgbClr val="ff0000"/>
                </a:solidFill>
                <a:effectLst/>
                <a:uFillTx/>
                <a:latin typeface="Bodoni MT Black"/>
              </a:rPr>
              <a:t>① 根据过程设计结果画出相应的流图</a:t>
            </a:r>
            <a:endParaRPr lang="es-ES" sz="2400" b="0" u="none" strike="noStrike">
              <a:solidFill>
                <a:schemeClr val="dk1"/>
              </a:solidFill>
              <a:effectLst/>
              <a:uFillTx/>
              <a:latin typeface="Calibri"/>
            </a:endParaRPr>
          </a:p>
        </p:txBody>
      </p:sp>
      <p:sp>
        <p:nvSpPr>
          <p:cNvPr id="512" name="TextBox 7"/>
          <p:cNvSpPr/>
          <p:nvPr/>
        </p:nvSpPr>
        <p:spPr>
          <a:xfrm>
            <a:off x="684360" y="1557360"/>
            <a:ext cx="4103280" cy="4478040"/>
          </a:xfrm>
          <a:prstGeom prst="rect">
            <a:avLst/>
          </a:prstGeom>
          <a:noFill/>
          <a:ln w="0">
            <a:noFill/>
          </a:ln>
        </p:spPr>
        <p:style>
          <a:lnRef idx="0"/>
          <a:fillRef idx="0"/>
          <a:effectRef idx="0"/>
          <a:fontRef idx="minor"/>
        </p:style>
        <p:txBody>
          <a:bodyPr lIns="90000" rIns="90000" tIns="45000" bIns="45000" anchor="t">
            <a:spAutoFit/>
          </a:bodyPr>
          <a:p>
            <a:pPr>
              <a:lnSpc>
                <a:spcPts val="1899"/>
              </a:lnSpc>
              <a:tabLst>
                <a:tab algn="l" pos="0"/>
              </a:tabLst>
            </a:pPr>
            <a:r>
              <a:rPr lang="en-US" sz="1600" b="0" u="none" strike="noStrike">
                <a:solidFill>
                  <a:schemeClr val="dk1"/>
                </a:solidFill>
                <a:effectLst/>
                <a:uFillTx/>
                <a:latin typeface="Bodoni MT Black"/>
              </a:rPr>
              <a:t>1</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i=1;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     total.input=total.valid=0;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     sum=0;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2</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DO WHILE value[i] &lt;&gt; -999</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3</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AND total.input&lt;100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4</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increment total.input by1;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5</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IF value[i]&gt;=minimum</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6</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AND value[i]&lt;=maximum</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7</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THEN increment total.valid by 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         sum=sum+value[i];</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8</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ENDIF</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       increment i by 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9</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ENDDO</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10</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IF total.valid&gt;0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11</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THEN average=sum/total.valid;</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12</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ELSE average=-999;</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13:  ENDIF</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    END average</a:t>
            </a:r>
            <a:endParaRPr lang="en-US" sz="1600" b="0" u="none" strike="noStrike">
              <a:solidFill>
                <a:srgbClr val="000000"/>
              </a:solidFill>
              <a:effectLst/>
              <a:uFillTx/>
              <a:latin typeface="Arial"/>
            </a:endParaRPr>
          </a:p>
        </p:txBody>
      </p:sp>
      <p:pic>
        <p:nvPicPr>
          <p:cNvPr id="513" name="图片 1"/>
          <p:cNvPicPr/>
          <p:nvPr/>
        </p:nvPicPr>
        <p:blipFill>
          <a:blip r:embed="rId1"/>
          <a:stretch/>
        </p:blipFill>
        <p:spPr>
          <a:xfrm>
            <a:off x="4843440" y="1565280"/>
            <a:ext cx="3688920" cy="4384440"/>
          </a:xfrm>
          <a:prstGeom prst="rect">
            <a:avLst/>
          </a:prstGeom>
          <a:noFill/>
          <a:ln w="9525">
            <a:noFill/>
          </a:ln>
        </p:spPr>
      </p:pic>
      <p:sp>
        <p:nvSpPr>
          <p:cNvPr id="514"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515"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7.6.2 </a:t>
            </a:r>
            <a:r>
              <a:rPr lang="zh-CN" sz="2400" b="0" u="none" strike="noStrike">
                <a:solidFill>
                  <a:srgbClr val="d9d9d9"/>
                </a:solidFill>
                <a:effectLst/>
                <a:uFillTx/>
                <a:latin typeface="Bodoni MT Black"/>
              </a:rPr>
              <a:t>控制结构测试</a:t>
            </a:r>
            <a:endParaRPr lang="en-US" sz="2400" b="0" u="none" strike="noStrike">
              <a:solidFill>
                <a:srgbClr val="000000"/>
              </a:solidFill>
              <a:effectLst/>
              <a:uFillTx/>
              <a:latin typeface="Arial"/>
            </a:endParaRPr>
          </a:p>
        </p:txBody>
      </p:sp>
      <p:sp>
        <p:nvSpPr>
          <p:cNvPr id="516" name="文本框 1"/>
          <p:cNvSpPr/>
          <p:nvPr/>
        </p:nvSpPr>
        <p:spPr>
          <a:xfrm>
            <a:off x="3538080" y="1508400"/>
            <a:ext cx="3185280" cy="9230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1800" b="0" u="none" strike="noStrike">
                <a:solidFill>
                  <a:srgbClr val="0070c0"/>
                </a:solidFill>
                <a:effectLst/>
                <a:uFillTx/>
                <a:latin typeface="Arial"/>
                <a:ea typeface="宋体"/>
              </a:rPr>
              <a:t>计算不超过</a:t>
            </a:r>
            <a:r>
              <a:rPr lang="en-US" sz="1800" b="0" u="none" strike="noStrike">
                <a:solidFill>
                  <a:srgbClr val="0070c0"/>
                </a:solidFill>
                <a:effectLst/>
                <a:uFillTx/>
                <a:latin typeface="Arial"/>
                <a:ea typeface="宋体"/>
              </a:rPr>
              <a:t>100</a:t>
            </a:r>
            <a:r>
              <a:rPr lang="zh-CN" sz="1800" b="0" u="none" strike="noStrike">
                <a:solidFill>
                  <a:srgbClr val="0070c0"/>
                </a:solidFill>
                <a:effectLst/>
                <a:uFillTx/>
                <a:latin typeface="Arial"/>
                <a:ea typeface="宋体"/>
              </a:rPr>
              <a:t>个在规定值域</a:t>
            </a:r>
            <a:endParaRPr lang="en-US" sz="1800" b="0" u="none" strike="noStrike">
              <a:solidFill>
                <a:srgbClr val="000000"/>
              </a:solidFill>
              <a:effectLst/>
              <a:uFillTx/>
              <a:latin typeface="Arial"/>
            </a:endParaRPr>
          </a:p>
          <a:p>
            <a:pPr>
              <a:lnSpc>
                <a:spcPct val="100000"/>
              </a:lnSpc>
            </a:pPr>
            <a:r>
              <a:rPr lang="zh-CN" sz="1800" b="0" u="none" strike="noStrike">
                <a:solidFill>
                  <a:srgbClr val="0070c0"/>
                </a:solidFill>
                <a:effectLst/>
                <a:uFillTx/>
                <a:latin typeface="Arial"/>
                <a:ea typeface="宋体"/>
              </a:rPr>
              <a:t>内的有效数字的平均值，同时</a:t>
            </a:r>
            <a:endParaRPr lang="en-US" sz="1800" b="0" u="none" strike="noStrike">
              <a:solidFill>
                <a:srgbClr val="000000"/>
              </a:solidFill>
              <a:effectLst/>
              <a:uFillTx/>
              <a:latin typeface="Arial"/>
            </a:endParaRPr>
          </a:p>
          <a:p>
            <a:pPr>
              <a:lnSpc>
                <a:spcPct val="100000"/>
              </a:lnSpc>
            </a:pPr>
            <a:r>
              <a:rPr lang="zh-CN" sz="1800" b="0" u="none" strike="noStrike">
                <a:solidFill>
                  <a:srgbClr val="0070c0"/>
                </a:solidFill>
                <a:effectLst/>
                <a:uFillTx/>
                <a:latin typeface="Arial"/>
                <a:ea typeface="宋体"/>
              </a:rPr>
              <a:t>计算有效数字的总和及个数。</a:t>
            </a:r>
            <a:endParaRPr lang="en-US" sz="1800" b="0" u="none" strike="noStrike">
              <a:solidFill>
                <a:srgbClr val="000000"/>
              </a:solidFill>
              <a:effectLst/>
              <a:uFillTx/>
              <a:latin typeface="Arial"/>
            </a:endParaRPr>
          </a:p>
        </p:txBody>
      </p:sp>
      <p:sp>
        <p:nvSpPr>
          <p:cNvPr id="517" name="文本框 2"/>
          <p:cNvSpPr/>
          <p:nvPr/>
        </p:nvSpPr>
        <p:spPr>
          <a:xfrm>
            <a:off x="3504600" y="3078000"/>
            <a:ext cx="1338480" cy="369000"/>
          </a:xfrm>
          <a:prstGeom prst="rect">
            <a:avLst/>
          </a:prstGeom>
          <a:noFill/>
          <a:ln w="0">
            <a:solidFill>
              <a:srgbClr val="0070c0"/>
            </a:solidFill>
          </a:ln>
        </p:spPr>
        <p:style>
          <a:lnRef idx="0"/>
          <a:fillRef idx="0"/>
          <a:effectRef idx="0"/>
          <a:fontRef idx="minor"/>
        </p:style>
        <p:txBody>
          <a:bodyPr wrap="none" lIns="90000" rIns="90000" tIns="45000" bIns="45000" anchor="t">
            <a:spAutoFit/>
          </a:bodyPr>
          <a:p>
            <a:pPr>
              <a:lnSpc>
                <a:spcPct val="100000"/>
              </a:lnSpc>
            </a:pPr>
            <a:r>
              <a:rPr lang="zh-CN" sz="1800" b="0" u="none" strike="noStrike">
                <a:solidFill>
                  <a:srgbClr val="0070c0"/>
                </a:solidFill>
                <a:effectLst/>
                <a:uFillTx/>
                <a:latin typeface="Arial"/>
                <a:ea typeface="宋体"/>
              </a:rPr>
              <a:t>有效值判定</a:t>
            </a:r>
            <a:endParaRPr lang="en-US" sz="1800" b="0" u="none" strike="noStrike">
              <a:solidFill>
                <a:srgbClr val="000000"/>
              </a:solidFill>
              <a:effectLst/>
              <a:uFillTx/>
              <a:latin typeface="Arial"/>
            </a:endParaRPr>
          </a:p>
        </p:txBody>
      </p:sp>
      <p:sp>
        <p:nvSpPr>
          <p:cNvPr id="518" name="文本框 10"/>
          <p:cNvSpPr/>
          <p:nvPr/>
        </p:nvSpPr>
        <p:spPr>
          <a:xfrm>
            <a:off x="4068000" y="4860000"/>
            <a:ext cx="1338480" cy="369000"/>
          </a:xfrm>
          <a:prstGeom prst="rect">
            <a:avLst/>
          </a:prstGeom>
          <a:noFill/>
          <a:ln w="0">
            <a:solidFill>
              <a:srgbClr val="0070c0"/>
            </a:solidFill>
          </a:ln>
        </p:spPr>
        <p:style>
          <a:lnRef idx="0"/>
          <a:fillRef idx="0"/>
          <a:effectRef idx="0"/>
          <a:fontRef idx="minor"/>
        </p:style>
        <p:txBody>
          <a:bodyPr wrap="none" lIns="90000" rIns="90000" tIns="45000" bIns="45000" anchor="t">
            <a:spAutoFit/>
          </a:bodyPr>
          <a:p>
            <a:pPr>
              <a:lnSpc>
                <a:spcPct val="100000"/>
              </a:lnSpc>
            </a:pPr>
            <a:r>
              <a:rPr lang="zh-CN" sz="1800" b="0" u="none" strike="noStrike">
                <a:solidFill>
                  <a:srgbClr val="0070c0"/>
                </a:solidFill>
                <a:effectLst/>
                <a:uFillTx/>
                <a:latin typeface="Arial"/>
                <a:ea typeface="宋体"/>
              </a:rPr>
              <a:t>有效值平均</a:t>
            </a:r>
            <a:endParaRPr lang="en-US" sz="1800" b="0" u="none" strike="noStrike">
              <a:solidFill>
                <a:srgbClr val="000000"/>
              </a:solidFill>
              <a:effectLst/>
              <a:uFillTx/>
              <a:latin typeface="Arial"/>
            </a:endParaRPr>
          </a:p>
        </p:txBody>
      </p:sp>
      <p:sp>
        <p:nvSpPr>
          <p:cNvPr id="519" name="文本框 11"/>
          <p:cNvSpPr/>
          <p:nvPr/>
        </p:nvSpPr>
        <p:spPr>
          <a:xfrm>
            <a:off x="2565000" y="4649400"/>
            <a:ext cx="1338480" cy="369000"/>
          </a:xfrm>
          <a:prstGeom prst="rect">
            <a:avLst/>
          </a:prstGeom>
          <a:noFill/>
          <a:ln w="0">
            <a:solidFill>
              <a:srgbClr val="0070c0"/>
            </a:solidFill>
          </a:ln>
        </p:spPr>
        <p:style>
          <a:lnRef idx="0"/>
          <a:fillRef idx="0"/>
          <a:effectRef idx="0"/>
          <a:fontRef idx="minor"/>
        </p:style>
        <p:txBody>
          <a:bodyPr wrap="none" lIns="90000" rIns="90000" tIns="45000" bIns="45000" anchor="t">
            <a:spAutoFit/>
          </a:bodyPr>
          <a:p>
            <a:pPr>
              <a:lnSpc>
                <a:spcPct val="100000"/>
              </a:lnSpc>
            </a:pPr>
            <a:r>
              <a:rPr lang="zh-CN" sz="1800" b="0" u="none" strike="noStrike">
                <a:solidFill>
                  <a:srgbClr val="0070c0"/>
                </a:solidFill>
                <a:effectLst/>
                <a:uFillTx/>
                <a:latin typeface="Arial"/>
                <a:ea typeface="宋体"/>
              </a:rPr>
              <a:t>有效值个数</a:t>
            </a:r>
            <a:endParaRPr lang="en-US" sz="1800" b="0" u="none" strike="noStrike">
              <a:solidFill>
                <a:srgbClr val="000000"/>
              </a:solidFill>
              <a:effectLst/>
              <a:uFillTx/>
              <a:latin typeface="Arial"/>
            </a:endParaRPr>
          </a:p>
        </p:txBody>
      </p:sp>
      <p:sp>
        <p:nvSpPr>
          <p:cNvPr id="520" name="文本框 12"/>
          <p:cNvSpPr/>
          <p:nvPr/>
        </p:nvSpPr>
        <p:spPr>
          <a:xfrm>
            <a:off x="2988000" y="5292000"/>
            <a:ext cx="1338480" cy="369000"/>
          </a:xfrm>
          <a:prstGeom prst="rect">
            <a:avLst/>
          </a:prstGeom>
          <a:noFill/>
          <a:ln w="0">
            <a:solidFill>
              <a:srgbClr val="0070c0"/>
            </a:solidFill>
          </a:ln>
        </p:spPr>
        <p:style>
          <a:lnRef idx="0"/>
          <a:fillRef idx="0"/>
          <a:effectRef idx="0"/>
          <a:fontRef idx="minor"/>
        </p:style>
        <p:txBody>
          <a:bodyPr wrap="none" lIns="90000" rIns="90000" tIns="45000" bIns="45000" anchor="t">
            <a:spAutoFit/>
          </a:bodyPr>
          <a:p>
            <a:pPr>
              <a:lnSpc>
                <a:spcPct val="100000"/>
              </a:lnSpc>
            </a:pPr>
            <a:r>
              <a:rPr lang="zh-CN" sz="1800" b="0" u="none" strike="noStrike">
                <a:solidFill>
                  <a:srgbClr val="0070c0"/>
                </a:solidFill>
                <a:effectLst/>
                <a:uFillTx/>
                <a:latin typeface="Arial"/>
                <a:ea typeface="宋体"/>
              </a:rPr>
              <a:t>无效值平均</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522" name="TextBox 7"/>
          <p:cNvSpPr/>
          <p:nvPr/>
        </p:nvSpPr>
        <p:spPr>
          <a:xfrm>
            <a:off x="270000" y="980640"/>
            <a:ext cx="8604000" cy="478548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1" u="none" strike="noStrike">
                <a:solidFill>
                  <a:schemeClr val="dk1"/>
                </a:solidFill>
                <a:effectLst/>
                <a:uFillTx/>
                <a:latin typeface="Bodoni MT Black"/>
              </a:rPr>
              <a:t>   </a:t>
            </a:r>
            <a:r>
              <a:rPr lang="en-US" sz="2400" b="1" u="none" strike="noStrike">
                <a:solidFill>
                  <a:srgbClr val="ff0000"/>
                </a:solidFill>
                <a:effectLst/>
                <a:uFillTx/>
                <a:latin typeface="Bodoni MT Black"/>
              </a:rPr>
              <a:t>② 计算流图的环形复杂度</a:t>
            </a:r>
            <a:endParaRPr lang="en-US" sz="2400" b="0" u="none" strike="noStrike">
              <a:solidFill>
                <a:srgbClr val="000000"/>
              </a:solidFill>
              <a:effectLst/>
              <a:uFillTx/>
              <a:latin typeface="Arial"/>
            </a:endParaRPr>
          </a:p>
          <a:p>
            <a:pPr>
              <a:lnSpc>
                <a:spcPct val="125000"/>
              </a:lnSpc>
              <a:tabLst>
                <a:tab algn="l" pos="0"/>
              </a:tabLst>
            </a:pPr>
            <a:r>
              <a:rPr lang="en-US" sz="2000" b="0" u="none" strike="noStrike">
                <a:solidFill>
                  <a:schemeClr val="dk1"/>
                </a:solidFill>
                <a:effectLst/>
                <a:uFillTx/>
                <a:latin typeface="Bodoni MT Black"/>
              </a:rPr>
              <a:t>      </a:t>
            </a:r>
            <a:r>
              <a:rPr lang="zh-CN" sz="2400" b="0" u="none" strike="noStrike">
                <a:solidFill>
                  <a:schemeClr val="dk1"/>
                </a:solidFill>
                <a:effectLst/>
                <a:uFillTx/>
                <a:latin typeface="Bodoni MT Black"/>
              </a:rPr>
              <a:t>环形复杂度定量度量程序的逻辑复杂性，经计算，流图的环形复杂度为</a:t>
            </a:r>
            <a:r>
              <a:rPr lang="en-US" sz="2400" b="0" u="none" strike="noStrike">
                <a:solidFill>
                  <a:srgbClr val="ff0000"/>
                </a:solidFill>
                <a:effectLst/>
                <a:uFillTx/>
                <a:latin typeface="Bodoni MT Black"/>
              </a:rPr>
              <a:t>6</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marL="343080" indent="-343080">
              <a:lnSpc>
                <a:spcPct val="125000"/>
              </a:lnSpc>
              <a:spcBef>
                <a:spcPts val="601"/>
              </a:spcBef>
              <a:tabLst>
                <a:tab algn="l" pos="0"/>
              </a:tabLst>
            </a:pPr>
            <a:r>
              <a:rPr lang="en-US" sz="2400" b="1" u="none" strike="noStrike">
                <a:solidFill>
                  <a:schemeClr val="dk1"/>
                </a:solidFill>
                <a:effectLst/>
                <a:uFillTx/>
                <a:latin typeface="Bodoni MT Black"/>
              </a:rPr>
              <a:t>   </a:t>
            </a:r>
            <a:r>
              <a:rPr lang="en-US" sz="2400" b="1" u="none" strike="noStrike">
                <a:solidFill>
                  <a:srgbClr val="ff0000"/>
                </a:solidFill>
                <a:effectLst/>
                <a:uFillTx/>
                <a:latin typeface="Bodoni MT Black"/>
              </a:rPr>
              <a:t>③ 确定线性独立路径的基本集合</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a:t>
            </a:r>
            <a:r>
              <a:rPr lang="zh-CN" sz="2400" b="0" u="none" strike="noStrike">
                <a:solidFill>
                  <a:srgbClr val="fb2d11"/>
                </a:solidFill>
                <a:effectLst/>
                <a:uFillTx/>
                <a:latin typeface="Bodoni MT Black"/>
              </a:rPr>
              <a:t>独立路径</a:t>
            </a:r>
            <a:r>
              <a:rPr lang="zh-CN" sz="2400" b="0" u="none" strike="noStrike">
                <a:solidFill>
                  <a:schemeClr val="dk1"/>
                </a:solidFill>
                <a:effectLst/>
                <a:uFillTx/>
                <a:latin typeface="Bodoni MT Black"/>
              </a:rPr>
              <a:t>是指至少引入程序的一个新处理语句集合或一个新条件的路径，即</a:t>
            </a:r>
            <a:r>
              <a:rPr lang="zh-CN" sz="2400" b="0" u="none" strike="noStrike">
                <a:solidFill>
                  <a:srgbClr val="ff0000"/>
                </a:solidFill>
                <a:effectLst/>
                <a:uFillTx/>
                <a:latin typeface="Bodoni MT Black"/>
              </a:rPr>
              <a:t>独立路径至少包含一条在定义该路径之前不曾用过的边。</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程序的环形复杂度决定了程序中独立路径的数量，而且这个数是确保程序中所有语句至少被执行一次所需的</a:t>
            </a:r>
            <a:r>
              <a:rPr lang="zh-CN" sz="2400" b="0" u="none" strike="noStrike">
                <a:solidFill>
                  <a:srgbClr val="ff0000"/>
                </a:solidFill>
                <a:effectLst/>
                <a:uFillTx/>
                <a:latin typeface="Bodoni MT Black"/>
              </a:rPr>
              <a:t>测试数量的上界</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p:txBody>
      </p:sp>
      <p:sp>
        <p:nvSpPr>
          <p:cNvPr id="523"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524"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7.6.2 </a:t>
            </a:r>
            <a:r>
              <a:rPr lang="zh-CN" sz="2400" b="0" u="none" strike="noStrike">
                <a:solidFill>
                  <a:srgbClr val="d9d9d9"/>
                </a:solidFill>
                <a:effectLst/>
                <a:uFillTx/>
                <a:latin typeface="Bodoni MT Black"/>
              </a:rPr>
              <a:t>控制结构测试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526" name="TextBox 7"/>
          <p:cNvSpPr/>
          <p:nvPr/>
        </p:nvSpPr>
        <p:spPr>
          <a:xfrm>
            <a:off x="270000" y="980640"/>
            <a:ext cx="8604000" cy="35161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1" u="none" strike="noStrike">
                <a:solidFill>
                  <a:srgbClr val="ff0000"/>
                </a:solidFill>
                <a:effectLst/>
                <a:uFillTx/>
                <a:latin typeface="Bodoni MT Black"/>
              </a:rPr>
              <a:t>③ 确定线性独立路径的基本集合</a:t>
            </a:r>
            <a:endParaRPr lang="en-US" sz="24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rPr>
              <a:t>    上述程序的环形复杂度为</a:t>
            </a:r>
            <a:r>
              <a:rPr lang="en-US" sz="2200" b="0" u="none" strike="noStrike">
                <a:solidFill>
                  <a:schemeClr val="dk1"/>
                </a:solidFill>
                <a:effectLst/>
                <a:uFillTx/>
                <a:latin typeface="Bodoni MT Black"/>
              </a:rPr>
              <a:t>6</a:t>
            </a:r>
            <a:r>
              <a:rPr lang="zh-CN" sz="2200" b="0" u="none" strike="noStrike">
                <a:solidFill>
                  <a:schemeClr val="dk1"/>
                </a:solidFill>
                <a:effectLst/>
                <a:uFillTx/>
                <a:latin typeface="Bodoni MT Black"/>
              </a:rPr>
              <a:t>，因此共有</a:t>
            </a:r>
            <a:r>
              <a:rPr lang="en-US" sz="2200" b="0" u="none" strike="noStrike">
                <a:solidFill>
                  <a:schemeClr val="dk1"/>
                </a:solidFill>
                <a:effectLst/>
                <a:uFillTx/>
                <a:latin typeface="Bodoni MT Black"/>
              </a:rPr>
              <a:t>6</a:t>
            </a:r>
            <a:r>
              <a:rPr lang="zh-CN" sz="2200" b="0" u="none" strike="noStrike">
                <a:solidFill>
                  <a:schemeClr val="dk1"/>
                </a:solidFill>
                <a:effectLst/>
                <a:uFillTx/>
                <a:latin typeface="Bodoni MT Black"/>
              </a:rPr>
              <a:t>条独立路径。</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rgbClr val="ff0000"/>
                </a:solidFill>
                <a:effectLst/>
                <a:uFillTx/>
                <a:latin typeface="Bodoni MT Black"/>
              </a:rPr>
              <a:t>    路径</a:t>
            </a:r>
            <a:r>
              <a:rPr lang="en-US" sz="2200" b="0" u="none" strike="noStrike">
                <a:solidFill>
                  <a:srgbClr val="ff0000"/>
                </a:solidFill>
                <a:effectLst/>
                <a:uFillTx/>
                <a:latin typeface="Bodoni MT Black"/>
              </a:rPr>
              <a:t>1</a:t>
            </a:r>
            <a:r>
              <a:rPr lang="zh-CN" sz="2200" b="0" u="none" strike="noStrike">
                <a:solidFill>
                  <a:srgbClr val="ff0000"/>
                </a:solidFill>
                <a:effectLst/>
                <a:uFillTx/>
                <a:latin typeface="Bodoni MT Black"/>
              </a:rPr>
              <a:t>： </a:t>
            </a:r>
            <a:r>
              <a:rPr lang="en-US" sz="2200" b="0" u="none" strike="noStrike">
                <a:solidFill>
                  <a:srgbClr val="ff0000"/>
                </a:solidFill>
                <a:effectLst/>
                <a:uFillTx/>
                <a:latin typeface="Bodoni MT Black"/>
              </a:rPr>
              <a:t>1-2-10-11-13        </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rPr>
              <a:t>    </a:t>
            </a:r>
            <a:r>
              <a:rPr lang="zh-CN" sz="2200" b="0" u="none" strike="noStrike">
                <a:solidFill>
                  <a:srgbClr val="00b050"/>
                </a:solidFill>
                <a:effectLst/>
                <a:uFillTx/>
                <a:latin typeface="Bodoni MT Black"/>
              </a:rPr>
              <a:t>路径</a:t>
            </a:r>
            <a:r>
              <a:rPr lang="en-US" sz="2200" b="0" u="none" strike="noStrike">
                <a:solidFill>
                  <a:srgbClr val="00b050"/>
                </a:solidFill>
                <a:effectLst/>
                <a:uFillTx/>
                <a:latin typeface="Bodoni MT Black"/>
              </a:rPr>
              <a:t>2</a:t>
            </a:r>
            <a:r>
              <a:rPr lang="zh-CN" sz="2200" b="0" u="none" strike="noStrike">
                <a:solidFill>
                  <a:srgbClr val="00b050"/>
                </a:solidFill>
                <a:effectLst/>
                <a:uFillTx/>
                <a:latin typeface="Bodoni MT Black"/>
              </a:rPr>
              <a:t>： </a:t>
            </a:r>
            <a:r>
              <a:rPr lang="en-US" sz="2200" b="0" u="none" strike="noStrike">
                <a:solidFill>
                  <a:srgbClr val="00b050"/>
                </a:solidFill>
                <a:effectLst/>
                <a:uFillTx/>
                <a:latin typeface="Bodoni MT Black"/>
              </a:rPr>
              <a:t>1-2-10-12-13</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rPr>
              <a:t>    </a:t>
            </a:r>
            <a:r>
              <a:rPr lang="zh-CN" sz="2200" b="0" u="none" strike="noStrike">
                <a:solidFill>
                  <a:srgbClr val="00b0f0"/>
                </a:solidFill>
                <a:effectLst/>
                <a:uFillTx/>
                <a:latin typeface="Bodoni MT Black"/>
              </a:rPr>
              <a:t>路径</a:t>
            </a:r>
            <a:r>
              <a:rPr lang="en-US" sz="2200" b="0" u="none" strike="noStrike">
                <a:solidFill>
                  <a:srgbClr val="00b0f0"/>
                </a:solidFill>
                <a:effectLst/>
                <a:uFillTx/>
                <a:latin typeface="Bodoni MT Black"/>
              </a:rPr>
              <a:t>3</a:t>
            </a:r>
            <a:r>
              <a:rPr lang="zh-CN" sz="2200" b="0" u="none" strike="noStrike">
                <a:solidFill>
                  <a:srgbClr val="00b0f0"/>
                </a:solidFill>
                <a:effectLst/>
                <a:uFillTx/>
                <a:latin typeface="Bodoni MT Black"/>
              </a:rPr>
              <a:t>： </a:t>
            </a:r>
            <a:r>
              <a:rPr lang="en-US" sz="2200" b="0" u="none" strike="noStrike">
                <a:solidFill>
                  <a:srgbClr val="00b0f0"/>
                </a:solidFill>
                <a:effectLst/>
                <a:uFillTx/>
                <a:latin typeface="Bodoni MT Black"/>
              </a:rPr>
              <a:t>1-2-3-10-11-13      </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rPr>
              <a:t>    </a:t>
            </a:r>
            <a:r>
              <a:rPr lang="zh-CN" sz="2200" b="0" u="none" strike="noStrike">
                <a:solidFill>
                  <a:srgbClr val="ffc000"/>
                </a:solidFill>
                <a:effectLst/>
                <a:uFillTx/>
                <a:latin typeface="Bodoni MT Black"/>
              </a:rPr>
              <a:t>路径</a:t>
            </a:r>
            <a:r>
              <a:rPr lang="en-US" sz="2200" b="0" u="none" strike="noStrike">
                <a:solidFill>
                  <a:srgbClr val="ffc000"/>
                </a:solidFill>
                <a:effectLst/>
                <a:uFillTx/>
                <a:latin typeface="Bodoni MT Black"/>
              </a:rPr>
              <a:t>4</a:t>
            </a:r>
            <a:r>
              <a:rPr lang="zh-CN" sz="2200" b="0" u="none" strike="noStrike">
                <a:solidFill>
                  <a:srgbClr val="ffc000"/>
                </a:solidFill>
                <a:effectLst/>
                <a:uFillTx/>
                <a:latin typeface="Bodoni MT Black"/>
              </a:rPr>
              <a:t>： </a:t>
            </a:r>
            <a:r>
              <a:rPr lang="en-US" sz="2200" b="0" u="none" strike="noStrike">
                <a:solidFill>
                  <a:srgbClr val="ffc000"/>
                </a:solidFill>
                <a:effectLst/>
                <a:uFillTx/>
                <a:latin typeface="Bodoni MT Black"/>
              </a:rPr>
              <a:t>1-2-3-4-5-8-9-2-…</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rPr>
              <a:t>    </a:t>
            </a:r>
            <a:r>
              <a:rPr lang="zh-CN" sz="2200" b="0" u="none" strike="noStrike">
                <a:solidFill>
                  <a:srgbClr val="7030a0"/>
                </a:solidFill>
                <a:effectLst/>
                <a:uFillTx/>
                <a:latin typeface="Bodoni MT Black"/>
              </a:rPr>
              <a:t>路径</a:t>
            </a:r>
            <a:r>
              <a:rPr lang="en-US" sz="2200" b="0" u="none" strike="noStrike">
                <a:solidFill>
                  <a:srgbClr val="7030a0"/>
                </a:solidFill>
                <a:effectLst/>
                <a:uFillTx/>
                <a:latin typeface="Bodoni MT Black"/>
              </a:rPr>
              <a:t>5</a:t>
            </a:r>
            <a:r>
              <a:rPr lang="zh-CN" sz="2200" b="0" u="none" strike="noStrike">
                <a:solidFill>
                  <a:srgbClr val="7030a0"/>
                </a:solidFill>
                <a:effectLst/>
                <a:uFillTx/>
                <a:latin typeface="Bodoni MT Black"/>
              </a:rPr>
              <a:t>： </a:t>
            </a:r>
            <a:r>
              <a:rPr lang="en-US" sz="2200" b="0" u="none" strike="noStrike">
                <a:solidFill>
                  <a:srgbClr val="7030a0"/>
                </a:solidFill>
                <a:effectLst/>
                <a:uFillTx/>
                <a:latin typeface="Bodoni MT Black"/>
              </a:rPr>
              <a:t>1-2-3-4-5-6-8-9-2-…</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rgbClr val="c00000"/>
                </a:solidFill>
                <a:effectLst/>
                <a:uFillTx/>
                <a:latin typeface="Bodoni MT Black"/>
              </a:rPr>
              <a:t>    路径</a:t>
            </a:r>
            <a:r>
              <a:rPr lang="en-US" sz="2200" b="0" u="none" strike="noStrike">
                <a:solidFill>
                  <a:srgbClr val="c00000"/>
                </a:solidFill>
                <a:effectLst/>
                <a:uFillTx/>
                <a:latin typeface="Bodoni MT Black"/>
              </a:rPr>
              <a:t>6</a:t>
            </a:r>
            <a:r>
              <a:rPr lang="zh-CN" sz="2200" b="0" u="none" strike="noStrike">
                <a:solidFill>
                  <a:srgbClr val="c00000"/>
                </a:solidFill>
                <a:effectLst/>
                <a:uFillTx/>
                <a:latin typeface="Bodoni MT Black"/>
              </a:rPr>
              <a:t>： </a:t>
            </a:r>
            <a:r>
              <a:rPr lang="en-US" sz="2200" b="0" u="none" strike="noStrike">
                <a:solidFill>
                  <a:srgbClr val="c00000"/>
                </a:solidFill>
                <a:effectLst/>
                <a:uFillTx/>
                <a:latin typeface="Bodoni MT Black"/>
              </a:rPr>
              <a:t>1-2-3-4-5-6-7-8-9-2-…</a:t>
            </a:r>
            <a:endParaRPr lang="en-US" sz="2200" b="0" u="none" strike="noStrike">
              <a:solidFill>
                <a:srgbClr val="000000"/>
              </a:solidFill>
              <a:effectLst/>
              <a:uFillTx/>
              <a:latin typeface="Arial"/>
            </a:endParaRPr>
          </a:p>
        </p:txBody>
      </p:sp>
      <p:sp>
        <p:nvSpPr>
          <p:cNvPr id="527"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528"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7.6.2 </a:t>
            </a:r>
            <a:r>
              <a:rPr lang="zh-CN" sz="2400" b="0" u="none" strike="noStrike">
                <a:solidFill>
                  <a:srgbClr val="d9d9d9"/>
                </a:solidFill>
                <a:effectLst/>
                <a:uFillTx/>
                <a:latin typeface="Bodoni MT Black"/>
              </a:rPr>
              <a:t>控制结构测试</a:t>
            </a:r>
            <a:endParaRPr lang="en-US" sz="2400" b="0" u="none" strike="noStrike">
              <a:solidFill>
                <a:srgbClr val="000000"/>
              </a:solidFill>
              <a:effectLst/>
              <a:uFillTx/>
              <a:latin typeface="Arial"/>
            </a:endParaRPr>
          </a:p>
        </p:txBody>
      </p:sp>
      <p:pic>
        <p:nvPicPr>
          <p:cNvPr id="529" name="图片 1"/>
          <p:cNvPicPr/>
          <p:nvPr/>
        </p:nvPicPr>
        <p:blipFill>
          <a:blip r:embed="rId1"/>
          <a:stretch/>
        </p:blipFill>
        <p:spPr>
          <a:xfrm>
            <a:off x="5364000" y="1906560"/>
            <a:ext cx="3688920" cy="4384440"/>
          </a:xfrm>
          <a:prstGeom prst="rect">
            <a:avLst/>
          </a:prstGeom>
          <a:noFill/>
          <a:ln w="9525">
            <a:noFill/>
          </a:ln>
        </p:spPr>
      </p:pic>
      <p:sp>
        <p:nvSpPr>
          <p:cNvPr id="530" name="任意多边形 2"/>
          <p:cNvSpPr/>
          <p:nvPr/>
        </p:nvSpPr>
        <p:spPr>
          <a:xfrm>
            <a:off x="6211440" y="2339640"/>
            <a:ext cx="1515600" cy="2256840"/>
          </a:xfrm>
          <a:custGeom>
            <a:avLst/>
            <a:gdLst>
              <a:gd name="textAreaLeft" fmla="*/ 0 w 1515600"/>
              <a:gd name="textAreaRight" fmla="*/ 1515960 w 1515600"/>
              <a:gd name="textAreaTop" fmla="*/ 0 h 2256840"/>
              <a:gd name="textAreaBottom" fmla="*/ 2257200 h 2256840"/>
              <a:gd name="GluePoint1X" fmla="*/ 1408670 w 1515965"/>
              <a:gd name="GluePoint1Y" fmla="*/ 0 h 2257168"/>
              <a:gd name="GluePoint2X" fmla="*/ 1383956 w 1515965"/>
              <a:gd name="GluePoint2Y" fmla="*/ 411892 h 2257168"/>
              <a:gd name="GluePoint3X" fmla="*/ 98854 w 1515965"/>
              <a:gd name="GluePoint3Y" fmla="*/ 1037968 h 2257168"/>
              <a:gd name="GluePoint4X" fmla="*/ 461319 w 1515965"/>
              <a:gd name="GluePoint4Y" fmla="*/ 1688757 h 2257168"/>
              <a:gd name="GluePoint5X" fmla="*/ 0 w 1515965"/>
              <a:gd name="GluePoint5Y" fmla="*/ 2257168 h 2257168"/>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515965" h="2257168">
                <a:moveTo>
                  <a:pt x="1408670" y="0"/>
                </a:moveTo>
                <a:cubicBezTo>
                  <a:pt x="1505464" y="119448"/>
                  <a:pt x="1602259" y="238897"/>
                  <a:pt x="1383956" y="411892"/>
                </a:cubicBezTo>
                <a:cubicBezTo>
                  <a:pt x="1165653" y="584887"/>
                  <a:pt x="252627" y="825157"/>
                  <a:pt x="98854" y="1037968"/>
                </a:cubicBezTo>
                <a:cubicBezTo>
                  <a:pt x="-54919" y="1250779"/>
                  <a:pt x="477795" y="1485557"/>
                  <a:pt x="461319" y="1688757"/>
                </a:cubicBezTo>
                <a:cubicBezTo>
                  <a:pt x="444843" y="1891957"/>
                  <a:pt x="222421" y="2074562"/>
                  <a:pt x="0" y="2257168"/>
                </a:cubicBezTo>
              </a:path>
            </a:pathLst>
          </a:cu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531" name="任意多边形 3"/>
          <p:cNvSpPr/>
          <p:nvPr/>
        </p:nvSpPr>
        <p:spPr>
          <a:xfrm>
            <a:off x="5609880" y="2339640"/>
            <a:ext cx="2081160" cy="2273400"/>
          </a:xfrm>
          <a:custGeom>
            <a:avLst/>
            <a:gdLst>
              <a:gd name="textAreaLeft" fmla="*/ 0 w 2081160"/>
              <a:gd name="textAreaRight" fmla="*/ 2081520 w 2081160"/>
              <a:gd name="textAreaTop" fmla="*/ 0 h 2273400"/>
              <a:gd name="textAreaBottom" fmla="*/ 2273760 h 2273400"/>
              <a:gd name="GluePoint1X" fmla="*/ 1952367 w 2081684"/>
              <a:gd name="GluePoint1Y" fmla="*/ 0 h 2273643"/>
              <a:gd name="GluePoint2X" fmla="*/ 1935891 w 2081684"/>
              <a:gd name="GluePoint2Y" fmla="*/ 354227 h 2273643"/>
              <a:gd name="GluePoint3X" fmla="*/ 477794 w 2081684"/>
              <a:gd name="GluePoint3Y" fmla="*/ 1145059 h 2273643"/>
              <a:gd name="GluePoint4X" fmla="*/ 0 w 2081684"/>
              <a:gd name="GluePoint4Y" fmla="*/ 1787611 h 2273643"/>
              <a:gd name="GluePoint5X" fmla="*/ 477794 w 2081684"/>
              <a:gd name="GluePoint5Y" fmla="*/ 2273643 h 2273643"/>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081684" h="2273643">
                <a:moveTo>
                  <a:pt x="1952367" y="0"/>
                </a:moveTo>
                <a:cubicBezTo>
                  <a:pt x="2067010" y="81692"/>
                  <a:pt x="2181653" y="163384"/>
                  <a:pt x="1935891" y="354227"/>
                </a:cubicBezTo>
                <a:cubicBezTo>
                  <a:pt x="1690129" y="545070"/>
                  <a:pt x="800442" y="906162"/>
                  <a:pt x="477794" y="1145059"/>
                </a:cubicBezTo>
                <a:cubicBezTo>
                  <a:pt x="155146" y="1383956"/>
                  <a:pt x="0" y="1599514"/>
                  <a:pt x="0" y="1787611"/>
                </a:cubicBezTo>
                <a:cubicBezTo>
                  <a:pt x="0" y="1975708"/>
                  <a:pt x="238897" y="2124675"/>
                  <a:pt x="477794" y="2273643"/>
                </a:cubicBezTo>
              </a:path>
            </a:pathLst>
          </a:custGeom>
          <a:noFill/>
          <a:ln>
            <a:solidFill>
              <a:srgbClr val="00b05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532" name="任意多边形 4"/>
          <p:cNvSpPr/>
          <p:nvPr/>
        </p:nvSpPr>
        <p:spPr>
          <a:xfrm>
            <a:off x="6244200" y="2331360"/>
            <a:ext cx="1647360" cy="2297880"/>
          </a:xfrm>
          <a:custGeom>
            <a:avLst/>
            <a:gdLst>
              <a:gd name="textAreaLeft" fmla="*/ 0 w 1647360"/>
              <a:gd name="textAreaRight" fmla="*/ 1647720 w 1647360"/>
              <a:gd name="textAreaTop" fmla="*/ 0 h 2297880"/>
              <a:gd name="textAreaBottom" fmla="*/ 2298240 h 2297880"/>
              <a:gd name="GluePoint1X" fmla="*/ 1507524 w 1647857"/>
              <a:gd name="GluePoint1Y" fmla="*/ 0 h 2298357"/>
              <a:gd name="GluePoint2X" fmla="*/ 1515762 w 1647857"/>
              <a:gd name="GluePoint2Y" fmla="*/ 922638 h 2298357"/>
              <a:gd name="GluePoint3X" fmla="*/ 115330 w 1647857"/>
              <a:gd name="GluePoint3Y" fmla="*/ 1309816 h 2298357"/>
              <a:gd name="GluePoint4X" fmla="*/ 502508 w 1647857"/>
              <a:gd name="GluePoint4Y" fmla="*/ 1837038 h 2298357"/>
              <a:gd name="GluePoint5X" fmla="*/ 0 w 1647857"/>
              <a:gd name="GluePoint5Y" fmla="*/ 2298357 h 2298357"/>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647857" h="2298357">
                <a:moveTo>
                  <a:pt x="1507524" y="0"/>
                </a:moveTo>
                <a:cubicBezTo>
                  <a:pt x="1627659" y="352167"/>
                  <a:pt x="1747794" y="704335"/>
                  <a:pt x="1515762" y="922638"/>
                </a:cubicBezTo>
                <a:cubicBezTo>
                  <a:pt x="1283730" y="1140941"/>
                  <a:pt x="284206" y="1157416"/>
                  <a:pt x="115330" y="1309816"/>
                </a:cubicBezTo>
                <a:cubicBezTo>
                  <a:pt x="-53546" y="1462216"/>
                  <a:pt x="521730" y="1672281"/>
                  <a:pt x="502508" y="1837038"/>
                </a:cubicBezTo>
                <a:cubicBezTo>
                  <a:pt x="483286" y="2001795"/>
                  <a:pt x="241643" y="2150076"/>
                  <a:pt x="0" y="2298357"/>
                </a:cubicBezTo>
              </a:path>
            </a:pathLst>
          </a:custGeom>
          <a:noFill/>
          <a:ln>
            <a:solidFill>
              <a:srgbClr val="00b0f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533" name="任意多边形 10"/>
          <p:cNvSpPr/>
          <p:nvPr/>
        </p:nvSpPr>
        <p:spPr>
          <a:xfrm>
            <a:off x="7100640" y="2364120"/>
            <a:ext cx="1897920" cy="3713040"/>
          </a:xfrm>
          <a:custGeom>
            <a:avLst/>
            <a:gdLst>
              <a:gd name="textAreaLeft" fmla="*/ 0 w 1897920"/>
              <a:gd name="textAreaRight" fmla="*/ 1898280 w 1897920"/>
              <a:gd name="textAreaTop" fmla="*/ 0 h 3713040"/>
              <a:gd name="textAreaBottom" fmla="*/ 3713400 h 3713040"/>
              <a:gd name="GluePoint1X" fmla="*/ 593471 w 1898271"/>
              <a:gd name="GluePoint1Y" fmla="*/ 0 h 3713526"/>
              <a:gd name="GluePoint2X" fmla="*/ 511092 w 1898271"/>
              <a:gd name="GluePoint2Y" fmla="*/ 1565190 h 3713526"/>
              <a:gd name="GluePoint3X" fmla="*/ 469903 w 1898271"/>
              <a:gd name="GluePoint3Y" fmla="*/ 2117125 h 3713526"/>
              <a:gd name="GluePoint4X" fmla="*/ 346 w 1898271"/>
              <a:gd name="GluePoint4Y" fmla="*/ 3113903 h 3713526"/>
              <a:gd name="GluePoint5X" fmla="*/ 552281 w 1898271"/>
              <a:gd name="GluePoint5Y" fmla="*/ 3707027 h 3713526"/>
              <a:gd name="GluePoint6X" fmla="*/ 1680865 w 1898271"/>
              <a:gd name="GluePoint6Y" fmla="*/ 3303373 h 3713526"/>
              <a:gd name="GluePoint7X" fmla="*/ 1812671 w 1898271"/>
              <a:gd name="GluePoint7Y" fmla="*/ 1548714 h 3713526"/>
              <a:gd name="GluePoint8X" fmla="*/ 700562 w 1898271"/>
              <a:gd name="GluePoint8Y" fmla="*/ 345990 h 37135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898271" h="3713526">
                <a:moveTo>
                  <a:pt x="593471" y="0"/>
                </a:moveTo>
                <a:cubicBezTo>
                  <a:pt x="562579" y="606168"/>
                  <a:pt x="531687" y="1212336"/>
                  <a:pt x="511092" y="1565190"/>
                </a:cubicBezTo>
                <a:cubicBezTo>
                  <a:pt x="490497" y="1918044"/>
                  <a:pt x="555027" y="1859006"/>
                  <a:pt x="469903" y="2117125"/>
                </a:cubicBezTo>
                <a:cubicBezTo>
                  <a:pt x="384779" y="2375244"/>
                  <a:pt x="-13384" y="2848919"/>
                  <a:pt x="346" y="3113903"/>
                </a:cubicBezTo>
                <a:cubicBezTo>
                  <a:pt x="14076" y="3378887"/>
                  <a:pt x="272195" y="3675449"/>
                  <a:pt x="552281" y="3707027"/>
                </a:cubicBezTo>
                <a:cubicBezTo>
                  <a:pt x="832367" y="3738605"/>
                  <a:pt x="1470800" y="3663092"/>
                  <a:pt x="1680865" y="3303373"/>
                </a:cubicBezTo>
                <a:cubicBezTo>
                  <a:pt x="1890930" y="2943654"/>
                  <a:pt x="1976055" y="2041611"/>
                  <a:pt x="1812671" y="1548714"/>
                </a:cubicBezTo>
                <a:cubicBezTo>
                  <a:pt x="1649287" y="1055817"/>
                  <a:pt x="1174924" y="700903"/>
                  <a:pt x="700562" y="345990"/>
                </a:cubicBezTo>
              </a:path>
            </a:pathLst>
          </a:custGeom>
          <a:noFill/>
          <a:ln>
            <a:solidFill>
              <a:srgbClr val="ffc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534" name="任意多边形 11"/>
          <p:cNvSpPr/>
          <p:nvPr/>
        </p:nvSpPr>
        <p:spPr>
          <a:xfrm>
            <a:off x="7281720" y="2397240"/>
            <a:ext cx="1663920" cy="3616920"/>
          </a:xfrm>
          <a:custGeom>
            <a:avLst/>
            <a:gdLst>
              <a:gd name="textAreaLeft" fmla="*/ 0 w 1663920"/>
              <a:gd name="textAreaRight" fmla="*/ 1664280 w 1663920"/>
              <a:gd name="textAreaTop" fmla="*/ 0 h 3616920"/>
              <a:gd name="textAreaBottom" fmla="*/ 3617280 h 3616920"/>
              <a:gd name="GluePoint1X" fmla="*/ 420586 w 1664186"/>
              <a:gd name="GluePoint1Y" fmla="*/ 0 h 3617391"/>
              <a:gd name="GluePoint2X" fmla="*/ 445300 w 1664186"/>
              <a:gd name="GluePoint2Y" fmla="*/ 1631092 h 3617391"/>
              <a:gd name="GluePoint3X" fmla="*/ 404111 w 1664186"/>
              <a:gd name="GluePoint3Y" fmla="*/ 2570205 h 3617391"/>
              <a:gd name="GluePoint4X" fmla="*/ 457 w 1664186"/>
              <a:gd name="GluePoint4Y" fmla="*/ 3064475 h 3617391"/>
              <a:gd name="GluePoint5X" fmla="*/ 346446 w 1664186"/>
              <a:gd name="GluePoint5Y" fmla="*/ 3583459 h 3617391"/>
              <a:gd name="GluePoint6X" fmla="*/ 1277322 w 1664186"/>
              <a:gd name="GluePoint6Y" fmla="*/ 3402227 h 3617391"/>
              <a:gd name="GluePoint7X" fmla="*/ 1631549 w 1664186"/>
              <a:gd name="GluePoint7Y" fmla="*/ 2075935 h 3617391"/>
              <a:gd name="GluePoint8X" fmla="*/ 519440 w 1664186"/>
              <a:gd name="GluePoint8Y" fmla="*/ 354227 h 361739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664186" h="3617391">
                <a:moveTo>
                  <a:pt x="420586" y="0"/>
                </a:moveTo>
                <a:cubicBezTo>
                  <a:pt x="434316" y="601362"/>
                  <a:pt x="448046" y="1202725"/>
                  <a:pt x="445300" y="1631092"/>
                </a:cubicBezTo>
                <a:cubicBezTo>
                  <a:pt x="442554" y="2059460"/>
                  <a:pt x="478251" y="2331308"/>
                  <a:pt x="404111" y="2570205"/>
                </a:cubicBezTo>
                <a:cubicBezTo>
                  <a:pt x="329971" y="2809102"/>
                  <a:pt x="10068" y="2895599"/>
                  <a:pt x="457" y="3064475"/>
                </a:cubicBezTo>
                <a:cubicBezTo>
                  <a:pt x="-9154" y="3233351"/>
                  <a:pt x="133635" y="3527167"/>
                  <a:pt x="346446" y="3583459"/>
                </a:cubicBezTo>
                <a:cubicBezTo>
                  <a:pt x="559257" y="3639751"/>
                  <a:pt x="1063138" y="3653481"/>
                  <a:pt x="1277322" y="3402227"/>
                </a:cubicBezTo>
                <a:cubicBezTo>
                  <a:pt x="1491506" y="3150973"/>
                  <a:pt x="1757863" y="2583935"/>
                  <a:pt x="1631549" y="2075935"/>
                </a:cubicBezTo>
                <a:cubicBezTo>
                  <a:pt x="1505235" y="1567935"/>
                  <a:pt x="1012337" y="961081"/>
                  <a:pt x="519440" y="354227"/>
                </a:cubicBezTo>
              </a:path>
            </a:pathLst>
          </a:custGeom>
          <a:noFill/>
          <a:ln>
            <a:solidFill>
              <a:srgbClr val="7030a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535" name="任意多边形 12"/>
          <p:cNvSpPr/>
          <p:nvPr/>
        </p:nvSpPr>
        <p:spPr>
          <a:xfrm>
            <a:off x="7426440" y="2397240"/>
            <a:ext cx="1475280" cy="3585960"/>
          </a:xfrm>
          <a:custGeom>
            <a:avLst/>
            <a:gdLst>
              <a:gd name="textAreaLeft" fmla="*/ 0 w 1475280"/>
              <a:gd name="textAreaRight" fmla="*/ 1475640 w 1475280"/>
              <a:gd name="textAreaTop" fmla="*/ 0 h 3585960"/>
              <a:gd name="textAreaBottom" fmla="*/ 3586320 h 3585960"/>
              <a:gd name="GluePoint1X" fmla="*/ 317081 w 1475575"/>
              <a:gd name="GluePoint1Y" fmla="*/ 0 h 3586349"/>
              <a:gd name="GluePoint2X" fmla="*/ 366508 w 1475575"/>
              <a:gd name="GluePoint2Y" fmla="*/ 1136821 h 3586349"/>
              <a:gd name="GluePoint3X" fmla="*/ 333556 w 1475575"/>
              <a:gd name="GluePoint3Y" fmla="*/ 2553730 h 3586349"/>
              <a:gd name="GluePoint4X" fmla="*/ 794875 w 1475575"/>
              <a:gd name="GluePoint4Y" fmla="*/ 3064475 h 3586349"/>
              <a:gd name="GluePoint5X" fmla="*/ 20518 w 1475575"/>
              <a:gd name="GluePoint5Y" fmla="*/ 3089189 h 3586349"/>
              <a:gd name="GluePoint6X" fmla="*/ 284129 w 1475575"/>
              <a:gd name="GluePoint6Y" fmla="*/ 3534032 h 3586349"/>
              <a:gd name="GluePoint7X" fmla="*/ 926681 w 1475575"/>
              <a:gd name="GluePoint7Y" fmla="*/ 3484605 h 3586349"/>
              <a:gd name="GluePoint8X" fmla="*/ 1412713 w 1475575"/>
              <a:gd name="GluePoint8Y" fmla="*/ 2702011 h 3586349"/>
              <a:gd name="GluePoint9X" fmla="*/ 1363286 w 1475575"/>
              <a:gd name="GluePoint9Y" fmla="*/ 1869989 h 3586349"/>
              <a:gd name="GluePoint10X" fmla="*/ 448886 w 1475575"/>
              <a:gd name="GluePoint10Y" fmla="*/ 428367 h 358634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1475575" h="3586349">
                <a:moveTo>
                  <a:pt x="317081" y="0"/>
                </a:moveTo>
                <a:cubicBezTo>
                  <a:pt x="340421" y="355599"/>
                  <a:pt x="363762" y="711199"/>
                  <a:pt x="366508" y="1136821"/>
                </a:cubicBezTo>
                <a:cubicBezTo>
                  <a:pt x="369254" y="1562443"/>
                  <a:pt x="262162" y="2232454"/>
                  <a:pt x="333556" y="2553730"/>
                </a:cubicBezTo>
                <a:cubicBezTo>
                  <a:pt x="404950" y="2875006"/>
                  <a:pt x="847048" y="2975232"/>
                  <a:pt x="794875" y="3064475"/>
                </a:cubicBezTo>
                <a:cubicBezTo>
                  <a:pt x="742702" y="3153718"/>
                  <a:pt x="105642" y="3010930"/>
                  <a:pt x="20518" y="3089189"/>
                </a:cubicBezTo>
                <a:cubicBezTo>
                  <a:pt x="-64606" y="3167448"/>
                  <a:pt x="133102" y="3468129"/>
                  <a:pt x="284129" y="3534032"/>
                </a:cubicBezTo>
                <a:cubicBezTo>
                  <a:pt x="435156" y="3599935"/>
                  <a:pt x="738584" y="3623275"/>
                  <a:pt x="926681" y="3484605"/>
                </a:cubicBezTo>
                <a:cubicBezTo>
                  <a:pt x="1114778" y="3345935"/>
                  <a:pt x="1339946" y="2971114"/>
                  <a:pt x="1412713" y="2702011"/>
                </a:cubicBezTo>
                <a:cubicBezTo>
                  <a:pt x="1485481" y="2432908"/>
                  <a:pt x="1523924" y="2248930"/>
                  <a:pt x="1363286" y="1869989"/>
                </a:cubicBezTo>
                <a:cubicBezTo>
                  <a:pt x="1202648" y="1491048"/>
                  <a:pt x="825767" y="959707"/>
                  <a:pt x="448886" y="428367"/>
                </a:cubicBezTo>
              </a:path>
            </a:pathLst>
          </a:cu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Tree>
  </p:cSld>
  <mc:AlternateContent>
    <mc:Choice Requires="p14">
      <p:transition spd="slow" p14:dur="2000"/>
    </mc:Choice>
    <mc:Fallback>
      <p:transition spd="slow"/>
    </mc:Fallback>
  </mc:AlternateContent>
  <p:timing>
    <p:tnLst>
      <p:par>
        <p:cTn id="63" dur="indefinite" restart="never" nodeType="tmRoot">
          <p:childTnLst>
            <p:seq>
              <p:cTn id="64" dur="indefinite" nodeType="mainSeq">
                <p:childTnLst>
                  <p:par>
                    <p:cTn id="65" fill="hold">
                      <p:stCondLst>
                        <p:cond delay="indefinite"/>
                      </p:stCondLst>
                      <p:childTnLst>
                        <p:par>
                          <p:cTn id="66" fill="hold">
                            <p:stCondLst>
                              <p:cond delay="0"/>
                            </p:stCondLst>
                            <p:childTnLst>
                              <p:par>
                                <p:cTn id="67" presetID="1" presetClass="entr" fill="hold" nodeType="clickEffect">
                                  <p:stCondLst>
                                    <p:cond delay="0"/>
                                  </p:stCondLst>
                                  <p:childTnLst>
                                    <p:set>
                                      <p:cBhvr>
                                        <p:cTn id="68" dur="1" fill="hold">
                                          <p:stCondLst>
                                            <p:cond delay="0"/>
                                          </p:stCondLst>
                                        </p:cTn>
                                        <p:tgtEl>
                                          <p:spTgt spid="53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fill="hold" nodeType="clickEffect">
                                  <p:stCondLst>
                                    <p:cond delay="0"/>
                                  </p:stCondLst>
                                  <p:childTnLst>
                                    <p:set>
                                      <p:cBhvr>
                                        <p:cTn id="72" dur="1" fill="hold">
                                          <p:stCondLst>
                                            <p:cond delay="0"/>
                                          </p:stCondLst>
                                        </p:cTn>
                                        <p:tgtEl>
                                          <p:spTgt spid="53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fill="hold" nodeType="clickEffect">
                                  <p:stCondLst>
                                    <p:cond delay="0"/>
                                  </p:stCondLst>
                                  <p:childTnLst>
                                    <p:set>
                                      <p:cBhvr>
                                        <p:cTn id="76" dur="1" fill="hold">
                                          <p:stCondLst>
                                            <p:cond delay="0"/>
                                          </p:stCondLst>
                                        </p:cTn>
                                        <p:tgtEl>
                                          <p:spTgt spid="532"/>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fill="hold" nodeType="clickEffect">
                                  <p:stCondLst>
                                    <p:cond delay="0"/>
                                  </p:stCondLst>
                                  <p:childTnLst>
                                    <p:set>
                                      <p:cBhvr>
                                        <p:cTn id="80" dur="1" fill="hold">
                                          <p:stCondLst>
                                            <p:cond delay="0"/>
                                          </p:stCondLst>
                                        </p:cTn>
                                        <p:tgtEl>
                                          <p:spTgt spid="533"/>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fill="hold" nodeType="clickEffect">
                                  <p:stCondLst>
                                    <p:cond delay="0"/>
                                  </p:stCondLst>
                                  <p:childTnLst>
                                    <p:set>
                                      <p:cBhvr>
                                        <p:cTn id="84" dur="1" fill="hold">
                                          <p:stCondLst>
                                            <p:cond delay="0"/>
                                          </p:stCondLst>
                                        </p:cTn>
                                        <p:tgtEl>
                                          <p:spTgt spid="534"/>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fill="hold" nodeType="clickEffect">
                                  <p:stCondLst>
                                    <p:cond delay="0"/>
                                  </p:stCondLst>
                                  <p:childTnLst>
                                    <p:set>
                                      <p:cBhvr>
                                        <p:cTn id="88" dur="1" fill="hold">
                                          <p:stCondLst>
                                            <p:cond delay="0"/>
                                          </p:stCondLst>
                                        </p:cTn>
                                        <p:tgtEl>
                                          <p:spTgt spid="5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537" name="TextBox 7"/>
          <p:cNvSpPr/>
          <p:nvPr/>
        </p:nvSpPr>
        <p:spPr>
          <a:xfrm>
            <a:off x="107640" y="908640"/>
            <a:ext cx="8280000" cy="478548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1" u="none" strike="noStrike">
                <a:solidFill>
                  <a:srgbClr val="ff0000"/>
                </a:solidFill>
                <a:effectLst/>
                <a:uFillTx/>
                <a:latin typeface="Bodoni MT Black"/>
              </a:rPr>
              <a:t> </a:t>
            </a:r>
            <a:r>
              <a:rPr lang="en-US" sz="2400" b="1" u="none" strike="noStrike">
                <a:solidFill>
                  <a:srgbClr val="ff0000"/>
                </a:solidFill>
                <a:effectLst/>
                <a:uFillTx/>
                <a:latin typeface="Bodoni MT Black"/>
              </a:rPr>
              <a:t>④ 设计可强制执行基本集合中每条路径的测试用例</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应该选取测试数据使得在测试每条路径时都适当地设置好各个判定结点的条件。</a:t>
            </a:r>
            <a:endParaRPr lang="en-US" sz="2400" b="0" u="none" strike="noStrike">
              <a:solidFill>
                <a:srgbClr val="000000"/>
              </a:solidFill>
              <a:effectLst/>
              <a:uFillTx/>
              <a:latin typeface="Arial"/>
            </a:endParaRPr>
          </a:p>
          <a:p>
            <a:pPr>
              <a:lnSpc>
                <a:spcPct val="125000"/>
              </a:lnSpc>
              <a:tabLst>
                <a:tab algn="l" pos="0"/>
              </a:tabLst>
            </a:pPr>
            <a:r>
              <a:rPr lang="zh-CN" sz="2200" b="1" u="none" strike="noStrike">
                <a:solidFill>
                  <a:srgbClr val="ff0000"/>
                </a:solidFill>
                <a:effectLst/>
                <a:uFillTx/>
                <a:latin typeface="Bodoni MT Black"/>
              </a:rPr>
              <a:t>路径</a:t>
            </a:r>
            <a:r>
              <a:rPr lang="en-US" sz="2200" b="1" u="none" strike="noStrike">
                <a:solidFill>
                  <a:srgbClr val="ff0000"/>
                </a:solidFill>
                <a:effectLst/>
                <a:uFillTx/>
                <a:latin typeface="Bodoni MT Black"/>
              </a:rPr>
              <a:t>1</a:t>
            </a:r>
            <a:r>
              <a:rPr lang="zh-CN" sz="2200" b="0" u="none" strike="noStrike">
                <a:solidFill>
                  <a:srgbClr val="ff0000"/>
                </a:solidFill>
                <a:effectLst/>
                <a:uFillTx/>
                <a:latin typeface="Bodoni MT Black"/>
              </a:rPr>
              <a:t>的测试用例：</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rPr>
              <a:t>    value[k]=</a:t>
            </a:r>
            <a:r>
              <a:rPr lang="zh-CN" sz="2200" b="0" u="none" strike="noStrike">
                <a:solidFill>
                  <a:schemeClr val="dk1"/>
                </a:solidFill>
                <a:effectLst/>
                <a:uFillTx/>
                <a:latin typeface="Bodoni MT Black"/>
              </a:rPr>
              <a:t>有效输入值，其中</a:t>
            </a:r>
            <a:r>
              <a:rPr lang="en-US" sz="2200" b="0" u="none" strike="noStrike">
                <a:solidFill>
                  <a:schemeClr val="dk1"/>
                </a:solidFill>
                <a:effectLst/>
                <a:uFillTx/>
                <a:latin typeface="Bodoni MT Black"/>
              </a:rPr>
              <a:t>k&lt;i               </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rPr>
              <a:t>         （</a:t>
            </a:r>
            <a:r>
              <a:rPr lang="en-US" sz="2200" b="0" u="none" strike="noStrike">
                <a:solidFill>
                  <a:schemeClr val="dk1"/>
                </a:solidFill>
                <a:effectLst/>
                <a:uFillTx/>
                <a:latin typeface="Bodoni MT Black"/>
              </a:rPr>
              <a:t>i</a:t>
            </a:r>
            <a:r>
              <a:rPr lang="zh-CN" sz="2200" b="0" u="none" strike="noStrike">
                <a:solidFill>
                  <a:schemeClr val="dk1"/>
                </a:solidFill>
                <a:effectLst/>
                <a:uFillTx/>
                <a:latin typeface="Bodoni MT Black"/>
              </a:rPr>
              <a:t>的定义在下面</a:t>
            </a:r>
            <a:r>
              <a:rPr lang="zh-CN" sz="2200" b="0" u="none" strike="noStrike">
                <a:solidFill>
                  <a:schemeClr val="dk1"/>
                </a:solidFill>
                <a:effectLst/>
                <a:uFillTx/>
                <a:latin typeface="Bodoni MT Black"/>
                <a:ea typeface="宋体"/>
              </a:rPr>
              <a:t>）</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ea typeface="宋体"/>
              </a:rPr>
              <a:t>    value[i]=-999</a:t>
            </a:r>
            <a:r>
              <a:rPr lang="zh-CN" sz="2200" b="0" u="none" strike="noStrike">
                <a:solidFill>
                  <a:schemeClr val="dk1"/>
                </a:solidFill>
                <a:effectLst/>
                <a:uFillTx/>
                <a:latin typeface="Bodoni MT Black"/>
                <a:ea typeface="宋体"/>
              </a:rPr>
              <a:t>，其中</a:t>
            </a:r>
            <a:r>
              <a:rPr lang="en-US" sz="2200" b="0" u="none" strike="noStrike">
                <a:solidFill>
                  <a:schemeClr val="dk1"/>
                </a:solidFill>
                <a:effectLst/>
                <a:uFillTx/>
                <a:latin typeface="Bodoni MT Black"/>
                <a:ea typeface="宋体"/>
              </a:rPr>
              <a:t>2≤i≤100</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ea typeface="宋体"/>
              </a:rPr>
              <a:t>    预期结果：</a:t>
            </a:r>
            <a:r>
              <a:rPr lang="zh-CN" sz="2200" b="1" u="none" strike="noStrike">
                <a:solidFill>
                  <a:srgbClr val="ff0000"/>
                </a:solidFill>
                <a:effectLst/>
                <a:uFillTx/>
                <a:latin typeface="Bodoni MT Black"/>
                <a:ea typeface="宋体"/>
              </a:rPr>
              <a:t>基于</a:t>
            </a:r>
            <a:r>
              <a:rPr lang="en-US" sz="2200" b="1" u="none" strike="noStrike">
                <a:solidFill>
                  <a:srgbClr val="ff0000"/>
                </a:solidFill>
                <a:effectLst/>
                <a:uFillTx/>
                <a:latin typeface="Bodoni MT Black"/>
                <a:ea typeface="宋体"/>
              </a:rPr>
              <a:t>k</a:t>
            </a:r>
            <a:r>
              <a:rPr lang="zh-CN" sz="2200" b="1" u="none" strike="noStrike">
                <a:solidFill>
                  <a:srgbClr val="ff0000"/>
                </a:solidFill>
                <a:effectLst/>
                <a:uFillTx/>
                <a:latin typeface="Bodoni MT Black"/>
                <a:ea typeface="宋体"/>
              </a:rPr>
              <a:t>的正确平均值和总数</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ea typeface="宋体"/>
              </a:rPr>
              <a:t>    注意，路径</a:t>
            </a:r>
            <a:r>
              <a:rPr lang="en-US" sz="2200" b="0" u="none" strike="noStrike">
                <a:solidFill>
                  <a:schemeClr val="dk1"/>
                </a:solidFill>
                <a:effectLst/>
                <a:uFillTx/>
                <a:latin typeface="Bodoni MT Black"/>
                <a:ea typeface="宋体"/>
              </a:rPr>
              <a:t>1</a:t>
            </a:r>
            <a:r>
              <a:rPr lang="zh-CN" sz="2200" b="0" u="none" strike="noStrike">
                <a:solidFill>
                  <a:schemeClr val="dk1"/>
                </a:solidFill>
                <a:effectLst/>
                <a:uFillTx/>
                <a:latin typeface="Bodoni MT Black"/>
                <a:ea typeface="宋体"/>
              </a:rPr>
              <a:t>无法独立测试，必须作为</a:t>
            </a:r>
            <a:endParaRPr lang="en-US" sz="2200" b="0" u="none" strike="noStrike">
              <a:solidFill>
                <a:srgbClr val="000000"/>
              </a:solidFill>
              <a:effectLst/>
              <a:uFillTx/>
              <a:latin typeface="Arial"/>
            </a:endParaRPr>
          </a:p>
          <a:p>
            <a:pPr>
              <a:lnSpc>
                <a:spcPct val="125000"/>
              </a:lnSpc>
              <a:tabLst>
                <a:tab algn="l" pos="0"/>
              </a:tabLst>
            </a:pPr>
            <a:r>
              <a:rPr lang="zh-CN" sz="2200" b="0" u="none" strike="noStrike">
                <a:solidFill>
                  <a:schemeClr val="dk1"/>
                </a:solidFill>
                <a:effectLst/>
                <a:uFillTx/>
                <a:latin typeface="Bodoni MT Black"/>
                <a:ea typeface="宋体"/>
              </a:rPr>
              <a:t>路径</a:t>
            </a:r>
            <a:r>
              <a:rPr lang="en-US" sz="2200" b="0" u="none" strike="noStrike">
                <a:solidFill>
                  <a:schemeClr val="dk1"/>
                </a:solidFill>
                <a:effectLst/>
                <a:uFillTx/>
                <a:latin typeface="Bodoni MT Black"/>
                <a:ea typeface="宋体"/>
              </a:rPr>
              <a:t>4</a:t>
            </a:r>
            <a:r>
              <a:rPr lang="zh-CN" sz="2200" b="0" u="none" strike="noStrike">
                <a:solidFill>
                  <a:schemeClr val="dk1"/>
                </a:solidFill>
                <a:effectLst/>
                <a:uFillTx/>
                <a:latin typeface="Bodoni MT Black"/>
                <a:ea typeface="宋体"/>
              </a:rPr>
              <a:t>或</a:t>
            </a:r>
            <a:r>
              <a:rPr lang="en-US" sz="2200" b="0" u="none" strike="noStrike">
                <a:solidFill>
                  <a:schemeClr val="dk1"/>
                </a:solidFill>
                <a:effectLst/>
                <a:uFillTx/>
                <a:latin typeface="Bodoni MT Black"/>
                <a:ea typeface="宋体"/>
              </a:rPr>
              <a:t>5</a:t>
            </a:r>
            <a:r>
              <a:rPr lang="zh-CN" sz="2200" b="0" u="none" strike="noStrike">
                <a:solidFill>
                  <a:schemeClr val="dk1"/>
                </a:solidFill>
                <a:effectLst/>
                <a:uFillTx/>
                <a:latin typeface="Bodoni MT Black"/>
                <a:ea typeface="宋体"/>
              </a:rPr>
              <a:t>或</a:t>
            </a:r>
            <a:r>
              <a:rPr lang="en-US" sz="2200" b="0" u="none" strike="noStrike">
                <a:solidFill>
                  <a:schemeClr val="dk1"/>
                </a:solidFill>
                <a:effectLst/>
                <a:uFillTx/>
                <a:latin typeface="Bodoni MT Black"/>
                <a:ea typeface="宋体"/>
              </a:rPr>
              <a:t>6</a:t>
            </a:r>
            <a:r>
              <a:rPr lang="zh-CN" sz="2200" b="0" u="none" strike="noStrike">
                <a:solidFill>
                  <a:schemeClr val="dk1"/>
                </a:solidFill>
                <a:effectLst/>
                <a:uFillTx/>
                <a:latin typeface="Bodoni MT Black"/>
                <a:ea typeface="宋体"/>
              </a:rPr>
              <a:t>的一部分来测试。</a:t>
            </a:r>
            <a:endParaRPr lang="en-US" sz="2200" b="0" u="none" strike="noStrike">
              <a:solidFill>
                <a:srgbClr val="000000"/>
              </a:solidFill>
              <a:effectLst/>
              <a:uFillTx/>
              <a:latin typeface="Arial"/>
            </a:endParaRPr>
          </a:p>
          <a:p>
            <a:pPr>
              <a:lnSpc>
                <a:spcPts val="2701"/>
              </a:lnSpc>
              <a:tabLst>
                <a:tab algn="l" pos="0"/>
              </a:tabLst>
            </a:pPr>
            <a:r>
              <a:rPr lang="en-US" sz="2200" b="0" u="none" strike="noStrike">
                <a:solidFill>
                  <a:srgbClr val="0070c0"/>
                </a:solidFill>
                <a:effectLst/>
                <a:uFillTx/>
                <a:latin typeface="Bodoni MT Black"/>
                <a:ea typeface="宋体"/>
              </a:rPr>
              <a:t>    </a:t>
            </a:r>
            <a:endParaRPr lang="en-US" sz="2200" b="0" u="none" strike="noStrike">
              <a:solidFill>
                <a:srgbClr val="000000"/>
              </a:solidFill>
              <a:effectLst/>
              <a:uFillTx/>
              <a:latin typeface="Arial"/>
            </a:endParaRPr>
          </a:p>
        </p:txBody>
      </p:sp>
      <p:sp>
        <p:nvSpPr>
          <p:cNvPr id="538"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539"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7.6.2 </a:t>
            </a:r>
            <a:r>
              <a:rPr lang="zh-CN" sz="2400" b="0" u="none" strike="noStrike">
                <a:solidFill>
                  <a:srgbClr val="d9d9d9"/>
                </a:solidFill>
                <a:effectLst/>
                <a:uFillTx/>
                <a:latin typeface="Bodoni MT Black"/>
              </a:rPr>
              <a:t>控制结构测试</a:t>
            </a:r>
            <a:endParaRPr lang="en-US" sz="2400" b="0" u="none" strike="noStrike">
              <a:solidFill>
                <a:srgbClr val="000000"/>
              </a:solidFill>
              <a:effectLst/>
              <a:uFillTx/>
              <a:latin typeface="Arial"/>
            </a:endParaRPr>
          </a:p>
        </p:txBody>
      </p:sp>
      <p:sp>
        <p:nvSpPr>
          <p:cNvPr id="540" name="TextBox 7"/>
          <p:cNvSpPr/>
          <p:nvPr/>
        </p:nvSpPr>
        <p:spPr>
          <a:xfrm>
            <a:off x="5148000" y="1812960"/>
            <a:ext cx="4103280" cy="4478040"/>
          </a:xfrm>
          <a:prstGeom prst="rect">
            <a:avLst/>
          </a:prstGeom>
          <a:noFill/>
          <a:ln w="0">
            <a:noFill/>
          </a:ln>
        </p:spPr>
        <p:style>
          <a:lnRef idx="0"/>
          <a:fillRef idx="0"/>
          <a:effectRef idx="0"/>
          <a:fontRef idx="minor"/>
        </p:style>
        <p:txBody>
          <a:bodyPr lIns="90000" rIns="90000" tIns="45000" bIns="45000" anchor="t">
            <a:spAutoFit/>
          </a:bodyPr>
          <a:p>
            <a:pPr>
              <a:lnSpc>
                <a:spcPts val="1899"/>
              </a:lnSpc>
              <a:tabLst>
                <a:tab algn="l" pos="0"/>
              </a:tabLst>
            </a:pPr>
            <a:r>
              <a:rPr lang="en-US" sz="1600" b="0" u="none" strike="noStrike">
                <a:solidFill>
                  <a:srgbClr val="ff0000"/>
                </a:solidFill>
                <a:effectLst/>
                <a:uFillTx/>
                <a:latin typeface="Bodoni MT Black"/>
              </a:rPr>
              <a:t>1</a:t>
            </a:r>
            <a:r>
              <a:rPr lang="zh-CN" sz="1600" b="0" u="none" strike="noStrike">
                <a:solidFill>
                  <a:srgbClr val="ff0000"/>
                </a:solidFill>
                <a:effectLst/>
                <a:uFillTx/>
                <a:latin typeface="Bodoni MT Black"/>
              </a:rPr>
              <a:t>：  </a:t>
            </a:r>
            <a:r>
              <a:rPr lang="en-US" sz="1600" b="0" u="none" strike="noStrike">
                <a:solidFill>
                  <a:srgbClr val="ff0000"/>
                </a:solidFill>
                <a:effectLst/>
                <a:uFillTx/>
                <a:latin typeface="Bodoni MT Black"/>
              </a:rPr>
              <a:t>i=1;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ff0000"/>
                </a:solidFill>
                <a:effectLst/>
                <a:uFillTx/>
                <a:latin typeface="Bodoni MT Black"/>
              </a:rPr>
              <a:t>     total.input=total.valid=0;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ff0000"/>
                </a:solidFill>
                <a:effectLst/>
                <a:uFillTx/>
                <a:latin typeface="Bodoni MT Black"/>
              </a:rPr>
              <a:t>     sum=0;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ff0000"/>
                </a:solidFill>
                <a:effectLst/>
                <a:uFillTx/>
                <a:latin typeface="Bodoni MT Black"/>
              </a:rPr>
              <a:t>2</a:t>
            </a:r>
            <a:r>
              <a:rPr lang="zh-CN" sz="1600" b="0" u="none" strike="noStrike">
                <a:solidFill>
                  <a:srgbClr val="ff0000"/>
                </a:solidFill>
                <a:effectLst/>
                <a:uFillTx/>
                <a:latin typeface="Bodoni MT Black"/>
              </a:rPr>
              <a:t>：  </a:t>
            </a:r>
            <a:r>
              <a:rPr lang="en-US" sz="1600" b="0" u="none" strike="noStrike">
                <a:solidFill>
                  <a:srgbClr val="ff0000"/>
                </a:solidFill>
                <a:effectLst/>
                <a:uFillTx/>
                <a:latin typeface="Bodoni MT Black"/>
              </a:rPr>
              <a:t>DO WHILE value[i] &lt;&gt; -999</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3</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AND total.input&lt;100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4</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increment total.input by1;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5</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IF value[i]&gt;=minimum</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6</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AND value[i]&lt;=maximum</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7</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THEN increment total.valid by 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         sum=sum+value[i];</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8</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ENDIF</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       increment i by 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9</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ENDDO</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ff0000"/>
                </a:solidFill>
                <a:effectLst/>
                <a:uFillTx/>
                <a:latin typeface="Bodoni MT Black"/>
              </a:rPr>
              <a:t>10</a:t>
            </a:r>
            <a:r>
              <a:rPr lang="zh-CN" sz="1600" b="0" u="none" strike="noStrike">
                <a:solidFill>
                  <a:srgbClr val="ff0000"/>
                </a:solidFill>
                <a:effectLst/>
                <a:uFillTx/>
                <a:latin typeface="Bodoni MT Black"/>
              </a:rPr>
              <a:t>： </a:t>
            </a:r>
            <a:r>
              <a:rPr lang="en-US" sz="1600" b="0" u="none" strike="noStrike">
                <a:solidFill>
                  <a:srgbClr val="ff0000"/>
                </a:solidFill>
                <a:effectLst/>
                <a:uFillTx/>
                <a:latin typeface="Bodoni MT Black"/>
              </a:rPr>
              <a:t>IF total.valid&gt;0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ff0000"/>
                </a:solidFill>
                <a:effectLst/>
                <a:uFillTx/>
                <a:latin typeface="Bodoni MT Black"/>
              </a:rPr>
              <a:t>11</a:t>
            </a:r>
            <a:r>
              <a:rPr lang="zh-CN" sz="1600" b="0" u="none" strike="noStrike">
                <a:solidFill>
                  <a:srgbClr val="ff0000"/>
                </a:solidFill>
                <a:effectLst/>
                <a:uFillTx/>
                <a:latin typeface="Bodoni MT Black"/>
              </a:rPr>
              <a:t>： </a:t>
            </a:r>
            <a:r>
              <a:rPr lang="en-US" sz="1600" b="0" u="none" strike="noStrike">
                <a:solidFill>
                  <a:srgbClr val="ff0000"/>
                </a:solidFill>
                <a:effectLst/>
                <a:uFillTx/>
                <a:latin typeface="Bodoni MT Black"/>
              </a:rPr>
              <a:t>THEN average=sum/total.valid;</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12</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ELSE average=-999;</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ff0000"/>
                </a:solidFill>
                <a:effectLst/>
                <a:uFillTx/>
                <a:latin typeface="Bodoni MT Black"/>
              </a:rPr>
              <a:t>13:  ENDIF</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    END average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1"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542" name="TextBox 7"/>
          <p:cNvSpPr/>
          <p:nvPr/>
        </p:nvSpPr>
        <p:spPr>
          <a:xfrm>
            <a:off x="154080" y="956880"/>
            <a:ext cx="8280000" cy="31698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1" u="none" strike="noStrike">
                <a:solidFill>
                  <a:srgbClr val="ff0000"/>
                </a:solidFill>
                <a:effectLst/>
                <a:uFillTx/>
                <a:latin typeface="Bodoni MT Black"/>
              </a:rPr>
              <a:t> </a:t>
            </a:r>
            <a:r>
              <a:rPr lang="en-US" sz="2400" b="1" u="none" strike="noStrike">
                <a:solidFill>
                  <a:srgbClr val="ff0000"/>
                </a:solidFill>
                <a:effectLst/>
                <a:uFillTx/>
                <a:latin typeface="Bodoni MT Black"/>
              </a:rPr>
              <a:t>④ 设计可强制执行基本集合中每条路径的测试用例</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应该选取测试数据使得在测试每条路径时都适当地设置好各个判定结点的条件。</a:t>
            </a:r>
            <a:endParaRPr lang="en-US" sz="2400" b="0" u="none" strike="noStrike">
              <a:solidFill>
                <a:srgbClr val="000000"/>
              </a:solidFill>
              <a:effectLst/>
              <a:uFillTx/>
              <a:latin typeface="Arial"/>
            </a:endParaRPr>
          </a:p>
          <a:p>
            <a:pPr>
              <a:lnSpc>
                <a:spcPct val="125000"/>
              </a:lnSpc>
              <a:tabLst>
                <a:tab algn="l" pos="0"/>
              </a:tabLst>
            </a:pPr>
            <a:r>
              <a:rPr lang="zh-CN" sz="2200" b="1" u="none" strike="noStrike">
                <a:solidFill>
                  <a:srgbClr val="00b050"/>
                </a:solidFill>
                <a:effectLst/>
                <a:uFillTx/>
                <a:latin typeface="Bodoni MT Black"/>
              </a:rPr>
              <a:t>路径</a:t>
            </a:r>
            <a:r>
              <a:rPr lang="en-US" sz="2200" b="1" u="none" strike="noStrike">
                <a:solidFill>
                  <a:srgbClr val="00b050"/>
                </a:solidFill>
                <a:effectLst/>
                <a:uFillTx/>
                <a:latin typeface="Bodoni MT Black"/>
              </a:rPr>
              <a:t>2</a:t>
            </a:r>
            <a:r>
              <a:rPr lang="zh-CN" sz="2200" b="0" u="none" strike="noStrike">
                <a:solidFill>
                  <a:srgbClr val="00b050"/>
                </a:solidFill>
                <a:effectLst/>
                <a:uFillTx/>
                <a:latin typeface="Bodoni MT Black"/>
              </a:rPr>
              <a:t>的测试用例：</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rPr>
              <a:t>    value[1]=-999</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rPr>
              <a:t>   预期结果：</a:t>
            </a:r>
            <a:r>
              <a:rPr lang="en-US" sz="2200" b="1" u="none" strike="noStrike">
                <a:solidFill>
                  <a:srgbClr val="00b050"/>
                </a:solidFill>
                <a:effectLst/>
                <a:uFillTx/>
                <a:latin typeface="Bodoni MT Black"/>
              </a:rPr>
              <a:t>average=-999</a:t>
            </a:r>
            <a:r>
              <a:rPr lang="zh-CN" sz="2200" b="0" u="none" strike="noStrike">
                <a:solidFill>
                  <a:schemeClr val="dk1"/>
                </a:solidFill>
                <a:effectLst/>
                <a:uFillTx/>
                <a:latin typeface="Bodoni MT Black"/>
              </a:rPr>
              <a:t>，</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rPr>
              <a:t>                 </a:t>
            </a:r>
            <a:r>
              <a:rPr lang="zh-CN" sz="2200" b="1" u="none" strike="noStrike">
                <a:solidFill>
                  <a:srgbClr val="00b050"/>
                </a:solidFill>
                <a:effectLst/>
                <a:uFillTx/>
                <a:latin typeface="Bodoni MT Black"/>
              </a:rPr>
              <a:t>其他保持初始值</a:t>
            </a:r>
            <a:endParaRPr lang="en-US" sz="2200" b="0" u="none" strike="noStrike">
              <a:solidFill>
                <a:srgbClr val="000000"/>
              </a:solidFill>
              <a:effectLst/>
              <a:uFillTx/>
              <a:latin typeface="Arial"/>
            </a:endParaRPr>
          </a:p>
        </p:txBody>
      </p:sp>
      <p:sp>
        <p:nvSpPr>
          <p:cNvPr id="543"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544"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7.6.2 </a:t>
            </a:r>
            <a:r>
              <a:rPr lang="zh-CN" sz="2400" b="0" u="none" strike="noStrike">
                <a:solidFill>
                  <a:srgbClr val="d9d9d9"/>
                </a:solidFill>
                <a:effectLst/>
                <a:uFillTx/>
                <a:latin typeface="Bodoni MT Black"/>
              </a:rPr>
              <a:t>控制结构测试</a:t>
            </a:r>
            <a:endParaRPr lang="en-US" sz="2400" b="0" u="none" strike="noStrike">
              <a:solidFill>
                <a:srgbClr val="000000"/>
              </a:solidFill>
              <a:effectLst/>
              <a:uFillTx/>
              <a:latin typeface="Arial"/>
            </a:endParaRPr>
          </a:p>
        </p:txBody>
      </p:sp>
      <p:sp>
        <p:nvSpPr>
          <p:cNvPr id="545" name="TextBox 7"/>
          <p:cNvSpPr/>
          <p:nvPr/>
        </p:nvSpPr>
        <p:spPr>
          <a:xfrm>
            <a:off x="5040360" y="1812960"/>
            <a:ext cx="4103280" cy="4478040"/>
          </a:xfrm>
          <a:prstGeom prst="rect">
            <a:avLst/>
          </a:prstGeom>
          <a:noFill/>
          <a:ln w="0">
            <a:noFill/>
          </a:ln>
        </p:spPr>
        <p:style>
          <a:lnRef idx="0"/>
          <a:fillRef idx="0"/>
          <a:effectRef idx="0"/>
          <a:fontRef idx="minor"/>
        </p:style>
        <p:txBody>
          <a:bodyPr lIns="90000" rIns="90000" tIns="45000" bIns="45000" anchor="t">
            <a:spAutoFit/>
          </a:bodyPr>
          <a:p>
            <a:pPr>
              <a:lnSpc>
                <a:spcPts val="1899"/>
              </a:lnSpc>
              <a:tabLst>
                <a:tab algn="l" pos="0"/>
              </a:tabLst>
            </a:pPr>
            <a:r>
              <a:rPr lang="en-US" sz="1600" b="0" u="none" strike="noStrike">
                <a:solidFill>
                  <a:srgbClr val="00b050"/>
                </a:solidFill>
                <a:effectLst/>
                <a:uFillTx/>
                <a:latin typeface="Bodoni MT Black"/>
              </a:rPr>
              <a:t>1</a:t>
            </a:r>
            <a:r>
              <a:rPr lang="zh-CN" sz="1600" b="0" u="none" strike="noStrike">
                <a:solidFill>
                  <a:srgbClr val="00b050"/>
                </a:solidFill>
                <a:effectLst/>
                <a:uFillTx/>
                <a:latin typeface="Bodoni MT Black"/>
              </a:rPr>
              <a:t>：  </a:t>
            </a:r>
            <a:r>
              <a:rPr lang="en-US" sz="1600" b="0" u="none" strike="noStrike">
                <a:solidFill>
                  <a:srgbClr val="00b050"/>
                </a:solidFill>
                <a:effectLst/>
                <a:uFillTx/>
                <a:latin typeface="Bodoni MT Black"/>
              </a:rPr>
              <a:t>i=1;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00b050"/>
                </a:solidFill>
                <a:effectLst/>
                <a:uFillTx/>
                <a:latin typeface="Bodoni MT Black"/>
              </a:rPr>
              <a:t>     total.input=total.valid=0;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00b050"/>
                </a:solidFill>
                <a:effectLst/>
                <a:uFillTx/>
                <a:latin typeface="Bodoni MT Black"/>
              </a:rPr>
              <a:t>     sum=0;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00b050"/>
                </a:solidFill>
                <a:effectLst/>
                <a:uFillTx/>
                <a:latin typeface="Bodoni MT Black"/>
              </a:rPr>
              <a:t>2</a:t>
            </a:r>
            <a:r>
              <a:rPr lang="zh-CN" sz="1600" b="0" u="none" strike="noStrike">
                <a:solidFill>
                  <a:srgbClr val="00b050"/>
                </a:solidFill>
                <a:effectLst/>
                <a:uFillTx/>
                <a:latin typeface="Bodoni MT Black"/>
              </a:rPr>
              <a:t>：  </a:t>
            </a:r>
            <a:r>
              <a:rPr lang="en-US" sz="1600" b="0" u="none" strike="noStrike">
                <a:solidFill>
                  <a:srgbClr val="00b050"/>
                </a:solidFill>
                <a:effectLst/>
                <a:uFillTx/>
                <a:latin typeface="Bodoni MT Black"/>
              </a:rPr>
              <a:t>DO WHILE value[i] &lt;&gt; -999</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3</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AND total.input&lt;100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4</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increment total.input by1;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5</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IF value[i]&gt;=minimum</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6</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AND value[i]&lt;=maximum</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7</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THEN increment total.valid by 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         sum=sum+value[i];</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8</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ENDIF</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       increment i by 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9</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ENDDO</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00b050"/>
                </a:solidFill>
                <a:effectLst/>
                <a:uFillTx/>
                <a:latin typeface="Bodoni MT Black"/>
              </a:rPr>
              <a:t>10</a:t>
            </a:r>
            <a:r>
              <a:rPr lang="zh-CN" sz="1600" b="0" u="none" strike="noStrike">
                <a:solidFill>
                  <a:srgbClr val="00b050"/>
                </a:solidFill>
                <a:effectLst/>
                <a:uFillTx/>
                <a:latin typeface="Bodoni MT Black"/>
              </a:rPr>
              <a:t>： </a:t>
            </a:r>
            <a:r>
              <a:rPr lang="en-US" sz="1600" b="0" u="none" strike="noStrike">
                <a:solidFill>
                  <a:srgbClr val="00b050"/>
                </a:solidFill>
                <a:effectLst/>
                <a:uFillTx/>
                <a:latin typeface="Bodoni MT Black"/>
              </a:rPr>
              <a:t>IF total.valid&gt;0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11</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THEN average=sum/total.valid;</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00b050"/>
                </a:solidFill>
                <a:effectLst/>
                <a:uFillTx/>
                <a:latin typeface="Bodoni MT Black"/>
              </a:rPr>
              <a:t>12</a:t>
            </a:r>
            <a:r>
              <a:rPr lang="zh-CN" sz="1600" b="0" u="none" strike="noStrike">
                <a:solidFill>
                  <a:srgbClr val="00b050"/>
                </a:solidFill>
                <a:effectLst/>
                <a:uFillTx/>
                <a:latin typeface="Bodoni MT Black"/>
              </a:rPr>
              <a:t>： </a:t>
            </a:r>
            <a:r>
              <a:rPr lang="en-US" sz="1600" b="0" u="none" strike="noStrike">
                <a:solidFill>
                  <a:srgbClr val="00b050"/>
                </a:solidFill>
                <a:effectLst/>
                <a:uFillTx/>
                <a:latin typeface="Bodoni MT Black"/>
              </a:rPr>
              <a:t>ELSE average=-999;</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00b050"/>
                </a:solidFill>
                <a:effectLst/>
                <a:uFillTx/>
                <a:latin typeface="Bodoni MT Black"/>
              </a:rPr>
              <a:t>13:  ENDIF</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    END average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6"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547" name="TextBox 7"/>
          <p:cNvSpPr/>
          <p:nvPr/>
        </p:nvSpPr>
        <p:spPr>
          <a:xfrm>
            <a:off x="154080" y="908640"/>
            <a:ext cx="8280000" cy="443916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1" u="none" strike="noStrike">
                <a:solidFill>
                  <a:srgbClr val="ff0000"/>
                </a:solidFill>
                <a:effectLst/>
                <a:uFillTx/>
                <a:latin typeface="Bodoni MT Black"/>
              </a:rPr>
              <a:t>④ 设计可强制执行基本集合中每条路径的测试用例</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应该选取测试数据使得在测试每条路径时都适当地设置好各个判定结点的条件。</a:t>
            </a:r>
            <a:endParaRPr lang="en-US" sz="2400" b="0" u="none" strike="noStrike">
              <a:solidFill>
                <a:srgbClr val="000000"/>
              </a:solidFill>
              <a:effectLst/>
              <a:uFillTx/>
              <a:latin typeface="Arial"/>
            </a:endParaRPr>
          </a:p>
          <a:p>
            <a:pPr>
              <a:lnSpc>
                <a:spcPct val="125000"/>
              </a:lnSpc>
              <a:tabLst>
                <a:tab algn="l" pos="0"/>
              </a:tabLst>
            </a:pPr>
            <a:r>
              <a:rPr lang="zh-CN" sz="2200" b="1" u="none" strike="noStrike">
                <a:solidFill>
                  <a:srgbClr val="00b0f0"/>
                </a:solidFill>
                <a:effectLst/>
                <a:uFillTx/>
                <a:latin typeface="Bodoni MT Black"/>
                <a:ea typeface="宋体"/>
              </a:rPr>
              <a:t>路径</a:t>
            </a:r>
            <a:r>
              <a:rPr lang="en-US" sz="2200" b="1" u="none" strike="noStrike">
                <a:solidFill>
                  <a:srgbClr val="00b0f0"/>
                </a:solidFill>
                <a:effectLst/>
                <a:uFillTx/>
                <a:latin typeface="Bodoni MT Black"/>
                <a:ea typeface="宋体"/>
              </a:rPr>
              <a:t>3</a:t>
            </a:r>
            <a:r>
              <a:rPr lang="zh-CN" sz="2200" b="0" u="none" strike="noStrike">
                <a:solidFill>
                  <a:srgbClr val="00b0f0"/>
                </a:solidFill>
                <a:effectLst/>
                <a:uFillTx/>
                <a:latin typeface="Bodoni MT Black"/>
                <a:ea typeface="宋体"/>
              </a:rPr>
              <a:t>的测试用例：</a:t>
            </a:r>
            <a:endParaRPr lang="en-US" sz="2200" b="0" u="none" strike="noStrike">
              <a:solidFill>
                <a:srgbClr val="000000"/>
              </a:solidFill>
              <a:effectLst/>
              <a:uFillTx/>
              <a:latin typeface="Arial"/>
            </a:endParaRPr>
          </a:p>
          <a:p>
            <a:pPr marL="343080" indent="-343080">
              <a:lnSpc>
                <a:spcPct val="125000"/>
              </a:lnSpc>
              <a:tabLst>
                <a:tab algn="l" pos="0"/>
              </a:tabLst>
            </a:pPr>
            <a:r>
              <a:rPr lang="en-US" sz="2200" b="0" u="none" strike="noStrike">
                <a:solidFill>
                  <a:schemeClr val="dk1"/>
                </a:solidFill>
                <a:effectLst/>
                <a:uFillTx/>
                <a:latin typeface="Bodoni MT Black"/>
                <a:ea typeface="宋体"/>
              </a:rPr>
              <a:t>    试图处理</a:t>
            </a:r>
            <a:r>
              <a:rPr lang="en-US" sz="2200" b="0" u="none" strike="noStrike">
                <a:solidFill>
                  <a:schemeClr val="dk1"/>
                </a:solidFill>
                <a:effectLst/>
                <a:uFillTx/>
                <a:latin typeface="Bodoni MT Black"/>
                <a:ea typeface="宋体"/>
              </a:rPr>
              <a:t>101</a:t>
            </a:r>
            <a:r>
              <a:rPr lang="zh-CN" sz="2200" b="0" u="none" strike="noStrike">
                <a:solidFill>
                  <a:schemeClr val="dk1"/>
                </a:solidFill>
                <a:effectLst/>
                <a:uFillTx/>
                <a:latin typeface="Bodoni MT Black"/>
                <a:ea typeface="宋体"/>
              </a:rPr>
              <a:t>个或更多个值，</a:t>
            </a:r>
            <a:endParaRPr lang="en-US" sz="2200" b="0" u="none" strike="noStrike">
              <a:solidFill>
                <a:srgbClr val="000000"/>
              </a:solidFill>
              <a:effectLst/>
              <a:uFillTx/>
              <a:latin typeface="Arial"/>
            </a:endParaRPr>
          </a:p>
          <a:p>
            <a:pPr marL="343080" indent="-343080">
              <a:lnSpc>
                <a:spcPct val="125000"/>
              </a:lnSpc>
              <a:tabLst>
                <a:tab algn="l" pos="0"/>
              </a:tabLst>
            </a:pPr>
            <a:r>
              <a:rPr lang="zh-CN" sz="2200" b="0" u="none" strike="noStrike">
                <a:solidFill>
                  <a:schemeClr val="dk1"/>
                </a:solidFill>
                <a:effectLst/>
                <a:uFillTx/>
                <a:latin typeface="Bodoni MT Black"/>
                <a:ea typeface="宋体"/>
              </a:rPr>
              <a:t>前</a:t>
            </a:r>
            <a:r>
              <a:rPr lang="en-US" sz="2200" b="0" u="none" strike="noStrike">
                <a:solidFill>
                  <a:schemeClr val="dk1"/>
                </a:solidFill>
                <a:effectLst/>
                <a:uFillTx/>
                <a:latin typeface="Bodoni MT Black"/>
                <a:ea typeface="宋体"/>
              </a:rPr>
              <a:t>100</a:t>
            </a:r>
            <a:r>
              <a:rPr lang="zh-CN" sz="2200" b="0" u="none" strike="noStrike">
                <a:solidFill>
                  <a:schemeClr val="dk1"/>
                </a:solidFill>
                <a:effectLst/>
                <a:uFillTx/>
                <a:latin typeface="Bodoni MT Black"/>
                <a:ea typeface="宋体"/>
              </a:rPr>
              <a:t>个数值应该是有效输入值</a:t>
            </a:r>
            <a:endParaRPr lang="en-US" sz="2200" b="0" u="none" strike="noStrike">
              <a:solidFill>
                <a:srgbClr val="000000"/>
              </a:solidFill>
              <a:effectLst/>
              <a:uFillTx/>
              <a:latin typeface="Arial"/>
            </a:endParaRPr>
          </a:p>
          <a:p>
            <a:pPr marL="343080" indent="-343080">
              <a:lnSpc>
                <a:spcPct val="125000"/>
              </a:lnSpc>
              <a:tabLst>
                <a:tab algn="l" pos="0"/>
              </a:tabLst>
            </a:pPr>
            <a:r>
              <a:rPr lang="en-US" sz="2200" b="0" u="none" strike="noStrike">
                <a:solidFill>
                  <a:schemeClr val="dk1"/>
                </a:solidFill>
                <a:effectLst/>
                <a:uFillTx/>
                <a:latin typeface="Bodoni MT Black"/>
                <a:ea typeface="宋体"/>
              </a:rPr>
              <a:t>    预期结果：</a:t>
            </a:r>
            <a:r>
              <a:rPr lang="zh-CN" sz="2200" b="1" u="none" strike="noStrike">
                <a:solidFill>
                  <a:srgbClr val="00b0f0"/>
                </a:solidFill>
                <a:effectLst/>
                <a:uFillTx/>
                <a:latin typeface="Bodoni MT Black"/>
                <a:ea typeface="宋体"/>
              </a:rPr>
              <a:t>前</a:t>
            </a:r>
            <a:r>
              <a:rPr lang="en-US" sz="2200" b="1" u="none" strike="noStrike">
                <a:solidFill>
                  <a:srgbClr val="00b0f0"/>
                </a:solidFill>
                <a:effectLst/>
                <a:uFillTx/>
                <a:latin typeface="Bodoni MT Black"/>
                <a:ea typeface="宋体"/>
              </a:rPr>
              <a:t>100</a:t>
            </a:r>
            <a:r>
              <a:rPr lang="zh-CN" sz="2200" b="1" u="none" strike="noStrike">
                <a:solidFill>
                  <a:srgbClr val="00b0f0"/>
                </a:solidFill>
                <a:effectLst/>
                <a:uFillTx/>
                <a:latin typeface="Bodoni MT Black"/>
                <a:ea typeface="宋体"/>
              </a:rPr>
              <a:t>个数的平均值，  </a:t>
            </a:r>
            <a:endParaRPr lang="en-US" sz="2200" b="0" u="none" strike="noStrike">
              <a:solidFill>
                <a:srgbClr val="000000"/>
              </a:solidFill>
              <a:effectLst/>
              <a:uFillTx/>
              <a:latin typeface="Arial"/>
            </a:endParaRPr>
          </a:p>
          <a:p>
            <a:pPr marL="343080" indent="-343080">
              <a:lnSpc>
                <a:spcPct val="125000"/>
              </a:lnSpc>
              <a:tabLst>
                <a:tab algn="l" pos="0"/>
              </a:tabLst>
            </a:pPr>
            <a:r>
              <a:rPr lang="en-US" sz="2200" b="1" u="none" strike="noStrike">
                <a:solidFill>
                  <a:srgbClr val="00b0f0"/>
                </a:solidFill>
                <a:effectLst/>
                <a:uFillTx/>
                <a:latin typeface="Bodoni MT Black"/>
                <a:ea typeface="宋体"/>
              </a:rPr>
              <a:t>                   总数为</a:t>
            </a:r>
            <a:r>
              <a:rPr lang="en-US" sz="2200" b="1" u="none" strike="noStrike">
                <a:solidFill>
                  <a:srgbClr val="00b0f0"/>
                </a:solidFill>
                <a:effectLst/>
                <a:uFillTx/>
                <a:latin typeface="Bodoni MT Black"/>
                <a:ea typeface="宋体"/>
              </a:rPr>
              <a:t>100</a:t>
            </a:r>
            <a:endParaRPr lang="en-US" sz="2200" b="0" u="none" strike="noStrike">
              <a:solidFill>
                <a:srgbClr val="000000"/>
              </a:solidFill>
              <a:effectLst/>
              <a:uFillTx/>
              <a:latin typeface="Arial"/>
            </a:endParaRPr>
          </a:p>
          <a:p>
            <a:pPr marL="343080" indent="-343080">
              <a:lnSpc>
                <a:spcPct val="125000"/>
              </a:lnSpc>
              <a:tabLst>
                <a:tab algn="l" pos="0"/>
              </a:tabLst>
            </a:pPr>
            <a:r>
              <a:rPr lang="en-US" sz="2200" b="0" u="none" strike="noStrike">
                <a:solidFill>
                  <a:schemeClr val="dk1"/>
                </a:solidFill>
                <a:effectLst/>
                <a:uFillTx/>
                <a:latin typeface="Bodoni MT Black"/>
                <a:ea typeface="宋体"/>
              </a:rPr>
              <a:t>    注意，路径</a:t>
            </a:r>
            <a:r>
              <a:rPr lang="en-US" sz="2200" b="0" u="none" strike="noStrike">
                <a:solidFill>
                  <a:schemeClr val="dk1"/>
                </a:solidFill>
                <a:effectLst/>
                <a:uFillTx/>
                <a:latin typeface="Bodoni MT Black"/>
                <a:ea typeface="宋体"/>
              </a:rPr>
              <a:t>3</a:t>
            </a:r>
            <a:r>
              <a:rPr lang="zh-CN" sz="2200" b="0" u="none" strike="noStrike">
                <a:solidFill>
                  <a:schemeClr val="dk1"/>
                </a:solidFill>
                <a:effectLst/>
                <a:uFillTx/>
                <a:latin typeface="Bodoni MT Black"/>
                <a:ea typeface="宋体"/>
              </a:rPr>
              <a:t>无法独立测试，必须作为</a:t>
            </a:r>
            <a:endParaRPr lang="en-US" sz="2200" b="0" u="none" strike="noStrike">
              <a:solidFill>
                <a:srgbClr val="000000"/>
              </a:solidFill>
              <a:effectLst/>
              <a:uFillTx/>
              <a:latin typeface="Arial"/>
            </a:endParaRPr>
          </a:p>
          <a:p>
            <a:pPr marL="343080" indent="-343080">
              <a:lnSpc>
                <a:spcPct val="125000"/>
              </a:lnSpc>
              <a:tabLst>
                <a:tab algn="l" pos="0"/>
              </a:tabLst>
            </a:pPr>
            <a:r>
              <a:rPr lang="zh-CN" sz="2200" b="0" u="none" strike="noStrike">
                <a:solidFill>
                  <a:schemeClr val="dk1"/>
                </a:solidFill>
                <a:effectLst/>
                <a:uFillTx/>
                <a:latin typeface="Bodoni MT Black"/>
                <a:ea typeface="宋体"/>
              </a:rPr>
              <a:t>路径</a:t>
            </a:r>
            <a:r>
              <a:rPr lang="en-US" sz="2200" b="0" u="none" strike="noStrike">
                <a:solidFill>
                  <a:schemeClr val="dk1"/>
                </a:solidFill>
                <a:effectLst/>
                <a:uFillTx/>
                <a:latin typeface="Bodoni MT Black"/>
                <a:ea typeface="宋体"/>
              </a:rPr>
              <a:t>4</a:t>
            </a:r>
            <a:r>
              <a:rPr lang="zh-CN" sz="2200" b="0" u="none" strike="noStrike">
                <a:solidFill>
                  <a:schemeClr val="dk1"/>
                </a:solidFill>
                <a:effectLst/>
                <a:uFillTx/>
                <a:latin typeface="Bodoni MT Black"/>
                <a:ea typeface="宋体"/>
              </a:rPr>
              <a:t>或</a:t>
            </a:r>
            <a:r>
              <a:rPr lang="en-US" sz="2200" b="0" u="none" strike="noStrike">
                <a:solidFill>
                  <a:schemeClr val="dk1"/>
                </a:solidFill>
                <a:effectLst/>
                <a:uFillTx/>
                <a:latin typeface="Bodoni MT Black"/>
                <a:ea typeface="宋体"/>
              </a:rPr>
              <a:t>5</a:t>
            </a:r>
            <a:r>
              <a:rPr lang="zh-CN" sz="2200" b="0" u="none" strike="noStrike">
                <a:solidFill>
                  <a:schemeClr val="dk1"/>
                </a:solidFill>
                <a:effectLst/>
                <a:uFillTx/>
                <a:latin typeface="Bodoni MT Black"/>
                <a:ea typeface="宋体"/>
              </a:rPr>
              <a:t>或</a:t>
            </a:r>
            <a:r>
              <a:rPr lang="en-US" sz="2200" b="0" u="none" strike="noStrike">
                <a:solidFill>
                  <a:schemeClr val="dk1"/>
                </a:solidFill>
                <a:effectLst/>
                <a:uFillTx/>
                <a:latin typeface="Bodoni MT Black"/>
                <a:ea typeface="宋体"/>
              </a:rPr>
              <a:t>6</a:t>
            </a:r>
            <a:r>
              <a:rPr lang="zh-CN" sz="2200" b="0" u="none" strike="noStrike">
                <a:solidFill>
                  <a:schemeClr val="dk1"/>
                </a:solidFill>
                <a:effectLst/>
                <a:uFillTx/>
                <a:latin typeface="Bodoni MT Black"/>
                <a:ea typeface="宋体"/>
              </a:rPr>
              <a:t>的一部分来测试。</a:t>
            </a:r>
            <a:endParaRPr lang="en-US" sz="2200" b="0" u="none" strike="noStrike">
              <a:solidFill>
                <a:srgbClr val="000000"/>
              </a:solidFill>
              <a:effectLst/>
              <a:uFillTx/>
              <a:latin typeface="Arial"/>
            </a:endParaRPr>
          </a:p>
        </p:txBody>
      </p:sp>
      <p:sp>
        <p:nvSpPr>
          <p:cNvPr id="548"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549"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7.6.2 </a:t>
            </a:r>
            <a:r>
              <a:rPr lang="zh-CN" sz="2400" b="0" u="none" strike="noStrike">
                <a:solidFill>
                  <a:srgbClr val="d9d9d9"/>
                </a:solidFill>
                <a:effectLst/>
                <a:uFillTx/>
                <a:latin typeface="Bodoni MT Black"/>
              </a:rPr>
              <a:t>控制结构测试</a:t>
            </a:r>
            <a:endParaRPr lang="en-US" sz="2400" b="0" u="none" strike="noStrike">
              <a:solidFill>
                <a:srgbClr val="000000"/>
              </a:solidFill>
              <a:effectLst/>
              <a:uFillTx/>
              <a:latin typeface="Arial"/>
            </a:endParaRPr>
          </a:p>
        </p:txBody>
      </p:sp>
      <p:sp>
        <p:nvSpPr>
          <p:cNvPr id="550" name="TextBox 7"/>
          <p:cNvSpPr/>
          <p:nvPr/>
        </p:nvSpPr>
        <p:spPr>
          <a:xfrm>
            <a:off x="5040360" y="1782720"/>
            <a:ext cx="4103280" cy="4478040"/>
          </a:xfrm>
          <a:prstGeom prst="rect">
            <a:avLst/>
          </a:prstGeom>
          <a:noFill/>
          <a:ln w="0">
            <a:noFill/>
          </a:ln>
        </p:spPr>
        <p:style>
          <a:lnRef idx="0"/>
          <a:fillRef idx="0"/>
          <a:effectRef idx="0"/>
          <a:fontRef idx="minor"/>
        </p:style>
        <p:txBody>
          <a:bodyPr lIns="90000" rIns="90000" tIns="45000" bIns="45000" anchor="t">
            <a:spAutoFit/>
          </a:bodyPr>
          <a:p>
            <a:pPr>
              <a:lnSpc>
                <a:spcPts val="1899"/>
              </a:lnSpc>
              <a:tabLst>
                <a:tab algn="l" pos="0"/>
              </a:tabLst>
            </a:pPr>
            <a:r>
              <a:rPr lang="en-US" sz="1600" b="0" u="none" strike="noStrike">
                <a:solidFill>
                  <a:srgbClr val="00b0f0"/>
                </a:solidFill>
                <a:effectLst/>
                <a:uFillTx/>
                <a:latin typeface="Bodoni MT Black"/>
              </a:rPr>
              <a:t>1</a:t>
            </a:r>
            <a:r>
              <a:rPr lang="zh-CN" sz="1600" b="0" u="none" strike="noStrike">
                <a:solidFill>
                  <a:srgbClr val="00b0f0"/>
                </a:solidFill>
                <a:effectLst/>
                <a:uFillTx/>
                <a:latin typeface="Bodoni MT Black"/>
              </a:rPr>
              <a:t>：  </a:t>
            </a:r>
            <a:r>
              <a:rPr lang="en-US" sz="1600" b="0" u="none" strike="noStrike">
                <a:solidFill>
                  <a:srgbClr val="00b0f0"/>
                </a:solidFill>
                <a:effectLst/>
                <a:uFillTx/>
                <a:latin typeface="Bodoni MT Black"/>
              </a:rPr>
              <a:t>i=1;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00b0f0"/>
                </a:solidFill>
                <a:effectLst/>
                <a:uFillTx/>
                <a:latin typeface="Bodoni MT Black"/>
              </a:rPr>
              <a:t>     total.input=total.valid=0;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00b0f0"/>
                </a:solidFill>
                <a:effectLst/>
                <a:uFillTx/>
                <a:latin typeface="Bodoni MT Black"/>
              </a:rPr>
              <a:t>     sum=0;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00b0f0"/>
                </a:solidFill>
                <a:effectLst/>
                <a:uFillTx/>
                <a:latin typeface="Bodoni MT Black"/>
              </a:rPr>
              <a:t>2</a:t>
            </a:r>
            <a:r>
              <a:rPr lang="zh-CN" sz="1600" b="0" u="none" strike="noStrike">
                <a:solidFill>
                  <a:srgbClr val="00b0f0"/>
                </a:solidFill>
                <a:effectLst/>
                <a:uFillTx/>
                <a:latin typeface="Bodoni MT Black"/>
              </a:rPr>
              <a:t>：  </a:t>
            </a:r>
            <a:r>
              <a:rPr lang="en-US" sz="1600" b="0" u="none" strike="noStrike">
                <a:solidFill>
                  <a:srgbClr val="00b0f0"/>
                </a:solidFill>
                <a:effectLst/>
                <a:uFillTx/>
                <a:latin typeface="Bodoni MT Black"/>
              </a:rPr>
              <a:t>DO WHILE value[i] &lt;&gt; -999</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00b0f0"/>
                </a:solidFill>
                <a:effectLst/>
                <a:uFillTx/>
                <a:latin typeface="Bodoni MT Black"/>
              </a:rPr>
              <a:t>3</a:t>
            </a:r>
            <a:r>
              <a:rPr lang="zh-CN" sz="1600" b="0" u="none" strike="noStrike">
                <a:solidFill>
                  <a:srgbClr val="00b0f0"/>
                </a:solidFill>
                <a:effectLst/>
                <a:uFillTx/>
                <a:latin typeface="Bodoni MT Black"/>
              </a:rPr>
              <a:t>：     </a:t>
            </a:r>
            <a:r>
              <a:rPr lang="en-US" sz="1600" b="0" u="none" strike="noStrike">
                <a:solidFill>
                  <a:srgbClr val="00b0f0"/>
                </a:solidFill>
                <a:effectLst/>
                <a:uFillTx/>
                <a:latin typeface="Bodoni MT Black"/>
              </a:rPr>
              <a:t>AND total.input&lt;100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4</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increment total.input by1;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5</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IF value[i]&gt;=minimum</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6</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AND value[i]&lt;=maximum</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7</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THEN increment total.valid by 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         sum=sum+value[i];</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8</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ENDIF</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       increment i by 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9</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ENDDO</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00b0f0"/>
                </a:solidFill>
                <a:effectLst/>
                <a:uFillTx/>
                <a:latin typeface="Bodoni MT Black"/>
              </a:rPr>
              <a:t>10</a:t>
            </a:r>
            <a:r>
              <a:rPr lang="zh-CN" sz="1600" b="0" u="none" strike="noStrike">
                <a:solidFill>
                  <a:srgbClr val="00b0f0"/>
                </a:solidFill>
                <a:effectLst/>
                <a:uFillTx/>
                <a:latin typeface="Bodoni MT Black"/>
              </a:rPr>
              <a:t>： </a:t>
            </a:r>
            <a:r>
              <a:rPr lang="en-US" sz="1600" b="0" u="none" strike="noStrike">
                <a:solidFill>
                  <a:srgbClr val="00b0f0"/>
                </a:solidFill>
                <a:effectLst/>
                <a:uFillTx/>
                <a:latin typeface="Bodoni MT Black"/>
              </a:rPr>
              <a:t>IF total.valid&gt;0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00b0f0"/>
                </a:solidFill>
                <a:effectLst/>
                <a:uFillTx/>
                <a:latin typeface="Bodoni MT Black"/>
              </a:rPr>
              <a:t>11</a:t>
            </a:r>
            <a:r>
              <a:rPr lang="zh-CN" sz="1600" b="0" u="none" strike="noStrike">
                <a:solidFill>
                  <a:srgbClr val="00b0f0"/>
                </a:solidFill>
                <a:effectLst/>
                <a:uFillTx/>
                <a:latin typeface="Bodoni MT Black"/>
              </a:rPr>
              <a:t>： </a:t>
            </a:r>
            <a:r>
              <a:rPr lang="en-US" sz="1600" b="0" u="none" strike="noStrike">
                <a:solidFill>
                  <a:srgbClr val="00b0f0"/>
                </a:solidFill>
                <a:effectLst/>
                <a:uFillTx/>
                <a:latin typeface="Bodoni MT Black"/>
              </a:rPr>
              <a:t>THEN average=sum/total.valid;</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12</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ELSE average=-999;</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00b0f0"/>
                </a:solidFill>
                <a:effectLst/>
                <a:uFillTx/>
                <a:latin typeface="Bodoni MT Black"/>
              </a:rPr>
              <a:t>13:  ENDIF</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    END average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1"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552" name="TextBox 7"/>
          <p:cNvSpPr/>
          <p:nvPr/>
        </p:nvSpPr>
        <p:spPr>
          <a:xfrm>
            <a:off x="251640" y="980640"/>
            <a:ext cx="8280000" cy="31698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1" u="none" strike="noStrike">
                <a:solidFill>
                  <a:srgbClr val="ff0000"/>
                </a:solidFill>
                <a:effectLst/>
                <a:uFillTx/>
                <a:latin typeface="Bodoni MT Black"/>
              </a:rPr>
              <a:t>④ 设计可强制执行基本集合中每条路径的测试用例</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应该选取测试数据使得在测试每条路径时都适当地设置好各个判定结点的条件。</a:t>
            </a:r>
            <a:endParaRPr lang="en-US" sz="2400" b="0" u="none" strike="noStrike">
              <a:solidFill>
                <a:srgbClr val="000000"/>
              </a:solidFill>
              <a:effectLst/>
              <a:uFillTx/>
              <a:latin typeface="Arial"/>
            </a:endParaRPr>
          </a:p>
          <a:p>
            <a:pPr marL="343080" indent="-343080">
              <a:lnSpc>
                <a:spcPct val="125000"/>
              </a:lnSpc>
              <a:tabLst>
                <a:tab algn="l" pos="0"/>
              </a:tabLst>
            </a:pPr>
            <a:r>
              <a:rPr lang="en-US" sz="2200" b="1" u="none" strike="noStrike">
                <a:solidFill>
                  <a:srgbClr val="0070c0"/>
                </a:solidFill>
                <a:effectLst/>
                <a:uFillTx/>
                <a:latin typeface="Bodoni MT Black"/>
                <a:ea typeface="宋体"/>
              </a:rPr>
              <a:t> </a:t>
            </a:r>
            <a:r>
              <a:rPr lang="zh-CN" sz="2200" b="1" u="none" strike="noStrike">
                <a:solidFill>
                  <a:srgbClr val="ffc000"/>
                </a:solidFill>
                <a:effectLst/>
                <a:uFillTx/>
                <a:latin typeface="Bodoni MT Black"/>
                <a:ea typeface="宋体"/>
              </a:rPr>
              <a:t>路径</a:t>
            </a:r>
            <a:r>
              <a:rPr lang="en-US" sz="2200" b="1" u="none" strike="noStrike">
                <a:solidFill>
                  <a:srgbClr val="ffc000"/>
                </a:solidFill>
                <a:effectLst/>
                <a:uFillTx/>
                <a:latin typeface="Bodoni MT Black"/>
                <a:ea typeface="宋体"/>
              </a:rPr>
              <a:t>4</a:t>
            </a:r>
            <a:r>
              <a:rPr lang="zh-CN" sz="2200" b="0" u="none" strike="noStrike">
                <a:solidFill>
                  <a:srgbClr val="ffc000"/>
                </a:solidFill>
                <a:effectLst/>
                <a:uFillTx/>
                <a:latin typeface="Bodoni MT Black"/>
                <a:ea typeface="宋体"/>
              </a:rPr>
              <a:t>的测试用例：</a:t>
            </a:r>
            <a:endParaRPr lang="en-US" sz="2200" b="0" u="none" strike="noStrike">
              <a:solidFill>
                <a:srgbClr val="000000"/>
              </a:solidFill>
              <a:effectLst/>
              <a:uFillTx/>
              <a:latin typeface="Arial"/>
            </a:endParaRPr>
          </a:p>
          <a:p>
            <a:pPr marL="343080" indent="-343080">
              <a:lnSpc>
                <a:spcPct val="125000"/>
              </a:lnSpc>
              <a:tabLst>
                <a:tab algn="l" pos="0"/>
              </a:tabLst>
            </a:pPr>
            <a:r>
              <a:rPr lang="en-US" sz="2200" b="0" u="none" strike="noStrike">
                <a:solidFill>
                  <a:schemeClr val="dk1"/>
                </a:solidFill>
                <a:effectLst/>
                <a:uFillTx/>
                <a:latin typeface="Bodoni MT Black"/>
                <a:ea typeface="宋体"/>
              </a:rPr>
              <a:t>      value[k]=</a:t>
            </a:r>
            <a:r>
              <a:rPr lang="zh-CN" sz="2200" b="0" u="none" strike="noStrike">
                <a:solidFill>
                  <a:schemeClr val="dk1"/>
                </a:solidFill>
                <a:effectLst/>
                <a:uFillTx/>
                <a:latin typeface="Bodoni MT Black"/>
                <a:ea typeface="宋体"/>
              </a:rPr>
              <a:t>有效输入值，其中</a:t>
            </a:r>
            <a:r>
              <a:rPr lang="en-US" sz="2200" b="0" u="none" strike="noStrike">
                <a:solidFill>
                  <a:schemeClr val="dk1"/>
                </a:solidFill>
                <a:effectLst/>
                <a:uFillTx/>
                <a:latin typeface="Bodoni MT Black"/>
                <a:ea typeface="宋体"/>
              </a:rPr>
              <a:t>k&lt;i</a:t>
            </a:r>
            <a:endParaRPr lang="en-US" sz="2200" b="0" u="none" strike="noStrike">
              <a:solidFill>
                <a:srgbClr val="000000"/>
              </a:solidFill>
              <a:effectLst/>
              <a:uFillTx/>
              <a:latin typeface="Arial"/>
            </a:endParaRPr>
          </a:p>
          <a:p>
            <a:pPr marL="343080" indent="-343080">
              <a:lnSpc>
                <a:spcPct val="125000"/>
              </a:lnSpc>
              <a:tabLst>
                <a:tab algn="l" pos="0"/>
              </a:tabLst>
            </a:pPr>
            <a:r>
              <a:rPr lang="en-US" sz="2200" b="0" u="none" strike="noStrike">
                <a:solidFill>
                  <a:schemeClr val="dk1"/>
                </a:solidFill>
                <a:effectLst/>
                <a:uFillTx/>
                <a:latin typeface="Bodoni MT Black"/>
                <a:ea typeface="宋体"/>
              </a:rPr>
              <a:t>      value[i]&lt;minimum</a:t>
            </a:r>
            <a:r>
              <a:rPr lang="zh-CN" sz="2200" b="0" u="none" strike="noStrike">
                <a:solidFill>
                  <a:schemeClr val="dk1"/>
                </a:solidFill>
                <a:effectLst/>
                <a:uFillTx/>
                <a:latin typeface="Bodoni MT Black"/>
                <a:ea typeface="宋体"/>
              </a:rPr>
              <a:t>，其中</a:t>
            </a:r>
            <a:r>
              <a:rPr lang="en-US" sz="2200" b="0" u="none" strike="noStrike">
                <a:solidFill>
                  <a:schemeClr val="dk1"/>
                </a:solidFill>
                <a:effectLst/>
                <a:uFillTx/>
                <a:latin typeface="Bodoni MT Black"/>
                <a:ea typeface="宋体"/>
              </a:rPr>
              <a:t>i&lt;100</a:t>
            </a:r>
            <a:endParaRPr lang="en-US" sz="2200" b="0" u="none" strike="noStrike">
              <a:solidFill>
                <a:srgbClr val="000000"/>
              </a:solidFill>
              <a:effectLst/>
              <a:uFillTx/>
              <a:latin typeface="Arial"/>
            </a:endParaRPr>
          </a:p>
          <a:p>
            <a:pPr marL="343080" indent="-343080">
              <a:lnSpc>
                <a:spcPct val="125000"/>
              </a:lnSpc>
              <a:tabLst>
                <a:tab algn="l" pos="0"/>
              </a:tabLst>
            </a:pPr>
            <a:r>
              <a:rPr lang="en-US" sz="2200" b="0" u="none" strike="noStrike">
                <a:solidFill>
                  <a:schemeClr val="dk1"/>
                </a:solidFill>
                <a:effectLst/>
                <a:uFillTx/>
                <a:latin typeface="Bodoni MT Black"/>
                <a:ea typeface="宋体"/>
              </a:rPr>
              <a:t> 预期结果：</a:t>
            </a:r>
            <a:r>
              <a:rPr lang="zh-CN" sz="2200" b="1" u="none" strike="noStrike">
                <a:solidFill>
                  <a:srgbClr val="ffc000"/>
                </a:solidFill>
                <a:effectLst/>
                <a:uFillTx/>
                <a:latin typeface="Bodoni MT Black"/>
                <a:ea typeface="宋体"/>
              </a:rPr>
              <a:t>基于</a:t>
            </a:r>
            <a:r>
              <a:rPr lang="en-US" sz="2200" b="1" u="none" strike="noStrike">
                <a:solidFill>
                  <a:srgbClr val="ffc000"/>
                </a:solidFill>
                <a:effectLst/>
                <a:uFillTx/>
                <a:latin typeface="Bodoni MT Black"/>
                <a:ea typeface="宋体"/>
              </a:rPr>
              <a:t>k</a:t>
            </a:r>
            <a:r>
              <a:rPr lang="zh-CN" sz="2200" b="1" u="none" strike="noStrike">
                <a:solidFill>
                  <a:srgbClr val="ffc000"/>
                </a:solidFill>
                <a:effectLst/>
                <a:uFillTx/>
                <a:latin typeface="Bodoni MT Black"/>
                <a:ea typeface="宋体"/>
              </a:rPr>
              <a:t>的正确平均值和总数</a:t>
            </a:r>
            <a:endParaRPr lang="en-US" sz="2200" b="0" u="none" strike="noStrike">
              <a:solidFill>
                <a:srgbClr val="000000"/>
              </a:solidFill>
              <a:effectLst/>
              <a:uFillTx/>
              <a:latin typeface="Arial"/>
            </a:endParaRPr>
          </a:p>
        </p:txBody>
      </p:sp>
      <p:sp>
        <p:nvSpPr>
          <p:cNvPr id="553"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554"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7.6.2 </a:t>
            </a:r>
            <a:r>
              <a:rPr lang="zh-CN" sz="2400" b="0" u="none" strike="noStrike">
                <a:solidFill>
                  <a:srgbClr val="d9d9d9"/>
                </a:solidFill>
                <a:effectLst/>
                <a:uFillTx/>
                <a:latin typeface="Bodoni MT Black"/>
              </a:rPr>
              <a:t>控制结构测试</a:t>
            </a:r>
            <a:endParaRPr lang="en-US" sz="2400" b="0" u="none" strike="noStrike">
              <a:solidFill>
                <a:srgbClr val="000000"/>
              </a:solidFill>
              <a:effectLst/>
              <a:uFillTx/>
              <a:latin typeface="Arial"/>
            </a:endParaRPr>
          </a:p>
        </p:txBody>
      </p:sp>
      <p:sp>
        <p:nvSpPr>
          <p:cNvPr id="555" name="TextBox 7"/>
          <p:cNvSpPr/>
          <p:nvPr/>
        </p:nvSpPr>
        <p:spPr>
          <a:xfrm>
            <a:off x="5148000" y="1812960"/>
            <a:ext cx="4103280" cy="4478040"/>
          </a:xfrm>
          <a:prstGeom prst="rect">
            <a:avLst/>
          </a:prstGeom>
          <a:noFill/>
          <a:ln w="0">
            <a:noFill/>
          </a:ln>
        </p:spPr>
        <p:style>
          <a:lnRef idx="0"/>
          <a:fillRef idx="0"/>
          <a:effectRef idx="0"/>
          <a:fontRef idx="minor"/>
        </p:style>
        <p:txBody>
          <a:bodyPr lIns="90000" rIns="90000" tIns="45000" bIns="45000" anchor="t">
            <a:spAutoFit/>
          </a:bodyPr>
          <a:p>
            <a:pPr>
              <a:lnSpc>
                <a:spcPts val="1899"/>
              </a:lnSpc>
              <a:tabLst>
                <a:tab algn="l" pos="0"/>
              </a:tabLst>
            </a:pPr>
            <a:r>
              <a:rPr lang="en-US" sz="1600" b="0" u="none" strike="noStrike">
                <a:solidFill>
                  <a:srgbClr val="ffc000"/>
                </a:solidFill>
                <a:effectLst/>
                <a:uFillTx/>
                <a:latin typeface="Bodoni MT Black"/>
              </a:rPr>
              <a:t>1</a:t>
            </a:r>
            <a:r>
              <a:rPr lang="zh-CN" sz="1600" b="0" u="none" strike="noStrike">
                <a:solidFill>
                  <a:srgbClr val="ffc000"/>
                </a:solidFill>
                <a:effectLst/>
                <a:uFillTx/>
                <a:latin typeface="Bodoni MT Black"/>
              </a:rPr>
              <a:t>：  </a:t>
            </a:r>
            <a:r>
              <a:rPr lang="en-US" sz="1600" b="0" u="none" strike="noStrike">
                <a:solidFill>
                  <a:srgbClr val="ffc000"/>
                </a:solidFill>
                <a:effectLst/>
                <a:uFillTx/>
                <a:latin typeface="Bodoni MT Black"/>
              </a:rPr>
              <a:t>i=1;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ffc000"/>
                </a:solidFill>
                <a:effectLst/>
                <a:uFillTx/>
                <a:latin typeface="Bodoni MT Black"/>
              </a:rPr>
              <a:t>     total.input=total.valid=0;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ffc000"/>
                </a:solidFill>
                <a:effectLst/>
                <a:uFillTx/>
                <a:latin typeface="Bodoni MT Black"/>
              </a:rPr>
              <a:t>     sum=0;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ffc000"/>
                </a:solidFill>
                <a:effectLst/>
                <a:uFillTx/>
                <a:latin typeface="Bodoni MT Black"/>
              </a:rPr>
              <a:t>2</a:t>
            </a:r>
            <a:r>
              <a:rPr lang="zh-CN" sz="1600" b="0" u="none" strike="noStrike">
                <a:solidFill>
                  <a:srgbClr val="ffc000"/>
                </a:solidFill>
                <a:effectLst/>
                <a:uFillTx/>
                <a:latin typeface="Bodoni MT Black"/>
              </a:rPr>
              <a:t>：  </a:t>
            </a:r>
            <a:r>
              <a:rPr lang="en-US" sz="1600" b="0" u="none" strike="noStrike">
                <a:solidFill>
                  <a:srgbClr val="ffc000"/>
                </a:solidFill>
                <a:effectLst/>
                <a:uFillTx/>
                <a:latin typeface="Bodoni MT Black"/>
              </a:rPr>
              <a:t>DO WHILE value[i] &lt;&gt; -999</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ffc000"/>
                </a:solidFill>
                <a:effectLst/>
                <a:uFillTx/>
                <a:latin typeface="Bodoni MT Black"/>
              </a:rPr>
              <a:t>3</a:t>
            </a:r>
            <a:r>
              <a:rPr lang="zh-CN" sz="1600" b="0" u="none" strike="noStrike">
                <a:solidFill>
                  <a:srgbClr val="ffc000"/>
                </a:solidFill>
                <a:effectLst/>
                <a:uFillTx/>
                <a:latin typeface="Bodoni MT Black"/>
              </a:rPr>
              <a:t>：     </a:t>
            </a:r>
            <a:r>
              <a:rPr lang="en-US" sz="1600" b="0" u="none" strike="noStrike">
                <a:solidFill>
                  <a:srgbClr val="ffc000"/>
                </a:solidFill>
                <a:effectLst/>
                <a:uFillTx/>
                <a:latin typeface="Bodoni MT Black"/>
              </a:rPr>
              <a:t>AND total.input&lt;100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ffc000"/>
                </a:solidFill>
                <a:effectLst/>
                <a:uFillTx/>
                <a:latin typeface="Bodoni MT Black"/>
              </a:rPr>
              <a:t>4</a:t>
            </a:r>
            <a:r>
              <a:rPr lang="zh-CN" sz="1600" b="0" u="none" strike="noStrike">
                <a:solidFill>
                  <a:srgbClr val="ffc000"/>
                </a:solidFill>
                <a:effectLst/>
                <a:uFillTx/>
                <a:latin typeface="Bodoni MT Black"/>
              </a:rPr>
              <a:t>：  </a:t>
            </a:r>
            <a:r>
              <a:rPr lang="en-US" sz="1600" b="0" u="none" strike="noStrike">
                <a:solidFill>
                  <a:srgbClr val="ffc000"/>
                </a:solidFill>
                <a:effectLst/>
                <a:uFillTx/>
                <a:latin typeface="Bodoni MT Black"/>
              </a:rPr>
              <a:t>increment total.input by1;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ffc000"/>
                </a:solidFill>
                <a:effectLst/>
                <a:uFillTx/>
                <a:latin typeface="Bodoni MT Black"/>
              </a:rPr>
              <a:t>5</a:t>
            </a:r>
            <a:r>
              <a:rPr lang="zh-CN" sz="1600" b="0" u="none" strike="noStrike">
                <a:solidFill>
                  <a:srgbClr val="ffc000"/>
                </a:solidFill>
                <a:effectLst/>
                <a:uFillTx/>
                <a:latin typeface="Bodoni MT Black"/>
              </a:rPr>
              <a:t>：  </a:t>
            </a:r>
            <a:r>
              <a:rPr lang="en-US" sz="1600" b="0" u="none" strike="noStrike">
                <a:solidFill>
                  <a:srgbClr val="ffc000"/>
                </a:solidFill>
                <a:effectLst/>
                <a:uFillTx/>
                <a:latin typeface="Bodoni MT Black"/>
              </a:rPr>
              <a:t>IF value[i]&gt;=minimum</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6</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AND value[i]&lt;=maximum</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7</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THEN increment total.valid by 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         sum=sum+value[i];</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ffc000"/>
                </a:solidFill>
                <a:effectLst/>
                <a:uFillTx/>
                <a:latin typeface="Bodoni MT Black"/>
              </a:rPr>
              <a:t>8</a:t>
            </a:r>
            <a:r>
              <a:rPr lang="zh-CN" sz="1600" b="0" u="none" strike="noStrike">
                <a:solidFill>
                  <a:srgbClr val="ffc000"/>
                </a:solidFill>
                <a:effectLst/>
                <a:uFillTx/>
                <a:latin typeface="Bodoni MT Black"/>
              </a:rPr>
              <a:t>：    </a:t>
            </a:r>
            <a:r>
              <a:rPr lang="en-US" sz="1600" b="0" u="none" strike="noStrike">
                <a:solidFill>
                  <a:srgbClr val="ffc000"/>
                </a:solidFill>
                <a:effectLst/>
                <a:uFillTx/>
                <a:latin typeface="Bodoni MT Black"/>
              </a:rPr>
              <a:t>ENDIF</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ffc000"/>
                </a:solidFill>
                <a:effectLst/>
                <a:uFillTx/>
                <a:latin typeface="Bodoni MT Black"/>
              </a:rPr>
              <a:t>       increment i by 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ffc000"/>
                </a:solidFill>
                <a:effectLst/>
                <a:uFillTx/>
                <a:latin typeface="Bodoni MT Black"/>
              </a:rPr>
              <a:t>9</a:t>
            </a:r>
            <a:r>
              <a:rPr lang="zh-CN" sz="1600" b="0" u="none" strike="noStrike">
                <a:solidFill>
                  <a:srgbClr val="ffc000"/>
                </a:solidFill>
                <a:effectLst/>
                <a:uFillTx/>
                <a:latin typeface="Bodoni MT Black"/>
              </a:rPr>
              <a:t>：  </a:t>
            </a:r>
            <a:r>
              <a:rPr lang="en-US" sz="1600" b="0" u="none" strike="noStrike">
                <a:solidFill>
                  <a:srgbClr val="ffc000"/>
                </a:solidFill>
                <a:effectLst/>
                <a:uFillTx/>
                <a:latin typeface="Bodoni MT Black"/>
              </a:rPr>
              <a:t>ENDDO</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10</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IF total.valid&gt;0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11</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THEN average=sum/total.valid;</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12</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ELSE average=-999;</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13:  ENDIF</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    END average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6"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557" name="TextBox 7"/>
          <p:cNvSpPr/>
          <p:nvPr/>
        </p:nvSpPr>
        <p:spPr>
          <a:xfrm>
            <a:off x="154080" y="888480"/>
            <a:ext cx="8280000" cy="31698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1" u="none" strike="noStrike">
                <a:solidFill>
                  <a:srgbClr val="ff0000"/>
                </a:solidFill>
                <a:effectLst/>
                <a:uFillTx/>
                <a:latin typeface="Bodoni MT Black"/>
              </a:rPr>
              <a:t>④ 设计可强制执行基本集合中每条路径的测试用例</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应该选取测试数据使得在测试每条路径时都适当地设置好各个判定结点的条件。</a:t>
            </a:r>
            <a:endParaRPr lang="en-US" sz="2400" b="0" u="none" strike="noStrike">
              <a:solidFill>
                <a:srgbClr val="000000"/>
              </a:solidFill>
              <a:effectLst/>
              <a:uFillTx/>
              <a:latin typeface="Arial"/>
            </a:endParaRPr>
          </a:p>
          <a:p>
            <a:pPr marL="343080" indent="-343080">
              <a:lnSpc>
                <a:spcPct val="125000"/>
              </a:lnSpc>
              <a:tabLst>
                <a:tab algn="l" pos="0"/>
              </a:tabLst>
            </a:pPr>
            <a:r>
              <a:rPr lang="zh-CN" sz="2200" b="1" u="none" strike="noStrike">
                <a:solidFill>
                  <a:srgbClr val="7030a0"/>
                </a:solidFill>
                <a:effectLst/>
                <a:uFillTx/>
                <a:latin typeface="Bodoni MT Black"/>
                <a:ea typeface="宋体"/>
              </a:rPr>
              <a:t>路径</a:t>
            </a:r>
            <a:r>
              <a:rPr lang="en-US" sz="2200" b="1" u="none" strike="noStrike">
                <a:solidFill>
                  <a:srgbClr val="7030a0"/>
                </a:solidFill>
                <a:effectLst/>
                <a:uFillTx/>
                <a:latin typeface="Bodoni MT Black"/>
                <a:ea typeface="宋体"/>
              </a:rPr>
              <a:t>5</a:t>
            </a:r>
            <a:r>
              <a:rPr lang="zh-CN" sz="2200" b="0" u="none" strike="noStrike">
                <a:solidFill>
                  <a:srgbClr val="7030a0"/>
                </a:solidFill>
                <a:effectLst/>
                <a:uFillTx/>
                <a:latin typeface="Bodoni MT Black"/>
                <a:ea typeface="宋体"/>
              </a:rPr>
              <a:t>的测试用例：</a:t>
            </a:r>
            <a:endParaRPr lang="en-US" sz="2200" b="0" u="none" strike="noStrike">
              <a:solidFill>
                <a:srgbClr val="000000"/>
              </a:solidFill>
              <a:effectLst/>
              <a:uFillTx/>
              <a:latin typeface="Arial"/>
            </a:endParaRPr>
          </a:p>
          <a:p>
            <a:pPr marL="343080" indent="-343080">
              <a:lnSpc>
                <a:spcPct val="125000"/>
              </a:lnSpc>
              <a:tabLst>
                <a:tab algn="l" pos="0"/>
              </a:tabLst>
            </a:pPr>
            <a:r>
              <a:rPr lang="en-US" sz="2200" b="0" u="none" strike="noStrike">
                <a:solidFill>
                  <a:schemeClr val="dk1"/>
                </a:solidFill>
                <a:effectLst/>
                <a:uFillTx/>
                <a:latin typeface="Bodoni MT Black"/>
                <a:ea typeface="宋体"/>
              </a:rPr>
              <a:t>      value[k]=</a:t>
            </a:r>
            <a:r>
              <a:rPr lang="zh-CN" sz="2200" b="0" u="none" strike="noStrike">
                <a:solidFill>
                  <a:schemeClr val="dk1"/>
                </a:solidFill>
                <a:effectLst/>
                <a:uFillTx/>
                <a:latin typeface="Bodoni MT Black"/>
                <a:ea typeface="宋体"/>
              </a:rPr>
              <a:t>有效输入值，其中</a:t>
            </a:r>
            <a:r>
              <a:rPr lang="en-US" sz="2200" b="0" u="none" strike="noStrike">
                <a:solidFill>
                  <a:schemeClr val="dk1"/>
                </a:solidFill>
                <a:effectLst/>
                <a:uFillTx/>
                <a:latin typeface="Bodoni MT Black"/>
                <a:ea typeface="宋体"/>
              </a:rPr>
              <a:t>k&lt;i</a:t>
            </a:r>
            <a:endParaRPr lang="en-US" sz="2200" b="0" u="none" strike="noStrike">
              <a:solidFill>
                <a:srgbClr val="000000"/>
              </a:solidFill>
              <a:effectLst/>
              <a:uFillTx/>
              <a:latin typeface="Arial"/>
            </a:endParaRPr>
          </a:p>
          <a:p>
            <a:pPr marL="343080" indent="-343080">
              <a:lnSpc>
                <a:spcPct val="125000"/>
              </a:lnSpc>
              <a:tabLst>
                <a:tab algn="l" pos="0"/>
              </a:tabLst>
            </a:pPr>
            <a:r>
              <a:rPr lang="en-US" sz="2200" b="0" u="none" strike="noStrike">
                <a:solidFill>
                  <a:schemeClr val="dk1"/>
                </a:solidFill>
                <a:effectLst/>
                <a:uFillTx/>
                <a:latin typeface="Bodoni MT Black"/>
                <a:ea typeface="宋体"/>
              </a:rPr>
              <a:t>      value[i]&gt;maximum</a:t>
            </a:r>
            <a:r>
              <a:rPr lang="zh-CN" sz="2200" b="0" u="none" strike="noStrike">
                <a:solidFill>
                  <a:schemeClr val="dk1"/>
                </a:solidFill>
                <a:effectLst/>
                <a:uFillTx/>
                <a:latin typeface="Bodoni MT Black"/>
                <a:ea typeface="宋体"/>
              </a:rPr>
              <a:t>，其中</a:t>
            </a:r>
            <a:r>
              <a:rPr lang="en-US" sz="2200" b="0" u="none" strike="noStrike">
                <a:solidFill>
                  <a:schemeClr val="dk1"/>
                </a:solidFill>
                <a:effectLst/>
                <a:uFillTx/>
                <a:latin typeface="Bodoni MT Black"/>
                <a:ea typeface="宋体"/>
              </a:rPr>
              <a:t>i&lt;100</a:t>
            </a:r>
            <a:endParaRPr lang="en-US" sz="2200" b="0" u="none" strike="noStrike">
              <a:solidFill>
                <a:srgbClr val="000000"/>
              </a:solidFill>
              <a:effectLst/>
              <a:uFillTx/>
              <a:latin typeface="Arial"/>
            </a:endParaRPr>
          </a:p>
          <a:p>
            <a:pPr marL="343080" indent="-343080">
              <a:lnSpc>
                <a:spcPct val="125000"/>
              </a:lnSpc>
              <a:tabLst>
                <a:tab algn="l" pos="0"/>
              </a:tabLst>
            </a:pPr>
            <a:r>
              <a:rPr lang="zh-CN" sz="2200" b="0" u="none" strike="noStrike">
                <a:solidFill>
                  <a:schemeClr val="dk1"/>
                </a:solidFill>
                <a:effectLst/>
                <a:uFillTx/>
                <a:latin typeface="Bodoni MT Black"/>
                <a:ea typeface="宋体"/>
              </a:rPr>
              <a:t>预期结果：</a:t>
            </a:r>
            <a:r>
              <a:rPr lang="zh-CN" sz="2200" b="1" u="none" strike="noStrike">
                <a:solidFill>
                  <a:srgbClr val="7030a0"/>
                </a:solidFill>
                <a:effectLst/>
                <a:uFillTx/>
                <a:latin typeface="Bodoni MT Black"/>
                <a:ea typeface="宋体"/>
              </a:rPr>
              <a:t>基于</a:t>
            </a:r>
            <a:r>
              <a:rPr lang="en-US" sz="2200" b="1" u="none" strike="noStrike">
                <a:solidFill>
                  <a:srgbClr val="7030a0"/>
                </a:solidFill>
                <a:effectLst/>
                <a:uFillTx/>
                <a:latin typeface="Bodoni MT Black"/>
                <a:ea typeface="宋体"/>
              </a:rPr>
              <a:t>k</a:t>
            </a:r>
            <a:r>
              <a:rPr lang="zh-CN" sz="2200" b="1" u="none" strike="noStrike">
                <a:solidFill>
                  <a:srgbClr val="7030a0"/>
                </a:solidFill>
                <a:effectLst/>
                <a:uFillTx/>
                <a:latin typeface="Bodoni MT Black"/>
                <a:ea typeface="宋体"/>
              </a:rPr>
              <a:t>的正确平均值和总数</a:t>
            </a:r>
            <a:endParaRPr lang="en-US" sz="2200" b="0" u="none" strike="noStrike">
              <a:solidFill>
                <a:srgbClr val="000000"/>
              </a:solidFill>
              <a:effectLst/>
              <a:uFillTx/>
              <a:latin typeface="Arial"/>
            </a:endParaRPr>
          </a:p>
        </p:txBody>
      </p:sp>
      <p:sp>
        <p:nvSpPr>
          <p:cNvPr id="558"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559"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7.6.2 </a:t>
            </a:r>
            <a:r>
              <a:rPr lang="zh-CN" sz="2400" b="0" u="none" strike="noStrike">
                <a:solidFill>
                  <a:srgbClr val="d9d9d9"/>
                </a:solidFill>
                <a:effectLst/>
                <a:uFillTx/>
                <a:latin typeface="Bodoni MT Black"/>
              </a:rPr>
              <a:t>控制结构测试</a:t>
            </a:r>
            <a:endParaRPr lang="en-US" sz="2400" b="0" u="none" strike="noStrike">
              <a:solidFill>
                <a:srgbClr val="000000"/>
              </a:solidFill>
              <a:effectLst/>
              <a:uFillTx/>
              <a:latin typeface="Arial"/>
            </a:endParaRPr>
          </a:p>
        </p:txBody>
      </p:sp>
      <p:sp>
        <p:nvSpPr>
          <p:cNvPr id="560" name="TextBox 7"/>
          <p:cNvSpPr/>
          <p:nvPr/>
        </p:nvSpPr>
        <p:spPr>
          <a:xfrm>
            <a:off x="5076000" y="1811880"/>
            <a:ext cx="4103280" cy="4478040"/>
          </a:xfrm>
          <a:prstGeom prst="rect">
            <a:avLst/>
          </a:prstGeom>
          <a:noFill/>
          <a:ln w="0">
            <a:noFill/>
          </a:ln>
        </p:spPr>
        <p:style>
          <a:lnRef idx="0"/>
          <a:fillRef idx="0"/>
          <a:effectRef idx="0"/>
          <a:fontRef idx="minor"/>
        </p:style>
        <p:txBody>
          <a:bodyPr lIns="90000" rIns="90000" tIns="45000" bIns="45000" anchor="t">
            <a:spAutoFit/>
          </a:bodyPr>
          <a:p>
            <a:pPr>
              <a:lnSpc>
                <a:spcPts val="1899"/>
              </a:lnSpc>
              <a:tabLst>
                <a:tab algn="l" pos="0"/>
              </a:tabLst>
            </a:pPr>
            <a:r>
              <a:rPr lang="en-US" sz="1600" b="0" u="none" strike="noStrike">
                <a:solidFill>
                  <a:srgbClr val="7030a0"/>
                </a:solidFill>
                <a:effectLst/>
                <a:uFillTx/>
                <a:latin typeface="Bodoni MT Black"/>
              </a:rPr>
              <a:t>1</a:t>
            </a:r>
            <a:r>
              <a:rPr lang="zh-CN" sz="1600" b="0" u="none" strike="noStrike">
                <a:solidFill>
                  <a:srgbClr val="7030a0"/>
                </a:solidFill>
                <a:effectLst/>
                <a:uFillTx/>
                <a:latin typeface="Bodoni MT Black"/>
              </a:rPr>
              <a:t>：  </a:t>
            </a:r>
            <a:r>
              <a:rPr lang="en-US" sz="1600" b="0" u="none" strike="noStrike">
                <a:solidFill>
                  <a:srgbClr val="7030a0"/>
                </a:solidFill>
                <a:effectLst/>
                <a:uFillTx/>
                <a:latin typeface="Bodoni MT Black"/>
              </a:rPr>
              <a:t>i=1;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7030a0"/>
                </a:solidFill>
                <a:effectLst/>
                <a:uFillTx/>
                <a:latin typeface="Bodoni MT Black"/>
              </a:rPr>
              <a:t>     total.input=total.valid=0;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7030a0"/>
                </a:solidFill>
                <a:effectLst/>
                <a:uFillTx/>
                <a:latin typeface="Bodoni MT Black"/>
              </a:rPr>
              <a:t>     sum=0;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7030a0"/>
                </a:solidFill>
                <a:effectLst/>
                <a:uFillTx/>
                <a:latin typeface="Bodoni MT Black"/>
              </a:rPr>
              <a:t>2</a:t>
            </a:r>
            <a:r>
              <a:rPr lang="zh-CN" sz="1600" b="0" u="none" strike="noStrike">
                <a:solidFill>
                  <a:srgbClr val="7030a0"/>
                </a:solidFill>
                <a:effectLst/>
                <a:uFillTx/>
                <a:latin typeface="Bodoni MT Black"/>
              </a:rPr>
              <a:t>：  </a:t>
            </a:r>
            <a:r>
              <a:rPr lang="en-US" sz="1600" b="0" u="none" strike="noStrike">
                <a:solidFill>
                  <a:srgbClr val="7030a0"/>
                </a:solidFill>
                <a:effectLst/>
                <a:uFillTx/>
                <a:latin typeface="Bodoni MT Black"/>
              </a:rPr>
              <a:t>DO WHILE value[i] &lt;&gt; -999</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7030a0"/>
                </a:solidFill>
                <a:effectLst/>
                <a:uFillTx/>
                <a:latin typeface="Bodoni MT Black"/>
              </a:rPr>
              <a:t>3</a:t>
            </a:r>
            <a:r>
              <a:rPr lang="zh-CN" sz="1600" b="0" u="none" strike="noStrike">
                <a:solidFill>
                  <a:srgbClr val="7030a0"/>
                </a:solidFill>
                <a:effectLst/>
                <a:uFillTx/>
                <a:latin typeface="Bodoni MT Black"/>
              </a:rPr>
              <a:t>：     </a:t>
            </a:r>
            <a:r>
              <a:rPr lang="en-US" sz="1600" b="0" u="none" strike="noStrike">
                <a:solidFill>
                  <a:srgbClr val="7030a0"/>
                </a:solidFill>
                <a:effectLst/>
                <a:uFillTx/>
                <a:latin typeface="Bodoni MT Black"/>
              </a:rPr>
              <a:t>AND total.input&lt;100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7030a0"/>
                </a:solidFill>
                <a:effectLst/>
                <a:uFillTx/>
                <a:latin typeface="Bodoni MT Black"/>
              </a:rPr>
              <a:t>4</a:t>
            </a:r>
            <a:r>
              <a:rPr lang="zh-CN" sz="1600" b="0" u="none" strike="noStrike">
                <a:solidFill>
                  <a:srgbClr val="7030a0"/>
                </a:solidFill>
                <a:effectLst/>
                <a:uFillTx/>
                <a:latin typeface="Bodoni MT Black"/>
              </a:rPr>
              <a:t>：  </a:t>
            </a:r>
            <a:r>
              <a:rPr lang="en-US" sz="1600" b="0" u="none" strike="noStrike">
                <a:solidFill>
                  <a:srgbClr val="7030a0"/>
                </a:solidFill>
                <a:effectLst/>
                <a:uFillTx/>
                <a:latin typeface="Bodoni MT Black"/>
              </a:rPr>
              <a:t>increment total.input by1;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7030a0"/>
                </a:solidFill>
                <a:effectLst/>
                <a:uFillTx/>
                <a:latin typeface="Bodoni MT Black"/>
              </a:rPr>
              <a:t>5</a:t>
            </a:r>
            <a:r>
              <a:rPr lang="zh-CN" sz="1600" b="0" u="none" strike="noStrike">
                <a:solidFill>
                  <a:srgbClr val="7030a0"/>
                </a:solidFill>
                <a:effectLst/>
                <a:uFillTx/>
                <a:latin typeface="Bodoni MT Black"/>
              </a:rPr>
              <a:t>：  </a:t>
            </a:r>
            <a:r>
              <a:rPr lang="en-US" sz="1600" b="0" u="none" strike="noStrike">
                <a:solidFill>
                  <a:srgbClr val="7030a0"/>
                </a:solidFill>
                <a:effectLst/>
                <a:uFillTx/>
                <a:latin typeface="Bodoni MT Black"/>
              </a:rPr>
              <a:t>IF value[i]&gt;=minimum</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7030a0"/>
                </a:solidFill>
                <a:effectLst/>
                <a:uFillTx/>
                <a:latin typeface="Bodoni MT Black"/>
              </a:rPr>
              <a:t>6</a:t>
            </a:r>
            <a:r>
              <a:rPr lang="zh-CN" sz="1600" b="0" u="none" strike="noStrike">
                <a:solidFill>
                  <a:srgbClr val="7030a0"/>
                </a:solidFill>
                <a:effectLst/>
                <a:uFillTx/>
                <a:latin typeface="Bodoni MT Black"/>
              </a:rPr>
              <a:t>：     </a:t>
            </a:r>
            <a:r>
              <a:rPr lang="en-US" sz="1600" b="0" u="none" strike="noStrike">
                <a:solidFill>
                  <a:srgbClr val="7030a0"/>
                </a:solidFill>
                <a:effectLst/>
                <a:uFillTx/>
                <a:latin typeface="Bodoni MT Black"/>
              </a:rPr>
              <a:t>AND value[i]&lt;=maximum</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7</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THEN increment total.valid by 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         sum=sum+value[i];</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7030a0"/>
                </a:solidFill>
                <a:effectLst/>
                <a:uFillTx/>
                <a:latin typeface="Bodoni MT Black"/>
              </a:rPr>
              <a:t>8</a:t>
            </a:r>
            <a:r>
              <a:rPr lang="zh-CN" sz="1600" b="0" u="none" strike="noStrike">
                <a:solidFill>
                  <a:srgbClr val="7030a0"/>
                </a:solidFill>
                <a:effectLst/>
                <a:uFillTx/>
                <a:latin typeface="Bodoni MT Black"/>
              </a:rPr>
              <a:t>：    </a:t>
            </a:r>
            <a:r>
              <a:rPr lang="en-US" sz="1600" b="0" u="none" strike="noStrike">
                <a:solidFill>
                  <a:srgbClr val="7030a0"/>
                </a:solidFill>
                <a:effectLst/>
                <a:uFillTx/>
                <a:latin typeface="Bodoni MT Black"/>
              </a:rPr>
              <a:t>ENDIF</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7030a0"/>
                </a:solidFill>
                <a:effectLst/>
                <a:uFillTx/>
                <a:latin typeface="Bodoni MT Black"/>
              </a:rPr>
              <a:t>       increment i by 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7030a0"/>
                </a:solidFill>
                <a:effectLst/>
                <a:uFillTx/>
                <a:latin typeface="Bodoni MT Black"/>
              </a:rPr>
              <a:t>9</a:t>
            </a:r>
            <a:r>
              <a:rPr lang="zh-CN" sz="1600" b="0" u="none" strike="noStrike">
                <a:solidFill>
                  <a:srgbClr val="7030a0"/>
                </a:solidFill>
                <a:effectLst/>
                <a:uFillTx/>
                <a:latin typeface="Bodoni MT Black"/>
              </a:rPr>
              <a:t>：  </a:t>
            </a:r>
            <a:r>
              <a:rPr lang="en-US" sz="1600" b="0" u="none" strike="noStrike">
                <a:solidFill>
                  <a:srgbClr val="7030a0"/>
                </a:solidFill>
                <a:effectLst/>
                <a:uFillTx/>
                <a:latin typeface="Bodoni MT Black"/>
              </a:rPr>
              <a:t>ENDDO</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10</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IF total.valid&gt;0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11</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THEN average=sum/total.valid;</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12</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ELSE average=-999;</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13:  ENDIF</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    END average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1"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562" name="TextBox 7"/>
          <p:cNvSpPr/>
          <p:nvPr/>
        </p:nvSpPr>
        <p:spPr>
          <a:xfrm>
            <a:off x="251640" y="980640"/>
            <a:ext cx="8280000" cy="274644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1" u="none" strike="noStrike">
                <a:solidFill>
                  <a:srgbClr val="ff0000"/>
                </a:solidFill>
                <a:effectLst/>
                <a:uFillTx/>
                <a:latin typeface="Bodoni MT Black"/>
              </a:rPr>
              <a:t>④ 设计可强制执行基本集合中每条路径的测试用例</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应该选取测试数据使得在测试每条路径时都适当地设置好各个判定结点的条件。</a:t>
            </a:r>
            <a:endParaRPr lang="en-US" sz="2400" b="0" u="none" strike="noStrike">
              <a:solidFill>
                <a:srgbClr val="000000"/>
              </a:solidFill>
              <a:effectLst/>
              <a:uFillTx/>
              <a:latin typeface="Arial"/>
            </a:endParaRPr>
          </a:p>
          <a:p>
            <a:pPr>
              <a:lnSpc>
                <a:spcPct val="125000"/>
              </a:lnSpc>
              <a:tabLst>
                <a:tab algn="l" pos="0"/>
              </a:tabLst>
            </a:pPr>
            <a:r>
              <a:rPr lang="zh-CN" sz="2200" b="1" u="none" strike="noStrike">
                <a:solidFill>
                  <a:srgbClr val="c00000"/>
                </a:solidFill>
                <a:effectLst/>
                <a:uFillTx/>
                <a:latin typeface="Bodoni MT Black"/>
                <a:ea typeface="宋体"/>
              </a:rPr>
              <a:t>路径</a:t>
            </a:r>
            <a:r>
              <a:rPr lang="en-US" sz="2200" b="1" u="none" strike="noStrike">
                <a:solidFill>
                  <a:srgbClr val="c00000"/>
                </a:solidFill>
                <a:effectLst/>
                <a:uFillTx/>
                <a:latin typeface="Bodoni MT Black"/>
                <a:ea typeface="宋体"/>
              </a:rPr>
              <a:t>6</a:t>
            </a:r>
            <a:r>
              <a:rPr lang="zh-CN" sz="2200" b="0" u="none" strike="noStrike">
                <a:solidFill>
                  <a:srgbClr val="c00000"/>
                </a:solidFill>
                <a:effectLst/>
                <a:uFillTx/>
                <a:latin typeface="Bodoni MT Black"/>
                <a:ea typeface="宋体"/>
              </a:rPr>
              <a:t>的测试用例：</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ea typeface="宋体"/>
              </a:rPr>
              <a:t>      value[i]=</a:t>
            </a:r>
            <a:r>
              <a:rPr lang="zh-CN" sz="2200" b="0" u="none" strike="noStrike">
                <a:solidFill>
                  <a:schemeClr val="dk1"/>
                </a:solidFill>
                <a:effectLst/>
                <a:uFillTx/>
                <a:latin typeface="Bodoni MT Black"/>
                <a:ea typeface="宋体"/>
              </a:rPr>
              <a:t>有效输入值，其中</a:t>
            </a:r>
            <a:r>
              <a:rPr lang="en-US" sz="2200" b="0" u="none" strike="noStrike">
                <a:solidFill>
                  <a:schemeClr val="dk1"/>
                </a:solidFill>
                <a:effectLst/>
                <a:uFillTx/>
                <a:latin typeface="Bodoni MT Black"/>
                <a:ea typeface="宋体"/>
              </a:rPr>
              <a:t>i&lt;100</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ea typeface="宋体"/>
              </a:rPr>
              <a:t>      预期结果：</a:t>
            </a:r>
            <a:r>
              <a:rPr lang="zh-CN" sz="2200" b="1" u="none" strike="noStrike">
                <a:solidFill>
                  <a:srgbClr val="c00000"/>
                </a:solidFill>
                <a:effectLst/>
                <a:uFillTx/>
                <a:latin typeface="Bodoni MT Black"/>
                <a:ea typeface="宋体"/>
              </a:rPr>
              <a:t>正确的平均值和总数</a:t>
            </a:r>
            <a:endParaRPr lang="en-US" sz="2200" b="0" u="none" strike="noStrike">
              <a:solidFill>
                <a:srgbClr val="000000"/>
              </a:solidFill>
              <a:effectLst/>
              <a:uFillTx/>
              <a:latin typeface="Arial"/>
            </a:endParaRPr>
          </a:p>
        </p:txBody>
      </p:sp>
      <p:sp>
        <p:nvSpPr>
          <p:cNvPr id="563"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564"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7.6.2 </a:t>
            </a:r>
            <a:r>
              <a:rPr lang="zh-CN" sz="2400" b="0" u="none" strike="noStrike">
                <a:solidFill>
                  <a:srgbClr val="d9d9d9"/>
                </a:solidFill>
                <a:effectLst/>
                <a:uFillTx/>
                <a:latin typeface="Bodoni MT Black"/>
              </a:rPr>
              <a:t>控制结构测试</a:t>
            </a:r>
            <a:endParaRPr lang="en-US" sz="2400" b="0" u="none" strike="noStrike">
              <a:solidFill>
                <a:srgbClr val="000000"/>
              </a:solidFill>
              <a:effectLst/>
              <a:uFillTx/>
              <a:latin typeface="Arial"/>
            </a:endParaRPr>
          </a:p>
        </p:txBody>
      </p:sp>
      <p:sp>
        <p:nvSpPr>
          <p:cNvPr id="565" name="TextBox 7"/>
          <p:cNvSpPr/>
          <p:nvPr/>
        </p:nvSpPr>
        <p:spPr>
          <a:xfrm>
            <a:off x="5148000" y="1812960"/>
            <a:ext cx="4103280" cy="4478040"/>
          </a:xfrm>
          <a:prstGeom prst="rect">
            <a:avLst/>
          </a:prstGeom>
          <a:noFill/>
          <a:ln w="0">
            <a:noFill/>
          </a:ln>
        </p:spPr>
        <p:style>
          <a:lnRef idx="0"/>
          <a:fillRef idx="0"/>
          <a:effectRef idx="0"/>
          <a:fontRef idx="minor"/>
        </p:style>
        <p:txBody>
          <a:bodyPr lIns="90000" rIns="90000" tIns="45000" bIns="45000" anchor="t">
            <a:spAutoFit/>
          </a:bodyPr>
          <a:p>
            <a:pPr>
              <a:lnSpc>
                <a:spcPts val="1899"/>
              </a:lnSpc>
              <a:tabLst>
                <a:tab algn="l" pos="0"/>
              </a:tabLst>
            </a:pPr>
            <a:r>
              <a:rPr lang="en-US" sz="1600" b="0" u="none" strike="noStrike">
                <a:solidFill>
                  <a:srgbClr val="c00000"/>
                </a:solidFill>
                <a:effectLst/>
                <a:uFillTx/>
                <a:latin typeface="Bodoni MT Black"/>
              </a:rPr>
              <a:t>1</a:t>
            </a:r>
            <a:r>
              <a:rPr lang="zh-CN" sz="1600" b="0" u="none" strike="noStrike">
                <a:solidFill>
                  <a:srgbClr val="c00000"/>
                </a:solidFill>
                <a:effectLst/>
                <a:uFillTx/>
                <a:latin typeface="Bodoni MT Black"/>
              </a:rPr>
              <a:t>：  </a:t>
            </a:r>
            <a:r>
              <a:rPr lang="en-US" sz="1600" b="0" u="none" strike="noStrike">
                <a:solidFill>
                  <a:srgbClr val="c00000"/>
                </a:solidFill>
                <a:effectLst/>
                <a:uFillTx/>
                <a:latin typeface="Bodoni MT Black"/>
              </a:rPr>
              <a:t>i=1;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c00000"/>
                </a:solidFill>
                <a:effectLst/>
                <a:uFillTx/>
                <a:latin typeface="Bodoni MT Black"/>
              </a:rPr>
              <a:t>     total.input=total.valid=0;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c00000"/>
                </a:solidFill>
                <a:effectLst/>
                <a:uFillTx/>
                <a:latin typeface="Bodoni MT Black"/>
              </a:rPr>
              <a:t>     sum=0;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c00000"/>
                </a:solidFill>
                <a:effectLst/>
                <a:uFillTx/>
                <a:latin typeface="Bodoni MT Black"/>
              </a:rPr>
              <a:t>2</a:t>
            </a:r>
            <a:r>
              <a:rPr lang="zh-CN" sz="1600" b="0" u="none" strike="noStrike">
                <a:solidFill>
                  <a:srgbClr val="c00000"/>
                </a:solidFill>
                <a:effectLst/>
                <a:uFillTx/>
                <a:latin typeface="Bodoni MT Black"/>
              </a:rPr>
              <a:t>：  </a:t>
            </a:r>
            <a:r>
              <a:rPr lang="en-US" sz="1600" b="0" u="none" strike="noStrike">
                <a:solidFill>
                  <a:srgbClr val="c00000"/>
                </a:solidFill>
                <a:effectLst/>
                <a:uFillTx/>
                <a:latin typeface="Bodoni MT Black"/>
              </a:rPr>
              <a:t>DO WHILE value[i] &lt;&gt; -999</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c00000"/>
                </a:solidFill>
                <a:effectLst/>
                <a:uFillTx/>
                <a:latin typeface="Bodoni MT Black"/>
              </a:rPr>
              <a:t>3</a:t>
            </a:r>
            <a:r>
              <a:rPr lang="zh-CN" sz="1600" b="0" u="none" strike="noStrike">
                <a:solidFill>
                  <a:srgbClr val="c00000"/>
                </a:solidFill>
                <a:effectLst/>
                <a:uFillTx/>
                <a:latin typeface="Bodoni MT Black"/>
              </a:rPr>
              <a:t>：     </a:t>
            </a:r>
            <a:r>
              <a:rPr lang="en-US" sz="1600" b="0" u="none" strike="noStrike">
                <a:solidFill>
                  <a:srgbClr val="c00000"/>
                </a:solidFill>
                <a:effectLst/>
                <a:uFillTx/>
                <a:latin typeface="Bodoni MT Black"/>
              </a:rPr>
              <a:t>AND total.input&lt;100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c00000"/>
                </a:solidFill>
                <a:effectLst/>
                <a:uFillTx/>
                <a:latin typeface="Bodoni MT Black"/>
              </a:rPr>
              <a:t>4</a:t>
            </a:r>
            <a:r>
              <a:rPr lang="zh-CN" sz="1600" b="0" u="none" strike="noStrike">
                <a:solidFill>
                  <a:srgbClr val="c00000"/>
                </a:solidFill>
                <a:effectLst/>
                <a:uFillTx/>
                <a:latin typeface="Bodoni MT Black"/>
              </a:rPr>
              <a:t>：  </a:t>
            </a:r>
            <a:r>
              <a:rPr lang="en-US" sz="1600" b="0" u="none" strike="noStrike">
                <a:solidFill>
                  <a:srgbClr val="c00000"/>
                </a:solidFill>
                <a:effectLst/>
                <a:uFillTx/>
                <a:latin typeface="Bodoni MT Black"/>
              </a:rPr>
              <a:t>increment total.input by1;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c00000"/>
                </a:solidFill>
                <a:effectLst/>
                <a:uFillTx/>
                <a:latin typeface="Bodoni MT Black"/>
              </a:rPr>
              <a:t>5</a:t>
            </a:r>
            <a:r>
              <a:rPr lang="zh-CN" sz="1600" b="0" u="none" strike="noStrike">
                <a:solidFill>
                  <a:srgbClr val="c00000"/>
                </a:solidFill>
                <a:effectLst/>
                <a:uFillTx/>
                <a:latin typeface="Bodoni MT Black"/>
              </a:rPr>
              <a:t>：  </a:t>
            </a:r>
            <a:r>
              <a:rPr lang="en-US" sz="1600" b="0" u="none" strike="noStrike">
                <a:solidFill>
                  <a:srgbClr val="c00000"/>
                </a:solidFill>
                <a:effectLst/>
                <a:uFillTx/>
                <a:latin typeface="Bodoni MT Black"/>
              </a:rPr>
              <a:t>IF value[i]&gt;=minimum</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c00000"/>
                </a:solidFill>
                <a:effectLst/>
                <a:uFillTx/>
                <a:latin typeface="Bodoni MT Black"/>
              </a:rPr>
              <a:t>6</a:t>
            </a:r>
            <a:r>
              <a:rPr lang="zh-CN" sz="1600" b="0" u="none" strike="noStrike">
                <a:solidFill>
                  <a:srgbClr val="c00000"/>
                </a:solidFill>
                <a:effectLst/>
                <a:uFillTx/>
                <a:latin typeface="Bodoni MT Black"/>
              </a:rPr>
              <a:t>：     </a:t>
            </a:r>
            <a:r>
              <a:rPr lang="en-US" sz="1600" b="0" u="none" strike="noStrike">
                <a:solidFill>
                  <a:srgbClr val="c00000"/>
                </a:solidFill>
                <a:effectLst/>
                <a:uFillTx/>
                <a:latin typeface="Bodoni MT Black"/>
              </a:rPr>
              <a:t>AND value[i]&lt;=maximum</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c00000"/>
                </a:solidFill>
                <a:effectLst/>
                <a:uFillTx/>
                <a:latin typeface="Bodoni MT Black"/>
              </a:rPr>
              <a:t>7</a:t>
            </a:r>
            <a:r>
              <a:rPr lang="zh-CN" sz="1600" b="0" u="none" strike="noStrike">
                <a:solidFill>
                  <a:srgbClr val="c00000"/>
                </a:solidFill>
                <a:effectLst/>
                <a:uFillTx/>
                <a:latin typeface="Bodoni MT Black"/>
              </a:rPr>
              <a:t>：  </a:t>
            </a:r>
            <a:r>
              <a:rPr lang="en-US" sz="1600" b="0" u="none" strike="noStrike">
                <a:solidFill>
                  <a:srgbClr val="c00000"/>
                </a:solidFill>
                <a:effectLst/>
                <a:uFillTx/>
                <a:latin typeface="Bodoni MT Black"/>
              </a:rPr>
              <a:t>THEN increment total.valid by 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c00000"/>
                </a:solidFill>
                <a:effectLst/>
                <a:uFillTx/>
                <a:latin typeface="Bodoni MT Black"/>
              </a:rPr>
              <a:t>         sum=sum+value[i];</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c00000"/>
                </a:solidFill>
                <a:effectLst/>
                <a:uFillTx/>
                <a:latin typeface="Bodoni MT Black"/>
              </a:rPr>
              <a:t>8</a:t>
            </a:r>
            <a:r>
              <a:rPr lang="zh-CN" sz="1600" b="0" u="none" strike="noStrike">
                <a:solidFill>
                  <a:srgbClr val="c00000"/>
                </a:solidFill>
                <a:effectLst/>
                <a:uFillTx/>
                <a:latin typeface="Bodoni MT Black"/>
              </a:rPr>
              <a:t>：    </a:t>
            </a:r>
            <a:r>
              <a:rPr lang="en-US" sz="1600" b="0" u="none" strike="noStrike">
                <a:solidFill>
                  <a:srgbClr val="c00000"/>
                </a:solidFill>
                <a:effectLst/>
                <a:uFillTx/>
                <a:latin typeface="Bodoni MT Black"/>
              </a:rPr>
              <a:t>ENDIF</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c00000"/>
                </a:solidFill>
                <a:effectLst/>
                <a:uFillTx/>
                <a:latin typeface="Bodoni MT Black"/>
              </a:rPr>
              <a:t>       increment i by 1;</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rgbClr val="c00000"/>
                </a:solidFill>
                <a:effectLst/>
                <a:uFillTx/>
                <a:latin typeface="Bodoni MT Black"/>
              </a:rPr>
              <a:t>9</a:t>
            </a:r>
            <a:r>
              <a:rPr lang="zh-CN" sz="1600" b="0" u="none" strike="noStrike">
                <a:solidFill>
                  <a:srgbClr val="c00000"/>
                </a:solidFill>
                <a:effectLst/>
                <a:uFillTx/>
                <a:latin typeface="Bodoni MT Black"/>
              </a:rPr>
              <a:t>：  </a:t>
            </a:r>
            <a:r>
              <a:rPr lang="en-US" sz="1600" b="0" u="none" strike="noStrike">
                <a:solidFill>
                  <a:srgbClr val="c00000"/>
                </a:solidFill>
                <a:effectLst/>
                <a:uFillTx/>
                <a:latin typeface="Bodoni MT Black"/>
              </a:rPr>
              <a:t>ENDDO</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10</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IF total.valid&gt;0</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11</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THEN average=sum/total.valid;</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12</a:t>
            </a:r>
            <a:r>
              <a:rPr lang="zh-CN" sz="1600" b="0" u="none" strike="noStrike">
                <a:solidFill>
                  <a:schemeClr val="dk1"/>
                </a:solidFill>
                <a:effectLst/>
                <a:uFillTx/>
                <a:latin typeface="Bodoni MT Black"/>
              </a:rPr>
              <a:t>： </a:t>
            </a:r>
            <a:r>
              <a:rPr lang="en-US" sz="1600" b="0" u="none" strike="noStrike">
                <a:solidFill>
                  <a:schemeClr val="dk1"/>
                </a:solidFill>
                <a:effectLst/>
                <a:uFillTx/>
                <a:latin typeface="Bodoni MT Black"/>
              </a:rPr>
              <a:t>ELSE average=-999;</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13:  ENDIF</a:t>
            </a:r>
            <a:endParaRPr lang="en-US" sz="1600" b="0" u="none" strike="noStrike">
              <a:solidFill>
                <a:srgbClr val="000000"/>
              </a:solidFill>
              <a:effectLst/>
              <a:uFillTx/>
              <a:latin typeface="Arial"/>
            </a:endParaRPr>
          </a:p>
          <a:p>
            <a:pPr>
              <a:lnSpc>
                <a:spcPts val="1899"/>
              </a:lnSpc>
              <a:tabLst>
                <a:tab algn="l" pos="0"/>
              </a:tabLst>
            </a:pPr>
            <a:r>
              <a:rPr lang="en-US" sz="1600" b="0" u="none" strike="noStrike">
                <a:solidFill>
                  <a:schemeClr val="dk1"/>
                </a:solidFill>
                <a:effectLst/>
                <a:uFillTx/>
                <a:latin typeface="Bodoni MT Black"/>
              </a:rPr>
              <a:t>    END average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6"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567" name="PlaceHolder 2"/>
          <p:cNvSpPr>
            <a:spLocks noGrp="1"/>
          </p:cNvSpPr>
          <p:nvPr>
            <p:ph/>
          </p:nvPr>
        </p:nvSpPr>
        <p:spPr>
          <a:xfrm>
            <a:off x="235440" y="1021680"/>
            <a:ext cx="8229240" cy="604440"/>
          </a:xfrm>
          <a:prstGeom prst="rect">
            <a:avLst/>
          </a:prstGeom>
          <a:noFill/>
          <a:ln w="9360">
            <a:noFill/>
          </a:ln>
        </p:spPr>
        <p:txBody>
          <a:bodyPr numCol="1" spcCol="0" lIns="91440" rIns="91440" tIns="45720" bIns="45720" anchor="t">
            <a:noAutofit/>
          </a:bodyPr>
          <a:p>
            <a:pPr indent="0">
              <a:lnSpc>
                <a:spcPct val="100000"/>
              </a:lnSpc>
              <a:spcBef>
                <a:spcPts val="479"/>
              </a:spcBef>
              <a:buNone/>
              <a:tabLst>
                <a:tab algn="l" pos="0"/>
              </a:tabLst>
            </a:pPr>
            <a:r>
              <a:rPr lang="en-US" sz="2400" b="1" u="none" strike="noStrike">
                <a:solidFill>
                  <a:schemeClr val="dk1"/>
                </a:solidFill>
                <a:effectLst/>
                <a:uFillTx/>
                <a:latin typeface="Bodoni MT Black"/>
              </a:rPr>
              <a:t>1. </a:t>
            </a:r>
            <a:r>
              <a:rPr lang="zh-CN" sz="2400" b="1" u="none" strike="noStrike">
                <a:solidFill>
                  <a:schemeClr val="dk1"/>
                </a:solidFill>
                <a:effectLst/>
                <a:uFillTx/>
                <a:latin typeface="Bodoni MT Black"/>
              </a:rPr>
              <a:t>基本路径测试</a:t>
            </a:r>
            <a:endParaRPr lang="es-ES" sz="2400" b="0" u="none" strike="noStrike">
              <a:solidFill>
                <a:schemeClr val="dk1"/>
              </a:solidFill>
              <a:effectLst/>
              <a:uFillTx/>
              <a:latin typeface="Calibri"/>
            </a:endParaRPr>
          </a:p>
        </p:txBody>
      </p:sp>
      <p:sp>
        <p:nvSpPr>
          <p:cNvPr id="568" name="TextBox 7"/>
          <p:cNvSpPr/>
          <p:nvPr/>
        </p:nvSpPr>
        <p:spPr>
          <a:xfrm>
            <a:off x="251640" y="1484280"/>
            <a:ext cx="8640720" cy="37854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0" u="none" strike="noStrike">
                <a:solidFill>
                  <a:schemeClr val="dk1"/>
                </a:solidFill>
                <a:effectLst/>
                <a:uFillTx/>
                <a:latin typeface="Bodoni MT Black"/>
              </a:rPr>
              <a:t>     </a:t>
            </a:r>
            <a:r>
              <a:rPr lang="zh-CN" sz="2400" b="0" u="none" strike="noStrike">
                <a:solidFill>
                  <a:schemeClr val="dk1"/>
                </a:solidFill>
                <a:effectLst/>
                <a:uFillTx/>
                <a:latin typeface="Bodoni MT Black"/>
              </a:rPr>
              <a:t>在测试过程中，执行每个测试用例并把实际输出结果与预期结果相比较。一旦执行完所有测试用例，就可以确保程序中所有语句都至少被执行了一次，而且每个条件都分别取过</a:t>
            </a:r>
            <a:r>
              <a:rPr lang="en-US" sz="2400" b="0" u="none" strike="noStrike">
                <a:solidFill>
                  <a:schemeClr val="dk1"/>
                </a:solidFill>
                <a:effectLst/>
                <a:uFillTx/>
                <a:latin typeface="Bodoni MT Black"/>
              </a:rPr>
              <a:t>true</a:t>
            </a:r>
            <a:r>
              <a:rPr lang="zh-CN" sz="2400" b="0" u="none" strike="noStrike">
                <a:solidFill>
                  <a:schemeClr val="dk1"/>
                </a:solidFill>
                <a:effectLst/>
                <a:uFillTx/>
                <a:latin typeface="Bodoni MT Black"/>
              </a:rPr>
              <a:t>值和</a:t>
            </a:r>
            <a:r>
              <a:rPr lang="en-US" sz="2400" b="0" u="none" strike="noStrike">
                <a:solidFill>
                  <a:schemeClr val="dk1"/>
                </a:solidFill>
                <a:effectLst/>
                <a:uFillTx/>
                <a:latin typeface="Bodoni MT Black"/>
              </a:rPr>
              <a:t>false</a:t>
            </a:r>
            <a:r>
              <a:rPr lang="zh-CN" sz="2400" b="0" u="none" strike="noStrike">
                <a:solidFill>
                  <a:schemeClr val="dk1"/>
                </a:solidFill>
                <a:effectLst/>
                <a:uFillTx/>
                <a:latin typeface="Bodoni MT Black"/>
              </a:rPr>
              <a:t>值。</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a:t>
            </a:r>
            <a:r>
              <a:rPr lang="zh-CN" sz="2400" b="1" u="none" strike="noStrike">
                <a:solidFill>
                  <a:srgbClr val="0070c0"/>
                </a:solidFill>
                <a:effectLst/>
                <a:uFillTx/>
                <a:latin typeface="Bodoni MT Black"/>
              </a:rPr>
              <a:t>注意，</a:t>
            </a:r>
            <a:r>
              <a:rPr lang="zh-CN" sz="2400" b="0" u="none" strike="noStrike">
                <a:solidFill>
                  <a:srgbClr val="0070c0"/>
                </a:solidFill>
                <a:effectLst/>
                <a:uFillTx/>
                <a:latin typeface="Bodoni MT Black"/>
              </a:rPr>
              <a:t>某些独立路径（如本例中的路径</a:t>
            </a:r>
            <a:r>
              <a:rPr lang="en-US" sz="2400" b="0" u="none" strike="noStrike">
                <a:solidFill>
                  <a:srgbClr val="0070c0"/>
                </a:solidFill>
                <a:effectLst/>
                <a:uFillTx/>
                <a:latin typeface="Bodoni MT Black"/>
              </a:rPr>
              <a:t>1</a:t>
            </a:r>
            <a:r>
              <a:rPr lang="zh-CN" sz="2400" b="0" u="none" strike="noStrike">
                <a:solidFill>
                  <a:srgbClr val="0070c0"/>
                </a:solidFill>
                <a:effectLst/>
                <a:uFillTx/>
                <a:latin typeface="Bodoni MT Black"/>
              </a:rPr>
              <a:t>和路径</a:t>
            </a:r>
            <a:r>
              <a:rPr lang="en-US" sz="2400" b="0" u="none" strike="noStrike">
                <a:solidFill>
                  <a:srgbClr val="0070c0"/>
                </a:solidFill>
                <a:effectLst/>
                <a:uFillTx/>
                <a:latin typeface="Bodoni MT Black"/>
              </a:rPr>
              <a:t>3</a:t>
            </a:r>
            <a:r>
              <a:rPr lang="zh-CN" sz="2400" b="0" u="none" strike="noStrike">
                <a:solidFill>
                  <a:srgbClr val="0070c0"/>
                </a:solidFill>
                <a:effectLst/>
                <a:uFillTx/>
                <a:latin typeface="Bodoni MT Black"/>
              </a:rPr>
              <a:t>）不能以独立的方式测试</a:t>
            </a:r>
            <a:r>
              <a:rPr lang="zh-CN" sz="2400" b="0" u="none" strike="noStrike">
                <a:solidFill>
                  <a:schemeClr val="dk1"/>
                </a:solidFill>
                <a:effectLst/>
                <a:uFillTx/>
                <a:latin typeface="Bodoni MT Black"/>
              </a:rPr>
              <a:t>，例如，为了执行本例中的路径</a:t>
            </a:r>
            <a:r>
              <a:rPr lang="en-US" sz="2400" b="0" u="none" strike="noStrike">
                <a:solidFill>
                  <a:schemeClr val="dk1"/>
                </a:solidFill>
                <a:effectLst/>
                <a:uFillTx/>
                <a:latin typeface="Bodoni MT Black"/>
              </a:rPr>
              <a:t>1</a:t>
            </a:r>
            <a:r>
              <a:rPr lang="zh-CN" sz="2400" b="0" u="none" strike="noStrike">
                <a:solidFill>
                  <a:schemeClr val="dk1"/>
                </a:solidFill>
                <a:effectLst/>
                <a:uFillTx/>
                <a:latin typeface="Bodoni MT Black"/>
              </a:rPr>
              <a:t>，需要满足条件</a:t>
            </a:r>
            <a:r>
              <a:rPr lang="en-US" sz="2400" b="0" u="none" strike="noStrike">
                <a:solidFill>
                  <a:schemeClr val="dk1"/>
                </a:solidFill>
                <a:effectLst/>
                <a:uFillTx/>
                <a:latin typeface="Bodoni MT Black"/>
              </a:rPr>
              <a:t>total.valid&gt;0</a:t>
            </a:r>
            <a:r>
              <a:rPr lang="zh-CN" sz="2400" b="0" u="none" strike="noStrike">
                <a:solidFill>
                  <a:schemeClr val="dk1"/>
                </a:solidFill>
                <a:effectLst/>
                <a:uFillTx/>
                <a:latin typeface="Bodoni MT Black"/>
              </a:rPr>
              <a:t>。在这种情况下，这些路径必须作为另一个路径的一部分来测试。</a:t>
            </a:r>
            <a:endParaRPr lang="en-US" sz="2400" b="0" u="none" strike="noStrike">
              <a:solidFill>
                <a:srgbClr val="000000"/>
              </a:solidFill>
              <a:effectLst/>
              <a:uFillTx/>
              <a:latin typeface="Arial"/>
            </a:endParaRPr>
          </a:p>
        </p:txBody>
      </p:sp>
      <p:sp>
        <p:nvSpPr>
          <p:cNvPr id="569"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570"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7.6.2 </a:t>
            </a:r>
            <a:r>
              <a:rPr lang="zh-CN" sz="2400" b="0" u="none" strike="noStrike">
                <a:solidFill>
                  <a:srgbClr val="d9d9d9"/>
                </a:solidFill>
                <a:effectLst/>
                <a:uFillTx/>
                <a:latin typeface="Bodoni MT Black"/>
              </a:rPr>
              <a:t>控制结构测试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1"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572" name="PlaceHolder 2"/>
          <p:cNvSpPr>
            <a:spLocks noGrp="1"/>
          </p:cNvSpPr>
          <p:nvPr>
            <p:ph/>
          </p:nvPr>
        </p:nvSpPr>
        <p:spPr>
          <a:xfrm>
            <a:off x="179640" y="956520"/>
            <a:ext cx="8229240" cy="604440"/>
          </a:xfrm>
          <a:prstGeom prst="rect">
            <a:avLst/>
          </a:prstGeom>
          <a:noFill/>
          <a:ln w="9360">
            <a:noFill/>
          </a:ln>
        </p:spPr>
        <p:txBody>
          <a:bodyPr numCol="1" spcCol="0" lIns="91440" rIns="91440" tIns="45720" bIns="45720" anchor="t">
            <a:noAutofit/>
          </a:bodyPr>
          <a:p>
            <a:pPr indent="0">
              <a:lnSpc>
                <a:spcPct val="100000"/>
              </a:lnSpc>
              <a:spcBef>
                <a:spcPts val="479"/>
              </a:spcBef>
              <a:buNone/>
              <a:tabLst>
                <a:tab algn="l" pos="0"/>
              </a:tabLst>
            </a:pPr>
            <a:r>
              <a:rPr lang="en-US" sz="2400" b="1" u="none" strike="noStrike">
                <a:solidFill>
                  <a:schemeClr val="dk1"/>
                </a:solidFill>
                <a:effectLst/>
                <a:uFillTx/>
                <a:latin typeface="Bodoni MT Black"/>
              </a:rPr>
              <a:t>2. </a:t>
            </a:r>
            <a:r>
              <a:rPr lang="zh-CN" sz="2400" b="1" u="none" strike="noStrike">
                <a:solidFill>
                  <a:schemeClr val="dk1"/>
                </a:solidFill>
                <a:effectLst/>
                <a:uFillTx/>
                <a:latin typeface="Bodoni MT Black"/>
              </a:rPr>
              <a:t>条件测试</a:t>
            </a:r>
            <a:endParaRPr lang="es-ES" sz="2400" b="0" u="none" strike="noStrike">
              <a:solidFill>
                <a:schemeClr val="dk1"/>
              </a:solidFill>
              <a:effectLst/>
              <a:uFillTx/>
              <a:latin typeface="Calibri"/>
            </a:endParaRPr>
          </a:p>
        </p:txBody>
      </p:sp>
      <p:sp>
        <p:nvSpPr>
          <p:cNvPr id="573" name="TextBox 7"/>
          <p:cNvSpPr/>
          <p:nvPr/>
        </p:nvSpPr>
        <p:spPr>
          <a:xfrm>
            <a:off x="179640" y="1413000"/>
            <a:ext cx="8784720" cy="42469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0" u="none" strike="noStrike">
                <a:solidFill>
                  <a:schemeClr val="dk1"/>
                </a:solidFill>
                <a:effectLst/>
                <a:uFillTx/>
                <a:latin typeface="Bodoni MT Black"/>
              </a:rPr>
              <a:t>     </a:t>
            </a:r>
            <a:r>
              <a:rPr lang="zh-CN" sz="2400" b="0" u="none" strike="noStrike">
                <a:solidFill>
                  <a:schemeClr val="dk1"/>
                </a:solidFill>
                <a:effectLst/>
                <a:uFillTx/>
                <a:latin typeface="Bodoni MT Black"/>
              </a:rPr>
              <a:t>用</a:t>
            </a:r>
            <a:r>
              <a:rPr lang="zh-CN" sz="2400" b="1" u="none" strike="noStrike">
                <a:solidFill>
                  <a:srgbClr val="c00000"/>
                </a:solidFill>
                <a:effectLst/>
                <a:uFillTx/>
                <a:latin typeface="Bodoni MT Black"/>
              </a:rPr>
              <a:t>条件测试技术</a:t>
            </a:r>
            <a:r>
              <a:rPr lang="zh-CN" sz="2400" b="0" u="none" strike="noStrike">
                <a:solidFill>
                  <a:schemeClr val="dk1"/>
                </a:solidFill>
                <a:effectLst/>
                <a:uFillTx/>
                <a:latin typeface="Bodoni MT Black"/>
              </a:rPr>
              <a:t>设计出的测试用例，能够检查程序模块中包含的逻辑条件。一个</a:t>
            </a:r>
            <a:r>
              <a:rPr lang="zh-CN" sz="2400" b="1" u="none" strike="noStrike">
                <a:solidFill>
                  <a:srgbClr val="c00000"/>
                </a:solidFill>
                <a:effectLst/>
                <a:uFillTx/>
                <a:latin typeface="Bodoni MT Black"/>
              </a:rPr>
              <a:t>简单条件</a:t>
            </a:r>
            <a:r>
              <a:rPr lang="zh-CN" sz="2400" b="0" u="none" strike="noStrike">
                <a:solidFill>
                  <a:schemeClr val="dk1"/>
                </a:solidFill>
                <a:effectLst/>
                <a:uFillTx/>
                <a:latin typeface="Bodoni MT Black"/>
              </a:rPr>
              <a:t>是一个</a:t>
            </a:r>
            <a:r>
              <a:rPr lang="zh-CN" sz="2400" b="0" u="none" strike="noStrike">
                <a:solidFill>
                  <a:srgbClr val="ff0000"/>
                </a:solidFill>
                <a:effectLst/>
                <a:uFillTx/>
                <a:latin typeface="Bodoni MT Black"/>
              </a:rPr>
              <a:t>布尔变量</a:t>
            </a:r>
            <a:r>
              <a:rPr lang="zh-CN" sz="2400" b="0" u="none" strike="noStrike">
                <a:solidFill>
                  <a:schemeClr val="dk1"/>
                </a:solidFill>
                <a:effectLst/>
                <a:uFillTx/>
                <a:latin typeface="Bodoni MT Black"/>
              </a:rPr>
              <a:t>或一个</a:t>
            </a:r>
            <a:r>
              <a:rPr lang="zh-CN" sz="2400" b="0" u="none" strike="noStrike">
                <a:solidFill>
                  <a:srgbClr val="ff0000"/>
                </a:solidFill>
                <a:effectLst/>
                <a:uFillTx/>
                <a:latin typeface="Bodoni MT Black"/>
              </a:rPr>
              <a:t>关系表达式</a:t>
            </a:r>
            <a:r>
              <a:rPr lang="zh-CN" sz="2400" b="0" u="none" strike="noStrike">
                <a:solidFill>
                  <a:schemeClr val="dk1"/>
                </a:solidFill>
                <a:effectLst/>
                <a:uFillTx/>
                <a:latin typeface="Bodoni MT Black"/>
              </a:rPr>
              <a:t>，在布尔变量或关系表达式之前还可能有一个</a:t>
            </a:r>
            <a:r>
              <a:rPr lang="en-US" sz="2400" b="0" u="none" strike="noStrike">
                <a:solidFill>
                  <a:schemeClr val="dk1"/>
                </a:solidFill>
                <a:effectLst/>
                <a:uFillTx/>
                <a:latin typeface="Bodoni MT Black"/>
              </a:rPr>
              <a:t>NOT(</a:t>
            </a:r>
            <a:r>
              <a:rPr lang="en-US" sz="2400" b="0" u="none" strike="noStrike" baseline="30000">
                <a:solidFill>
                  <a:schemeClr val="dk1"/>
                </a:solidFill>
                <a:effectLst/>
                <a:uFillTx/>
                <a:latin typeface="Bodoni MT Black"/>
              </a:rPr>
              <a:t>┐</a:t>
            </a:r>
            <a:r>
              <a:rPr lang="en-US" sz="2400" b="0" u="none" strike="noStrike">
                <a:solidFill>
                  <a:schemeClr val="dk1"/>
                </a:solidFill>
                <a:effectLst/>
                <a:uFillTx/>
                <a:latin typeface="Bodoni MT Black"/>
              </a:rPr>
              <a:t>)</a:t>
            </a:r>
            <a:r>
              <a:rPr lang="zh-CN" sz="2400" b="0" u="none" strike="noStrike">
                <a:solidFill>
                  <a:schemeClr val="dk1"/>
                </a:solidFill>
                <a:effectLst/>
                <a:uFillTx/>
                <a:latin typeface="Bodoni MT Black"/>
              </a:rPr>
              <a:t>算符。</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rgbClr val="70201e"/>
                </a:solidFill>
                <a:effectLst/>
                <a:uFillTx/>
                <a:latin typeface="Bodoni MT Black"/>
              </a:rPr>
              <a:t>①</a:t>
            </a:r>
            <a:r>
              <a:rPr lang="en-US" sz="2400" b="0" u="none" strike="noStrike">
                <a:solidFill>
                  <a:srgbClr val="ff0000"/>
                </a:solidFill>
                <a:effectLst/>
                <a:uFillTx/>
                <a:latin typeface="Bodoni MT Black"/>
              </a:rPr>
              <a:t> </a:t>
            </a:r>
            <a:r>
              <a:rPr lang="zh-CN" sz="2400" b="1" u="none" strike="noStrike">
                <a:solidFill>
                  <a:srgbClr val="ff0000"/>
                </a:solidFill>
                <a:effectLst/>
                <a:uFillTx/>
                <a:latin typeface="Bodoni MT Black"/>
              </a:rPr>
              <a:t>关系表达式</a:t>
            </a:r>
            <a:r>
              <a:rPr lang="zh-CN" sz="2400" b="0" u="none" strike="noStrike">
                <a:solidFill>
                  <a:schemeClr val="dk1"/>
                </a:solidFill>
                <a:effectLst/>
                <a:uFillTx/>
                <a:latin typeface="Bodoni MT Black"/>
              </a:rPr>
              <a:t>形式：</a:t>
            </a:r>
            <a:endParaRPr lang="en-US" sz="2400" b="0" u="none" strike="noStrike">
              <a:solidFill>
                <a:srgbClr val="000000"/>
              </a:solidFill>
              <a:effectLst/>
              <a:uFillTx/>
              <a:latin typeface="Arial"/>
            </a:endParaRPr>
          </a:p>
          <a:p>
            <a:pPr algn="ctr">
              <a:lnSpc>
                <a:spcPct val="125000"/>
              </a:lnSpc>
              <a:tabLst>
                <a:tab algn="l" pos="0"/>
              </a:tabLst>
            </a:pPr>
            <a:r>
              <a:rPr lang="en-US" sz="2400" b="1" u="none" strike="noStrike">
                <a:solidFill>
                  <a:srgbClr val="0070c0"/>
                </a:solidFill>
                <a:effectLst/>
                <a:uFillTx/>
                <a:latin typeface="Bodoni MT Black"/>
              </a:rPr>
              <a:t>E1&lt;</a:t>
            </a:r>
            <a:r>
              <a:rPr lang="zh-CN" sz="2400" b="1" u="none" strike="noStrike">
                <a:solidFill>
                  <a:srgbClr val="0070c0"/>
                </a:solidFill>
                <a:effectLst/>
                <a:uFillTx/>
                <a:latin typeface="Bodoni MT Black"/>
              </a:rPr>
              <a:t>关系算符</a:t>
            </a:r>
            <a:r>
              <a:rPr lang="en-US" sz="2400" b="1" u="none" strike="noStrike">
                <a:solidFill>
                  <a:srgbClr val="0070c0"/>
                </a:solidFill>
                <a:effectLst/>
                <a:uFillTx/>
                <a:latin typeface="Bodoni MT Black"/>
              </a:rPr>
              <a:t>&gt;E2</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E1</a:t>
            </a:r>
            <a:r>
              <a:rPr lang="zh-CN" sz="2400" b="0" u="none" strike="noStrike">
                <a:solidFill>
                  <a:schemeClr val="dk1"/>
                </a:solidFill>
                <a:effectLst/>
                <a:uFillTx/>
                <a:latin typeface="Bodoni MT Black"/>
              </a:rPr>
              <a:t>和</a:t>
            </a:r>
            <a:r>
              <a:rPr lang="en-US" sz="2400" b="0" u="none" strike="noStrike">
                <a:solidFill>
                  <a:schemeClr val="dk1"/>
                </a:solidFill>
                <a:effectLst/>
                <a:uFillTx/>
                <a:latin typeface="Bodoni MT Black"/>
              </a:rPr>
              <a:t>E2</a:t>
            </a:r>
            <a:r>
              <a:rPr lang="zh-CN" sz="2400" b="0" u="none" strike="noStrike">
                <a:solidFill>
                  <a:schemeClr val="dk1"/>
                </a:solidFill>
                <a:effectLst/>
                <a:uFillTx/>
                <a:latin typeface="Bodoni MT Black"/>
              </a:rPr>
              <a:t>是</a:t>
            </a:r>
            <a:r>
              <a:rPr lang="zh-CN" sz="2400" b="0" u="none" strike="noStrike">
                <a:solidFill>
                  <a:srgbClr val="ff0000"/>
                </a:solidFill>
                <a:effectLst/>
                <a:uFillTx/>
                <a:latin typeface="Bodoni MT Black"/>
              </a:rPr>
              <a:t>算术表达式</a:t>
            </a:r>
            <a:r>
              <a:rPr lang="zh-CN" sz="2400" b="0" u="none" strike="noStrike">
                <a:solidFill>
                  <a:schemeClr val="dk1"/>
                </a:solidFill>
                <a:effectLst/>
                <a:uFillTx/>
                <a:latin typeface="Bodoni MT Black"/>
              </a:rPr>
              <a:t>，而</a:t>
            </a:r>
            <a:r>
              <a:rPr lang="en-US" sz="2400" b="0" u="none" strike="noStrike">
                <a:solidFill>
                  <a:schemeClr val="dk1"/>
                </a:solidFill>
                <a:effectLst/>
                <a:uFillTx/>
                <a:latin typeface="Bodoni MT Black"/>
              </a:rPr>
              <a:t>&lt;</a:t>
            </a:r>
            <a:r>
              <a:rPr lang="zh-CN" sz="2400" b="0" u="none" strike="noStrike">
                <a:solidFill>
                  <a:srgbClr val="ff0000"/>
                </a:solidFill>
                <a:effectLst/>
                <a:uFillTx/>
                <a:latin typeface="Bodoni MT Black"/>
              </a:rPr>
              <a:t>关系算符</a:t>
            </a:r>
            <a:r>
              <a:rPr lang="en-US" sz="2400" b="0" u="none" strike="noStrike">
                <a:solidFill>
                  <a:schemeClr val="dk1"/>
                </a:solidFill>
                <a:effectLst/>
                <a:uFillTx/>
                <a:latin typeface="Bodoni MT Black"/>
              </a:rPr>
              <a:t>&gt;</a:t>
            </a:r>
            <a:r>
              <a:rPr lang="zh-CN" sz="2400" b="0" u="none" strike="noStrike">
                <a:solidFill>
                  <a:schemeClr val="dk1"/>
                </a:solidFill>
                <a:effectLst/>
                <a:uFillTx/>
                <a:latin typeface="Bodoni MT Black"/>
              </a:rPr>
              <a:t>是下列算符之一：</a:t>
            </a:r>
            <a:r>
              <a:rPr lang="en-US" sz="2400" b="0" u="none" strike="noStrike">
                <a:solidFill>
                  <a:schemeClr val="dk1"/>
                </a:solidFill>
                <a:effectLst/>
                <a:uFillTx/>
                <a:latin typeface="Bodoni MT Black"/>
              </a:rPr>
              <a:t>&lt;</a:t>
            </a:r>
            <a:r>
              <a:rPr lang="zh-CN" sz="2400" b="0" u="none" strike="noStrike">
                <a:solidFill>
                  <a:schemeClr val="dk1"/>
                </a:solidFill>
                <a:effectLst/>
                <a:uFillTx/>
                <a:latin typeface="Bodoni MT Black"/>
              </a:rPr>
              <a:t>，≤，</a:t>
            </a:r>
            <a:r>
              <a:rPr lang="en-US" sz="2400" b="0" u="none" strike="noStrike">
                <a:solidFill>
                  <a:schemeClr val="dk1"/>
                </a:solidFill>
                <a:effectLst/>
                <a:uFillTx/>
                <a:latin typeface="Bodoni MT Black"/>
              </a:rPr>
              <a:t>=</a:t>
            </a:r>
            <a:r>
              <a:rPr lang="zh-CN" sz="2400" b="0" u="none" strike="noStrike">
                <a:solidFill>
                  <a:schemeClr val="dk1"/>
                </a:solidFill>
                <a:effectLst/>
                <a:uFillTx/>
                <a:latin typeface="Bodoni MT Black"/>
              </a:rPr>
              <a:t>，≠，</a:t>
            </a:r>
            <a:r>
              <a:rPr lang="en-US" sz="2400" b="0" u="none" strike="noStrike">
                <a:solidFill>
                  <a:schemeClr val="dk1"/>
                </a:solidFill>
                <a:effectLst/>
                <a:uFillTx/>
                <a:latin typeface="Bodoni MT Black"/>
              </a:rPr>
              <a:t>&gt;</a:t>
            </a:r>
            <a:r>
              <a:rPr lang="zh-CN" sz="2400" b="0" u="none" strike="noStrike">
                <a:solidFill>
                  <a:schemeClr val="dk1"/>
                </a:solidFill>
                <a:effectLst/>
                <a:uFillTx/>
                <a:latin typeface="Bodoni MT Black"/>
              </a:rPr>
              <a:t>或≥。</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② </a:t>
            </a:r>
            <a:r>
              <a:rPr lang="zh-CN" sz="2400" b="1" u="none" strike="noStrike">
                <a:solidFill>
                  <a:srgbClr val="ff0000"/>
                </a:solidFill>
                <a:effectLst/>
                <a:uFillTx/>
                <a:latin typeface="Bodoni MT Black"/>
                <a:ea typeface="宋体"/>
              </a:rPr>
              <a:t>布尔表达式</a:t>
            </a:r>
            <a:r>
              <a:rPr lang="zh-CN" sz="2400" b="0" u="none" strike="noStrike">
                <a:solidFill>
                  <a:schemeClr val="dk1"/>
                </a:solidFill>
                <a:effectLst/>
                <a:uFillTx/>
                <a:latin typeface="Bodoni MT Black"/>
                <a:ea typeface="宋体"/>
              </a:rPr>
              <a:t>不包含关系表达式的条件，其</a:t>
            </a:r>
            <a:r>
              <a:rPr lang="zh-CN" sz="2400" b="0" u="none" strike="noStrike">
                <a:solidFill>
                  <a:srgbClr val="ff0000"/>
                </a:solidFill>
                <a:effectLst/>
                <a:uFillTx/>
                <a:latin typeface="Bodoni MT Black"/>
                <a:ea typeface="宋体"/>
              </a:rPr>
              <a:t>布尔算符</a:t>
            </a:r>
            <a:r>
              <a:rPr lang="zh-CN" sz="2400" b="0" u="none" strike="noStrike">
                <a:solidFill>
                  <a:schemeClr val="dk1"/>
                </a:solidFill>
                <a:effectLst/>
                <a:uFillTx/>
                <a:latin typeface="Bodoni MT Black"/>
                <a:ea typeface="宋体"/>
              </a:rPr>
              <a:t>包括：</a:t>
            </a:r>
            <a:r>
              <a:rPr lang="en-US" sz="2400" b="0" u="none" strike="noStrike">
                <a:solidFill>
                  <a:schemeClr val="dk1"/>
                </a:solidFill>
                <a:effectLst/>
                <a:uFillTx/>
                <a:latin typeface="Bodoni MT Black"/>
                <a:ea typeface="宋体"/>
              </a:rPr>
              <a:t>OR(|)</a:t>
            </a:r>
            <a:r>
              <a:rPr lang="zh-CN" sz="2400" b="0" u="none" strike="noStrike">
                <a:solidFill>
                  <a:schemeClr val="dk1"/>
                </a:solidFill>
                <a:effectLst/>
                <a:uFillTx/>
                <a:latin typeface="Bodoni MT Black"/>
                <a:ea typeface="宋体"/>
              </a:rPr>
              <a:t>，</a:t>
            </a:r>
            <a:r>
              <a:rPr lang="en-US" sz="2400" b="0" u="none" strike="noStrike">
                <a:solidFill>
                  <a:schemeClr val="dk1"/>
                </a:solidFill>
                <a:effectLst/>
                <a:uFillTx/>
                <a:latin typeface="Bodoni MT Black"/>
                <a:ea typeface="宋体"/>
              </a:rPr>
              <a:t>AND(&amp;)</a:t>
            </a:r>
            <a:r>
              <a:rPr lang="zh-CN" sz="2400" b="0" u="none" strike="noStrike">
                <a:solidFill>
                  <a:schemeClr val="dk1"/>
                </a:solidFill>
                <a:effectLst/>
                <a:uFillTx/>
                <a:latin typeface="Bodoni MT Black"/>
                <a:ea typeface="宋体"/>
              </a:rPr>
              <a:t>和</a:t>
            </a:r>
            <a:r>
              <a:rPr lang="en-US" sz="2400" b="0" u="none" strike="noStrike">
                <a:solidFill>
                  <a:schemeClr val="dk1"/>
                </a:solidFill>
                <a:effectLst/>
                <a:uFillTx/>
                <a:latin typeface="Bodoni MT Black"/>
                <a:ea typeface="宋体"/>
              </a:rPr>
              <a:t>NOT(</a:t>
            </a:r>
            <a:r>
              <a:rPr lang="en-US" sz="2400" b="0" u="none" strike="noStrike" baseline="30000">
                <a:solidFill>
                  <a:schemeClr val="dk1"/>
                </a:solidFill>
                <a:effectLst/>
                <a:uFillTx/>
                <a:latin typeface="Bodoni MT Black"/>
                <a:ea typeface="宋体"/>
              </a:rPr>
              <a:t> ┐</a:t>
            </a:r>
            <a:r>
              <a:rPr lang="en-US" sz="2400" b="0" u="none" strike="noStrike">
                <a:solidFill>
                  <a:schemeClr val="dk1"/>
                </a:solidFill>
                <a:effectLst/>
                <a:uFillTx/>
                <a:latin typeface="Bodoni MT Black"/>
                <a:ea typeface="宋体"/>
              </a:rPr>
              <a:t>)</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574"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575"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7.6.2 </a:t>
            </a:r>
            <a:r>
              <a:rPr lang="zh-CN" sz="2400" b="0" u="none" strike="noStrike">
                <a:solidFill>
                  <a:srgbClr val="d9d9d9"/>
                </a:solidFill>
                <a:effectLst/>
                <a:uFillTx/>
                <a:latin typeface="Bodoni MT Black"/>
              </a:rPr>
              <a:t>控制结构测试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6"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577" name="PlaceHolder 2"/>
          <p:cNvSpPr>
            <a:spLocks noGrp="1"/>
          </p:cNvSpPr>
          <p:nvPr>
            <p:ph/>
          </p:nvPr>
        </p:nvSpPr>
        <p:spPr>
          <a:xfrm>
            <a:off x="179640" y="926640"/>
            <a:ext cx="8229240" cy="604440"/>
          </a:xfrm>
          <a:prstGeom prst="rect">
            <a:avLst/>
          </a:prstGeom>
          <a:noFill/>
          <a:ln w="9360">
            <a:noFill/>
          </a:ln>
        </p:spPr>
        <p:txBody>
          <a:bodyPr numCol="1" spcCol="0" lIns="91440" rIns="91440" tIns="45720" bIns="45720" anchor="t">
            <a:noAutofit/>
          </a:bodyPr>
          <a:p>
            <a:pPr indent="0">
              <a:lnSpc>
                <a:spcPct val="100000"/>
              </a:lnSpc>
              <a:spcBef>
                <a:spcPts val="479"/>
              </a:spcBef>
              <a:buNone/>
              <a:tabLst>
                <a:tab algn="l" pos="0"/>
              </a:tabLst>
            </a:pPr>
            <a:r>
              <a:rPr lang="en-US" sz="2400" b="1" u="none" strike="noStrike">
                <a:solidFill>
                  <a:schemeClr val="dk1"/>
                </a:solidFill>
                <a:effectLst/>
                <a:uFillTx/>
                <a:latin typeface="Bodoni MT Black"/>
              </a:rPr>
              <a:t>2. </a:t>
            </a:r>
            <a:r>
              <a:rPr lang="zh-CN" sz="2400" b="1" u="none" strike="noStrike">
                <a:solidFill>
                  <a:schemeClr val="dk1"/>
                </a:solidFill>
                <a:effectLst/>
                <a:uFillTx/>
                <a:latin typeface="Bodoni MT Black"/>
              </a:rPr>
              <a:t>条件测试</a:t>
            </a:r>
            <a:endParaRPr lang="es-ES" sz="2400" b="0" u="none" strike="noStrike">
              <a:solidFill>
                <a:schemeClr val="dk1"/>
              </a:solidFill>
              <a:effectLst/>
              <a:uFillTx/>
              <a:latin typeface="Calibri"/>
            </a:endParaRPr>
          </a:p>
        </p:txBody>
      </p:sp>
      <p:sp>
        <p:nvSpPr>
          <p:cNvPr id="578" name="TextBox 7"/>
          <p:cNvSpPr/>
          <p:nvPr/>
        </p:nvSpPr>
        <p:spPr>
          <a:xfrm>
            <a:off x="179640" y="1413000"/>
            <a:ext cx="8640360" cy="51703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0" u="none" strike="noStrike">
                <a:solidFill>
                  <a:schemeClr val="dk1"/>
                </a:solidFill>
                <a:effectLst/>
                <a:uFillTx/>
                <a:latin typeface="Bodoni MT Black"/>
              </a:rPr>
              <a:t>     </a:t>
            </a:r>
            <a:r>
              <a:rPr lang="zh-CN" sz="2400" b="1" u="none" strike="noStrike">
                <a:solidFill>
                  <a:srgbClr val="c00000"/>
                </a:solidFill>
                <a:effectLst/>
                <a:uFillTx/>
                <a:latin typeface="Bodoni MT Black"/>
              </a:rPr>
              <a:t>复合条件</a:t>
            </a:r>
            <a:r>
              <a:rPr lang="zh-CN" sz="2400" b="0" u="none" strike="noStrike">
                <a:solidFill>
                  <a:schemeClr val="dk1"/>
                </a:solidFill>
                <a:effectLst/>
                <a:uFillTx/>
                <a:latin typeface="Bodoni MT Black"/>
              </a:rPr>
              <a:t>由两个或多个简单条件组成，其条件成分的类型包括</a:t>
            </a:r>
            <a:r>
              <a:rPr lang="zh-CN" sz="2400" b="0" u="none" strike="noStrike">
                <a:solidFill>
                  <a:srgbClr val="0070c0"/>
                </a:solidFill>
                <a:effectLst/>
                <a:uFillTx/>
                <a:latin typeface="Bodoni MT Black"/>
              </a:rPr>
              <a:t>布尔算符</a:t>
            </a:r>
            <a:r>
              <a:rPr lang="zh-CN" sz="2400" b="0" u="none" strike="noStrike">
                <a:solidFill>
                  <a:schemeClr val="dk1"/>
                </a:solidFill>
                <a:effectLst/>
                <a:uFillTx/>
                <a:latin typeface="Bodoni MT Black"/>
              </a:rPr>
              <a:t>、</a:t>
            </a:r>
            <a:r>
              <a:rPr lang="zh-CN" sz="2400" b="0" u="none" strike="noStrike">
                <a:solidFill>
                  <a:srgbClr val="0070c0"/>
                </a:solidFill>
                <a:effectLst/>
                <a:uFillTx/>
                <a:latin typeface="Bodoni MT Black"/>
              </a:rPr>
              <a:t>布尔变量</a:t>
            </a:r>
            <a:r>
              <a:rPr lang="zh-CN" sz="2400" b="0" u="none" strike="noStrike">
                <a:solidFill>
                  <a:schemeClr val="dk1"/>
                </a:solidFill>
                <a:effectLst/>
                <a:uFillTx/>
                <a:latin typeface="Bodoni MT Black"/>
              </a:rPr>
              <a:t>、</a:t>
            </a:r>
            <a:r>
              <a:rPr lang="zh-CN" sz="2400" b="0" u="none" strike="noStrike">
                <a:solidFill>
                  <a:srgbClr val="0070c0"/>
                </a:solidFill>
                <a:effectLst/>
                <a:uFillTx/>
                <a:latin typeface="Bodoni MT Black"/>
              </a:rPr>
              <a:t>布尔括弧</a:t>
            </a:r>
            <a:r>
              <a:rPr lang="zh-CN" sz="2400" b="0" u="none" strike="noStrike">
                <a:solidFill>
                  <a:schemeClr val="dk1"/>
                </a:solidFill>
                <a:effectLst/>
                <a:uFillTx/>
                <a:latin typeface="Bodoni MT Black"/>
              </a:rPr>
              <a:t>（括住简单条件或复合条件）、</a:t>
            </a:r>
            <a:r>
              <a:rPr lang="zh-CN" sz="2400" b="0" u="none" strike="noStrike">
                <a:solidFill>
                  <a:srgbClr val="0070c0"/>
                </a:solidFill>
                <a:effectLst/>
                <a:uFillTx/>
                <a:latin typeface="Bodoni MT Black"/>
              </a:rPr>
              <a:t>关系算符</a:t>
            </a:r>
            <a:r>
              <a:rPr lang="zh-CN" sz="2400" b="0" u="none" strike="noStrike">
                <a:solidFill>
                  <a:schemeClr val="dk1"/>
                </a:solidFill>
                <a:effectLst/>
                <a:uFillTx/>
                <a:latin typeface="Bodoni MT Black"/>
              </a:rPr>
              <a:t>及</a:t>
            </a:r>
            <a:r>
              <a:rPr lang="zh-CN" sz="2400" b="0" u="none" strike="noStrike">
                <a:solidFill>
                  <a:srgbClr val="0070c0"/>
                </a:solidFill>
                <a:effectLst/>
                <a:uFillTx/>
                <a:latin typeface="Bodoni MT Black"/>
              </a:rPr>
              <a:t>算术表达式</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a:t>
            </a:r>
            <a:r>
              <a:rPr lang="zh-CN" sz="2400" b="0" u="none" strike="noStrike">
                <a:solidFill>
                  <a:srgbClr val="ff0000"/>
                </a:solidFill>
                <a:effectLst/>
                <a:uFillTx/>
                <a:latin typeface="Bodoni MT Black"/>
              </a:rPr>
              <a:t>如果条件不正确，则至少条件的一个成分不正确</a:t>
            </a:r>
            <a:r>
              <a:rPr lang="zh-CN" sz="2400" b="0" u="none" strike="noStrike">
                <a:solidFill>
                  <a:schemeClr val="dk1"/>
                </a:solidFill>
                <a:effectLst/>
                <a:uFillTx/>
                <a:latin typeface="Bodoni MT Black"/>
              </a:rPr>
              <a:t>。因此，条件错误的类型有：布尔算符错、布尔变量错、布尔括弧错、关系算符错、算术表达式错。</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     条件测试方法着重测试程序中的每个条件。条件测试策略有两个优点： </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① </a:t>
            </a:r>
            <a:r>
              <a:rPr lang="zh-CN" sz="2400" b="0" u="none" strike="noStrike">
                <a:solidFill>
                  <a:srgbClr val="0070c0"/>
                </a:solidFill>
                <a:effectLst/>
                <a:uFillTx/>
                <a:latin typeface="Bodoni MT Black"/>
                <a:ea typeface="宋体"/>
              </a:rPr>
              <a:t>容易度量条件的测试覆盖率； </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② </a:t>
            </a:r>
            <a:r>
              <a:rPr lang="zh-CN" sz="2400" b="0" u="none" strike="noStrike">
                <a:solidFill>
                  <a:srgbClr val="0070c0"/>
                </a:solidFill>
                <a:effectLst/>
                <a:uFillTx/>
                <a:latin typeface="Bodoni MT Black"/>
                <a:ea typeface="宋体"/>
              </a:rPr>
              <a:t>程序内条件的测试覆盖率可指导附加测试的设计</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a:lnSpc>
                <a:spcPct val="125000"/>
              </a:lnSpc>
              <a:tabLst>
                <a:tab algn="l" pos="0"/>
              </a:tabLst>
            </a:pPr>
            <a:endParaRPr lang="en-US" sz="2400" b="0" u="none" strike="noStrike">
              <a:solidFill>
                <a:srgbClr val="000000"/>
              </a:solidFill>
              <a:effectLst/>
              <a:uFillTx/>
              <a:latin typeface="Arial"/>
            </a:endParaRPr>
          </a:p>
        </p:txBody>
      </p:sp>
      <p:sp>
        <p:nvSpPr>
          <p:cNvPr id="579"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580"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7.6.2 </a:t>
            </a:r>
            <a:r>
              <a:rPr lang="zh-CN" sz="2400" b="0" u="none" strike="noStrike">
                <a:solidFill>
                  <a:srgbClr val="d9d9d9"/>
                </a:solidFill>
                <a:effectLst/>
                <a:uFillTx/>
                <a:latin typeface="Bodoni MT Black"/>
              </a:rPr>
              <a:t>控制结构测试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1"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582" name="PlaceHolder 2"/>
          <p:cNvSpPr>
            <a:spLocks noGrp="1"/>
          </p:cNvSpPr>
          <p:nvPr>
            <p:ph/>
          </p:nvPr>
        </p:nvSpPr>
        <p:spPr>
          <a:xfrm>
            <a:off x="251640" y="840240"/>
            <a:ext cx="8229240" cy="604440"/>
          </a:xfrm>
          <a:prstGeom prst="rect">
            <a:avLst/>
          </a:prstGeom>
          <a:noFill/>
          <a:ln w="9360">
            <a:noFill/>
          </a:ln>
        </p:spPr>
        <p:txBody>
          <a:bodyPr numCol="1" spcCol="0" lIns="91440" rIns="91440" tIns="45720" bIns="45720" anchor="t">
            <a:noAutofit/>
          </a:bodyPr>
          <a:p>
            <a:pPr indent="0">
              <a:lnSpc>
                <a:spcPct val="100000"/>
              </a:lnSpc>
              <a:spcBef>
                <a:spcPts val="479"/>
              </a:spcBef>
              <a:buNone/>
              <a:tabLst>
                <a:tab algn="l" pos="0"/>
              </a:tabLst>
            </a:pPr>
            <a:r>
              <a:rPr lang="en-US" sz="2400" b="1" u="none" strike="noStrike">
                <a:solidFill>
                  <a:schemeClr val="dk1"/>
                </a:solidFill>
                <a:effectLst/>
                <a:uFillTx/>
                <a:latin typeface="Bodoni MT Black"/>
              </a:rPr>
              <a:t>2. </a:t>
            </a:r>
            <a:r>
              <a:rPr lang="zh-CN" sz="2400" b="1" u="none" strike="noStrike">
                <a:solidFill>
                  <a:schemeClr val="dk1"/>
                </a:solidFill>
                <a:effectLst/>
                <a:uFillTx/>
                <a:latin typeface="Bodoni MT Black"/>
              </a:rPr>
              <a:t>条件测试</a:t>
            </a:r>
            <a:endParaRPr lang="es-ES" sz="2400" b="0" u="none" strike="noStrike">
              <a:solidFill>
                <a:schemeClr val="dk1"/>
              </a:solidFill>
              <a:effectLst/>
              <a:uFillTx/>
              <a:latin typeface="Calibri"/>
            </a:endParaRPr>
          </a:p>
        </p:txBody>
      </p:sp>
      <p:sp>
        <p:nvSpPr>
          <p:cNvPr id="583" name="TextBox 7"/>
          <p:cNvSpPr/>
          <p:nvPr/>
        </p:nvSpPr>
        <p:spPr>
          <a:xfrm>
            <a:off x="118800" y="1324800"/>
            <a:ext cx="9024840" cy="47088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0" u="none" strike="noStrike">
                <a:solidFill>
                  <a:schemeClr val="dk1"/>
                </a:solidFill>
                <a:effectLst/>
                <a:uFillTx/>
                <a:latin typeface="Bodoni MT Black"/>
              </a:rPr>
              <a:t>     </a:t>
            </a:r>
            <a:r>
              <a:rPr lang="zh-CN" sz="2400" b="0" u="none" strike="noStrike">
                <a:solidFill>
                  <a:schemeClr val="dk1"/>
                </a:solidFill>
                <a:effectLst/>
                <a:uFillTx/>
                <a:latin typeface="Bodoni MT Black"/>
              </a:rPr>
              <a:t>条件测试的目的不仅是检测程序条件中的错误，而且是检测程序中的其他错误，条件测试包括：</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① </a:t>
            </a:r>
            <a:r>
              <a:rPr lang="zh-CN" sz="2400" b="0" u="none" strike="noStrike">
                <a:solidFill>
                  <a:srgbClr val="ff0000"/>
                </a:solidFill>
                <a:effectLst/>
                <a:uFillTx/>
                <a:latin typeface="Bodoni MT Black"/>
              </a:rPr>
              <a:t>分支测试：</a:t>
            </a:r>
            <a:r>
              <a:rPr lang="zh-CN" sz="2400" b="0" u="none" strike="noStrike">
                <a:solidFill>
                  <a:schemeClr val="dk1"/>
                </a:solidFill>
                <a:effectLst/>
                <a:uFillTx/>
                <a:latin typeface="Bodoni MT Black"/>
              </a:rPr>
              <a:t>复合条件</a:t>
            </a:r>
            <a:r>
              <a:rPr lang="en-US" sz="2400" b="0" u="none" strike="noStrike">
                <a:solidFill>
                  <a:schemeClr val="dk1"/>
                </a:solidFill>
                <a:effectLst/>
                <a:uFillTx/>
                <a:latin typeface="Bodoni MT Black"/>
              </a:rPr>
              <a:t>C</a:t>
            </a:r>
            <a:r>
              <a:rPr lang="zh-CN" sz="2400" b="0" u="none" strike="noStrike">
                <a:solidFill>
                  <a:schemeClr val="dk1"/>
                </a:solidFill>
                <a:effectLst/>
                <a:uFillTx/>
                <a:latin typeface="Bodoni MT Black"/>
              </a:rPr>
              <a:t>的真分支和假分支以及</a:t>
            </a:r>
            <a:r>
              <a:rPr lang="en-US" sz="2400" b="0" u="none" strike="noStrike">
                <a:solidFill>
                  <a:schemeClr val="dk1"/>
                </a:solidFill>
                <a:effectLst/>
                <a:uFillTx/>
                <a:latin typeface="Bodoni MT Black"/>
              </a:rPr>
              <a:t>C</a:t>
            </a:r>
            <a:r>
              <a:rPr lang="zh-CN" sz="2400" b="0" u="none" strike="noStrike">
                <a:solidFill>
                  <a:schemeClr val="dk1"/>
                </a:solidFill>
                <a:effectLst/>
                <a:uFillTx/>
                <a:latin typeface="Bodoni MT Black"/>
              </a:rPr>
              <a:t>中每个简单条件均需至少执行一次。</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②</a:t>
            </a:r>
            <a:r>
              <a:rPr lang="en-US" sz="2400" b="0" u="none" strike="noStrike">
                <a:solidFill>
                  <a:srgbClr val="ff0000"/>
                </a:solidFill>
                <a:effectLst/>
                <a:uFillTx/>
                <a:latin typeface="Bodoni MT Black"/>
              </a:rPr>
              <a:t> 域测试：</a:t>
            </a:r>
            <a:r>
              <a:rPr lang="zh-CN" sz="2400" b="0" u="none" strike="noStrike">
                <a:solidFill>
                  <a:schemeClr val="dk1"/>
                </a:solidFill>
                <a:effectLst/>
                <a:uFillTx/>
                <a:latin typeface="Bodoni MT Black"/>
              </a:rPr>
              <a:t>对一个关系表达式执行</a:t>
            </a:r>
            <a:r>
              <a:rPr lang="en-US" sz="2400" b="0" u="none" strike="noStrike">
                <a:solidFill>
                  <a:schemeClr val="dk1"/>
                </a:solidFill>
                <a:effectLst/>
                <a:uFillTx/>
                <a:latin typeface="Bodoni MT Black"/>
              </a:rPr>
              <a:t>3-4</a:t>
            </a:r>
            <a:r>
              <a:rPr lang="zh-CN" sz="2400" b="0" u="none" strike="noStrike">
                <a:solidFill>
                  <a:schemeClr val="dk1"/>
                </a:solidFill>
                <a:effectLst/>
                <a:uFillTx/>
                <a:latin typeface="Bodoni MT Black"/>
              </a:rPr>
              <a:t>个测试（大于、等于、小于），对包含</a:t>
            </a:r>
            <a:r>
              <a:rPr lang="en-US" sz="2400" b="0" u="none" strike="noStrike">
                <a:solidFill>
                  <a:schemeClr val="dk1"/>
                </a:solidFill>
                <a:effectLst/>
                <a:uFillTx/>
                <a:latin typeface="Bodoni MT Black"/>
              </a:rPr>
              <a:t>n</a:t>
            </a:r>
            <a:r>
              <a:rPr lang="zh-CN" sz="2400" b="0" u="none" strike="noStrike">
                <a:solidFill>
                  <a:schemeClr val="dk1"/>
                </a:solidFill>
                <a:effectLst/>
                <a:uFillTx/>
                <a:latin typeface="Bodoni MT Black"/>
              </a:rPr>
              <a:t>个变量的布尔表达式，需要</a:t>
            </a:r>
            <a:r>
              <a:rPr lang="en-US" sz="2400" b="0" u="none" strike="noStrike">
                <a:solidFill>
                  <a:schemeClr val="dk1"/>
                </a:solidFill>
                <a:effectLst/>
                <a:uFillTx/>
                <a:latin typeface="Bodoni MT Black"/>
              </a:rPr>
              <a:t>2</a:t>
            </a:r>
            <a:r>
              <a:rPr lang="en-US" sz="2400" b="0" u="none" strike="noStrike" baseline="30000">
                <a:solidFill>
                  <a:schemeClr val="dk1"/>
                </a:solidFill>
                <a:effectLst/>
                <a:uFillTx/>
                <a:latin typeface="Bodoni MT Black"/>
              </a:rPr>
              <a:t>n</a:t>
            </a:r>
            <a:r>
              <a:rPr lang="zh-CN" sz="2400" b="0" u="none" strike="noStrike">
                <a:solidFill>
                  <a:schemeClr val="dk1"/>
                </a:solidFill>
                <a:effectLst/>
                <a:uFillTx/>
                <a:latin typeface="Bodoni MT Black"/>
                <a:ea typeface="宋体"/>
              </a:rPr>
              <a:t>个测试（真假组合），</a:t>
            </a:r>
            <a:r>
              <a:rPr lang="en-US" sz="2400" b="0" u="none" strike="noStrike">
                <a:solidFill>
                  <a:schemeClr val="dk1"/>
                </a:solidFill>
                <a:effectLst/>
                <a:uFillTx/>
                <a:latin typeface="Bodoni MT Black"/>
                <a:ea typeface="宋体"/>
              </a:rPr>
              <a:t>n</a:t>
            </a:r>
            <a:r>
              <a:rPr lang="zh-CN" sz="2400" b="0" u="none" strike="noStrike">
                <a:solidFill>
                  <a:schemeClr val="dk1"/>
                </a:solidFill>
                <a:effectLst/>
                <a:uFillTx/>
                <a:latin typeface="Bodoni MT Black"/>
                <a:ea typeface="宋体"/>
              </a:rPr>
              <a:t>取值应很小。</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③ </a:t>
            </a:r>
            <a:r>
              <a:rPr lang="en-US" sz="2400" b="0" u="none" strike="noStrike">
                <a:solidFill>
                  <a:srgbClr val="ff0000"/>
                </a:solidFill>
                <a:effectLst/>
                <a:uFillTx/>
                <a:latin typeface="Bodoni MT Black"/>
                <a:ea typeface="宋体"/>
              </a:rPr>
              <a:t>BRO(branch and relational operator)</a:t>
            </a:r>
            <a:r>
              <a:rPr lang="zh-CN" sz="2400" b="0" u="none" strike="noStrike">
                <a:solidFill>
                  <a:srgbClr val="ff0000"/>
                </a:solidFill>
                <a:effectLst/>
                <a:uFillTx/>
                <a:latin typeface="Bodoni MT Black"/>
                <a:ea typeface="宋体"/>
              </a:rPr>
              <a:t>测试：条件测试策略为</a:t>
            </a:r>
            <a:r>
              <a:rPr lang="zh-CN" sz="2400" b="0" u="none" strike="noStrike">
                <a:solidFill>
                  <a:schemeClr val="dk1"/>
                </a:solidFill>
                <a:effectLst/>
                <a:uFillTx/>
                <a:latin typeface="Bodoni MT Black"/>
                <a:ea typeface="宋体"/>
              </a:rPr>
              <a:t>若条件中所有布尔变量和关系算符都只出现一次而且没有公共变量，则</a:t>
            </a:r>
            <a:r>
              <a:rPr lang="en-US" sz="2400" b="0" u="none" strike="noStrike">
                <a:solidFill>
                  <a:schemeClr val="dk1"/>
                </a:solidFill>
                <a:effectLst/>
                <a:uFillTx/>
                <a:latin typeface="Bodoni MT Black"/>
                <a:ea typeface="宋体"/>
              </a:rPr>
              <a:t>BRO</a:t>
            </a:r>
            <a:r>
              <a:rPr lang="zh-CN" sz="2400" b="0" u="none" strike="noStrike">
                <a:solidFill>
                  <a:schemeClr val="dk1"/>
                </a:solidFill>
                <a:effectLst/>
                <a:uFillTx/>
                <a:latin typeface="Bodoni MT Black"/>
                <a:ea typeface="宋体"/>
              </a:rPr>
              <a:t>测试保证能发现该</a:t>
            </a:r>
            <a:r>
              <a:rPr lang="zh-CN" sz="2400" b="0" u="none" strike="noStrike">
                <a:solidFill>
                  <a:srgbClr val="0070c0"/>
                </a:solidFill>
                <a:effectLst/>
                <a:uFillTx/>
                <a:latin typeface="Bodoni MT Black"/>
                <a:ea typeface="宋体"/>
              </a:rPr>
              <a:t>条件中的分支错和关系算符错</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584"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585"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7.6.2 </a:t>
            </a:r>
            <a:r>
              <a:rPr lang="zh-CN" sz="2400" b="0" u="none" strike="noStrike">
                <a:solidFill>
                  <a:srgbClr val="d9d9d9"/>
                </a:solidFill>
                <a:effectLst/>
                <a:uFillTx/>
                <a:latin typeface="Bodoni MT Black"/>
              </a:rPr>
              <a:t>控制结构测试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6"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587" name="PlaceHolder 2"/>
          <p:cNvSpPr>
            <a:spLocks noGrp="1"/>
          </p:cNvSpPr>
          <p:nvPr>
            <p:ph/>
          </p:nvPr>
        </p:nvSpPr>
        <p:spPr>
          <a:xfrm>
            <a:off x="323640" y="989640"/>
            <a:ext cx="8229240" cy="604440"/>
          </a:xfrm>
          <a:prstGeom prst="rect">
            <a:avLst/>
          </a:prstGeom>
          <a:noFill/>
          <a:ln w="9360">
            <a:noFill/>
          </a:ln>
        </p:spPr>
        <p:txBody>
          <a:bodyPr numCol="1" spcCol="0" lIns="91440" rIns="91440" tIns="45720" bIns="45720" anchor="t">
            <a:noAutofit/>
          </a:bodyPr>
          <a:p>
            <a:pPr indent="0">
              <a:lnSpc>
                <a:spcPct val="100000"/>
              </a:lnSpc>
              <a:spcBef>
                <a:spcPts val="479"/>
              </a:spcBef>
              <a:buNone/>
              <a:tabLst>
                <a:tab algn="l" pos="0"/>
              </a:tabLst>
            </a:pPr>
            <a:r>
              <a:rPr lang="en-US" sz="2400" b="1" u="none" strike="noStrike">
                <a:solidFill>
                  <a:schemeClr val="dk1"/>
                </a:solidFill>
                <a:effectLst/>
                <a:uFillTx/>
                <a:latin typeface="Bodoni MT Black"/>
              </a:rPr>
              <a:t>2. </a:t>
            </a:r>
            <a:r>
              <a:rPr lang="zh-CN" sz="2400" b="1" u="none" strike="noStrike">
                <a:solidFill>
                  <a:schemeClr val="dk1"/>
                </a:solidFill>
                <a:effectLst/>
                <a:uFillTx/>
                <a:latin typeface="Bodoni MT Black"/>
              </a:rPr>
              <a:t>条件测试</a:t>
            </a:r>
            <a:endParaRPr lang="es-ES" sz="2400" b="0" u="none" strike="noStrike">
              <a:solidFill>
                <a:schemeClr val="dk1"/>
              </a:solidFill>
              <a:effectLst/>
              <a:uFillTx/>
              <a:latin typeface="Calibri"/>
            </a:endParaRPr>
          </a:p>
        </p:txBody>
      </p:sp>
      <p:sp>
        <p:nvSpPr>
          <p:cNvPr id="588" name="TextBox 7"/>
          <p:cNvSpPr/>
          <p:nvPr/>
        </p:nvSpPr>
        <p:spPr>
          <a:xfrm>
            <a:off x="251640" y="1468440"/>
            <a:ext cx="8641440" cy="41317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000" b="0" u="none" strike="noStrike">
                <a:solidFill>
                  <a:schemeClr val="dk1"/>
                </a:solidFill>
                <a:effectLst/>
                <a:uFillTx/>
                <a:latin typeface="Bodoni MT Black"/>
              </a:rPr>
              <a:t>      </a:t>
            </a:r>
            <a:r>
              <a:rPr lang="en-US" sz="2400" b="0" u="none" strike="noStrike">
                <a:solidFill>
                  <a:schemeClr val="dk1"/>
                </a:solidFill>
                <a:effectLst/>
                <a:uFillTx/>
                <a:latin typeface="Bodoni MT Black"/>
              </a:rPr>
              <a:t>BRO</a:t>
            </a:r>
            <a:r>
              <a:rPr lang="zh-CN" sz="2400" b="0" u="none" strike="noStrike">
                <a:solidFill>
                  <a:schemeClr val="dk1"/>
                </a:solidFill>
                <a:effectLst/>
                <a:uFillTx/>
                <a:latin typeface="Bodoni MT Black"/>
              </a:rPr>
              <a:t>测试利用</a:t>
            </a:r>
            <a:r>
              <a:rPr lang="zh-CN" sz="2400" b="0" u="none" strike="noStrike">
                <a:solidFill>
                  <a:srgbClr val="ff0000"/>
                </a:solidFill>
                <a:effectLst/>
                <a:uFillTx/>
                <a:latin typeface="Bodoni MT Black"/>
              </a:rPr>
              <a:t>条件</a:t>
            </a:r>
            <a:r>
              <a:rPr lang="en-US" sz="2400" b="0" u="none" strike="noStrike">
                <a:solidFill>
                  <a:srgbClr val="ff0000"/>
                </a:solidFill>
                <a:effectLst/>
                <a:uFillTx/>
                <a:latin typeface="Bodoni MT Black"/>
              </a:rPr>
              <a:t>C</a:t>
            </a:r>
            <a:r>
              <a:rPr lang="zh-CN" sz="2400" b="0" u="none" strike="noStrike">
                <a:solidFill>
                  <a:srgbClr val="ff0000"/>
                </a:solidFill>
                <a:effectLst/>
                <a:uFillTx/>
                <a:latin typeface="Bodoni MT Black"/>
              </a:rPr>
              <a:t>的条件约束</a:t>
            </a:r>
            <a:r>
              <a:rPr lang="zh-CN" sz="2400" b="0" u="none" strike="noStrike">
                <a:solidFill>
                  <a:schemeClr val="dk1"/>
                </a:solidFill>
                <a:effectLst/>
                <a:uFillTx/>
                <a:latin typeface="Bodoni MT Black"/>
              </a:rPr>
              <a:t>来设计测试用例。包含</a:t>
            </a:r>
            <a:r>
              <a:rPr lang="en-US" sz="2400" b="0" u="none" strike="noStrike">
                <a:solidFill>
                  <a:schemeClr val="dk1"/>
                </a:solidFill>
                <a:effectLst/>
                <a:uFillTx/>
                <a:latin typeface="Bodoni MT Black"/>
              </a:rPr>
              <a:t>n</a:t>
            </a:r>
            <a:r>
              <a:rPr lang="zh-CN" sz="2400" b="0" u="none" strike="noStrike">
                <a:solidFill>
                  <a:schemeClr val="dk1"/>
                </a:solidFill>
                <a:effectLst/>
                <a:uFillTx/>
                <a:latin typeface="Bodoni MT Black"/>
              </a:rPr>
              <a:t>个简单条件的条件</a:t>
            </a:r>
            <a:r>
              <a:rPr lang="en-US" sz="2400" b="0" u="none" strike="noStrike">
                <a:solidFill>
                  <a:schemeClr val="dk1"/>
                </a:solidFill>
                <a:effectLst/>
                <a:uFillTx/>
                <a:latin typeface="Bodoni MT Black"/>
              </a:rPr>
              <a:t>C</a:t>
            </a:r>
            <a:r>
              <a:rPr lang="zh-CN" sz="2400" b="0" u="none" strike="noStrike">
                <a:solidFill>
                  <a:schemeClr val="dk1"/>
                </a:solidFill>
                <a:effectLst/>
                <a:uFillTx/>
                <a:latin typeface="Bodoni MT Black"/>
              </a:rPr>
              <a:t>的条件约束定义为</a:t>
            </a:r>
            <a:r>
              <a:rPr lang="en-US" sz="2400" b="0" u="none" strike="noStrike">
                <a:solidFill>
                  <a:srgbClr val="ff0000"/>
                </a:solidFill>
                <a:effectLst/>
                <a:uFillTx/>
                <a:latin typeface="Bodoni MT Black"/>
              </a:rPr>
              <a:t>(D1,D2,…,Dn)</a:t>
            </a:r>
            <a:r>
              <a:rPr lang="zh-CN" sz="2400" b="0" u="none" strike="noStrike">
                <a:solidFill>
                  <a:schemeClr val="dk1"/>
                </a:solidFill>
                <a:effectLst/>
                <a:uFillTx/>
                <a:latin typeface="Bodoni MT Black"/>
              </a:rPr>
              <a:t>，</a:t>
            </a:r>
            <a:r>
              <a:rPr lang="en-US" sz="2400" b="0" u="none" strike="noStrike">
                <a:solidFill>
                  <a:schemeClr val="dk1"/>
                </a:solidFill>
                <a:effectLst/>
                <a:uFillTx/>
                <a:latin typeface="Bodoni MT Black"/>
              </a:rPr>
              <a:t>Di(0&lt;i≤n)</a:t>
            </a:r>
            <a:r>
              <a:rPr lang="zh-CN" sz="2400" b="0" u="none" strike="noStrike">
                <a:solidFill>
                  <a:schemeClr val="dk1"/>
                </a:solidFill>
                <a:effectLst/>
                <a:uFillTx/>
                <a:latin typeface="Bodoni MT Black"/>
              </a:rPr>
              <a:t>表示条件</a:t>
            </a:r>
            <a:r>
              <a:rPr lang="en-US" sz="2400" b="0" u="none" strike="noStrike">
                <a:solidFill>
                  <a:schemeClr val="dk1"/>
                </a:solidFill>
                <a:effectLst/>
                <a:uFillTx/>
                <a:latin typeface="Bodoni MT Black"/>
              </a:rPr>
              <a:t>C</a:t>
            </a:r>
            <a:r>
              <a:rPr lang="zh-CN" sz="2400" b="0" u="none" strike="noStrike">
                <a:solidFill>
                  <a:schemeClr val="dk1"/>
                </a:solidFill>
                <a:effectLst/>
                <a:uFillTx/>
                <a:latin typeface="Bodoni MT Black"/>
              </a:rPr>
              <a:t>中第</a:t>
            </a:r>
            <a:r>
              <a:rPr lang="en-US" sz="2400" b="0" u="none" strike="noStrike">
                <a:solidFill>
                  <a:schemeClr val="dk1"/>
                </a:solidFill>
                <a:effectLst/>
                <a:uFillTx/>
                <a:latin typeface="Bodoni MT Black"/>
              </a:rPr>
              <a:t>i</a:t>
            </a:r>
            <a:r>
              <a:rPr lang="zh-CN" sz="2400" b="0" u="none" strike="noStrike">
                <a:solidFill>
                  <a:schemeClr val="dk1"/>
                </a:solidFill>
                <a:effectLst/>
                <a:uFillTx/>
                <a:latin typeface="Bodoni MT Black"/>
              </a:rPr>
              <a:t>个简单条件的输出约束。如果在条件</a:t>
            </a:r>
            <a:r>
              <a:rPr lang="en-US" sz="2400" b="0" u="none" strike="noStrike">
                <a:solidFill>
                  <a:schemeClr val="dk1"/>
                </a:solidFill>
                <a:effectLst/>
                <a:uFillTx/>
                <a:latin typeface="Bodoni MT Black"/>
              </a:rPr>
              <a:t>C</a:t>
            </a:r>
            <a:r>
              <a:rPr lang="zh-CN" sz="2400" b="0" u="none" strike="noStrike">
                <a:solidFill>
                  <a:schemeClr val="dk1"/>
                </a:solidFill>
                <a:effectLst/>
                <a:uFillTx/>
                <a:latin typeface="Bodoni MT Black"/>
              </a:rPr>
              <a:t>的一次执行过程中，</a:t>
            </a:r>
            <a:r>
              <a:rPr lang="en-US" sz="2400" b="0" u="none" strike="noStrike">
                <a:solidFill>
                  <a:schemeClr val="dk1"/>
                </a:solidFill>
                <a:effectLst/>
                <a:uFillTx/>
                <a:latin typeface="Bodoni MT Black"/>
              </a:rPr>
              <a:t>C</a:t>
            </a:r>
            <a:r>
              <a:rPr lang="zh-CN" sz="2400" b="0" u="none" strike="noStrike">
                <a:solidFill>
                  <a:schemeClr val="dk1"/>
                </a:solidFill>
                <a:effectLst/>
                <a:uFillTx/>
                <a:latin typeface="Bodoni MT Black"/>
              </a:rPr>
              <a:t>中每个简单条件的输出都满足</a:t>
            </a:r>
            <a:r>
              <a:rPr lang="en-US" sz="2400" b="0" u="none" strike="noStrike">
                <a:solidFill>
                  <a:schemeClr val="dk1"/>
                </a:solidFill>
                <a:effectLst/>
                <a:uFillTx/>
                <a:latin typeface="Bodoni MT Black"/>
              </a:rPr>
              <a:t>D</a:t>
            </a:r>
            <a:r>
              <a:rPr lang="zh-CN" sz="2400" b="0" u="none" strike="noStrike">
                <a:solidFill>
                  <a:schemeClr val="dk1"/>
                </a:solidFill>
                <a:effectLst/>
                <a:uFillTx/>
                <a:latin typeface="Bodoni MT Black"/>
              </a:rPr>
              <a:t>中对应的约束，则称</a:t>
            </a:r>
            <a:r>
              <a:rPr lang="en-US" sz="2400" b="0" u="none" strike="noStrike">
                <a:solidFill>
                  <a:srgbClr val="ff0000"/>
                </a:solidFill>
                <a:effectLst/>
                <a:uFillTx/>
                <a:latin typeface="Bodoni MT Black"/>
              </a:rPr>
              <a:t>C</a:t>
            </a:r>
            <a:r>
              <a:rPr lang="zh-CN" sz="2400" b="0" u="none" strike="noStrike">
                <a:solidFill>
                  <a:srgbClr val="ff0000"/>
                </a:solidFill>
                <a:effectLst/>
                <a:uFillTx/>
                <a:latin typeface="Bodoni MT Black"/>
              </a:rPr>
              <a:t>的这次执行覆盖了</a:t>
            </a:r>
            <a:r>
              <a:rPr lang="en-US" sz="2400" b="0" u="none" strike="noStrike">
                <a:solidFill>
                  <a:srgbClr val="ff0000"/>
                </a:solidFill>
                <a:effectLst/>
                <a:uFillTx/>
                <a:latin typeface="Bodoni MT Black"/>
              </a:rPr>
              <a:t>C</a:t>
            </a:r>
            <a:r>
              <a:rPr lang="zh-CN" sz="2400" b="0" u="none" strike="noStrike">
                <a:solidFill>
                  <a:srgbClr val="ff0000"/>
                </a:solidFill>
                <a:effectLst/>
                <a:uFillTx/>
                <a:latin typeface="Bodoni MT Black"/>
              </a:rPr>
              <a:t>的条件约束</a:t>
            </a:r>
            <a:r>
              <a:rPr lang="en-US" sz="2400" b="0" u="none" strike="noStrike">
                <a:solidFill>
                  <a:srgbClr val="ff0000"/>
                </a:solidFill>
                <a:effectLst/>
                <a:uFillTx/>
                <a:latin typeface="Bodoni MT Black"/>
              </a:rPr>
              <a:t>D</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对于</a:t>
            </a:r>
            <a:r>
              <a:rPr lang="zh-CN" sz="2400" b="0" u="none" strike="noStrike">
                <a:solidFill>
                  <a:srgbClr val="0070c0"/>
                </a:solidFill>
                <a:effectLst/>
                <a:uFillTx/>
                <a:latin typeface="Bodoni MT Black"/>
              </a:rPr>
              <a:t>布尔变量</a:t>
            </a:r>
            <a:r>
              <a:rPr lang="en-US" sz="2400" b="0" u="none" strike="noStrike">
                <a:solidFill>
                  <a:srgbClr val="0070c0"/>
                </a:solidFill>
                <a:effectLst/>
                <a:uFillTx/>
                <a:latin typeface="Bodoni MT Black"/>
              </a:rPr>
              <a:t>B</a:t>
            </a:r>
            <a:r>
              <a:rPr lang="zh-CN" sz="2400" b="0" u="none" strike="noStrike">
                <a:solidFill>
                  <a:schemeClr val="dk1"/>
                </a:solidFill>
                <a:effectLst/>
                <a:uFillTx/>
                <a:latin typeface="Bodoni MT Black"/>
              </a:rPr>
              <a:t>来说，</a:t>
            </a:r>
            <a:r>
              <a:rPr lang="en-US" sz="2400" b="0" u="none" strike="noStrike">
                <a:solidFill>
                  <a:schemeClr val="dk1"/>
                </a:solidFill>
                <a:effectLst/>
                <a:uFillTx/>
                <a:latin typeface="Bodoni MT Black"/>
              </a:rPr>
              <a:t>B</a:t>
            </a:r>
            <a:r>
              <a:rPr lang="zh-CN" sz="2400" b="0" u="none" strike="noStrike">
                <a:solidFill>
                  <a:schemeClr val="dk1"/>
                </a:solidFill>
                <a:effectLst/>
                <a:uFillTx/>
                <a:latin typeface="Bodoni MT Black"/>
              </a:rPr>
              <a:t>的输出约束指出，</a:t>
            </a:r>
            <a:r>
              <a:rPr lang="en-US" sz="2400" b="0" u="none" strike="noStrike">
                <a:solidFill>
                  <a:schemeClr val="dk1"/>
                </a:solidFill>
                <a:effectLst/>
                <a:uFillTx/>
                <a:latin typeface="Bodoni MT Black"/>
              </a:rPr>
              <a:t>B</a:t>
            </a:r>
            <a:r>
              <a:rPr lang="zh-CN" sz="2400" b="0" u="none" strike="noStrike">
                <a:solidFill>
                  <a:schemeClr val="dk1"/>
                </a:solidFill>
                <a:effectLst/>
                <a:uFillTx/>
                <a:latin typeface="Bodoni MT Black"/>
              </a:rPr>
              <a:t>必须是真</a:t>
            </a:r>
            <a:r>
              <a:rPr lang="en-US" sz="2400" b="0" u="none" strike="noStrike">
                <a:solidFill>
                  <a:schemeClr val="dk1"/>
                </a:solidFill>
                <a:effectLst/>
                <a:uFillTx/>
                <a:latin typeface="Bodoni MT Black"/>
              </a:rPr>
              <a:t>(t)</a:t>
            </a:r>
            <a:r>
              <a:rPr lang="zh-CN" sz="2400" b="0" u="none" strike="noStrike">
                <a:solidFill>
                  <a:schemeClr val="dk1"/>
                </a:solidFill>
                <a:effectLst/>
                <a:uFillTx/>
                <a:latin typeface="Bodoni MT Black"/>
              </a:rPr>
              <a:t>或假</a:t>
            </a:r>
            <a:r>
              <a:rPr lang="en-US" sz="2400" b="0" u="none" strike="noStrike">
                <a:solidFill>
                  <a:schemeClr val="dk1"/>
                </a:solidFill>
                <a:effectLst/>
                <a:uFillTx/>
                <a:latin typeface="Bodoni MT Black"/>
              </a:rPr>
              <a:t>(f)</a:t>
            </a:r>
            <a:r>
              <a:rPr lang="zh-CN" sz="2400" b="0" u="none" strike="noStrike">
                <a:solidFill>
                  <a:schemeClr val="dk1"/>
                </a:solidFill>
                <a:effectLst/>
                <a:uFillTx/>
                <a:latin typeface="Bodoni MT Black"/>
              </a:rPr>
              <a:t>。类似地，对于</a:t>
            </a:r>
            <a:r>
              <a:rPr lang="zh-CN" sz="2400" b="0" u="none" strike="noStrike">
                <a:solidFill>
                  <a:srgbClr val="0070c0"/>
                </a:solidFill>
                <a:effectLst/>
                <a:uFillTx/>
                <a:latin typeface="Bodoni MT Black"/>
              </a:rPr>
              <a:t>关系表达式</a:t>
            </a:r>
            <a:r>
              <a:rPr lang="zh-CN" sz="2400" b="0" u="none" strike="noStrike">
                <a:solidFill>
                  <a:schemeClr val="dk1"/>
                </a:solidFill>
                <a:effectLst/>
                <a:uFillTx/>
                <a:latin typeface="Bodoni MT Black"/>
              </a:rPr>
              <a:t>来说，用符号</a:t>
            </a:r>
            <a:r>
              <a:rPr lang="en-US" sz="2400" b="0" u="none" strike="noStrike">
                <a:solidFill>
                  <a:schemeClr val="dk1"/>
                </a:solidFill>
                <a:effectLst/>
                <a:uFillTx/>
                <a:latin typeface="Bodoni MT Black"/>
              </a:rPr>
              <a:t>&gt;,=</a:t>
            </a:r>
            <a:r>
              <a:rPr lang="zh-CN" sz="2400" b="0" u="none" strike="noStrike">
                <a:solidFill>
                  <a:schemeClr val="dk1"/>
                </a:solidFill>
                <a:effectLst/>
                <a:uFillTx/>
                <a:latin typeface="Bodoni MT Black"/>
              </a:rPr>
              <a:t>和</a:t>
            </a:r>
            <a:r>
              <a:rPr lang="en-US" sz="2400" b="0" u="none" strike="noStrike">
                <a:solidFill>
                  <a:schemeClr val="dk1"/>
                </a:solidFill>
                <a:effectLst/>
                <a:uFillTx/>
                <a:latin typeface="Bodoni MT Black"/>
              </a:rPr>
              <a:t>&lt;</a:t>
            </a:r>
            <a:r>
              <a:rPr lang="zh-CN" sz="2400" b="0" u="none" strike="noStrike">
                <a:solidFill>
                  <a:schemeClr val="dk1"/>
                </a:solidFill>
                <a:effectLst/>
                <a:uFillTx/>
                <a:latin typeface="Bodoni MT Black"/>
              </a:rPr>
              <a:t>指定表达式的输出约束。</a:t>
            </a:r>
            <a:endParaRPr lang="en-US" sz="2400" b="0" u="none" strike="noStrike">
              <a:solidFill>
                <a:srgbClr val="000000"/>
              </a:solidFill>
              <a:effectLst/>
              <a:uFillTx/>
              <a:latin typeface="Arial"/>
            </a:endParaRPr>
          </a:p>
          <a:p>
            <a:pPr>
              <a:lnSpc>
                <a:spcPts val="2701"/>
              </a:lnSpc>
              <a:tabLst>
                <a:tab algn="l" pos="0"/>
              </a:tabLst>
            </a:pPr>
            <a:r>
              <a:rPr lang="en-US" sz="2100" b="0" u="none" strike="noStrike">
                <a:solidFill>
                  <a:schemeClr val="dk1"/>
                </a:solidFill>
                <a:effectLst/>
                <a:uFillTx/>
                <a:latin typeface="Bodoni MT Black"/>
              </a:rPr>
              <a:t>    </a:t>
            </a:r>
            <a:endParaRPr lang="en-US" sz="2100" b="0" u="none" strike="noStrike">
              <a:solidFill>
                <a:srgbClr val="000000"/>
              </a:solidFill>
              <a:effectLst/>
              <a:uFillTx/>
              <a:latin typeface="Arial"/>
            </a:endParaRPr>
          </a:p>
        </p:txBody>
      </p:sp>
      <p:sp>
        <p:nvSpPr>
          <p:cNvPr id="589"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590"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7.6.2 </a:t>
            </a:r>
            <a:r>
              <a:rPr lang="zh-CN" sz="2400" b="0" u="none" strike="noStrike">
                <a:solidFill>
                  <a:srgbClr val="d9d9d9"/>
                </a:solidFill>
                <a:effectLst/>
                <a:uFillTx/>
                <a:latin typeface="Bodoni MT Black"/>
              </a:rPr>
              <a:t>控制结构测试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1" name="PlaceHolder 1"/>
          <p:cNvSpPr>
            <a:spLocks noGrp="1"/>
          </p:cNvSpPr>
          <p:nvPr>
            <p:ph type="title"/>
          </p:nvPr>
        </p:nvSpPr>
        <p:spPr>
          <a:xfrm>
            <a:off x="45720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592" name="PlaceHolder 2"/>
          <p:cNvSpPr>
            <a:spLocks noGrp="1"/>
          </p:cNvSpPr>
          <p:nvPr>
            <p:ph/>
          </p:nvPr>
        </p:nvSpPr>
        <p:spPr>
          <a:xfrm>
            <a:off x="395280" y="981000"/>
            <a:ext cx="8229240" cy="604440"/>
          </a:xfrm>
          <a:prstGeom prst="rect">
            <a:avLst/>
          </a:prstGeom>
          <a:noFill/>
          <a:ln w="9360">
            <a:noFill/>
          </a:ln>
        </p:spPr>
        <p:txBody>
          <a:bodyPr numCol="1" spcCol="0" lIns="91440" rIns="91440" tIns="45720" bIns="45720" anchor="t">
            <a:noAutofit/>
          </a:bodyPr>
          <a:p>
            <a:pPr indent="0">
              <a:lnSpc>
                <a:spcPct val="100000"/>
              </a:lnSpc>
              <a:spcBef>
                <a:spcPts val="479"/>
              </a:spcBef>
              <a:buNone/>
              <a:tabLst>
                <a:tab algn="l" pos="0"/>
              </a:tabLst>
            </a:pPr>
            <a:r>
              <a:rPr lang="en-US" sz="2400" b="1" u="none" strike="noStrike">
                <a:solidFill>
                  <a:schemeClr val="dk1"/>
                </a:solidFill>
                <a:effectLst/>
                <a:uFillTx/>
                <a:latin typeface="Bodoni MT Black"/>
              </a:rPr>
              <a:t>2. </a:t>
            </a:r>
            <a:r>
              <a:rPr lang="zh-CN" sz="2400" b="1" u="none" strike="noStrike">
                <a:solidFill>
                  <a:schemeClr val="dk1"/>
                </a:solidFill>
                <a:effectLst/>
                <a:uFillTx/>
                <a:latin typeface="Bodoni MT Black"/>
              </a:rPr>
              <a:t>条件测试</a:t>
            </a:r>
            <a:endParaRPr lang="es-ES" sz="2400" b="0" u="none" strike="noStrike">
              <a:solidFill>
                <a:schemeClr val="dk1"/>
              </a:solidFill>
              <a:effectLst/>
              <a:uFillTx/>
              <a:latin typeface="Calibri"/>
            </a:endParaRPr>
          </a:p>
        </p:txBody>
      </p:sp>
      <p:sp>
        <p:nvSpPr>
          <p:cNvPr id="593" name="TextBox 7"/>
          <p:cNvSpPr/>
          <p:nvPr/>
        </p:nvSpPr>
        <p:spPr>
          <a:xfrm>
            <a:off x="395280" y="1468440"/>
            <a:ext cx="8497440" cy="305424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200" b="1" u="none" strike="noStrike">
                <a:solidFill>
                  <a:srgbClr val="0070c0"/>
                </a:solidFill>
                <a:effectLst/>
                <a:uFillTx/>
                <a:latin typeface="Bodoni MT Black"/>
              </a:rPr>
              <a:t>C1</a:t>
            </a:r>
            <a:r>
              <a:rPr lang="zh-CN" sz="2200" b="1" u="none" strike="noStrike">
                <a:solidFill>
                  <a:srgbClr val="0070c0"/>
                </a:solidFill>
                <a:effectLst/>
                <a:uFillTx/>
                <a:latin typeface="Bodoni MT Black"/>
              </a:rPr>
              <a:t>：</a:t>
            </a:r>
            <a:r>
              <a:rPr lang="en-US" sz="2200" b="1" u="none" strike="noStrike">
                <a:solidFill>
                  <a:srgbClr val="0070c0"/>
                </a:solidFill>
                <a:effectLst/>
                <a:uFillTx/>
                <a:latin typeface="Bodoni MT Black"/>
              </a:rPr>
              <a:t>B1 &amp; B2</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rPr>
              <a:t>B1</a:t>
            </a:r>
            <a:r>
              <a:rPr lang="zh-CN" sz="2200" b="0" u="none" strike="noStrike">
                <a:solidFill>
                  <a:schemeClr val="dk1"/>
                </a:solidFill>
                <a:effectLst/>
                <a:uFillTx/>
                <a:latin typeface="Bodoni MT Black"/>
              </a:rPr>
              <a:t>和</a:t>
            </a:r>
            <a:r>
              <a:rPr lang="en-US" sz="2200" b="0" u="none" strike="noStrike">
                <a:solidFill>
                  <a:schemeClr val="dk1"/>
                </a:solidFill>
                <a:effectLst/>
                <a:uFillTx/>
                <a:latin typeface="Bodoni MT Black"/>
              </a:rPr>
              <a:t>B2</a:t>
            </a:r>
            <a:r>
              <a:rPr lang="zh-CN" sz="2200" b="0" u="none" strike="noStrike">
                <a:solidFill>
                  <a:schemeClr val="dk1"/>
                </a:solidFill>
                <a:effectLst/>
                <a:uFillTx/>
                <a:latin typeface="Bodoni MT Black"/>
              </a:rPr>
              <a:t>是布尔变量。</a:t>
            </a:r>
            <a:r>
              <a:rPr lang="en-US" sz="2200" b="0" u="none" strike="noStrike">
                <a:solidFill>
                  <a:schemeClr val="dk1"/>
                </a:solidFill>
                <a:effectLst/>
                <a:uFillTx/>
                <a:latin typeface="Bodoni MT Black"/>
              </a:rPr>
              <a:t>C1</a:t>
            </a:r>
            <a:r>
              <a:rPr lang="zh-CN" sz="2200" b="0" u="none" strike="noStrike">
                <a:solidFill>
                  <a:schemeClr val="dk1"/>
                </a:solidFill>
                <a:effectLst/>
                <a:uFillTx/>
                <a:latin typeface="Bodoni MT Black"/>
              </a:rPr>
              <a:t>的条件约束形式</a:t>
            </a:r>
            <a:r>
              <a:rPr lang="en-US" sz="2200" b="1" u="none" strike="noStrike">
                <a:solidFill>
                  <a:schemeClr val="dk1"/>
                </a:solidFill>
                <a:effectLst/>
                <a:uFillTx/>
                <a:latin typeface="Bodoni MT Black"/>
              </a:rPr>
              <a:t>(D1,D2)</a:t>
            </a:r>
            <a:r>
              <a:rPr lang="zh-CN" sz="2200" b="0" u="none" strike="noStrike">
                <a:solidFill>
                  <a:schemeClr val="dk1"/>
                </a:solidFill>
                <a:effectLst/>
                <a:uFillTx/>
                <a:latin typeface="Bodoni MT Black"/>
              </a:rPr>
              <a:t>，</a:t>
            </a:r>
            <a:r>
              <a:rPr lang="en-US" sz="2200" b="0" u="none" strike="noStrike">
                <a:solidFill>
                  <a:schemeClr val="dk1"/>
                </a:solidFill>
                <a:effectLst/>
                <a:uFillTx/>
                <a:latin typeface="Bodoni MT Black"/>
              </a:rPr>
              <a:t>D1</a:t>
            </a:r>
            <a:r>
              <a:rPr lang="zh-CN" sz="2200" b="0" u="none" strike="noStrike">
                <a:solidFill>
                  <a:schemeClr val="dk1"/>
                </a:solidFill>
                <a:effectLst/>
                <a:uFillTx/>
                <a:latin typeface="Bodoni MT Black"/>
              </a:rPr>
              <a:t>和</a:t>
            </a:r>
            <a:r>
              <a:rPr lang="en-US" sz="2200" b="0" u="none" strike="noStrike">
                <a:solidFill>
                  <a:schemeClr val="dk1"/>
                </a:solidFill>
                <a:effectLst/>
                <a:uFillTx/>
                <a:latin typeface="Bodoni MT Black"/>
              </a:rPr>
              <a:t>D2</a:t>
            </a:r>
            <a:r>
              <a:rPr lang="zh-CN" sz="2200" b="0" u="none" strike="noStrike">
                <a:solidFill>
                  <a:schemeClr val="dk1"/>
                </a:solidFill>
                <a:effectLst/>
                <a:uFillTx/>
                <a:latin typeface="Bodoni MT Black"/>
              </a:rPr>
              <a:t>中的每一个都是</a:t>
            </a:r>
            <a:r>
              <a:rPr lang="en-US" sz="2200" b="1" u="none" strike="noStrike">
                <a:solidFill>
                  <a:schemeClr val="dk1"/>
                </a:solidFill>
                <a:effectLst/>
                <a:uFillTx/>
                <a:latin typeface="Bodoni MT Black"/>
              </a:rPr>
              <a:t>t</a:t>
            </a:r>
            <a:r>
              <a:rPr lang="zh-CN" sz="2200" b="0" u="none" strike="noStrike">
                <a:solidFill>
                  <a:schemeClr val="dk1"/>
                </a:solidFill>
                <a:effectLst/>
                <a:uFillTx/>
                <a:latin typeface="Bodoni MT Black"/>
              </a:rPr>
              <a:t>或</a:t>
            </a:r>
            <a:r>
              <a:rPr lang="en-US" sz="2200" b="1" u="none" strike="noStrike">
                <a:solidFill>
                  <a:schemeClr val="dk1"/>
                </a:solidFill>
                <a:effectLst/>
                <a:uFillTx/>
                <a:latin typeface="Bodoni MT Black"/>
              </a:rPr>
              <a:t>f</a:t>
            </a:r>
            <a:r>
              <a:rPr lang="zh-CN" sz="2200" b="0" u="none" strike="noStrike">
                <a:solidFill>
                  <a:schemeClr val="dk1"/>
                </a:solidFill>
                <a:effectLst/>
                <a:uFillTx/>
                <a:latin typeface="Bodoni MT Black"/>
              </a:rPr>
              <a:t>。值</a:t>
            </a:r>
            <a:r>
              <a:rPr lang="en-US" sz="2200" b="1" u="none" strike="noStrike">
                <a:solidFill>
                  <a:schemeClr val="dk1"/>
                </a:solidFill>
                <a:effectLst/>
                <a:uFillTx/>
                <a:latin typeface="Bodoni MT Black"/>
              </a:rPr>
              <a:t>(</a:t>
            </a:r>
            <a:r>
              <a:rPr lang="en-US" sz="2200" b="1" u="none" strike="noStrike">
                <a:solidFill>
                  <a:schemeClr val="dk1"/>
                </a:solidFill>
                <a:effectLst/>
                <a:uFillTx/>
                <a:latin typeface="Bodoni MT Black"/>
                <a:ea typeface="宋体"/>
              </a:rPr>
              <a:t>t,f) </a:t>
            </a:r>
            <a:r>
              <a:rPr lang="zh-CN" sz="2200" b="0" u="none" strike="noStrike">
                <a:solidFill>
                  <a:schemeClr val="dk1"/>
                </a:solidFill>
                <a:effectLst/>
                <a:uFillTx/>
                <a:latin typeface="Bodoni MT Black"/>
                <a:ea typeface="宋体"/>
              </a:rPr>
              <a:t>是</a:t>
            </a:r>
            <a:r>
              <a:rPr lang="en-US" sz="2200" b="0" u="none" strike="noStrike">
                <a:solidFill>
                  <a:schemeClr val="dk1"/>
                </a:solidFill>
                <a:effectLst/>
                <a:uFillTx/>
                <a:latin typeface="Bodoni MT Black"/>
                <a:ea typeface="宋体"/>
              </a:rPr>
              <a:t>C1</a:t>
            </a:r>
            <a:r>
              <a:rPr lang="zh-CN" sz="2200" b="0" u="none" strike="noStrike">
                <a:solidFill>
                  <a:schemeClr val="dk1"/>
                </a:solidFill>
                <a:effectLst/>
                <a:uFillTx/>
                <a:latin typeface="Bodoni MT Black"/>
                <a:ea typeface="宋体"/>
              </a:rPr>
              <a:t>的一个条件约束，并由使</a:t>
            </a:r>
            <a:r>
              <a:rPr lang="en-US" sz="2200" b="0" u="none" strike="noStrike">
                <a:solidFill>
                  <a:schemeClr val="dk1"/>
                </a:solidFill>
                <a:effectLst/>
                <a:uFillTx/>
                <a:latin typeface="Bodoni MT Black"/>
                <a:ea typeface="宋体"/>
              </a:rPr>
              <a:t>B1</a:t>
            </a:r>
            <a:r>
              <a:rPr lang="zh-CN" sz="2200" b="0" u="none" strike="noStrike">
                <a:solidFill>
                  <a:schemeClr val="dk1"/>
                </a:solidFill>
                <a:effectLst/>
                <a:uFillTx/>
                <a:latin typeface="Bodoni MT Black"/>
                <a:ea typeface="宋体"/>
              </a:rPr>
              <a:t>值为真</a:t>
            </a:r>
            <a:r>
              <a:rPr lang="en-US" sz="2200" b="0" u="none" strike="noStrike">
                <a:solidFill>
                  <a:schemeClr val="dk1"/>
                </a:solidFill>
                <a:effectLst/>
                <a:uFillTx/>
                <a:latin typeface="Bodoni MT Black"/>
                <a:ea typeface="宋体"/>
              </a:rPr>
              <a:t>B2</a:t>
            </a:r>
            <a:r>
              <a:rPr lang="zh-CN" sz="2200" b="0" u="none" strike="noStrike">
                <a:solidFill>
                  <a:schemeClr val="dk1"/>
                </a:solidFill>
                <a:effectLst/>
                <a:uFillTx/>
                <a:latin typeface="Bodoni MT Black"/>
                <a:ea typeface="宋体"/>
              </a:rPr>
              <a:t>值为假的测试所覆盖。</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ea typeface="宋体"/>
              </a:rPr>
              <a:t>     BRO</a:t>
            </a:r>
            <a:r>
              <a:rPr lang="zh-CN" sz="2200" b="0" u="none" strike="noStrike">
                <a:solidFill>
                  <a:schemeClr val="dk1"/>
                </a:solidFill>
                <a:effectLst/>
                <a:uFillTx/>
                <a:latin typeface="Bodoni MT Black"/>
                <a:ea typeface="宋体"/>
              </a:rPr>
              <a:t>测试策略要求，</a:t>
            </a:r>
            <a:r>
              <a:rPr lang="zh-CN" sz="2200" b="0" u="none" strike="noStrike">
                <a:solidFill>
                  <a:srgbClr val="ff0000"/>
                </a:solidFill>
                <a:effectLst/>
                <a:uFillTx/>
                <a:latin typeface="Bodoni MT Black"/>
                <a:ea typeface="宋体"/>
              </a:rPr>
              <a:t>约束集</a:t>
            </a:r>
            <a:r>
              <a:rPr lang="en-US" sz="2200" b="1" u="none" strike="noStrike">
                <a:solidFill>
                  <a:srgbClr val="ff0000"/>
                </a:solidFill>
                <a:effectLst/>
                <a:uFillTx/>
                <a:latin typeface="Bodoni MT Black"/>
                <a:ea typeface="宋体"/>
              </a:rPr>
              <a:t>{(t,t),(f,t),(t,f)}</a:t>
            </a:r>
            <a:r>
              <a:rPr lang="zh-CN" sz="2200" b="0" u="none" strike="noStrike">
                <a:solidFill>
                  <a:schemeClr val="dk1"/>
                </a:solidFill>
                <a:effectLst/>
                <a:uFillTx/>
                <a:latin typeface="Bodoni MT Black"/>
                <a:ea typeface="宋体"/>
              </a:rPr>
              <a:t>被</a:t>
            </a:r>
            <a:r>
              <a:rPr lang="en-US" sz="2200" b="0" u="none" strike="noStrike">
                <a:solidFill>
                  <a:schemeClr val="dk1"/>
                </a:solidFill>
                <a:effectLst/>
                <a:uFillTx/>
                <a:latin typeface="Bodoni MT Black"/>
                <a:ea typeface="宋体"/>
              </a:rPr>
              <a:t>C1</a:t>
            </a:r>
            <a:r>
              <a:rPr lang="zh-CN" sz="2200" b="0" u="none" strike="noStrike">
                <a:solidFill>
                  <a:schemeClr val="dk1"/>
                </a:solidFill>
                <a:effectLst/>
                <a:uFillTx/>
                <a:latin typeface="Bodoni MT Black"/>
                <a:ea typeface="宋体"/>
              </a:rPr>
              <a:t>的执行所覆盖。如果</a:t>
            </a:r>
            <a:r>
              <a:rPr lang="en-US" sz="2200" b="0" u="none" strike="noStrike">
                <a:solidFill>
                  <a:schemeClr val="dk1"/>
                </a:solidFill>
                <a:effectLst/>
                <a:uFillTx/>
                <a:latin typeface="Bodoni MT Black"/>
                <a:ea typeface="宋体"/>
              </a:rPr>
              <a:t>C1</a:t>
            </a:r>
            <a:r>
              <a:rPr lang="zh-CN" sz="2200" b="0" u="none" strike="noStrike">
                <a:solidFill>
                  <a:schemeClr val="dk1"/>
                </a:solidFill>
                <a:effectLst/>
                <a:uFillTx/>
                <a:latin typeface="Bodoni MT Black"/>
                <a:ea typeface="宋体"/>
              </a:rPr>
              <a:t>因布尔算符错误而不正确，则至少上述约束集中的一个约束将迫使</a:t>
            </a:r>
            <a:r>
              <a:rPr lang="en-US" sz="2200" b="0" u="none" strike="noStrike">
                <a:solidFill>
                  <a:schemeClr val="dk1"/>
                </a:solidFill>
                <a:effectLst/>
                <a:uFillTx/>
                <a:latin typeface="Bodoni MT Black"/>
                <a:ea typeface="宋体"/>
              </a:rPr>
              <a:t>C1</a:t>
            </a:r>
            <a:r>
              <a:rPr lang="zh-CN" sz="2200" b="0" u="none" strike="noStrike">
                <a:solidFill>
                  <a:schemeClr val="dk1"/>
                </a:solidFill>
                <a:effectLst/>
                <a:uFillTx/>
                <a:latin typeface="Bodoni MT Black"/>
                <a:ea typeface="宋体"/>
              </a:rPr>
              <a:t>失败。</a:t>
            </a:r>
            <a:endParaRPr lang="en-US" sz="2200" b="0" u="none" strike="noStrike">
              <a:solidFill>
                <a:srgbClr val="000000"/>
              </a:solidFill>
              <a:effectLst/>
              <a:uFillTx/>
              <a:latin typeface="Arial"/>
            </a:endParaRPr>
          </a:p>
        </p:txBody>
      </p:sp>
      <p:sp>
        <p:nvSpPr>
          <p:cNvPr id="594"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595"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7.6.2 </a:t>
            </a:r>
            <a:r>
              <a:rPr lang="zh-CN" sz="2400" b="0" u="none" strike="noStrike">
                <a:solidFill>
                  <a:srgbClr val="d9d9d9"/>
                </a:solidFill>
                <a:effectLst/>
                <a:uFillTx/>
                <a:latin typeface="Bodoni MT Black"/>
              </a:rPr>
              <a:t>控制结构测试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6"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597" name="PlaceHolder 2"/>
          <p:cNvSpPr>
            <a:spLocks noGrp="1"/>
          </p:cNvSpPr>
          <p:nvPr>
            <p:ph/>
          </p:nvPr>
        </p:nvSpPr>
        <p:spPr>
          <a:xfrm>
            <a:off x="395280" y="1052640"/>
            <a:ext cx="8229240" cy="604440"/>
          </a:xfrm>
          <a:prstGeom prst="rect">
            <a:avLst/>
          </a:prstGeom>
          <a:noFill/>
          <a:ln w="9360">
            <a:noFill/>
          </a:ln>
        </p:spPr>
        <p:txBody>
          <a:bodyPr numCol="1" spcCol="0" lIns="91440" rIns="91440" tIns="45720" bIns="45720" anchor="t">
            <a:noAutofit/>
          </a:bodyPr>
          <a:p>
            <a:pPr indent="0">
              <a:lnSpc>
                <a:spcPct val="100000"/>
              </a:lnSpc>
              <a:spcBef>
                <a:spcPts val="479"/>
              </a:spcBef>
              <a:buNone/>
              <a:tabLst>
                <a:tab algn="l" pos="0"/>
              </a:tabLst>
            </a:pPr>
            <a:r>
              <a:rPr lang="en-US" sz="2400" b="1" u="none" strike="noStrike">
                <a:solidFill>
                  <a:schemeClr val="dk1"/>
                </a:solidFill>
                <a:effectLst/>
                <a:uFillTx/>
                <a:latin typeface="Bodoni MT Black"/>
              </a:rPr>
              <a:t>2. </a:t>
            </a:r>
            <a:r>
              <a:rPr lang="zh-CN" sz="2400" b="1" u="none" strike="noStrike">
                <a:solidFill>
                  <a:schemeClr val="dk1"/>
                </a:solidFill>
                <a:effectLst/>
                <a:uFillTx/>
                <a:latin typeface="Bodoni MT Black"/>
              </a:rPr>
              <a:t>条件测试</a:t>
            </a:r>
            <a:endParaRPr lang="es-ES" sz="2400" b="0" u="none" strike="noStrike">
              <a:solidFill>
                <a:schemeClr val="dk1"/>
              </a:solidFill>
              <a:effectLst/>
              <a:uFillTx/>
              <a:latin typeface="Calibri"/>
            </a:endParaRPr>
          </a:p>
        </p:txBody>
      </p:sp>
      <p:sp>
        <p:nvSpPr>
          <p:cNvPr id="598" name="TextBox 7"/>
          <p:cNvSpPr/>
          <p:nvPr/>
        </p:nvSpPr>
        <p:spPr>
          <a:xfrm>
            <a:off x="395280" y="1628640"/>
            <a:ext cx="8497440" cy="3875040"/>
          </a:xfrm>
          <a:prstGeom prst="rect">
            <a:avLst/>
          </a:prstGeom>
          <a:noFill/>
          <a:ln w="0">
            <a:noFill/>
          </a:ln>
        </p:spPr>
        <p:style>
          <a:lnRef idx="0"/>
          <a:fillRef idx="0"/>
          <a:effectRef idx="0"/>
          <a:fontRef idx="minor"/>
        </p:style>
        <p:txBody>
          <a:bodyPr lIns="90000" rIns="90000" tIns="45000" bIns="45000" anchor="t">
            <a:spAutoFit/>
          </a:bodyPr>
          <a:p>
            <a:pPr>
              <a:lnSpc>
                <a:spcPts val="3101"/>
              </a:lnSpc>
              <a:tabLst>
                <a:tab algn="l" pos="0"/>
              </a:tabLst>
            </a:pPr>
            <a:r>
              <a:rPr lang="en-US" sz="2200" b="1" u="none" strike="noStrike">
                <a:solidFill>
                  <a:srgbClr val="0070c0"/>
                </a:solidFill>
                <a:effectLst/>
                <a:uFillTx/>
                <a:latin typeface="Bodoni MT Black"/>
              </a:rPr>
              <a:t>C2</a:t>
            </a:r>
            <a:r>
              <a:rPr lang="zh-CN" sz="2200" b="1" u="none" strike="noStrike">
                <a:solidFill>
                  <a:srgbClr val="0070c0"/>
                </a:solidFill>
                <a:effectLst/>
                <a:uFillTx/>
                <a:latin typeface="Bodoni MT Black"/>
              </a:rPr>
              <a:t>：</a:t>
            </a:r>
            <a:r>
              <a:rPr lang="en-US" sz="2200" b="1" u="none" strike="noStrike">
                <a:solidFill>
                  <a:srgbClr val="0070c0"/>
                </a:solidFill>
                <a:effectLst/>
                <a:uFillTx/>
                <a:latin typeface="Bodoni MT Black"/>
              </a:rPr>
              <a:t>B1 &amp; (E3=E4)</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rPr>
              <a:t>B1</a:t>
            </a:r>
            <a:r>
              <a:rPr lang="zh-CN" sz="2200" b="0" u="none" strike="noStrike">
                <a:solidFill>
                  <a:schemeClr val="dk1"/>
                </a:solidFill>
                <a:effectLst/>
                <a:uFillTx/>
                <a:latin typeface="Bodoni MT Black"/>
              </a:rPr>
              <a:t>是布尔变量，</a:t>
            </a:r>
            <a:r>
              <a:rPr lang="en-US" sz="2200" b="0" u="none" strike="noStrike">
                <a:solidFill>
                  <a:schemeClr val="dk1"/>
                </a:solidFill>
                <a:effectLst/>
                <a:uFillTx/>
                <a:latin typeface="Bodoni MT Black"/>
              </a:rPr>
              <a:t>E3</a:t>
            </a:r>
            <a:r>
              <a:rPr lang="zh-CN" sz="2200" b="0" u="none" strike="noStrike">
                <a:solidFill>
                  <a:schemeClr val="dk1"/>
                </a:solidFill>
                <a:effectLst/>
                <a:uFillTx/>
                <a:latin typeface="Bodoni MT Black"/>
              </a:rPr>
              <a:t>和</a:t>
            </a:r>
            <a:r>
              <a:rPr lang="en-US" sz="2200" b="0" u="none" strike="noStrike">
                <a:solidFill>
                  <a:schemeClr val="dk1"/>
                </a:solidFill>
                <a:effectLst/>
                <a:uFillTx/>
                <a:latin typeface="Bodoni MT Black"/>
              </a:rPr>
              <a:t>E4</a:t>
            </a:r>
            <a:r>
              <a:rPr lang="zh-CN" sz="2200" b="0" u="none" strike="noStrike">
                <a:solidFill>
                  <a:schemeClr val="dk1"/>
                </a:solidFill>
                <a:effectLst/>
                <a:uFillTx/>
                <a:latin typeface="Bodoni MT Black"/>
              </a:rPr>
              <a:t>是算术表达式。</a:t>
            </a:r>
            <a:r>
              <a:rPr lang="en-US" sz="2200" b="0" u="none" strike="noStrike">
                <a:solidFill>
                  <a:schemeClr val="dk1"/>
                </a:solidFill>
                <a:effectLst/>
                <a:uFillTx/>
                <a:latin typeface="Bodoni MT Black"/>
              </a:rPr>
              <a:t>C2</a:t>
            </a:r>
            <a:r>
              <a:rPr lang="zh-CN" sz="2200" b="0" u="none" strike="noStrike">
                <a:solidFill>
                  <a:schemeClr val="dk1"/>
                </a:solidFill>
                <a:effectLst/>
                <a:uFillTx/>
                <a:latin typeface="Bodoni MT Black"/>
              </a:rPr>
              <a:t>的条件约束形式为</a:t>
            </a:r>
            <a:r>
              <a:rPr lang="en-US" sz="2200" b="1" u="none" strike="noStrike">
                <a:solidFill>
                  <a:schemeClr val="dk1"/>
                </a:solidFill>
                <a:effectLst/>
                <a:uFillTx/>
                <a:latin typeface="Bodoni MT Black"/>
              </a:rPr>
              <a:t>(D1,D2)</a:t>
            </a:r>
            <a:r>
              <a:rPr lang="zh-CN" sz="2200" b="0" u="none" strike="noStrike">
                <a:solidFill>
                  <a:schemeClr val="dk1"/>
                </a:solidFill>
                <a:effectLst/>
                <a:uFillTx/>
                <a:latin typeface="Bodoni MT Black"/>
              </a:rPr>
              <a:t>，其中</a:t>
            </a:r>
            <a:r>
              <a:rPr lang="en-US" sz="2200" b="0" u="none" strike="noStrike">
                <a:solidFill>
                  <a:schemeClr val="dk1"/>
                </a:solidFill>
                <a:effectLst/>
                <a:uFillTx/>
                <a:latin typeface="Bodoni MT Black"/>
              </a:rPr>
              <a:t>D1</a:t>
            </a:r>
            <a:r>
              <a:rPr lang="zh-CN" sz="2200" b="0" u="none" strike="noStrike">
                <a:solidFill>
                  <a:schemeClr val="dk1"/>
                </a:solidFill>
                <a:effectLst/>
                <a:uFillTx/>
                <a:latin typeface="Bodoni MT Black"/>
              </a:rPr>
              <a:t>是</a:t>
            </a:r>
            <a:r>
              <a:rPr lang="en-US" sz="2200" b="1" u="none" strike="noStrike">
                <a:solidFill>
                  <a:schemeClr val="dk1"/>
                </a:solidFill>
                <a:effectLst/>
                <a:uFillTx/>
                <a:latin typeface="Bodoni MT Black"/>
              </a:rPr>
              <a:t>t</a:t>
            </a:r>
            <a:r>
              <a:rPr lang="zh-CN" sz="2200" b="0" u="none" strike="noStrike">
                <a:solidFill>
                  <a:schemeClr val="dk1"/>
                </a:solidFill>
                <a:effectLst/>
                <a:uFillTx/>
                <a:latin typeface="Bodoni MT Black"/>
              </a:rPr>
              <a:t>或</a:t>
            </a:r>
            <a:r>
              <a:rPr lang="en-US" sz="2200" b="1" u="none" strike="noStrike">
                <a:solidFill>
                  <a:schemeClr val="dk1"/>
                </a:solidFill>
                <a:effectLst/>
                <a:uFillTx/>
                <a:latin typeface="Bodoni MT Black"/>
              </a:rPr>
              <a:t>f</a:t>
            </a:r>
            <a:r>
              <a:rPr lang="zh-CN" sz="2200" b="0" u="none" strike="noStrike">
                <a:solidFill>
                  <a:schemeClr val="dk1"/>
                </a:solidFill>
                <a:effectLst/>
                <a:uFillTx/>
                <a:latin typeface="Bodoni MT Black"/>
              </a:rPr>
              <a:t>，</a:t>
            </a:r>
            <a:r>
              <a:rPr lang="en-US" sz="2200" b="0" u="none" strike="noStrike">
                <a:solidFill>
                  <a:schemeClr val="dk1"/>
                </a:solidFill>
                <a:effectLst/>
                <a:uFillTx/>
                <a:latin typeface="Bodoni MT Black"/>
              </a:rPr>
              <a:t>D2</a:t>
            </a:r>
            <a:r>
              <a:rPr lang="zh-CN" sz="2200" b="0" u="none" strike="noStrike">
                <a:solidFill>
                  <a:schemeClr val="dk1"/>
                </a:solidFill>
                <a:effectLst/>
                <a:uFillTx/>
                <a:latin typeface="Bodoni MT Black"/>
              </a:rPr>
              <a:t>是</a:t>
            </a:r>
            <a:r>
              <a:rPr lang="en-US" sz="2200" b="1" u="none" strike="noStrike">
                <a:solidFill>
                  <a:schemeClr val="dk1"/>
                </a:solidFill>
                <a:effectLst/>
                <a:uFillTx/>
                <a:latin typeface="Bodoni MT Black"/>
              </a:rPr>
              <a:t>&gt;</a:t>
            </a:r>
            <a:r>
              <a:rPr lang="en-US" sz="2200" b="0" u="none" strike="noStrike">
                <a:solidFill>
                  <a:schemeClr val="dk1"/>
                </a:solidFill>
                <a:effectLst/>
                <a:uFillTx/>
                <a:latin typeface="Bodoni MT Black"/>
              </a:rPr>
              <a:t>,</a:t>
            </a:r>
            <a:r>
              <a:rPr lang="en-US" sz="2200" b="1" u="none" strike="noStrike">
                <a:solidFill>
                  <a:schemeClr val="dk1"/>
                </a:solidFill>
                <a:effectLst/>
                <a:uFillTx/>
                <a:latin typeface="Bodoni MT Black"/>
              </a:rPr>
              <a:t>=</a:t>
            </a:r>
            <a:r>
              <a:rPr lang="zh-CN" sz="2200" b="0" u="none" strike="noStrike">
                <a:solidFill>
                  <a:schemeClr val="dk1"/>
                </a:solidFill>
                <a:effectLst/>
                <a:uFillTx/>
                <a:latin typeface="Bodoni MT Black"/>
              </a:rPr>
              <a:t>或</a:t>
            </a:r>
            <a:r>
              <a:rPr lang="en-US" sz="2200" b="1" u="none" strike="noStrike">
                <a:solidFill>
                  <a:schemeClr val="dk1"/>
                </a:solidFill>
                <a:effectLst/>
                <a:uFillTx/>
                <a:latin typeface="Bodoni MT Black"/>
              </a:rPr>
              <a:t>&lt;</a:t>
            </a:r>
            <a:r>
              <a:rPr lang="zh-CN" sz="2200" b="0" u="none" strike="noStrike">
                <a:solidFill>
                  <a:schemeClr val="dk1"/>
                </a:solidFill>
                <a:effectLst/>
                <a:uFillTx/>
                <a:latin typeface="Bodoni MT Black"/>
              </a:rPr>
              <a:t>。除了</a:t>
            </a:r>
            <a:r>
              <a:rPr lang="en-US" sz="2200" b="0" u="none" strike="noStrike">
                <a:solidFill>
                  <a:schemeClr val="dk1"/>
                </a:solidFill>
                <a:effectLst/>
                <a:uFillTx/>
                <a:latin typeface="Bodoni MT Black"/>
              </a:rPr>
              <a:t>C2</a:t>
            </a:r>
            <a:r>
              <a:rPr lang="zh-CN" sz="2200" b="0" u="none" strike="noStrike">
                <a:solidFill>
                  <a:schemeClr val="dk1"/>
                </a:solidFill>
                <a:effectLst/>
                <a:uFillTx/>
                <a:latin typeface="Bodoni MT Black"/>
              </a:rPr>
              <a:t>的第二个简单条件是关系表达式之外，</a:t>
            </a:r>
            <a:r>
              <a:rPr lang="en-US" sz="2200" b="0" u="none" strike="noStrike">
                <a:solidFill>
                  <a:schemeClr val="dk1"/>
                </a:solidFill>
                <a:effectLst/>
                <a:uFillTx/>
                <a:latin typeface="Bodoni MT Black"/>
              </a:rPr>
              <a:t>C2</a:t>
            </a:r>
            <a:r>
              <a:rPr lang="zh-CN" sz="2200" b="0" u="none" strike="noStrike">
                <a:solidFill>
                  <a:schemeClr val="dk1"/>
                </a:solidFill>
                <a:effectLst/>
                <a:uFillTx/>
                <a:latin typeface="Bodoni MT Black"/>
              </a:rPr>
              <a:t>和</a:t>
            </a:r>
            <a:r>
              <a:rPr lang="en-US" sz="2200" b="0" u="none" strike="noStrike">
                <a:solidFill>
                  <a:schemeClr val="dk1"/>
                </a:solidFill>
                <a:effectLst/>
                <a:uFillTx/>
                <a:latin typeface="Bodoni MT Black"/>
              </a:rPr>
              <a:t>C1</a:t>
            </a:r>
            <a:r>
              <a:rPr lang="zh-CN" sz="2200" b="0" u="none" strike="noStrike">
                <a:solidFill>
                  <a:schemeClr val="dk1"/>
                </a:solidFill>
                <a:effectLst/>
                <a:uFillTx/>
                <a:latin typeface="Bodoni MT Black"/>
              </a:rPr>
              <a:t>相同，故可以通过修改</a:t>
            </a:r>
            <a:r>
              <a:rPr lang="en-US" sz="2200" b="0" u="none" strike="noStrike">
                <a:solidFill>
                  <a:schemeClr val="dk1"/>
                </a:solidFill>
                <a:effectLst/>
                <a:uFillTx/>
                <a:latin typeface="Bodoni MT Black"/>
              </a:rPr>
              <a:t>C1</a:t>
            </a:r>
            <a:r>
              <a:rPr lang="zh-CN" sz="2200" b="0" u="none" strike="noStrike">
                <a:solidFill>
                  <a:schemeClr val="dk1"/>
                </a:solidFill>
                <a:effectLst/>
                <a:uFillTx/>
                <a:latin typeface="Bodoni MT Black"/>
              </a:rPr>
              <a:t>的约束集</a:t>
            </a:r>
            <a:r>
              <a:rPr lang="en-US" sz="2200" b="1" u="none" strike="noStrike">
                <a:solidFill>
                  <a:srgbClr val="ff0000"/>
                </a:solidFill>
                <a:effectLst/>
                <a:uFillTx/>
                <a:latin typeface="Bodoni MT Black"/>
              </a:rPr>
              <a:t>{(t,t),(f,t),(t,f)}</a:t>
            </a:r>
            <a:r>
              <a:rPr lang="zh-CN" sz="2200" b="0" u="none" strike="noStrike">
                <a:solidFill>
                  <a:schemeClr val="dk1"/>
                </a:solidFill>
                <a:effectLst/>
                <a:uFillTx/>
                <a:latin typeface="Bodoni MT Black"/>
              </a:rPr>
              <a:t>得出</a:t>
            </a:r>
            <a:r>
              <a:rPr lang="en-US" sz="2200" b="0" u="none" strike="noStrike">
                <a:solidFill>
                  <a:schemeClr val="dk1"/>
                </a:solidFill>
                <a:effectLst/>
                <a:uFillTx/>
                <a:latin typeface="Bodoni MT Black"/>
              </a:rPr>
              <a:t>C2</a:t>
            </a:r>
            <a:r>
              <a:rPr lang="zh-CN" sz="2200" b="0" u="none" strike="noStrike">
                <a:solidFill>
                  <a:schemeClr val="dk1"/>
                </a:solidFill>
                <a:effectLst/>
                <a:uFillTx/>
                <a:latin typeface="Bodoni MT Black"/>
              </a:rPr>
              <a:t>的约束集。</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rPr>
              <a:t>      注意，对于</a:t>
            </a:r>
            <a:r>
              <a:rPr lang="en-US" sz="2200" b="0" u="none" strike="noStrike">
                <a:solidFill>
                  <a:schemeClr val="dk1"/>
                </a:solidFill>
                <a:effectLst/>
                <a:uFillTx/>
                <a:latin typeface="Bodoni MT Black"/>
              </a:rPr>
              <a:t>(E3=E4)</a:t>
            </a:r>
            <a:r>
              <a:rPr lang="zh-CN" sz="2200" b="0" u="none" strike="noStrike">
                <a:solidFill>
                  <a:schemeClr val="dk1"/>
                </a:solidFill>
                <a:effectLst/>
                <a:uFillTx/>
                <a:latin typeface="Bodoni MT Black"/>
              </a:rPr>
              <a:t>来说，</a:t>
            </a:r>
            <a:r>
              <a:rPr lang="en-US" sz="2200" b="0" u="none" strike="noStrike">
                <a:solidFill>
                  <a:schemeClr val="dk1"/>
                </a:solidFill>
                <a:effectLst/>
                <a:uFillTx/>
                <a:latin typeface="Bodoni MT Black"/>
              </a:rPr>
              <a:t>t</a:t>
            </a:r>
            <a:r>
              <a:rPr lang="zh-CN" sz="2200" b="0" u="none" strike="noStrike">
                <a:solidFill>
                  <a:schemeClr val="dk1"/>
                </a:solidFill>
                <a:effectLst/>
                <a:uFillTx/>
                <a:latin typeface="Bodoni MT Black"/>
              </a:rPr>
              <a:t>意味</a:t>
            </a:r>
            <a:r>
              <a:rPr lang="en-US" sz="2200" b="0" u="none" strike="noStrike">
                <a:solidFill>
                  <a:schemeClr val="dk1"/>
                </a:solidFill>
                <a:effectLst/>
                <a:uFillTx/>
                <a:latin typeface="Bodoni MT Black"/>
              </a:rPr>
              <a:t>=</a:t>
            </a:r>
            <a:r>
              <a:rPr lang="zh-CN" sz="2200" b="0" u="none" strike="noStrike">
                <a:solidFill>
                  <a:schemeClr val="dk1"/>
                </a:solidFill>
                <a:effectLst/>
                <a:uFillTx/>
                <a:latin typeface="Bodoni MT Black"/>
              </a:rPr>
              <a:t>，而</a:t>
            </a:r>
            <a:r>
              <a:rPr lang="en-US" sz="2200" b="0" u="none" strike="noStrike">
                <a:solidFill>
                  <a:schemeClr val="dk1"/>
                </a:solidFill>
                <a:effectLst/>
                <a:uFillTx/>
                <a:latin typeface="Bodoni MT Black"/>
              </a:rPr>
              <a:t>f</a:t>
            </a:r>
            <a:r>
              <a:rPr lang="zh-CN" sz="2200" b="0" u="none" strike="noStrike">
                <a:solidFill>
                  <a:schemeClr val="dk1"/>
                </a:solidFill>
                <a:effectLst/>
                <a:uFillTx/>
                <a:latin typeface="Bodoni MT Black"/>
              </a:rPr>
              <a:t>意味着</a:t>
            </a:r>
            <a:r>
              <a:rPr lang="en-US" sz="2200" b="0" u="none" strike="noStrike">
                <a:solidFill>
                  <a:schemeClr val="dk1"/>
                </a:solidFill>
                <a:effectLst/>
                <a:uFillTx/>
                <a:latin typeface="Bodoni MT Black"/>
              </a:rPr>
              <a:t>&lt;</a:t>
            </a:r>
            <a:r>
              <a:rPr lang="zh-CN" sz="2200" b="0" u="none" strike="noStrike">
                <a:solidFill>
                  <a:schemeClr val="dk1"/>
                </a:solidFill>
                <a:effectLst/>
                <a:uFillTx/>
                <a:latin typeface="Bodoni MT Black"/>
              </a:rPr>
              <a:t>或</a:t>
            </a:r>
            <a:r>
              <a:rPr lang="en-US" sz="2200" b="0" u="none" strike="noStrike">
                <a:solidFill>
                  <a:schemeClr val="dk1"/>
                </a:solidFill>
                <a:effectLst/>
                <a:uFillTx/>
                <a:latin typeface="Bodoni MT Black"/>
              </a:rPr>
              <a:t>&gt;</a:t>
            </a:r>
            <a:r>
              <a:rPr lang="zh-CN" sz="2200" b="0" u="none" strike="noStrike">
                <a:solidFill>
                  <a:schemeClr val="dk1"/>
                </a:solidFill>
                <a:effectLst/>
                <a:uFillTx/>
                <a:latin typeface="Bodoni MT Black"/>
              </a:rPr>
              <a:t>，因此，分别用</a:t>
            </a:r>
            <a:r>
              <a:rPr lang="en-US" sz="2200" b="0" u="none" strike="noStrike">
                <a:solidFill>
                  <a:schemeClr val="dk1"/>
                </a:solidFill>
                <a:effectLst/>
                <a:uFillTx/>
                <a:latin typeface="Bodoni MT Black"/>
                <a:ea typeface="宋体"/>
              </a:rPr>
              <a:t>(t,=)</a:t>
            </a:r>
            <a:r>
              <a:rPr lang="zh-CN" sz="2200" b="0" u="none" strike="noStrike">
                <a:solidFill>
                  <a:schemeClr val="dk1"/>
                </a:solidFill>
                <a:effectLst/>
                <a:uFillTx/>
                <a:latin typeface="Bodoni MT Black"/>
                <a:ea typeface="宋体"/>
              </a:rPr>
              <a:t>和</a:t>
            </a:r>
            <a:r>
              <a:rPr lang="en-US" sz="2200" b="0" u="none" strike="noStrike">
                <a:solidFill>
                  <a:schemeClr val="dk1"/>
                </a:solidFill>
                <a:effectLst/>
                <a:uFillTx/>
                <a:latin typeface="Bodoni MT Black"/>
                <a:ea typeface="宋体"/>
              </a:rPr>
              <a:t>(f,=)</a:t>
            </a:r>
            <a:r>
              <a:rPr lang="zh-CN" sz="2200" b="0" u="none" strike="noStrike">
                <a:solidFill>
                  <a:schemeClr val="dk1"/>
                </a:solidFill>
                <a:effectLst/>
                <a:uFillTx/>
                <a:latin typeface="Bodoni MT Black"/>
                <a:ea typeface="宋体"/>
              </a:rPr>
              <a:t>替换</a:t>
            </a:r>
            <a:r>
              <a:rPr lang="en-US" sz="2200" b="0" u="none" strike="noStrike">
                <a:solidFill>
                  <a:schemeClr val="dk1"/>
                </a:solidFill>
                <a:effectLst/>
                <a:uFillTx/>
                <a:latin typeface="Bodoni MT Black"/>
                <a:ea typeface="宋体"/>
              </a:rPr>
              <a:t>(t,t)</a:t>
            </a:r>
            <a:r>
              <a:rPr lang="zh-CN" sz="2200" b="0" u="none" strike="noStrike">
                <a:solidFill>
                  <a:schemeClr val="dk1"/>
                </a:solidFill>
                <a:effectLst/>
                <a:uFillTx/>
                <a:latin typeface="Bodoni MT Black"/>
                <a:ea typeface="宋体"/>
              </a:rPr>
              <a:t>和</a:t>
            </a:r>
            <a:r>
              <a:rPr lang="en-US" sz="2200" b="0" u="none" strike="noStrike">
                <a:solidFill>
                  <a:schemeClr val="dk1"/>
                </a:solidFill>
                <a:effectLst/>
                <a:uFillTx/>
                <a:latin typeface="Bodoni MT Black"/>
                <a:ea typeface="宋体"/>
              </a:rPr>
              <a:t>(f,t)</a:t>
            </a:r>
            <a:r>
              <a:rPr lang="zh-CN" sz="2200" b="0" u="none" strike="noStrike">
                <a:solidFill>
                  <a:schemeClr val="dk1"/>
                </a:solidFill>
                <a:effectLst/>
                <a:uFillTx/>
                <a:latin typeface="Bodoni MT Black"/>
                <a:ea typeface="宋体"/>
              </a:rPr>
              <a:t>，并用</a:t>
            </a:r>
            <a:r>
              <a:rPr lang="en-US" sz="2200" b="0" u="none" strike="noStrike">
                <a:solidFill>
                  <a:schemeClr val="dk1"/>
                </a:solidFill>
                <a:effectLst/>
                <a:uFillTx/>
                <a:latin typeface="Bodoni MT Black"/>
                <a:ea typeface="宋体"/>
              </a:rPr>
              <a:t>(t,&lt;)</a:t>
            </a:r>
            <a:r>
              <a:rPr lang="zh-CN" sz="2200" b="0" u="none" strike="noStrike">
                <a:solidFill>
                  <a:schemeClr val="dk1"/>
                </a:solidFill>
                <a:effectLst/>
                <a:uFillTx/>
                <a:latin typeface="Bodoni MT Black"/>
                <a:ea typeface="宋体"/>
              </a:rPr>
              <a:t>和</a:t>
            </a:r>
            <a:r>
              <a:rPr lang="en-US" sz="2200" b="0" u="none" strike="noStrike">
                <a:solidFill>
                  <a:schemeClr val="dk1"/>
                </a:solidFill>
                <a:effectLst/>
                <a:uFillTx/>
                <a:latin typeface="Bodoni MT Black"/>
                <a:ea typeface="宋体"/>
              </a:rPr>
              <a:t>(t,&gt;)</a:t>
            </a:r>
            <a:r>
              <a:rPr lang="zh-CN" sz="2200" b="0" u="none" strike="noStrike">
                <a:solidFill>
                  <a:schemeClr val="dk1"/>
                </a:solidFill>
                <a:effectLst/>
                <a:uFillTx/>
                <a:latin typeface="Bodoni MT Black"/>
                <a:ea typeface="宋体"/>
              </a:rPr>
              <a:t>替换</a:t>
            </a:r>
            <a:r>
              <a:rPr lang="en-US" sz="2200" b="0" u="none" strike="noStrike">
                <a:solidFill>
                  <a:schemeClr val="dk1"/>
                </a:solidFill>
                <a:effectLst/>
                <a:uFillTx/>
                <a:latin typeface="Bodoni MT Black"/>
                <a:ea typeface="宋体"/>
              </a:rPr>
              <a:t>(t,f)</a:t>
            </a:r>
            <a:r>
              <a:rPr lang="zh-CN" sz="2200" b="0" u="none" strike="noStrike">
                <a:solidFill>
                  <a:schemeClr val="dk1"/>
                </a:solidFill>
                <a:effectLst/>
                <a:uFillTx/>
                <a:latin typeface="Bodoni MT Black"/>
                <a:ea typeface="宋体"/>
              </a:rPr>
              <a:t>，就得到</a:t>
            </a:r>
            <a:r>
              <a:rPr lang="en-US" sz="2200" b="0" u="none" strike="noStrike">
                <a:solidFill>
                  <a:schemeClr val="dk1"/>
                </a:solidFill>
                <a:effectLst/>
                <a:uFillTx/>
                <a:latin typeface="Bodoni MT Black"/>
                <a:ea typeface="宋体"/>
              </a:rPr>
              <a:t>C2</a:t>
            </a:r>
            <a:r>
              <a:rPr lang="zh-CN" sz="2200" b="0" u="none" strike="noStrike">
                <a:solidFill>
                  <a:schemeClr val="dk1"/>
                </a:solidFill>
                <a:effectLst/>
                <a:uFillTx/>
                <a:latin typeface="Bodoni MT Black"/>
                <a:ea typeface="宋体"/>
              </a:rPr>
              <a:t>的约束集</a:t>
            </a:r>
            <a:r>
              <a:rPr lang="en-US" sz="2200" b="1" u="none" strike="noStrike">
                <a:solidFill>
                  <a:srgbClr val="ff0000"/>
                </a:solidFill>
                <a:effectLst/>
                <a:uFillTx/>
                <a:latin typeface="Bodoni MT Black"/>
                <a:ea typeface="宋体"/>
              </a:rPr>
              <a:t>{(t,=),(f,=),(t,&lt;),(t,&gt;)}</a:t>
            </a:r>
            <a:r>
              <a:rPr lang="zh-CN" sz="2200" b="0" u="none" strike="noStrike">
                <a:solidFill>
                  <a:schemeClr val="dk1"/>
                </a:solidFill>
                <a:effectLst/>
                <a:uFillTx/>
                <a:latin typeface="Bodoni MT Black"/>
                <a:ea typeface="宋体"/>
              </a:rPr>
              <a:t>。覆盖上述条件约束集的测试，保证可以发现</a:t>
            </a:r>
            <a:r>
              <a:rPr lang="en-US" sz="2200" b="0" u="none" strike="noStrike">
                <a:solidFill>
                  <a:schemeClr val="dk1"/>
                </a:solidFill>
                <a:effectLst/>
                <a:uFillTx/>
                <a:latin typeface="Bodoni MT Black"/>
                <a:ea typeface="宋体"/>
              </a:rPr>
              <a:t>C2</a:t>
            </a:r>
            <a:r>
              <a:rPr lang="zh-CN" sz="2200" b="0" u="none" strike="noStrike">
                <a:solidFill>
                  <a:schemeClr val="dk1"/>
                </a:solidFill>
                <a:effectLst/>
                <a:uFillTx/>
                <a:latin typeface="Bodoni MT Black"/>
                <a:ea typeface="宋体"/>
              </a:rPr>
              <a:t>中布尔算符和关系算符的错误。    </a:t>
            </a:r>
            <a:endParaRPr lang="en-US" sz="2200" b="0" u="none" strike="noStrike">
              <a:solidFill>
                <a:srgbClr val="000000"/>
              </a:solidFill>
              <a:effectLst/>
              <a:uFillTx/>
              <a:latin typeface="Arial"/>
            </a:endParaRPr>
          </a:p>
        </p:txBody>
      </p:sp>
      <p:sp>
        <p:nvSpPr>
          <p:cNvPr id="599"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600"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7.6.2 </a:t>
            </a:r>
            <a:r>
              <a:rPr lang="zh-CN" sz="2400" b="0" u="none" strike="noStrike">
                <a:solidFill>
                  <a:srgbClr val="d9d9d9"/>
                </a:solidFill>
                <a:effectLst/>
                <a:uFillTx/>
                <a:latin typeface="Bodoni MT Black"/>
              </a:rPr>
              <a:t>控制结构测试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1"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602" name="PlaceHolder 2"/>
          <p:cNvSpPr>
            <a:spLocks noGrp="1"/>
          </p:cNvSpPr>
          <p:nvPr>
            <p:ph/>
          </p:nvPr>
        </p:nvSpPr>
        <p:spPr>
          <a:xfrm>
            <a:off x="395280" y="1052640"/>
            <a:ext cx="8229240" cy="604440"/>
          </a:xfrm>
          <a:prstGeom prst="rect">
            <a:avLst/>
          </a:prstGeom>
          <a:noFill/>
          <a:ln w="9360">
            <a:noFill/>
          </a:ln>
        </p:spPr>
        <p:txBody>
          <a:bodyPr numCol="1" spcCol="0" lIns="91440" rIns="91440" tIns="45720" bIns="45720" anchor="t">
            <a:noAutofit/>
          </a:bodyPr>
          <a:p>
            <a:pPr indent="0">
              <a:lnSpc>
                <a:spcPct val="100000"/>
              </a:lnSpc>
              <a:spcBef>
                <a:spcPts val="479"/>
              </a:spcBef>
              <a:buNone/>
              <a:tabLst>
                <a:tab algn="l" pos="0"/>
              </a:tabLst>
            </a:pPr>
            <a:r>
              <a:rPr lang="en-US" sz="2400" b="1" u="none" strike="noStrike">
                <a:solidFill>
                  <a:schemeClr val="dk1"/>
                </a:solidFill>
                <a:effectLst/>
                <a:uFillTx/>
                <a:latin typeface="Bodoni MT Black"/>
              </a:rPr>
              <a:t>2. </a:t>
            </a:r>
            <a:r>
              <a:rPr lang="zh-CN" sz="2400" b="1" u="none" strike="noStrike">
                <a:solidFill>
                  <a:schemeClr val="dk1"/>
                </a:solidFill>
                <a:effectLst/>
                <a:uFillTx/>
                <a:latin typeface="Bodoni MT Black"/>
              </a:rPr>
              <a:t>条件测试</a:t>
            </a:r>
            <a:endParaRPr lang="es-ES" sz="2400" b="0" u="none" strike="noStrike">
              <a:solidFill>
                <a:schemeClr val="dk1"/>
              </a:solidFill>
              <a:effectLst/>
              <a:uFillTx/>
              <a:latin typeface="Calibri"/>
            </a:endParaRPr>
          </a:p>
        </p:txBody>
      </p:sp>
      <p:sp>
        <p:nvSpPr>
          <p:cNvPr id="603" name="TextBox 7"/>
          <p:cNvSpPr/>
          <p:nvPr/>
        </p:nvSpPr>
        <p:spPr>
          <a:xfrm>
            <a:off x="395280" y="1773360"/>
            <a:ext cx="8424720" cy="2784960"/>
          </a:xfrm>
          <a:prstGeom prst="rect">
            <a:avLst/>
          </a:prstGeom>
          <a:noFill/>
          <a:ln w="0">
            <a:noFill/>
          </a:ln>
        </p:spPr>
        <p:style>
          <a:lnRef idx="0"/>
          <a:fillRef idx="0"/>
          <a:effectRef idx="0"/>
          <a:fontRef idx="minor"/>
        </p:style>
        <p:txBody>
          <a:bodyPr lIns="90000" rIns="90000" tIns="45000" bIns="45000" anchor="t">
            <a:spAutoFit/>
          </a:bodyPr>
          <a:p>
            <a:pPr>
              <a:lnSpc>
                <a:spcPts val="3501"/>
              </a:lnSpc>
              <a:tabLst>
                <a:tab algn="l" pos="0"/>
              </a:tabLst>
            </a:pPr>
            <a:r>
              <a:rPr lang="en-US" sz="2200" b="1" u="none" strike="noStrike">
                <a:solidFill>
                  <a:srgbClr val="0070c0"/>
                </a:solidFill>
                <a:effectLst/>
                <a:uFillTx/>
                <a:latin typeface="Bodoni MT Black"/>
              </a:rPr>
              <a:t>C3</a:t>
            </a:r>
            <a:r>
              <a:rPr lang="zh-CN" sz="2200" b="1" u="none" strike="noStrike">
                <a:solidFill>
                  <a:srgbClr val="0070c0"/>
                </a:solidFill>
                <a:effectLst/>
                <a:uFillTx/>
                <a:latin typeface="Bodoni MT Black"/>
              </a:rPr>
              <a:t>：</a:t>
            </a:r>
            <a:r>
              <a:rPr lang="en-US" sz="2200" b="1" u="none" strike="noStrike">
                <a:solidFill>
                  <a:srgbClr val="0070c0"/>
                </a:solidFill>
                <a:effectLst/>
                <a:uFillTx/>
                <a:latin typeface="Bodoni MT Black"/>
                <a:ea typeface="宋体"/>
              </a:rPr>
              <a:t>(E1&gt;E2) &amp; (E3=E4)</a:t>
            </a:r>
            <a:endParaRPr lang="en-US" sz="2200" b="0" u="none" strike="noStrike">
              <a:solidFill>
                <a:srgbClr val="000000"/>
              </a:solidFill>
              <a:effectLst/>
              <a:uFillTx/>
              <a:latin typeface="Arial"/>
            </a:endParaRPr>
          </a:p>
          <a:p>
            <a:pPr>
              <a:lnSpc>
                <a:spcPts val="3501"/>
              </a:lnSpc>
              <a:tabLst>
                <a:tab algn="l" pos="0"/>
              </a:tabLst>
            </a:pPr>
            <a:r>
              <a:rPr lang="en-US" sz="2200" b="0" u="none" strike="noStrike">
                <a:solidFill>
                  <a:schemeClr val="dk1"/>
                </a:solidFill>
                <a:effectLst/>
                <a:uFillTx/>
                <a:latin typeface="Bodoni MT Black"/>
                <a:ea typeface="宋体"/>
              </a:rPr>
              <a:t>E1</a:t>
            </a:r>
            <a:r>
              <a:rPr lang="zh-CN" sz="2200" b="0" u="none" strike="noStrike">
                <a:solidFill>
                  <a:schemeClr val="dk1"/>
                </a:solidFill>
                <a:effectLst/>
                <a:uFillTx/>
                <a:latin typeface="Bodoni MT Black"/>
                <a:ea typeface="宋体"/>
              </a:rPr>
              <a:t>、</a:t>
            </a:r>
            <a:r>
              <a:rPr lang="en-US" sz="2200" b="0" u="none" strike="noStrike">
                <a:solidFill>
                  <a:schemeClr val="dk1"/>
                </a:solidFill>
                <a:effectLst/>
                <a:uFillTx/>
                <a:latin typeface="Bodoni MT Black"/>
                <a:ea typeface="宋体"/>
              </a:rPr>
              <a:t>E2</a:t>
            </a:r>
            <a:r>
              <a:rPr lang="zh-CN" sz="2200" b="0" u="none" strike="noStrike">
                <a:solidFill>
                  <a:schemeClr val="dk1"/>
                </a:solidFill>
                <a:effectLst/>
                <a:uFillTx/>
                <a:latin typeface="Bodoni MT Black"/>
                <a:ea typeface="宋体"/>
              </a:rPr>
              <a:t>、</a:t>
            </a:r>
            <a:r>
              <a:rPr lang="en-US" sz="2200" b="0" u="none" strike="noStrike">
                <a:solidFill>
                  <a:schemeClr val="dk1"/>
                </a:solidFill>
                <a:effectLst/>
                <a:uFillTx/>
                <a:latin typeface="Bodoni MT Black"/>
                <a:ea typeface="宋体"/>
              </a:rPr>
              <a:t>E3</a:t>
            </a:r>
            <a:r>
              <a:rPr lang="zh-CN" sz="2200" b="0" u="none" strike="noStrike">
                <a:solidFill>
                  <a:schemeClr val="dk1"/>
                </a:solidFill>
                <a:effectLst/>
                <a:uFillTx/>
                <a:latin typeface="Bodoni MT Black"/>
                <a:ea typeface="宋体"/>
              </a:rPr>
              <a:t>和</a:t>
            </a:r>
            <a:r>
              <a:rPr lang="en-US" sz="2200" b="0" u="none" strike="noStrike">
                <a:solidFill>
                  <a:schemeClr val="dk1"/>
                </a:solidFill>
                <a:effectLst/>
                <a:uFillTx/>
                <a:latin typeface="Bodoni MT Black"/>
                <a:ea typeface="宋体"/>
              </a:rPr>
              <a:t>E4</a:t>
            </a:r>
            <a:r>
              <a:rPr lang="zh-CN" sz="2200" b="0" u="none" strike="noStrike">
                <a:solidFill>
                  <a:schemeClr val="dk1"/>
                </a:solidFill>
                <a:effectLst/>
                <a:uFillTx/>
                <a:latin typeface="Bodoni MT Black"/>
                <a:ea typeface="宋体"/>
              </a:rPr>
              <a:t>是算术表达式。</a:t>
            </a:r>
            <a:r>
              <a:rPr lang="en-US" sz="2200" b="0" u="none" strike="noStrike">
                <a:solidFill>
                  <a:schemeClr val="dk1"/>
                </a:solidFill>
                <a:effectLst/>
                <a:uFillTx/>
                <a:latin typeface="Bodoni MT Black"/>
                <a:ea typeface="宋体"/>
              </a:rPr>
              <a:t>C3</a:t>
            </a:r>
            <a:r>
              <a:rPr lang="zh-CN" sz="2200" b="0" u="none" strike="noStrike">
                <a:solidFill>
                  <a:schemeClr val="dk1"/>
                </a:solidFill>
                <a:effectLst/>
                <a:uFillTx/>
                <a:latin typeface="Bodoni MT Black"/>
                <a:ea typeface="宋体"/>
              </a:rPr>
              <a:t>的条件约束形式</a:t>
            </a:r>
            <a:r>
              <a:rPr lang="en-US" sz="2200" b="1" u="none" strike="noStrike">
                <a:solidFill>
                  <a:schemeClr val="dk1"/>
                </a:solidFill>
                <a:effectLst/>
                <a:uFillTx/>
                <a:latin typeface="Bodoni MT Black"/>
                <a:ea typeface="宋体"/>
              </a:rPr>
              <a:t>(D1,D2)</a:t>
            </a:r>
            <a:r>
              <a:rPr lang="zh-CN" sz="2200" b="0" u="none" strike="noStrike">
                <a:solidFill>
                  <a:schemeClr val="dk1"/>
                </a:solidFill>
                <a:effectLst/>
                <a:uFillTx/>
                <a:latin typeface="Bodoni MT Black"/>
                <a:ea typeface="宋体"/>
              </a:rPr>
              <a:t>，而</a:t>
            </a:r>
            <a:r>
              <a:rPr lang="en-US" sz="2200" b="0" u="none" strike="noStrike">
                <a:solidFill>
                  <a:schemeClr val="dk1"/>
                </a:solidFill>
                <a:effectLst/>
                <a:uFillTx/>
                <a:latin typeface="Bodoni MT Black"/>
                <a:ea typeface="宋体"/>
              </a:rPr>
              <a:t>D1</a:t>
            </a:r>
            <a:r>
              <a:rPr lang="zh-CN" sz="2200" b="0" u="none" strike="noStrike">
                <a:solidFill>
                  <a:schemeClr val="dk1"/>
                </a:solidFill>
                <a:effectLst/>
                <a:uFillTx/>
                <a:latin typeface="Bodoni MT Black"/>
                <a:ea typeface="宋体"/>
              </a:rPr>
              <a:t>和</a:t>
            </a:r>
            <a:r>
              <a:rPr lang="en-US" sz="2200" b="0" u="none" strike="noStrike">
                <a:solidFill>
                  <a:schemeClr val="dk1"/>
                </a:solidFill>
                <a:effectLst/>
                <a:uFillTx/>
                <a:latin typeface="Bodoni MT Black"/>
                <a:ea typeface="宋体"/>
              </a:rPr>
              <a:t>D2</a:t>
            </a:r>
            <a:r>
              <a:rPr lang="zh-CN" sz="2200" b="0" u="none" strike="noStrike">
                <a:solidFill>
                  <a:schemeClr val="dk1"/>
                </a:solidFill>
                <a:effectLst/>
                <a:uFillTx/>
                <a:latin typeface="Bodoni MT Black"/>
                <a:ea typeface="宋体"/>
              </a:rPr>
              <a:t>的每一个都是</a:t>
            </a:r>
            <a:r>
              <a:rPr lang="en-US" sz="2200" b="1" u="none" strike="noStrike">
                <a:solidFill>
                  <a:schemeClr val="dk1"/>
                </a:solidFill>
                <a:effectLst/>
                <a:uFillTx/>
                <a:latin typeface="Bodoni MT Black"/>
                <a:ea typeface="宋体"/>
              </a:rPr>
              <a:t>&gt;</a:t>
            </a:r>
            <a:r>
              <a:rPr lang="en-US" sz="2200" b="0" u="none" strike="noStrike">
                <a:solidFill>
                  <a:schemeClr val="dk1"/>
                </a:solidFill>
                <a:effectLst/>
                <a:uFillTx/>
                <a:latin typeface="Bodoni MT Black"/>
                <a:ea typeface="宋体"/>
              </a:rPr>
              <a:t>,</a:t>
            </a:r>
            <a:r>
              <a:rPr lang="en-US" sz="2200" b="1" u="none" strike="noStrike">
                <a:solidFill>
                  <a:schemeClr val="dk1"/>
                </a:solidFill>
                <a:effectLst/>
                <a:uFillTx/>
                <a:latin typeface="Bodoni MT Black"/>
                <a:ea typeface="宋体"/>
              </a:rPr>
              <a:t>=</a:t>
            </a:r>
            <a:r>
              <a:rPr lang="zh-CN" sz="2200" b="0" u="none" strike="noStrike">
                <a:solidFill>
                  <a:schemeClr val="dk1"/>
                </a:solidFill>
                <a:effectLst/>
                <a:uFillTx/>
                <a:latin typeface="Bodoni MT Black"/>
                <a:ea typeface="宋体"/>
              </a:rPr>
              <a:t>或</a:t>
            </a:r>
            <a:r>
              <a:rPr lang="en-US" sz="2200" b="1" u="none" strike="noStrike">
                <a:solidFill>
                  <a:schemeClr val="dk1"/>
                </a:solidFill>
                <a:effectLst/>
                <a:uFillTx/>
                <a:latin typeface="Bodoni MT Black"/>
                <a:ea typeface="宋体"/>
              </a:rPr>
              <a:t>&lt;</a:t>
            </a:r>
            <a:r>
              <a:rPr lang="zh-CN" sz="2200" b="0" u="none" strike="noStrike">
                <a:solidFill>
                  <a:schemeClr val="dk1"/>
                </a:solidFill>
                <a:effectLst/>
                <a:uFillTx/>
                <a:latin typeface="Bodoni MT Black"/>
                <a:ea typeface="宋体"/>
              </a:rPr>
              <a:t>。除了</a:t>
            </a:r>
            <a:r>
              <a:rPr lang="en-US" sz="2200" b="0" u="none" strike="noStrike">
                <a:solidFill>
                  <a:schemeClr val="dk1"/>
                </a:solidFill>
                <a:effectLst/>
                <a:uFillTx/>
                <a:latin typeface="Bodoni MT Black"/>
                <a:ea typeface="宋体"/>
              </a:rPr>
              <a:t>C3</a:t>
            </a:r>
            <a:r>
              <a:rPr lang="zh-CN" sz="2200" b="0" u="none" strike="noStrike">
                <a:solidFill>
                  <a:schemeClr val="dk1"/>
                </a:solidFill>
                <a:effectLst/>
                <a:uFillTx/>
                <a:latin typeface="Bodoni MT Black"/>
                <a:ea typeface="宋体"/>
              </a:rPr>
              <a:t>的第一个简单条件是关系表达式之外，</a:t>
            </a:r>
            <a:r>
              <a:rPr lang="en-US" sz="2200" b="0" u="none" strike="noStrike">
                <a:solidFill>
                  <a:schemeClr val="dk1"/>
                </a:solidFill>
                <a:effectLst/>
                <a:uFillTx/>
                <a:latin typeface="Bodoni MT Black"/>
                <a:ea typeface="宋体"/>
              </a:rPr>
              <a:t>C3</a:t>
            </a:r>
            <a:r>
              <a:rPr lang="zh-CN" sz="2200" b="0" u="none" strike="noStrike">
                <a:solidFill>
                  <a:schemeClr val="dk1"/>
                </a:solidFill>
                <a:effectLst/>
                <a:uFillTx/>
                <a:latin typeface="Bodoni MT Black"/>
                <a:ea typeface="宋体"/>
              </a:rPr>
              <a:t>和</a:t>
            </a:r>
            <a:r>
              <a:rPr lang="en-US" sz="2200" b="0" u="none" strike="noStrike">
                <a:solidFill>
                  <a:schemeClr val="dk1"/>
                </a:solidFill>
                <a:effectLst/>
                <a:uFillTx/>
                <a:latin typeface="Bodoni MT Black"/>
                <a:ea typeface="宋体"/>
              </a:rPr>
              <a:t>C2</a:t>
            </a:r>
            <a:r>
              <a:rPr lang="zh-CN" sz="2200" b="0" u="none" strike="noStrike">
                <a:solidFill>
                  <a:schemeClr val="dk1"/>
                </a:solidFill>
                <a:effectLst/>
                <a:uFillTx/>
                <a:latin typeface="Bodoni MT Black"/>
                <a:ea typeface="宋体"/>
              </a:rPr>
              <a:t>相同，因此，可以通过修改</a:t>
            </a:r>
            <a:r>
              <a:rPr lang="en-US" sz="2200" b="0" u="none" strike="noStrike">
                <a:solidFill>
                  <a:schemeClr val="dk1"/>
                </a:solidFill>
                <a:effectLst/>
                <a:uFillTx/>
                <a:latin typeface="Bodoni MT Black"/>
                <a:ea typeface="宋体"/>
              </a:rPr>
              <a:t>C2</a:t>
            </a:r>
            <a:r>
              <a:rPr lang="zh-CN" sz="2200" b="0" u="none" strike="noStrike">
                <a:solidFill>
                  <a:schemeClr val="dk1"/>
                </a:solidFill>
                <a:effectLst/>
                <a:uFillTx/>
                <a:latin typeface="Bodoni MT Black"/>
                <a:ea typeface="宋体"/>
              </a:rPr>
              <a:t>的约束集得到</a:t>
            </a:r>
            <a:r>
              <a:rPr lang="en-US" sz="2200" b="0" u="none" strike="noStrike">
                <a:solidFill>
                  <a:schemeClr val="dk1"/>
                </a:solidFill>
                <a:effectLst/>
                <a:uFillTx/>
                <a:latin typeface="Bodoni MT Black"/>
                <a:ea typeface="宋体"/>
              </a:rPr>
              <a:t>C3</a:t>
            </a:r>
            <a:r>
              <a:rPr lang="zh-CN" sz="2200" b="0" u="none" strike="noStrike">
                <a:solidFill>
                  <a:schemeClr val="dk1"/>
                </a:solidFill>
                <a:effectLst/>
                <a:uFillTx/>
                <a:latin typeface="Bodoni MT Black"/>
                <a:ea typeface="宋体"/>
              </a:rPr>
              <a:t>的约束集，结果为：</a:t>
            </a:r>
            <a:r>
              <a:rPr lang="en-US" sz="2200" b="1" u="none" strike="noStrike">
                <a:solidFill>
                  <a:srgbClr val="ff0000"/>
                </a:solidFill>
                <a:effectLst/>
                <a:uFillTx/>
                <a:latin typeface="Bodoni MT Black"/>
                <a:ea typeface="宋体"/>
              </a:rPr>
              <a:t>{(&gt;,=),(=,=),(&lt;,=),(&gt;,&lt;),(&gt;,&gt;)}</a:t>
            </a:r>
            <a:r>
              <a:rPr lang="zh-CN" sz="2200" b="0" u="none" strike="noStrike">
                <a:solidFill>
                  <a:schemeClr val="dk1"/>
                </a:solidFill>
                <a:effectLst/>
                <a:uFillTx/>
                <a:latin typeface="Bodoni MT Black"/>
                <a:ea typeface="宋体"/>
              </a:rPr>
              <a:t>覆盖上述条件约束集的测试，保证可以发现</a:t>
            </a:r>
            <a:r>
              <a:rPr lang="en-US" sz="2200" b="0" u="none" strike="noStrike">
                <a:solidFill>
                  <a:schemeClr val="dk1"/>
                </a:solidFill>
                <a:effectLst/>
                <a:uFillTx/>
                <a:latin typeface="Bodoni MT Black"/>
                <a:ea typeface="宋体"/>
              </a:rPr>
              <a:t>C3</a:t>
            </a:r>
            <a:r>
              <a:rPr lang="zh-CN" sz="2200" b="0" u="none" strike="noStrike">
                <a:solidFill>
                  <a:schemeClr val="dk1"/>
                </a:solidFill>
                <a:effectLst/>
                <a:uFillTx/>
                <a:latin typeface="Bodoni MT Black"/>
                <a:ea typeface="宋体"/>
              </a:rPr>
              <a:t>中关系算符的错误。</a:t>
            </a:r>
            <a:endParaRPr lang="en-US" sz="2200" b="0" u="none" strike="noStrike">
              <a:solidFill>
                <a:srgbClr val="000000"/>
              </a:solidFill>
              <a:effectLst/>
              <a:uFillTx/>
              <a:latin typeface="Arial"/>
            </a:endParaRPr>
          </a:p>
        </p:txBody>
      </p:sp>
      <p:sp>
        <p:nvSpPr>
          <p:cNvPr id="604"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605"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7.6.2 </a:t>
            </a:r>
            <a:r>
              <a:rPr lang="zh-CN" sz="2400" b="0" u="none" strike="noStrike">
                <a:solidFill>
                  <a:srgbClr val="d9d9d9"/>
                </a:solidFill>
                <a:effectLst/>
                <a:uFillTx/>
                <a:latin typeface="Bodoni MT Black"/>
              </a:rPr>
              <a:t>控制结构测试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6"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607" name="PlaceHolder 2"/>
          <p:cNvSpPr>
            <a:spLocks noGrp="1"/>
          </p:cNvSpPr>
          <p:nvPr>
            <p:ph/>
          </p:nvPr>
        </p:nvSpPr>
        <p:spPr>
          <a:xfrm>
            <a:off x="395280" y="1023840"/>
            <a:ext cx="8229240" cy="604440"/>
          </a:xfrm>
          <a:prstGeom prst="rect">
            <a:avLst/>
          </a:prstGeom>
          <a:noFill/>
          <a:ln w="9360">
            <a:noFill/>
          </a:ln>
        </p:spPr>
        <p:txBody>
          <a:bodyPr numCol="1" spcCol="0" lIns="91440" rIns="91440" tIns="45720" bIns="45720" anchor="t">
            <a:noAutofit/>
          </a:bodyPr>
          <a:p>
            <a:pPr indent="0">
              <a:lnSpc>
                <a:spcPct val="100000"/>
              </a:lnSpc>
              <a:spcBef>
                <a:spcPts val="479"/>
              </a:spcBef>
              <a:buNone/>
              <a:tabLst>
                <a:tab algn="l" pos="0"/>
              </a:tabLst>
            </a:pPr>
            <a:r>
              <a:rPr lang="en-US" sz="2400" b="1" u="none" strike="noStrike">
                <a:solidFill>
                  <a:schemeClr val="dk1"/>
                </a:solidFill>
                <a:effectLst/>
                <a:uFillTx/>
                <a:latin typeface="Bodoni MT Black"/>
              </a:rPr>
              <a:t>3. </a:t>
            </a:r>
            <a:r>
              <a:rPr lang="zh-CN" sz="2400" b="1" u="none" strike="noStrike">
                <a:solidFill>
                  <a:schemeClr val="dk1"/>
                </a:solidFill>
                <a:effectLst/>
                <a:uFillTx/>
                <a:latin typeface="Bodoni MT Black"/>
              </a:rPr>
              <a:t>循环测试</a:t>
            </a:r>
            <a:endParaRPr lang="es-ES" sz="2400" b="0" u="none" strike="noStrike">
              <a:solidFill>
                <a:schemeClr val="dk1"/>
              </a:solidFill>
              <a:effectLst/>
              <a:uFillTx/>
              <a:latin typeface="Calibri"/>
            </a:endParaRPr>
          </a:p>
        </p:txBody>
      </p:sp>
      <p:sp>
        <p:nvSpPr>
          <p:cNvPr id="608" name="TextBox 7"/>
          <p:cNvSpPr/>
          <p:nvPr/>
        </p:nvSpPr>
        <p:spPr>
          <a:xfrm>
            <a:off x="251640" y="1557360"/>
            <a:ext cx="8568720" cy="147708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1" u="none" strike="noStrike">
                <a:solidFill>
                  <a:srgbClr val="c00000"/>
                </a:solidFill>
                <a:effectLst/>
                <a:uFillTx/>
                <a:latin typeface="Bodoni MT Black"/>
              </a:rPr>
              <a:t>     </a:t>
            </a:r>
            <a:r>
              <a:rPr lang="zh-CN" sz="2400" b="1" u="none" strike="noStrike">
                <a:solidFill>
                  <a:srgbClr val="c00000"/>
                </a:solidFill>
                <a:effectLst/>
                <a:uFillTx/>
                <a:latin typeface="Bodoni MT Black"/>
              </a:rPr>
              <a:t>循环测试</a:t>
            </a:r>
            <a:r>
              <a:rPr lang="zh-CN" sz="2400" b="0" u="none" strike="noStrike">
                <a:solidFill>
                  <a:schemeClr val="dk1"/>
                </a:solidFill>
                <a:effectLst/>
                <a:uFillTx/>
                <a:latin typeface="Bodoni MT Black"/>
              </a:rPr>
              <a:t>是一种白盒测试技术，它专注于测试</a:t>
            </a:r>
            <a:r>
              <a:rPr lang="zh-CN" sz="2400" b="0" u="none" strike="noStrike">
                <a:solidFill>
                  <a:srgbClr val="ff0000"/>
                </a:solidFill>
                <a:effectLst/>
                <a:uFillTx/>
                <a:latin typeface="Bodoni MT Black"/>
              </a:rPr>
              <a:t>循环结构</a:t>
            </a:r>
            <a:r>
              <a:rPr lang="zh-CN" sz="2400" b="0" u="none" strike="noStrike">
                <a:solidFill>
                  <a:schemeClr val="dk1"/>
                </a:solidFill>
                <a:effectLst/>
                <a:uFillTx/>
                <a:latin typeface="Bodoni MT Black"/>
              </a:rPr>
              <a:t>的有效性。在结构化的程序中通常只有</a:t>
            </a:r>
            <a:r>
              <a:rPr lang="en-US" sz="2400" b="0" u="none" strike="noStrike">
                <a:solidFill>
                  <a:srgbClr val="ff0000"/>
                </a:solidFill>
                <a:effectLst/>
                <a:uFillTx/>
                <a:latin typeface="Bodoni MT Black"/>
              </a:rPr>
              <a:t>3</a:t>
            </a:r>
            <a:r>
              <a:rPr lang="zh-CN" sz="2400" b="0" u="none" strike="noStrike">
                <a:solidFill>
                  <a:schemeClr val="dk1"/>
                </a:solidFill>
                <a:effectLst/>
                <a:uFillTx/>
                <a:latin typeface="Bodoni MT Black"/>
              </a:rPr>
              <a:t>种循环，即</a:t>
            </a:r>
            <a:r>
              <a:rPr lang="zh-CN" sz="2400" b="0" u="none" strike="noStrike">
                <a:solidFill>
                  <a:srgbClr val="ff0000"/>
                </a:solidFill>
                <a:effectLst/>
                <a:uFillTx/>
                <a:latin typeface="Bodoni MT Black"/>
              </a:rPr>
              <a:t>简单循环</a:t>
            </a:r>
            <a:r>
              <a:rPr lang="zh-CN" sz="2400" b="0" u="none" strike="noStrike">
                <a:solidFill>
                  <a:schemeClr val="dk1"/>
                </a:solidFill>
                <a:effectLst/>
                <a:uFillTx/>
                <a:latin typeface="Bodoni MT Black"/>
              </a:rPr>
              <a:t>、</a:t>
            </a:r>
            <a:r>
              <a:rPr lang="zh-CN" sz="2400" b="0" u="none" strike="noStrike">
                <a:solidFill>
                  <a:srgbClr val="ff0000"/>
                </a:solidFill>
                <a:effectLst/>
                <a:uFillTx/>
                <a:latin typeface="Bodoni MT Black"/>
              </a:rPr>
              <a:t>串接循环</a:t>
            </a:r>
            <a:r>
              <a:rPr lang="zh-CN" sz="2400" b="0" u="none" strike="noStrike">
                <a:solidFill>
                  <a:schemeClr val="dk1"/>
                </a:solidFill>
                <a:effectLst/>
                <a:uFillTx/>
                <a:latin typeface="Bodoni MT Black"/>
              </a:rPr>
              <a:t>和</a:t>
            </a:r>
            <a:r>
              <a:rPr lang="zh-CN" sz="2400" b="0" u="none" strike="noStrike">
                <a:solidFill>
                  <a:srgbClr val="ff0000"/>
                </a:solidFill>
                <a:effectLst/>
                <a:uFillTx/>
                <a:latin typeface="Bodoni MT Black"/>
              </a:rPr>
              <a:t>嵌套循环</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p:txBody>
      </p:sp>
      <p:pic>
        <p:nvPicPr>
          <p:cNvPr id="609" name="图片 2"/>
          <p:cNvPicPr/>
          <p:nvPr/>
        </p:nvPicPr>
        <p:blipFill>
          <a:blip r:embed="rId1"/>
          <a:stretch/>
        </p:blipFill>
        <p:spPr>
          <a:xfrm>
            <a:off x="3126600" y="2564280"/>
            <a:ext cx="5549400" cy="3528720"/>
          </a:xfrm>
          <a:prstGeom prst="rect">
            <a:avLst/>
          </a:prstGeom>
          <a:noFill/>
          <a:ln w="9525">
            <a:noFill/>
          </a:ln>
        </p:spPr>
      </p:pic>
      <p:sp>
        <p:nvSpPr>
          <p:cNvPr id="610"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611"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7.6.2 </a:t>
            </a:r>
            <a:r>
              <a:rPr lang="zh-CN" sz="2400" b="0" u="none" strike="noStrike">
                <a:solidFill>
                  <a:srgbClr val="d9d9d9"/>
                </a:solidFill>
                <a:effectLst/>
                <a:uFillTx/>
                <a:latin typeface="Bodoni MT Black"/>
              </a:rPr>
              <a:t>控制结构测试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2"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613" name="PlaceHolder 2"/>
          <p:cNvSpPr>
            <a:spLocks noGrp="1"/>
          </p:cNvSpPr>
          <p:nvPr>
            <p:ph/>
          </p:nvPr>
        </p:nvSpPr>
        <p:spPr>
          <a:xfrm>
            <a:off x="395280" y="1095480"/>
            <a:ext cx="8229240" cy="604440"/>
          </a:xfrm>
          <a:prstGeom prst="rect">
            <a:avLst/>
          </a:prstGeom>
          <a:noFill/>
          <a:ln w="9360">
            <a:noFill/>
          </a:ln>
        </p:spPr>
        <p:txBody>
          <a:bodyPr numCol="1" spcCol="0" lIns="91440" rIns="91440" tIns="45720" bIns="45720" anchor="t">
            <a:noAutofit/>
          </a:bodyPr>
          <a:p>
            <a:pPr indent="0">
              <a:lnSpc>
                <a:spcPct val="100000"/>
              </a:lnSpc>
              <a:spcBef>
                <a:spcPts val="479"/>
              </a:spcBef>
              <a:buNone/>
              <a:tabLst>
                <a:tab algn="l" pos="0"/>
              </a:tabLst>
            </a:pPr>
            <a:r>
              <a:rPr lang="en-US" sz="2400" b="1" u="none" strike="noStrike">
                <a:solidFill>
                  <a:schemeClr val="dk1"/>
                </a:solidFill>
                <a:effectLst/>
                <a:uFillTx/>
                <a:latin typeface="Bodoni MT Black"/>
              </a:rPr>
              <a:t>3. </a:t>
            </a:r>
            <a:r>
              <a:rPr lang="zh-CN" sz="2400" b="1" u="none" strike="noStrike">
                <a:solidFill>
                  <a:schemeClr val="dk1"/>
                </a:solidFill>
                <a:effectLst/>
                <a:uFillTx/>
                <a:latin typeface="Bodoni MT Black"/>
              </a:rPr>
              <a:t>循环测试</a:t>
            </a:r>
            <a:endParaRPr lang="es-ES" sz="2400" b="0" u="none" strike="noStrike">
              <a:solidFill>
                <a:schemeClr val="dk1"/>
              </a:solidFill>
              <a:effectLst/>
              <a:uFillTx/>
              <a:latin typeface="Calibri"/>
            </a:endParaRPr>
          </a:p>
        </p:txBody>
      </p:sp>
      <p:sp>
        <p:nvSpPr>
          <p:cNvPr id="614" name="TextBox 7"/>
          <p:cNvSpPr/>
          <p:nvPr/>
        </p:nvSpPr>
        <p:spPr>
          <a:xfrm>
            <a:off x="395280" y="1700280"/>
            <a:ext cx="8280000" cy="37854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1" u="none" strike="noStrike">
                <a:solidFill>
                  <a:srgbClr val="0070c0"/>
                </a:solidFill>
                <a:effectLst/>
                <a:uFillTx/>
                <a:latin typeface="Bodoni MT Black"/>
              </a:rPr>
              <a:t>① 简单循环</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应该使用下列测试集来测试简单循环，其中</a:t>
            </a:r>
            <a:r>
              <a:rPr lang="en-US" sz="2400" b="0" u="none" strike="noStrike">
                <a:solidFill>
                  <a:schemeClr val="dk1"/>
                </a:solidFill>
                <a:effectLst/>
                <a:uFillTx/>
                <a:latin typeface="Bodoni MT Black"/>
              </a:rPr>
              <a:t>n</a:t>
            </a:r>
            <a:r>
              <a:rPr lang="zh-CN" sz="2400" b="0" u="none" strike="noStrike">
                <a:solidFill>
                  <a:schemeClr val="dk1"/>
                </a:solidFill>
                <a:effectLst/>
                <a:uFillTx/>
                <a:latin typeface="Bodoni MT Black"/>
              </a:rPr>
              <a:t>是允许通过循环的最大次数。</a:t>
            </a:r>
            <a:endParaRPr lang="en-US" sz="2400" b="0" u="none" strike="noStrike">
              <a:solidFill>
                <a:srgbClr val="000000"/>
              </a:solidFill>
              <a:effectLst/>
              <a:uFillTx/>
              <a:latin typeface="Arial"/>
            </a:endParaRPr>
          </a:p>
          <a:p>
            <a:pPr marL="86400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跳过循环。</a:t>
            </a:r>
            <a:endParaRPr lang="en-US" sz="2400" b="0" u="none" strike="noStrike">
              <a:solidFill>
                <a:srgbClr val="000000"/>
              </a:solidFill>
              <a:effectLst/>
              <a:uFillTx/>
              <a:latin typeface="Arial"/>
            </a:endParaRPr>
          </a:p>
          <a:p>
            <a:pPr marL="86400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只通过循环一次。</a:t>
            </a:r>
            <a:endParaRPr lang="en-US" sz="2400" b="0" u="none" strike="noStrike">
              <a:solidFill>
                <a:srgbClr val="000000"/>
              </a:solidFill>
              <a:effectLst/>
              <a:uFillTx/>
              <a:latin typeface="Arial"/>
            </a:endParaRPr>
          </a:p>
          <a:p>
            <a:pPr marL="86400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通过循环两次。</a:t>
            </a:r>
            <a:endParaRPr lang="en-US" sz="2400" b="0" u="none" strike="noStrike">
              <a:solidFill>
                <a:srgbClr val="000000"/>
              </a:solidFill>
              <a:effectLst/>
              <a:uFillTx/>
              <a:latin typeface="Arial"/>
            </a:endParaRPr>
          </a:p>
          <a:p>
            <a:pPr marL="86400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通过循环</a:t>
            </a:r>
            <a:r>
              <a:rPr lang="en-US" sz="2400" b="0" u="none" strike="noStrike">
                <a:solidFill>
                  <a:schemeClr val="dk1"/>
                </a:solidFill>
                <a:effectLst/>
                <a:uFillTx/>
                <a:latin typeface="Bodoni MT Black"/>
              </a:rPr>
              <a:t>m</a:t>
            </a:r>
            <a:r>
              <a:rPr lang="zh-CN" sz="2400" b="0" u="none" strike="noStrike">
                <a:solidFill>
                  <a:schemeClr val="dk1"/>
                </a:solidFill>
                <a:effectLst/>
                <a:uFillTx/>
                <a:latin typeface="Bodoni MT Black"/>
              </a:rPr>
              <a:t>次，其中</a:t>
            </a:r>
            <a:r>
              <a:rPr lang="en-US" sz="2400" b="0" u="none" strike="noStrike">
                <a:solidFill>
                  <a:schemeClr val="dk1"/>
                </a:solidFill>
                <a:effectLst/>
                <a:uFillTx/>
                <a:latin typeface="Bodoni MT Black"/>
              </a:rPr>
              <a:t>m&lt;n-1</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marL="86400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通过循环</a:t>
            </a:r>
            <a:r>
              <a:rPr lang="en-US" sz="2400" b="0" u="none" strike="noStrike">
                <a:solidFill>
                  <a:schemeClr val="dk1"/>
                </a:solidFill>
                <a:effectLst/>
                <a:uFillTx/>
                <a:latin typeface="Bodoni MT Black"/>
              </a:rPr>
              <a:t>n-1,n,n+1</a:t>
            </a:r>
            <a:r>
              <a:rPr lang="zh-CN" sz="2400" b="0" u="none" strike="noStrike">
                <a:solidFill>
                  <a:schemeClr val="dk1"/>
                </a:solidFill>
                <a:effectLst/>
                <a:uFillTx/>
                <a:latin typeface="Bodoni MT Black"/>
              </a:rPr>
              <a:t>次。</a:t>
            </a:r>
            <a:endParaRPr lang="en-US" sz="2400" b="0" u="none" strike="noStrike">
              <a:solidFill>
                <a:srgbClr val="000000"/>
              </a:solidFill>
              <a:effectLst/>
              <a:uFillTx/>
              <a:latin typeface="Arial"/>
            </a:endParaRPr>
          </a:p>
        </p:txBody>
      </p:sp>
      <p:sp>
        <p:nvSpPr>
          <p:cNvPr id="615"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616"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7.6.2 </a:t>
            </a:r>
            <a:r>
              <a:rPr lang="zh-CN" sz="2400" b="0" u="none" strike="noStrike">
                <a:solidFill>
                  <a:srgbClr val="d9d9d9"/>
                </a:solidFill>
                <a:effectLst/>
                <a:uFillTx/>
                <a:latin typeface="Bodoni MT Black"/>
              </a:rPr>
              <a:t>控制结构测试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7"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618" name="PlaceHolder 2"/>
          <p:cNvSpPr>
            <a:spLocks noGrp="1"/>
          </p:cNvSpPr>
          <p:nvPr>
            <p:ph/>
          </p:nvPr>
        </p:nvSpPr>
        <p:spPr>
          <a:xfrm>
            <a:off x="251640" y="952560"/>
            <a:ext cx="8229240" cy="604440"/>
          </a:xfrm>
          <a:prstGeom prst="rect">
            <a:avLst/>
          </a:prstGeom>
          <a:noFill/>
          <a:ln w="9360">
            <a:noFill/>
          </a:ln>
        </p:spPr>
        <p:txBody>
          <a:bodyPr numCol="1" spcCol="0" lIns="91440" rIns="91440" tIns="45720" bIns="45720" anchor="t">
            <a:noAutofit/>
          </a:bodyPr>
          <a:p>
            <a:pPr indent="0">
              <a:lnSpc>
                <a:spcPct val="100000"/>
              </a:lnSpc>
              <a:spcBef>
                <a:spcPts val="479"/>
              </a:spcBef>
              <a:buNone/>
              <a:tabLst>
                <a:tab algn="l" pos="0"/>
              </a:tabLst>
            </a:pPr>
            <a:r>
              <a:rPr lang="en-US" sz="2400" b="1" u="none" strike="noStrike">
                <a:solidFill>
                  <a:schemeClr val="dk1"/>
                </a:solidFill>
                <a:effectLst/>
                <a:uFillTx/>
                <a:latin typeface="Bodoni MT Black"/>
              </a:rPr>
              <a:t>3. </a:t>
            </a:r>
            <a:r>
              <a:rPr lang="zh-CN" sz="2400" b="1" u="none" strike="noStrike">
                <a:solidFill>
                  <a:schemeClr val="dk1"/>
                </a:solidFill>
                <a:effectLst/>
                <a:uFillTx/>
                <a:latin typeface="Bodoni MT Black"/>
              </a:rPr>
              <a:t>循环测试</a:t>
            </a:r>
            <a:endParaRPr lang="es-ES" sz="2400" b="0" u="none" strike="noStrike">
              <a:solidFill>
                <a:schemeClr val="dk1"/>
              </a:solidFill>
              <a:effectLst/>
              <a:uFillTx/>
              <a:latin typeface="Calibri"/>
            </a:endParaRPr>
          </a:p>
        </p:txBody>
      </p:sp>
      <p:sp>
        <p:nvSpPr>
          <p:cNvPr id="619" name="TextBox 7"/>
          <p:cNvSpPr/>
          <p:nvPr/>
        </p:nvSpPr>
        <p:spPr>
          <a:xfrm>
            <a:off x="251640" y="1412640"/>
            <a:ext cx="8712720" cy="4618800"/>
          </a:xfrm>
          <a:prstGeom prst="rect">
            <a:avLst/>
          </a:prstGeom>
          <a:noFill/>
          <a:ln w="0">
            <a:noFill/>
          </a:ln>
        </p:spPr>
        <p:style>
          <a:lnRef idx="0"/>
          <a:fillRef idx="0"/>
          <a:effectRef idx="0"/>
          <a:fontRef idx="minor"/>
        </p:style>
        <p:txBody>
          <a:bodyPr lIns="90000" rIns="90000" tIns="45000" bIns="45000" anchor="t">
            <a:spAutoFit/>
          </a:bodyPr>
          <a:p>
            <a:pPr>
              <a:lnSpc>
                <a:spcPts val="2900"/>
              </a:lnSpc>
              <a:tabLst>
                <a:tab algn="l" pos="0"/>
              </a:tabLst>
            </a:pPr>
            <a:r>
              <a:rPr lang="en-US" sz="2400" b="1" u="none" strike="noStrike">
                <a:solidFill>
                  <a:srgbClr val="0070c0"/>
                </a:solidFill>
                <a:effectLst/>
                <a:uFillTx/>
                <a:latin typeface="Bodoni MT Black"/>
              </a:rPr>
              <a:t>②</a:t>
            </a:r>
            <a:r>
              <a:rPr lang="en-US" sz="2400" b="1" u="none" strike="noStrike">
                <a:solidFill>
                  <a:srgbClr val="0070c0"/>
                </a:solidFill>
                <a:effectLst/>
                <a:uFillTx/>
                <a:latin typeface="Bodoni MT Black"/>
              </a:rPr>
              <a:t> 嵌套循环</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若把简单循环的测试方法直接用到嵌套循环，测试数就会随嵌套层数的增加按</a:t>
            </a:r>
            <a:r>
              <a:rPr lang="zh-CN" sz="2400" b="0" u="none" strike="noStrike">
                <a:solidFill>
                  <a:srgbClr val="ff0000"/>
                </a:solidFill>
                <a:effectLst/>
                <a:uFillTx/>
                <a:latin typeface="Bodoni MT Black"/>
              </a:rPr>
              <a:t>几何级数</a:t>
            </a:r>
            <a:r>
              <a:rPr lang="zh-CN" sz="2400" b="0" u="none" strike="noStrike">
                <a:solidFill>
                  <a:schemeClr val="dk1"/>
                </a:solidFill>
                <a:effectLst/>
                <a:uFillTx/>
                <a:latin typeface="Bodoni MT Black"/>
              </a:rPr>
              <a:t>增长，</a:t>
            </a:r>
            <a:r>
              <a:rPr lang="en-US" sz="2400" b="0" u="none" strike="noStrike">
                <a:solidFill>
                  <a:schemeClr val="dk1"/>
                </a:solidFill>
                <a:effectLst/>
                <a:uFillTx/>
                <a:latin typeface="Times New Roman"/>
              </a:rPr>
              <a:t>B.Beizer</a:t>
            </a:r>
            <a:r>
              <a:rPr lang="zh-CN" sz="2400" b="0" u="none" strike="noStrike">
                <a:solidFill>
                  <a:schemeClr val="dk1"/>
                </a:solidFill>
                <a:effectLst/>
                <a:uFillTx/>
                <a:latin typeface="Bodoni MT Black"/>
              </a:rPr>
              <a:t>提出了减少测试数的方法。</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从</a:t>
            </a:r>
            <a:r>
              <a:rPr lang="zh-CN" sz="2400" b="0" u="none" strike="noStrike">
                <a:solidFill>
                  <a:srgbClr val="ff0000"/>
                </a:solidFill>
                <a:effectLst/>
                <a:uFillTx/>
                <a:latin typeface="Bodoni MT Black"/>
              </a:rPr>
              <a:t>最内层</a:t>
            </a:r>
            <a:r>
              <a:rPr lang="zh-CN" sz="2400" b="0" u="none" strike="noStrike">
                <a:solidFill>
                  <a:schemeClr val="dk1"/>
                </a:solidFill>
                <a:effectLst/>
                <a:uFillTx/>
                <a:latin typeface="Bodoni MT Black"/>
              </a:rPr>
              <a:t>循环开始测试，把所有其他循环都设置为</a:t>
            </a:r>
            <a:r>
              <a:rPr lang="zh-CN" sz="2400" b="0" u="none" strike="noStrike">
                <a:solidFill>
                  <a:srgbClr val="ff0000"/>
                </a:solidFill>
                <a:effectLst/>
                <a:uFillTx/>
                <a:latin typeface="Bodoni MT Black"/>
              </a:rPr>
              <a:t>最小值</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对最内层循环使用</a:t>
            </a:r>
            <a:r>
              <a:rPr lang="zh-CN" sz="2400" b="0" u="none" strike="noStrike">
                <a:solidFill>
                  <a:srgbClr val="ff0000"/>
                </a:solidFill>
                <a:effectLst/>
                <a:uFillTx/>
                <a:latin typeface="Bodoni MT Black"/>
              </a:rPr>
              <a:t>简单循环测试方法</a:t>
            </a:r>
            <a:r>
              <a:rPr lang="zh-CN" sz="2400" b="0" u="none" strike="noStrike">
                <a:solidFill>
                  <a:schemeClr val="dk1"/>
                </a:solidFill>
                <a:effectLst/>
                <a:uFillTx/>
                <a:latin typeface="Bodoni MT Black"/>
              </a:rPr>
              <a:t>，而使外层循环的迭代参数取最小值，并为越界值或非法值增加额外测试。</a:t>
            </a:r>
            <a:endParaRPr lang="en-US" sz="2400" b="0" u="none" strike="noStrike">
              <a:solidFill>
                <a:srgbClr val="000000"/>
              </a:solidFill>
              <a:effectLst/>
              <a:uFillTx/>
              <a:latin typeface="Arial"/>
            </a:endParaRPr>
          </a:p>
          <a:p>
            <a:pPr marL="343080" indent="-343080">
              <a:lnSpc>
                <a:spcPct val="125000"/>
              </a:lnSpc>
              <a:buClr>
                <a:srgbClr val="ff0000"/>
              </a:buClr>
              <a:buFont typeface="Wingdings" charset="2"/>
              <a:buChar char=""/>
              <a:tabLst>
                <a:tab algn="l" pos="0"/>
              </a:tabLst>
            </a:pPr>
            <a:r>
              <a:rPr lang="zh-CN" sz="2400" b="0" u="none" strike="noStrike">
                <a:solidFill>
                  <a:srgbClr val="ff0000"/>
                </a:solidFill>
                <a:effectLst/>
                <a:uFillTx/>
                <a:latin typeface="Bodoni MT Black"/>
              </a:rPr>
              <a:t>由内向外</a:t>
            </a:r>
            <a:r>
              <a:rPr lang="zh-CN" sz="2400" b="0" u="none" strike="noStrike">
                <a:solidFill>
                  <a:schemeClr val="dk1"/>
                </a:solidFill>
                <a:effectLst/>
                <a:uFillTx/>
                <a:latin typeface="Bodoni MT Black"/>
              </a:rPr>
              <a:t>，对下一个循环进行测试，但保持所有其他外层循环为最小值，其他嵌套循环为“典型”值。</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继续进行下去，直到测试完所有循环。</a:t>
            </a:r>
            <a:endParaRPr lang="en-US" sz="2400" b="0" u="none" strike="noStrike">
              <a:solidFill>
                <a:srgbClr val="000000"/>
              </a:solidFill>
              <a:effectLst/>
              <a:uFillTx/>
              <a:latin typeface="Arial"/>
            </a:endParaRPr>
          </a:p>
        </p:txBody>
      </p:sp>
      <p:sp>
        <p:nvSpPr>
          <p:cNvPr id="620"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621"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7.6.2 </a:t>
            </a:r>
            <a:r>
              <a:rPr lang="zh-CN" sz="2400" b="0" u="none" strike="noStrike">
                <a:solidFill>
                  <a:srgbClr val="d9d9d9"/>
                </a:solidFill>
                <a:effectLst/>
                <a:uFillTx/>
                <a:latin typeface="Bodoni MT Black"/>
              </a:rPr>
              <a:t>控制结构测试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2"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7.6 </a:t>
            </a:r>
            <a:r>
              <a:rPr lang="zh-CN" sz="4400" b="1" u="none" strike="noStrike">
                <a:solidFill>
                  <a:schemeClr val="dk1"/>
                </a:solidFill>
                <a:effectLst/>
                <a:uFillTx/>
                <a:latin typeface="Bodoni MT Black"/>
              </a:rPr>
              <a:t>白盒测试技术</a:t>
            </a:r>
            <a:endParaRPr lang="es-ES" sz="4400" b="0" u="none" strike="noStrike">
              <a:solidFill>
                <a:schemeClr val="dk1"/>
              </a:solidFill>
              <a:effectLst/>
              <a:uFillTx/>
              <a:latin typeface="Arial"/>
            </a:endParaRPr>
          </a:p>
        </p:txBody>
      </p:sp>
      <p:sp>
        <p:nvSpPr>
          <p:cNvPr id="623" name="PlaceHolder 2"/>
          <p:cNvSpPr>
            <a:spLocks noGrp="1"/>
          </p:cNvSpPr>
          <p:nvPr>
            <p:ph/>
          </p:nvPr>
        </p:nvSpPr>
        <p:spPr>
          <a:xfrm>
            <a:off x="395280" y="1052640"/>
            <a:ext cx="8229240" cy="604440"/>
          </a:xfrm>
          <a:prstGeom prst="rect">
            <a:avLst/>
          </a:prstGeom>
          <a:noFill/>
          <a:ln w="9360">
            <a:noFill/>
          </a:ln>
        </p:spPr>
        <p:txBody>
          <a:bodyPr numCol="1" spcCol="0" lIns="91440" rIns="91440" tIns="45720" bIns="45720" anchor="t">
            <a:noAutofit/>
          </a:bodyPr>
          <a:p>
            <a:pPr indent="0">
              <a:lnSpc>
                <a:spcPct val="100000"/>
              </a:lnSpc>
              <a:spcBef>
                <a:spcPts val="479"/>
              </a:spcBef>
              <a:buNone/>
              <a:tabLst>
                <a:tab algn="l" pos="0"/>
              </a:tabLst>
            </a:pPr>
            <a:r>
              <a:rPr lang="en-US" sz="2400" b="1" u="none" strike="noStrike">
                <a:solidFill>
                  <a:schemeClr val="dk1"/>
                </a:solidFill>
                <a:effectLst/>
                <a:uFillTx/>
                <a:latin typeface="Bodoni MT Black"/>
              </a:rPr>
              <a:t>3. </a:t>
            </a:r>
            <a:r>
              <a:rPr lang="zh-CN" sz="2400" b="1" u="none" strike="noStrike">
                <a:solidFill>
                  <a:schemeClr val="dk1"/>
                </a:solidFill>
                <a:effectLst/>
                <a:uFillTx/>
                <a:latin typeface="Bodoni MT Black"/>
              </a:rPr>
              <a:t>循环测试</a:t>
            </a:r>
            <a:endParaRPr lang="es-ES" sz="2400" b="0" u="none" strike="noStrike">
              <a:solidFill>
                <a:schemeClr val="dk1"/>
              </a:solidFill>
              <a:effectLst/>
              <a:uFillTx/>
              <a:latin typeface="Calibri"/>
            </a:endParaRPr>
          </a:p>
        </p:txBody>
      </p:sp>
      <p:sp>
        <p:nvSpPr>
          <p:cNvPr id="624" name="TextBox 7"/>
          <p:cNvSpPr/>
          <p:nvPr/>
        </p:nvSpPr>
        <p:spPr>
          <a:xfrm>
            <a:off x="471240" y="1657440"/>
            <a:ext cx="8277120" cy="28620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1" u="none" strike="noStrike">
                <a:solidFill>
                  <a:srgbClr val="0070c0"/>
                </a:solidFill>
                <a:effectLst/>
                <a:uFillTx/>
                <a:latin typeface="Bodoni MT Black"/>
              </a:rPr>
              <a:t>③ 串接循环</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如果串接循环的各个循环都彼此独立，则可以使用前述的测试简单循环的方法来测试串接循环。但是，如果两个循环串接，而且</a:t>
            </a:r>
            <a:r>
              <a:rPr lang="zh-CN" sz="2400" b="0" u="none" strike="noStrike">
                <a:solidFill>
                  <a:srgbClr val="ff0000"/>
                </a:solidFill>
                <a:effectLst/>
                <a:uFillTx/>
                <a:latin typeface="Bodoni MT Black"/>
              </a:rPr>
              <a:t>第一个循环的循环计数器值是第二个循环的初始值</a:t>
            </a:r>
            <a:r>
              <a:rPr lang="zh-CN" sz="2400" b="0" u="none" strike="noStrike">
                <a:solidFill>
                  <a:schemeClr val="dk1"/>
                </a:solidFill>
                <a:effectLst/>
                <a:uFillTx/>
                <a:latin typeface="Bodoni MT Black"/>
              </a:rPr>
              <a:t>，则这两个循环并不是独立的。当循环不独立时，建议使用测试嵌套循环的方法来测试串接循环。</a:t>
            </a:r>
            <a:endParaRPr lang="en-US" sz="2400" b="0" u="none" strike="noStrike">
              <a:solidFill>
                <a:srgbClr val="000000"/>
              </a:solidFill>
              <a:effectLst/>
              <a:uFillTx/>
              <a:latin typeface="Arial"/>
            </a:endParaRPr>
          </a:p>
        </p:txBody>
      </p:sp>
      <p:sp>
        <p:nvSpPr>
          <p:cNvPr id="625"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626"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7.6.2 </a:t>
            </a:r>
            <a:r>
              <a:rPr lang="zh-CN" sz="2400" b="0" u="none" strike="noStrike">
                <a:solidFill>
                  <a:srgbClr val="d9d9d9"/>
                </a:solidFill>
                <a:effectLst/>
                <a:uFillTx/>
                <a:latin typeface="Bodoni MT Black"/>
              </a:rPr>
              <a:t>控制结构测试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7" name="1 Título"/>
          <p:cNvSpPr/>
          <p:nvPr/>
        </p:nvSpPr>
        <p:spPr>
          <a:xfrm>
            <a:off x="684360" y="355680"/>
            <a:ext cx="7703640" cy="863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5760"/>
              </a:lnSpc>
            </a:pPr>
            <a:r>
              <a:rPr lang="zh-CN" sz="4400" b="1" u="none" strike="noStrike">
                <a:solidFill>
                  <a:schemeClr val="dk1"/>
                </a:solidFill>
                <a:effectLst/>
                <a:uFillTx/>
                <a:latin typeface="Bodoni MT Black"/>
              </a:rPr>
              <a:t>主要内容</a:t>
            </a:r>
            <a:endParaRPr lang="en-US" sz="4400" b="0" u="none" strike="noStrike">
              <a:solidFill>
                <a:srgbClr val="000000"/>
              </a:solidFill>
              <a:effectLst/>
              <a:uFillTx/>
              <a:latin typeface="Arial"/>
            </a:endParaRPr>
          </a:p>
        </p:txBody>
      </p:sp>
      <p:sp>
        <p:nvSpPr>
          <p:cNvPr id="628"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sp>
        <p:nvSpPr>
          <p:cNvPr id="629"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7.7 </a:t>
            </a:r>
            <a:r>
              <a:rPr lang="zh-CN" sz="2400" b="0" u="none" strike="noStrike">
                <a:solidFill>
                  <a:srgbClr val="d9d9d9"/>
                </a:solidFill>
                <a:effectLst/>
                <a:uFillTx/>
                <a:latin typeface="Bodoni MT Black"/>
                <a:ea typeface="宋体"/>
              </a:rPr>
              <a:t>黑盒测试技术</a:t>
            </a:r>
            <a:endParaRPr lang="en-US" sz="2400" b="0" u="none" strike="noStrike">
              <a:solidFill>
                <a:srgbClr val="000000"/>
              </a:solidFill>
              <a:effectLst/>
              <a:uFillTx/>
              <a:latin typeface="Arial"/>
            </a:endParaRPr>
          </a:p>
        </p:txBody>
      </p:sp>
      <p:pic>
        <p:nvPicPr>
          <p:cNvPr id="630"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631"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632" name="TextBox 3">
            <a:hlinkClick r:id="rId3" action="ppaction://hlinksldjump"/>
          </p:cNvPr>
          <p:cNvSpPr/>
          <p:nvPr/>
        </p:nvSpPr>
        <p:spPr>
          <a:xfrm>
            <a:off x="1071720" y="2071800"/>
            <a:ext cx="192852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633" name="TextBox 4"/>
          <p:cNvSpPr/>
          <p:nvPr/>
        </p:nvSpPr>
        <p:spPr>
          <a:xfrm>
            <a:off x="1000080" y="2714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634" name="TextBox 5"/>
          <p:cNvSpPr/>
          <p:nvPr/>
        </p:nvSpPr>
        <p:spPr>
          <a:xfrm>
            <a:off x="1000080" y="328608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635" name="TextBox 6"/>
          <p:cNvSpPr/>
          <p:nvPr/>
        </p:nvSpPr>
        <p:spPr>
          <a:xfrm>
            <a:off x="1000080" y="3857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636" name="Rectangle 3"/>
          <p:cNvSpPr/>
          <p:nvPr/>
        </p:nvSpPr>
        <p:spPr>
          <a:xfrm>
            <a:off x="539640" y="1292400"/>
            <a:ext cx="8135640" cy="4512960"/>
          </a:xfrm>
          <a:prstGeom prst="rect">
            <a:avLst/>
          </a:prstGeom>
          <a:noFill/>
          <a:ln w="0">
            <a:noFill/>
          </a:ln>
        </p:spPr>
        <p:style>
          <a:lnRef idx="0"/>
          <a:fillRef idx="0"/>
          <a:effectRef idx="0"/>
          <a:fontRef idx="minor"/>
        </p:style>
        <p:txBody>
          <a:bodyPr lIns="90000" rIns="90000" tIns="45000" bIns="45000" anchor="t">
            <a:noAutofit/>
          </a:bodyPr>
          <a:p>
            <a:pPr>
              <a:lnSpc>
                <a:spcPts val="2599"/>
              </a:lnSpc>
              <a:spcBef>
                <a:spcPts val="1199"/>
              </a:spcBef>
              <a:tabLst>
                <a:tab algn="l" pos="0"/>
              </a:tabLst>
            </a:pPr>
            <a:r>
              <a:rPr lang="en-US" sz="2400" b="0" u="none" strike="noStrike">
                <a:solidFill>
                  <a:srgbClr val="3c3c77"/>
                </a:solidFill>
                <a:effectLst/>
                <a:uFillTx/>
                <a:latin typeface="Bodoni MT Black"/>
                <a:ea typeface="黑体"/>
              </a:rPr>
              <a:t>   </a:t>
            </a:r>
            <a:r>
              <a:rPr lang="en-US" sz="2400" b="1" u="none" strike="noStrike">
                <a:solidFill>
                  <a:schemeClr val="dk1"/>
                </a:solidFill>
                <a:effectLst/>
                <a:uFillTx/>
                <a:latin typeface="Bodoni MT Black"/>
                <a:ea typeface="黑体"/>
              </a:rPr>
              <a:t>7.1   </a:t>
            </a:r>
            <a:r>
              <a:rPr lang="zh-CN" sz="2400" b="1" u="none" strike="noStrike">
                <a:solidFill>
                  <a:schemeClr val="dk1"/>
                </a:solidFill>
                <a:effectLst/>
                <a:uFillTx/>
                <a:latin typeface="Bodoni MT Black"/>
                <a:ea typeface="黑体"/>
              </a:rPr>
              <a:t>编码</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7.2   </a:t>
            </a:r>
            <a:r>
              <a:rPr lang="zh-CN" sz="2400" b="1" u="none" strike="noStrike">
                <a:solidFill>
                  <a:schemeClr val="dk1"/>
                </a:solidFill>
                <a:effectLst/>
                <a:uFillTx/>
                <a:latin typeface="Bodoni MT Black"/>
                <a:ea typeface="黑体"/>
              </a:rPr>
              <a:t>软件测试基础</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7.3   </a:t>
            </a:r>
            <a:r>
              <a:rPr lang="zh-CN" sz="2400" b="1" u="none" strike="noStrike">
                <a:solidFill>
                  <a:schemeClr val="dk1"/>
                </a:solidFill>
                <a:effectLst/>
                <a:uFillTx/>
                <a:latin typeface="Bodoni MT Black"/>
                <a:ea typeface="黑体"/>
              </a:rPr>
              <a:t>单元测试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7.4   </a:t>
            </a:r>
            <a:r>
              <a:rPr lang="zh-CN" sz="2400" b="1" u="none" strike="noStrike">
                <a:solidFill>
                  <a:schemeClr val="dk1"/>
                </a:solidFill>
                <a:effectLst/>
                <a:uFillTx/>
                <a:latin typeface="Bodoni MT Black"/>
                <a:ea typeface="黑体"/>
              </a:rPr>
              <a:t>集成测试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7.5   </a:t>
            </a:r>
            <a:r>
              <a:rPr lang="zh-CN" sz="2400" b="1" u="none" strike="noStrike">
                <a:solidFill>
                  <a:schemeClr val="dk1"/>
                </a:solidFill>
                <a:effectLst/>
                <a:uFillTx/>
                <a:latin typeface="Bodoni MT Black"/>
                <a:ea typeface="黑体"/>
              </a:rPr>
              <a:t>确认测试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7.6   </a:t>
            </a:r>
            <a:r>
              <a:rPr lang="zh-CN" sz="2400" b="1" u="none" strike="noStrike">
                <a:solidFill>
                  <a:schemeClr val="dk1"/>
                </a:solidFill>
                <a:effectLst/>
                <a:uFillTx/>
                <a:latin typeface="Bodoni MT Black"/>
                <a:ea typeface="黑体"/>
              </a:rPr>
              <a:t>白盒测试技术</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7.7   </a:t>
            </a:r>
            <a:r>
              <a:rPr lang="zh-CN" sz="2400" b="1" u="none" strike="noStrike">
                <a:solidFill>
                  <a:schemeClr val="dk1"/>
                </a:solidFill>
                <a:effectLst/>
                <a:uFillTx/>
                <a:latin typeface="Bodoni MT Black"/>
                <a:ea typeface="黑体"/>
              </a:rPr>
              <a:t>黑盒测试技术</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7.8   </a:t>
            </a:r>
            <a:r>
              <a:rPr lang="zh-CN" sz="2400" b="1" u="none" strike="noStrike">
                <a:solidFill>
                  <a:schemeClr val="dk1"/>
                </a:solidFill>
                <a:effectLst/>
                <a:uFillTx/>
                <a:latin typeface="Bodoni MT Black"/>
                <a:ea typeface="黑体"/>
              </a:rPr>
              <a:t>调试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7.9   </a:t>
            </a:r>
            <a:r>
              <a:rPr lang="zh-CN" sz="2400" b="1" u="none" strike="noStrike">
                <a:solidFill>
                  <a:schemeClr val="dk1"/>
                </a:solidFill>
                <a:effectLst/>
                <a:uFillTx/>
                <a:latin typeface="Bodoni MT Black"/>
                <a:ea typeface="黑体"/>
              </a:rPr>
              <a:t>软件可靠性</a:t>
            </a:r>
            <a:endParaRPr lang="en-US" sz="2400" b="0" u="none" strike="noStrike">
              <a:solidFill>
                <a:srgbClr val="000000"/>
              </a:solidFill>
              <a:effectLst/>
              <a:uFillTx/>
              <a:latin typeface="Arial"/>
            </a:endParaRPr>
          </a:p>
        </p:txBody>
      </p:sp>
      <p:sp>
        <p:nvSpPr>
          <p:cNvPr id="637" name="1 Título"/>
          <p:cNvSpPr/>
          <p:nvPr/>
        </p:nvSpPr>
        <p:spPr>
          <a:xfrm>
            <a:off x="0" y="6300720"/>
            <a:ext cx="231588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7</a:t>
            </a:r>
            <a:r>
              <a:rPr lang="zh-CN" sz="2400" b="0" u="none" strike="noStrike">
                <a:solidFill>
                  <a:srgbClr val="d9d9d9"/>
                </a:solidFill>
                <a:effectLst/>
                <a:uFillTx/>
                <a:latin typeface="Bodoni MT Black"/>
                <a:ea typeface="宋体"/>
              </a:rPr>
              <a:t>章　实现</a:t>
            </a:r>
            <a:endParaRPr lang="en-US" sz="2400" b="0" u="none" strike="noStrike">
              <a:solidFill>
                <a:srgbClr val="000000"/>
              </a:solidFill>
              <a:effectLst/>
              <a:uFillTx/>
              <a:latin typeface="Arial"/>
            </a:endParaRPr>
          </a:p>
        </p:txBody>
      </p:sp>
      <p:sp>
        <p:nvSpPr>
          <p:cNvPr id="638" name="矩形 12"/>
          <p:cNvSpPr/>
          <p:nvPr/>
        </p:nvSpPr>
        <p:spPr>
          <a:xfrm>
            <a:off x="827640" y="429732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639" name="等腰三角形 13"/>
          <p:cNvSpPr/>
          <p:nvPr/>
        </p:nvSpPr>
        <p:spPr>
          <a:xfrm rot="5400000">
            <a:off x="336240" y="4384080"/>
            <a:ext cx="537840" cy="4312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Tree>
  </p:cSld>
  <mc:AlternateContent>
    <mc:Choice Requires="p14">
      <p:transition spd="slow" p14:dur="2000"/>
    </mc:Choice>
    <mc:Fallback>
      <p:transition spd="slow"/>
    </mc:Fallback>
  </mc:AlternateContent>
</p:sld>
</file>

<file path=ppt/slides/slide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0"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7.7 </a:t>
            </a:r>
            <a:r>
              <a:rPr lang="zh-CN" sz="4400" b="1" u="none" strike="noStrike">
                <a:solidFill>
                  <a:schemeClr val="dk1"/>
                </a:solidFill>
                <a:effectLst/>
                <a:uFillTx/>
                <a:latin typeface="Bodoni MT Black"/>
              </a:rPr>
              <a:t>黑盒测试技术</a:t>
            </a:r>
            <a:endParaRPr lang="es-ES" sz="4400" b="0" u="none" strike="noStrike">
              <a:solidFill>
                <a:schemeClr val="dk1"/>
              </a:solidFill>
              <a:effectLst/>
              <a:uFillTx/>
              <a:latin typeface="Arial"/>
            </a:endParaRPr>
          </a:p>
        </p:txBody>
      </p:sp>
      <p:sp>
        <p:nvSpPr>
          <p:cNvPr id="641" name="PlaceHolder 2"/>
          <p:cNvSpPr>
            <a:spLocks noGrp="1"/>
          </p:cNvSpPr>
          <p:nvPr>
            <p:ph/>
          </p:nvPr>
        </p:nvSpPr>
        <p:spPr>
          <a:xfrm>
            <a:off x="261720" y="1268640"/>
            <a:ext cx="8424720" cy="4247640"/>
          </a:xfrm>
          <a:prstGeom prst="rect">
            <a:avLst/>
          </a:prstGeom>
          <a:noFill/>
          <a:ln w="9360">
            <a:noFill/>
          </a:ln>
        </p:spPr>
        <p:txBody>
          <a:bodyPr numCol="1" spcCol="0" lIns="91440" rIns="91440" tIns="45720" bIns="45720" anchor="t">
            <a:noAutofit/>
          </a:bodyPr>
          <a:p>
            <a:pPr indent="0">
              <a:lnSpc>
                <a:spcPct val="125000"/>
              </a:lnSpc>
              <a:buNone/>
              <a:tabLst>
                <a:tab algn="l" pos="0"/>
              </a:tabLst>
            </a:pPr>
            <a:r>
              <a:rPr lang="en-US" sz="2400" b="0" u="none" strike="noStrike">
                <a:solidFill>
                  <a:schemeClr val="dk1"/>
                </a:solidFill>
                <a:effectLst/>
                <a:uFillTx/>
                <a:latin typeface="Bodoni MT Black"/>
              </a:rPr>
              <a:t>     </a:t>
            </a:r>
            <a:r>
              <a:rPr lang="zh-CN" sz="2400" b="1" u="none" strike="noStrike">
                <a:solidFill>
                  <a:srgbClr val="c00000"/>
                </a:solidFill>
                <a:effectLst/>
                <a:uFillTx/>
                <a:latin typeface="Bodoni MT Black"/>
              </a:rPr>
              <a:t>黑盒测试着重测试软件功能。</a:t>
            </a:r>
            <a:r>
              <a:rPr lang="zh-CN" sz="2400" b="0" u="none" strike="noStrike">
                <a:solidFill>
                  <a:schemeClr val="dk1"/>
                </a:solidFill>
                <a:effectLst/>
                <a:uFillTx/>
                <a:latin typeface="Bodoni MT Black"/>
              </a:rPr>
              <a:t>黑盒测试并不能取代白盒测试，它是与白盒测试互补的测试方法，它很可能发现白盒测试不易发现的其他类型的错误。</a:t>
            </a:r>
            <a:endParaRPr lang="es-ES" sz="2400" b="0" u="none" strike="noStrike">
              <a:solidFill>
                <a:schemeClr val="dk1"/>
              </a:solidFill>
              <a:effectLst/>
              <a:uFillTx/>
              <a:latin typeface="Calibri"/>
            </a:endParaRPr>
          </a:p>
          <a:p>
            <a:pPr indent="0">
              <a:lnSpc>
                <a:spcPct val="125000"/>
              </a:lnSpc>
              <a:buNone/>
              <a:tabLst>
                <a:tab algn="l" pos="0"/>
              </a:tabLst>
            </a:pPr>
            <a:r>
              <a:rPr lang="en-US" sz="2400" b="0" u="none" strike="noStrike">
                <a:solidFill>
                  <a:schemeClr val="dk1"/>
                </a:solidFill>
                <a:effectLst/>
                <a:uFillTx/>
                <a:latin typeface="Bodoni MT Black"/>
              </a:rPr>
              <a:t>     黑盒测试力图发现下述类型的错误： </a:t>
            </a:r>
            <a:endParaRPr lang="es-ES" sz="2400" b="0" u="none" strike="noStrike">
              <a:solidFill>
                <a:schemeClr val="dk1"/>
              </a:solidFill>
              <a:effectLst/>
              <a:uFillTx/>
              <a:latin typeface="Calibri"/>
            </a:endParaRPr>
          </a:p>
          <a:p>
            <a:pPr marL="100800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功能不正确或遗漏了功能；</a:t>
            </a:r>
            <a:endParaRPr lang="es-ES" sz="2400" b="0" u="none" strike="noStrike">
              <a:solidFill>
                <a:schemeClr val="dk1"/>
              </a:solidFill>
              <a:effectLst/>
              <a:uFillTx/>
              <a:latin typeface="Calibri"/>
            </a:endParaRPr>
          </a:p>
          <a:p>
            <a:pPr marL="100800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界面错误；</a:t>
            </a:r>
            <a:endParaRPr lang="es-ES" sz="2400" b="0" u="none" strike="noStrike">
              <a:solidFill>
                <a:schemeClr val="dk1"/>
              </a:solidFill>
              <a:effectLst/>
              <a:uFillTx/>
              <a:latin typeface="Calibri"/>
            </a:endParaRPr>
          </a:p>
          <a:p>
            <a:pPr marL="100800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数据结构错误或外部数据库访问错误；</a:t>
            </a:r>
            <a:endParaRPr lang="es-ES" sz="2400" b="0" u="none" strike="noStrike">
              <a:solidFill>
                <a:schemeClr val="dk1"/>
              </a:solidFill>
              <a:effectLst/>
              <a:uFillTx/>
              <a:latin typeface="Calibri"/>
            </a:endParaRPr>
          </a:p>
          <a:p>
            <a:pPr marL="100800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性能错误；</a:t>
            </a:r>
            <a:endParaRPr lang="es-ES" sz="2400" b="0" u="none" strike="noStrike">
              <a:solidFill>
                <a:schemeClr val="dk1"/>
              </a:solidFill>
              <a:effectLst/>
              <a:uFillTx/>
              <a:latin typeface="Calibri"/>
            </a:endParaRPr>
          </a:p>
          <a:p>
            <a:pPr marL="100800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初始化和终止错误。</a:t>
            </a:r>
            <a:endParaRPr lang="es-ES" sz="2400" b="0" u="none" strike="noStrike">
              <a:solidFill>
                <a:schemeClr val="dk1"/>
              </a:solidFill>
              <a:effectLst/>
              <a:uFillTx/>
              <a:latin typeface="Calibri"/>
            </a:endParaRPr>
          </a:p>
        </p:txBody>
      </p:sp>
      <p:sp>
        <p:nvSpPr>
          <p:cNvPr id="642"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7.7 </a:t>
            </a:r>
            <a:r>
              <a:rPr lang="zh-CN" sz="2400" b="0" u="none" strike="noStrike">
                <a:solidFill>
                  <a:srgbClr val="d9d9d9"/>
                </a:solidFill>
                <a:effectLst/>
                <a:uFillTx/>
                <a:latin typeface="Bodoni MT Black"/>
                <a:ea typeface="宋体"/>
              </a:rPr>
              <a:t>黑盒测试技术</a:t>
            </a:r>
            <a:endParaRPr lang="en-US" sz="2400" b="0" u="none" strike="noStrike">
              <a:solidFill>
                <a:srgbClr val="000000"/>
              </a:solidFill>
              <a:effectLst/>
              <a:uFillTx/>
              <a:latin typeface="Arial"/>
            </a:endParaRPr>
          </a:p>
        </p:txBody>
      </p:sp>
      <p:sp>
        <p:nvSpPr>
          <p:cNvPr id="643" name="1 Título"/>
          <p:cNvSpPr/>
          <p:nvPr/>
        </p:nvSpPr>
        <p:spPr>
          <a:xfrm>
            <a:off x="0" y="6300720"/>
            <a:ext cx="231588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7</a:t>
            </a:r>
            <a:r>
              <a:rPr lang="zh-CN" sz="2400" b="0" u="none" strike="noStrike">
                <a:solidFill>
                  <a:srgbClr val="d9d9d9"/>
                </a:solidFill>
                <a:effectLst/>
                <a:uFillTx/>
                <a:latin typeface="Bodoni MT Black"/>
                <a:ea typeface="宋体"/>
              </a:rPr>
              <a:t>章　实现</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4"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7.7 </a:t>
            </a:r>
            <a:r>
              <a:rPr lang="zh-CN" sz="4400" b="1" u="none" strike="noStrike">
                <a:solidFill>
                  <a:schemeClr val="dk1"/>
                </a:solidFill>
                <a:effectLst/>
                <a:uFillTx/>
                <a:latin typeface="Bodoni MT Black"/>
              </a:rPr>
              <a:t>黑盒测试技术</a:t>
            </a:r>
            <a:endParaRPr lang="es-ES" sz="4400" b="0" u="none" strike="noStrike">
              <a:solidFill>
                <a:schemeClr val="dk1"/>
              </a:solidFill>
              <a:effectLst/>
              <a:uFillTx/>
              <a:latin typeface="Arial"/>
            </a:endParaRPr>
          </a:p>
        </p:txBody>
      </p:sp>
      <p:sp>
        <p:nvSpPr>
          <p:cNvPr id="645" name="PlaceHolder 2"/>
          <p:cNvSpPr>
            <a:spLocks noGrp="1"/>
          </p:cNvSpPr>
          <p:nvPr>
            <p:ph/>
          </p:nvPr>
        </p:nvSpPr>
        <p:spPr>
          <a:xfrm>
            <a:off x="251640" y="1052640"/>
            <a:ext cx="8496720" cy="4968360"/>
          </a:xfrm>
          <a:prstGeom prst="rect">
            <a:avLst/>
          </a:prstGeom>
          <a:noFill/>
          <a:ln w="9360">
            <a:noFill/>
          </a:ln>
        </p:spPr>
        <p:txBody>
          <a:bodyPr numCol="1" spcCol="0" lIns="91440" rIns="91440" tIns="45720" bIns="45720" anchor="t">
            <a:noAutofit/>
          </a:bodyPr>
          <a:p>
            <a:pPr indent="0">
              <a:lnSpc>
                <a:spcPct val="125000"/>
              </a:lnSpc>
              <a:buNone/>
              <a:tabLst>
                <a:tab algn="l" pos="0"/>
              </a:tabLst>
            </a:pPr>
            <a:r>
              <a:rPr lang="en-US" sz="2400" b="0" u="none" strike="noStrike">
                <a:solidFill>
                  <a:schemeClr val="dk1"/>
                </a:solidFill>
                <a:effectLst/>
                <a:uFillTx/>
                <a:latin typeface="Bodoni MT Black"/>
              </a:rPr>
              <a:t>      </a:t>
            </a:r>
            <a:r>
              <a:rPr lang="zh-CN" sz="2400" b="0" u="none" strike="noStrike">
                <a:solidFill>
                  <a:srgbClr val="ff0000"/>
                </a:solidFill>
                <a:effectLst/>
                <a:uFillTx/>
                <a:latin typeface="Bodoni MT Black"/>
              </a:rPr>
              <a:t>白盒测试</a:t>
            </a:r>
            <a:r>
              <a:rPr lang="zh-CN" sz="2400" b="0" u="none" strike="noStrike">
                <a:solidFill>
                  <a:schemeClr val="dk1"/>
                </a:solidFill>
                <a:effectLst/>
                <a:uFillTx/>
                <a:latin typeface="Bodoni MT Black"/>
              </a:rPr>
              <a:t>在测试过程的</a:t>
            </a:r>
            <a:r>
              <a:rPr lang="zh-CN" sz="2400" b="0" u="none" strike="noStrike">
                <a:solidFill>
                  <a:srgbClr val="ff0000"/>
                </a:solidFill>
                <a:effectLst/>
                <a:uFillTx/>
                <a:latin typeface="Bodoni MT Black"/>
              </a:rPr>
              <a:t>早期</a:t>
            </a:r>
            <a:r>
              <a:rPr lang="zh-CN" sz="2400" b="0" u="none" strike="noStrike">
                <a:solidFill>
                  <a:schemeClr val="dk1"/>
                </a:solidFill>
                <a:effectLst/>
                <a:uFillTx/>
                <a:latin typeface="Bodoni MT Black"/>
              </a:rPr>
              <a:t>阶段进行，而</a:t>
            </a:r>
            <a:r>
              <a:rPr lang="zh-CN" sz="2400" b="0" u="none" strike="noStrike">
                <a:solidFill>
                  <a:srgbClr val="ff0000"/>
                </a:solidFill>
                <a:effectLst/>
                <a:uFillTx/>
                <a:latin typeface="Bodoni MT Black"/>
              </a:rPr>
              <a:t>黑盒测试</a:t>
            </a:r>
            <a:r>
              <a:rPr lang="zh-CN" sz="2400" b="0" u="none" strike="noStrike">
                <a:solidFill>
                  <a:schemeClr val="dk1"/>
                </a:solidFill>
                <a:effectLst/>
                <a:uFillTx/>
                <a:latin typeface="Bodoni MT Black"/>
              </a:rPr>
              <a:t>主要用于测试过程的</a:t>
            </a:r>
            <a:r>
              <a:rPr lang="zh-CN" sz="2400" b="0" u="none" strike="noStrike">
                <a:solidFill>
                  <a:srgbClr val="ff0000"/>
                </a:solidFill>
                <a:effectLst/>
                <a:uFillTx/>
                <a:latin typeface="Bodoni MT Black"/>
              </a:rPr>
              <a:t>后期</a:t>
            </a:r>
            <a:r>
              <a:rPr lang="zh-CN" sz="2400" b="0" u="none" strike="noStrike">
                <a:solidFill>
                  <a:schemeClr val="dk1"/>
                </a:solidFill>
                <a:effectLst/>
                <a:uFillTx/>
                <a:latin typeface="Bodoni MT Black"/>
              </a:rPr>
              <a:t>。设计黑盒测试方案时，应考虑下述问题：</a:t>
            </a:r>
            <a:endParaRPr lang="es-ES" sz="2400" b="0" u="none" strike="noStrike">
              <a:solidFill>
                <a:schemeClr val="dk1"/>
              </a:solidFill>
              <a:effectLst/>
              <a:uFillTx/>
              <a:latin typeface="Calibri"/>
            </a:endParaRPr>
          </a:p>
          <a:p>
            <a:pPr marL="919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怎样测试</a:t>
            </a:r>
            <a:r>
              <a:rPr lang="zh-CN" sz="2400" b="0" u="none" strike="noStrike">
                <a:solidFill>
                  <a:srgbClr val="ff0000"/>
                </a:solidFill>
                <a:effectLst/>
                <a:uFillTx/>
                <a:latin typeface="Bodoni MT Black"/>
              </a:rPr>
              <a:t>功能的有效性</a:t>
            </a:r>
            <a:r>
              <a:rPr lang="zh-CN" sz="2400" b="0" u="none" strike="noStrike">
                <a:solidFill>
                  <a:schemeClr val="dk1"/>
                </a:solidFill>
                <a:effectLst/>
                <a:uFillTx/>
                <a:latin typeface="Bodoni MT Black"/>
              </a:rPr>
              <a:t>？</a:t>
            </a:r>
            <a:endParaRPr lang="es-ES" sz="2400" b="0" u="none" strike="noStrike">
              <a:solidFill>
                <a:schemeClr val="dk1"/>
              </a:solidFill>
              <a:effectLst/>
              <a:uFillTx/>
              <a:latin typeface="Calibri"/>
            </a:endParaRPr>
          </a:p>
          <a:p>
            <a:pPr marL="919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哪些类型的输入可构成</a:t>
            </a:r>
            <a:r>
              <a:rPr lang="zh-CN" sz="2400" b="0" u="none" strike="noStrike">
                <a:solidFill>
                  <a:srgbClr val="ff0000"/>
                </a:solidFill>
                <a:effectLst/>
                <a:uFillTx/>
                <a:latin typeface="Bodoni MT Black"/>
              </a:rPr>
              <a:t>好测试用例</a:t>
            </a:r>
            <a:r>
              <a:rPr lang="zh-CN" sz="2400" b="0" u="none" strike="noStrike">
                <a:solidFill>
                  <a:schemeClr val="dk1"/>
                </a:solidFill>
                <a:effectLst/>
                <a:uFillTx/>
                <a:latin typeface="Bodoni MT Black"/>
              </a:rPr>
              <a:t>？</a:t>
            </a:r>
            <a:endParaRPr lang="es-ES" sz="2400" b="0" u="none" strike="noStrike">
              <a:solidFill>
                <a:schemeClr val="dk1"/>
              </a:solidFill>
              <a:effectLst/>
              <a:uFillTx/>
              <a:latin typeface="Calibri"/>
            </a:endParaRPr>
          </a:p>
          <a:p>
            <a:pPr marL="919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系统是否对特定的</a:t>
            </a:r>
            <a:r>
              <a:rPr lang="zh-CN" sz="2400" b="0" u="none" strike="noStrike">
                <a:solidFill>
                  <a:srgbClr val="ff0000"/>
                </a:solidFill>
                <a:effectLst/>
                <a:uFillTx/>
                <a:latin typeface="Bodoni MT Black"/>
              </a:rPr>
              <a:t>输入值</a:t>
            </a:r>
            <a:r>
              <a:rPr lang="zh-CN" sz="2400" b="0" u="none" strike="noStrike">
                <a:solidFill>
                  <a:schemeClr val="dk1"/>
                </a:solidFill>
                <a:effectLst/>
                <a:uFillTx/>
                <a:latin typeface="Bodoni MT Black"/>
              </a:rPr>
              <a:t>特别敏感？</a:t>
            </a:r>
            <a:endParaRPr lang="es-ES" sz="2400" b="0" u="none" strike="noStrike">
              <a:solidFill>
                <a:schemeClr val="dk1"/>
              </a:solidFill>
              <a:effectLst/>
              <a:uFillTx/>
              <a:latin typeface="Calibri"/>
            </a:endParaRPr>
          </a:p>
          <a:p>
            <a:pPr marL="919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怎样划定数据类的</a:t>
            </a:r>
            <a:r>
              <a:rPr lang="zh-CN" sz="2400" b="0" u="none" strike="noStrike">
                <a:solidFill>
                  <a:srgbClr val="ff0000"/>
                </a:solidFill>
                <a:effectLst/>
                <a:uFillTx/>
                <a:latin typeface="Bodoni MT Black"/>
              </a:rPr>
              <a:t>边界</a:t>
            </a:r>
            <a:r>
              <a:rPr lang="zh-CN" sz="2400" b="0" u="none" strike="noStrike">
                <a:solidFill>
                  <a:schemeClr val="dk1"/>
                </a:solidFill>
                <a:effectLst/>
                <a:uFillTx/>
                <a:latin typeface="Bodoni MT Black"/>
              </a:rPr>
              <a:t>？</a:t>
            </a:r>
            <a:endParaRPr lang="es-ES" sz="2400" b="0" u="none" strike="noStrike">
              <a:solidFill>
                <a:schemeClr val="dk1"/>
              </a:solidFill>
              <a:effectLst/>
              <a:uFillTx/>
              <a:latin typeface="Calibri"/>
            </a:endParaRPr>
          </a:p>
          <a:p>
            <a:pPr marL="919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系统能够承受什么样的</a:t>
            </a:r>
            <a:r>
              <a:rPr lang="zh-CN" sz="2400" b="0" u="none" strike="noStrike">
                <a:solidFill>
                  <a:srgbClr val="ff0000"/>
                </a:solidFill>
                <a:effectLst/>
                <a:uFillTx/>
                <a:latin typeface="Bodoni MT Black"/>
              </a:rPr>
              <a:t>数据率</a:t>
            </a:r>
            <a:r>
              <a:rPr lang="zh-CN" sz="2400" b="0" u="none" strike="noStrike">
                <a:solidFill>
                  <a:schemeClr val="dk1"/>
                </a:solidFill>
                <a:effectLst/>
                <a:uFillTx/>
                <a:latin typeface="Bodoni MT Black"/>
              </a:rPr>
              <a:t>和</a:t>
            </a:r>
            <a:r>
              <a:rPr lang="zh-CN" sz="2400" b="0" u="none" strike="noStrike">
                <a:solidFill>
                  <a:srgbClr val="ff0000"/>
                </a:solidFill>
                <a:effectLst/>
                <a:uFillTx/>
                <a:latin typeface="Bodoni MT Black"/>
              </a:rPr>
              <a:t>数据量</a:t>
            </a:r>
            <a:r>
              <a:rPr lang="zh-CN" sz="2400" b="0" u="none" strike="noStrike">
                <a:solidFill>
                  <a:schemeClr val="dk1"/>
                </a:solidFill>
                <a:effectLst/>
                <a:uFillTx/>
                <a:latin typeface="Bodoni MT Black"/>
              </a:rPr>
              <a:t>？</a:t>
            </a:r>
            <a:endParaRPr lang="es-ES" sz="2400" b="0" u="none" strike="noStrike">
              <a:solidFill>
                <a:schemeClr val="dk1"/>
              </a:solidFill>
              <a:effectLst/>
              <a:uFillTx/>
              <a:latin typeface="Calibri"/>
            </a:endParaRPr>
          </a:p>
          <a:p>
            <a:pPr marL="919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数据的</a:t>
            </a:r>
            <a:r>
              <a:rPr lang="zh-CN" sz="2400" b="0" u="none" strike="noStrike">
                <a:solidFill>
                  <a:srgbClr val="ff0000"/>
                </a:solidFill>
                <a:effectLst/>
                <a:uFillTx/>
                <a:latin typeface="Bodoni MT Black"/>
              </a:rPr>
              <a:t>特定组合</a:t>
            </a:r>
            <a:r>
              <a:rPr lang="zh-CN" sz="2400" b="0" u="none" strike="noStrike">
                <a:solidFill>
                  <a:schemeClr val="dk1"/>
                </a:solidFill>
                <a:effectLst/>
                <a:uFillTx/>
                <a:latin typeface="Bodoni MT Black"/>
              </a:rPr>
              <a:t>将对系统运行产生什么影响？</a:t>
            </a:r>
            <a:endParaRPr lang="es-ES" sz="2400" b="0" u="none" strike="noStrike">
              <a:solidFill>
                <a:schemeClr val="dk1"/>
              </a:solidFill>
              <a:effectLst/>
              <a:uFillTx/>
              <a:latin typeface="Calibri"/>
            </a:endParaRPr>
          </a:p>
          <a:p>
            <a:pPr indent="0">
              <a:lnSpc>
                <a:spcPct val="125000"/>
              </a:lnSpc>
              <a:spcBef>
                <a:spcPts val="479"/>
              </a:spcBef>
              <a:buNone/>
              <a:tabLst>
                <a:tab algn="l" pos="0"/>
              </a:tabLst>
            </a:pPr>
            <a:r>
              <a:rPr lang="en-US" sz="2400" b="0" u="none" strike="noStrike">
                <a:solidFill>
                  <a:schemeClr val="dk1"/>
                </a:solidFill>
                <a:effectLst/>
                <a:uFillTx/>
                <a:latin typeface="Bodoni MT Black"/>
              </a:rPr>
              <a:t>     </a:t>
            </a:r>
            <a:endParaRPr lang="es-ES" sz="2400" b="0" u="none" strike="noStrike">
              <a:solidFill>
                <a:schemeClr val="dk1"/>
              </a:solidFill>
              <a:effectLst/>
              <a:uFillTx/>
              <a:latin typeface="Calibri"/>
            </a:endParaRPr>
          </a:p>
        </p:txBody>
      </p:sp>
      <p:sp>
        <p:nvSpPr>
          <p:cNvPr id="646"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7.7 </a:t>
            </a:r>
            <a:r>
              <a:rPr lang="zh-CN" sz="2400" b="0" u="none" strike="noStrike">
                <a:solidFill>
                  <a:srgbClr val="d9d9d9"/>
                </a:solidFill>
                <a:effectLst/>
                <a:uFillTx/>
                <a:latin typeface="Bodoni MT Black"/>
                <a:ea typeface="宋体"/>
              </a:rPr>
              <a:t>黑盒测试技术</a:t>
            </a:r>
            <a:endParaRPr lang="en-US" sz="2400" b="0" u="none" strike="noStrike">
              <a:solidFill>
                <a:srgbClr val="000000"/>
              </a:solidFill>
              <a:effectLst/>
              <a:uFillTx/>
              <a:latin typeface="Arial"/>
            </a:endParaRPr>
          </a:p>
        </p:txBody>
      </p:sp>
      <p:sp>
        <p:nvSpPr>
          <p:cNvPr id="647" name="1 Título"/>
          <p:cNvSpPr/>
          <p:nvPr/>
        </p:nvSpPr>
        <p:spPr>
          <a:xfrm>
            <a:off x="0" y="6300720"/>
            <a:ext cx="231588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7</a:t>
            </a:r>
            <a:r>
              <a:rPr lang="zh-CN" sz="2400" b="0" u="none" strike="noStrike">
                <a:solidFill>
                  <a:srgbClr val="d9d9d9"/>
                </a:solidFill>
                <a:effectLst/>
                <a:uFillTx/>
                <a:latin typeface="Bodoni MT Black"/>
                <a:ea typeface="宋体"/>
              </a:rPr>
              <a:t>章　实现</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8"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7.7 </a:t>
            </a:r>
            <a:r>
              <a:rPr lang="zh-CN" sz="4400" b="1" u="none" strike="noStrike">
                <a:solidFill>
                  <a:schemeClr val="dk1"/>
                </a:solidFill>
                <a:effectLst/>
                <a:uFillTx/>
                <a:latin typeface="Bodoni MT Black"/>
              </a:rPr>
              <a:t>黑盒测试技术</a:t>
            </a:r>
            <a:endParaRPr lang="es-ES" sz="4400" b="0" u="none" strike="noStrike">
              <a:solidFill>
                <a:schemeClr val="dk1"/>
              </a:solidFill>
              <a:effectLst/>
              <a:uFillTx/>
              <a:latin typeface="Arial"/>
            </a:endParaRPr>
          </a:p>
        </p:txBody>
      </p:sp>
      <p:sp>
        <p:nvSpPr>
          <p:cNvPr id="649" name="PlaceHolder 2"/>
          <p:cNvSpPr>
            <a:spLocks noGrp="1"/>
          </p:cNvSpPr>
          <p:nvPr>
            <p:ph/>
          </p:nvPr>
        </p:nvSpPr>
        <p:spPr>
          <a:xfrm>
            <a:off x="220680" y="1558800"/>
            <a:ext cx="8496720" cy="4968360"/>
          </a:xfrm>
          <a:prstGeom prst="rect">
            <a:avLst/>
          </a:prstGeom>
          <a:noFill/>
          <a:ln w="9360">
            <a:noFill/>
          </a:ln>
        </p:spPr>
        <p:txBody>
          <a:bodyPr numCol="1" spcCol="0" lIns="91440" rIns="91440" tIns="45720" bIns="45720" anchor="t">
            <a:noAutofit/>
          </a:bodyPr>
          <a:p>
            <a:pPr indent="0">
              <a:lnSpc>
                <a:spcPct val="125000"/>
              </a:lnSpc>
              <a:buNone/>
              <a:tabLst>
                <a:tab algn="l" pos="0"/>
              </a:tabLst>
            </a:pPr>
            <a:r>
              <a:rPr lang="en-US" sz="2400" b="0" u="none" strike="noStrike">
                <a:solidFill>
                  <a:schemeClr val="dk1"/>
                </a:solidFill>
                <a:effectLst/>
                <a:uFillTx/>
                <a:latin typeface="Bodoni MT Black"/>
              </a:rPr>
              <a:t>   </a:t>
            </a:r>
            <a:r>
              <a:rPr lang="zh-CN" sz="2400" b="0" u="none" strike="noStrike">
                <a:solidFill>
                  <a:schemeClr val="dk1"/>
                </a:solidFill>
                <a:effectLst/>
                <a:uFillTx/>
                <a:latin typeface="Bodoni MT Black"/>
              </a:rPr>
              <a:t>应用黑盒测试技术，能设计出满足下述标准的测试用例集：</a:t>
            </a:r>
            <a:endParaRPr lang="es-ES" sz="2400" b="0" u="none" strike="noStrike">
              <a:solidFill>
                <a:schemeClr val="dk1"/>
              </a:solidFill>
              <a:effectLst/>
              <a:uFillTx/>
              <a:latin typeface="Calibri"/>
            </a:endParaRPr>
          </a:p>
          <a:p>
            <a:pPr indent="0">
              <a:lnSpc>
                <a:spcPct val="125000"/>
              </a:lnSpc>
              <a:buNone/>
              <a:tabLst>
                <a:tab algn="l" pos="0"/>
              </a:tabLst>
            </a:pPr>
            <a:r>
              <a:rPr lang="en-US" sz="2400" b="0" u="none" strike="noStrike">
                <a:solidFill>
                  <a:schemeClr val="dk1"/>
                </a:solidFill>
                <a:effectLst/>
                <a:uFillTx/>
                <a:latin typeface="Bodoni MT Black"/>
              </a:rPr>
              <a:t>    ① 所设计出的测试用例能够</a:t>
            </a:r>
            <a:r>
              <a:rPr lang="zh-CN" sz="2400" b="0" u="none" strike="noStrike">
                <a:solidFill>
                  <a:srgbClr val="ff0000"/>
                </a:solidFill>
                <a:effectLst/>
                <a:uFillTx/>
                <a:latin typeface="Bodoni MT Black"/>
              </a:rPr>
              <a:t>减少</a:t>
            </a:r>
            <a:r>
              <a:rPr lang="zh-CN" sz="2400" b="0" u="none" strike="noStrike">
                <a:solidFill>
                  <a:schemeClr val="dk1"/>
                </a:solidFill>
                <a:effectLst/>
                <a:uFillTx/>
                <a:latin typeface="Bodoni MT Black"/>
              </a:rPr>
              <a:t>为达到合理测试所需要设计的测试用例的</a:t>
            </a:r>
            <a:r>
              <a:rPr lang="zh-CN" sz="2400" b="0" u="none" strike="noStrike">
                <a:solidFill>
                  <a:srgbClr val="ff0000"/>
                </a:solidFill>
                <a:effectLst/>
                <a:uFillTx/>
                <a:latin typeface="Bodoni MT Black"/>
              </a:rPr>
              <a:t>总数</a:t>
            </a:r>
            <a:r>
              <a:rPr lang="zh-CN" sz="2400" b="0" u="none" strike="noStrike">
                <a:solidFill>
                  <a:schemeClr val="dk1"/>
                </a:solidFill>
                <a:effectLst/>
                <a:uFillTx/>
                <a:latin typeface="Bodoni MT Black"/>
              </a:rPr>
              <a:t>。</a:t>
            </a:r>
            <a:endParaRPr lang="es-ES" sz="2400" b="0" u="none" strike="noStrike">
              <a:solidFill>
                <a:schemeClr val="dk1"/>
              </a:solidFill>
              <a:effectLst/>
              <a:uFillTx/>
              <a:latin typeface="Calibri"/>
            </a:endParaRPr>
          </a:p>
          <a:p>
            <a:pPr indent="0">
              <a:lnSpc>
                <a:spcPct val="125000"/>
              </a:lnSpc>
              <a:buNone/>
              <a:tabLst>
                <a:tab algn="l" pos="0"/>
              </a:tabLst>
            </a:pPr>
            <a:r>
              <a:rPr lang="en-US" sz="2400" b="0" u="none" strike="noStrike">
                <a:solidFill>
                  <a:schemeClr val="dk1"/>
                </a:solidFill>
                <a:effectLst/>
                <a:uFillTx/>
                <a:latin typeface="Bodoni MT Black"/>
              </a:rPr>
              <a:t>    ② 所设计出的测试用例能够告诉人们，是否存在</a:t>
            </a:r>
            <a:r>
              <a:rPr lang="zh-CN" sz="2400" b="0" u="none" strike="noStrike">
                <a:solidFill>
                  <a:srgbClr val="ff0000"/>
                </a:solidFill>
                <a:effectLst/>
                <a:uFillTx/>
                <a:latin typeface="Bodoni MT Black"/>
              </a:rPr>
              <a:t>某些类型的错误</a:t>
            </a:r>
            <a:r>
              <a:rPr lang="zh-CN" sz="2400" b="0" u="none" strike="noStrike">
                <a:solidFill>
                  <a:schemeClr val="dk1"/>
                </a:solidFill>
                <a:effectLst/>
                <a:uFillTx/>
                <a:latin typeface="Bodoni MT Black"/>
              </a:rPr>
              <a:t>，而不是仅仅指出与特定测试相关的错误是否存在。</a:t>
            </a:r>
            <a:endParaRPr lang="es-ES" sz="2400" b="0" u="none" strike="noStrike">
              <a:solidFill>
                <a:schemeClr val="dk1"/>
              </a:solidFill>
              <a:effectLst/>
              <a:uFillTx/>
              <a:latin typeface="Calibri"/>
            </a:endParaRPr>
          </a:p>
        </p:txBody>
      </p:sp>
      <p:sp>
        <p:nvSpPr>
          <p:cNvPr id="650"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7.7 </a:t>
            </a:r>
            <a:r>
              <a:rPr lang="zh-CN" sz="2400" b="0" u="none" strike="noStrike">
                <a:solidFill>
                  <a:srgbClr val="d9d9d9"/>
                </a:solidFill>
                <a:effectLst/>
                <a:uFillTx/>
                <a:latin typeface="Bodoni MT Black"/>
                <a:ea typeface="宋体"/>
              </a:rPr>
              <a:t>黑盒测试技术</a:t>
            </a:r>
            <a:endParaRPr lang="en-US" sz="2400" b="0" u="none" strike="noStrike">
              <a:solidFill>
                <a:srgbClr val="000000"/>
              </a:solidFill>
              <a:effectLst/>
              <a:uFillTx/>
              <a:latin typeface="Arial"/>
            </a:endParaRPr>
          </a:p>
        </p:txBody>
      </p:sp>
      <p:sp>
        <p:nvSpPr>
          <p:cNvPr id="651" name="1 Título"/>
          <p:cNvSpPr/>
          <p:nvPr/>
        </p:nvSpPr>
        <p:spPr>
          <a:xfrm>
            <a:off x="0" y="6300720"/>
            <a:ext cx="231588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7</a:t>
            </a:r>
            <a:r>
              <a:rPr lang="zh-CN" sz="2400" b="0" u="none" strike="noStrike">
                <a:solidFill>
                  <a:srgbClr val="d9d9d9"/>
                </a:solidFill>
                <a:effectLst/>
                <a:uFillTx/>
                <a:latin typeface="Bodoni MT Black"/>
                <a:ea typeface="宋体"/>
              </a:rPr>
              <a:t>章　实现</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2"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7.7 </a:t>
            </a:r>
            <a:r>
              <a:rPr lang="zh-CN" sz="4400" b="1" u="none" strike="noStrike">
                <a:solidFill>
                  <a:schemeClr val="dk1"/>
                </a:solidFill>
                <a:effectLst/>
                <a:uFillTx/>
                <a:latin typeface="Bodoni MT Black"/>
              </a:rPr>
              <a:t>黑盒测试技术</a:t>
            </a:r>
            <a:endParaRPr lang="es-ES" sz="4400" b="0" u="none" strike="noStrike">
              <a:solidFill>
                <a:schemeClr val="dk1"/>
              </a:solidFill>
              <a:effectLst/>
              <a:uFillTx/>
              <a:latin typeface="Arial"/>
            </a:endParaRPr>
          </a:p>
        </p:txBody>
      </p:sp>
      <p:sp>
        <p:nvSpPr>
          <p:cNvPr id="653" name="PlaceHolder 2"/>
          <p:cNvSpPr>
            <a:spLocks noGrp="1"/>
          </p:cNvSpPr>
          <p:nvPr>
            <p:ph/>
          </p:nvPr>
        </p:nvSpPr>
        <p:spPr>
          <a:xfrm>
            <a:off x="395280" y="1125360"/>
            <a:ext cx="8229240" cy="60300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7.7.1 </a:t>
            </a:r>
            <a:r>
              <a:rPr lang="zh-CN" sz="3200" b="1" u="none" strike="noStrike">
                <a:solidFill>
                  <a:schemeClr val="dk1"/>
                </a:solidFill>
                <a:effectLst/>
                <a:uFillTx/>
                <a:latin typeface="Bodoni MT Black"/>
              </a:rPr>
              <a:t>等价划分</a:t>
            </a:r>
            <a:endParaRPr lang="es-ES" sz="3200" b="0" u="none" strike="noStrike">
              <a:solidFill>
                <a:schemeClr val="dk1"/>
              </a:solidFill>
              <a:effectLst/>
              <a:uFillTx/>
              <a:latin typeface="Calibri"/>
            </a:endParaRPr>
          </a:p>
        </p:txBody>
      </p:sp>
      <p:sp>
        <p:nvSpPr>
          <p:cNvPr id="654" name="TextBox 7"/>
          <p:cNvSpPr/>
          <p:nvPr/>
        </p:nvSpPr>
        <p:spPr>
          <a:xfrm>
            <a:off x="395280" y="1812960"/>
            <a:ext cx="8424360" cy="42469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1" u="none" strike="noStrike">
                <a:solidFill>
                  <a:srgbClr val="c00000"/>
                </a:solidFill>
                <a:effectLst/>
                <a:uFillTx/>
                <a:latin typeface="Bodoni MT Black"/>
                <a:ea typeface="宋体"/>
              </a:rPr>
              <a:t>     </a:t>
            </a:r>
            <a:r>
              <a:rPr lang="zh-CN" sz="2400" b="1" u="none" strike="noStrike">
                <a:solidFill>
                  <a:srgbClr val="c00000"/>
                </a:solidFill>
                <a:effectLst/>
                <a:uFillTx/>
                <a:latin typeface="Bodoni MT Black"/>
                <a:ea typeface="宋体"/>
              </a:rPr>
              <a:t>等价划分</a:t>
            </a:r>
            <a:r>
              <a:rPr lang="zh-CN" sz="2400" b="0" u="none" strike="noStrike">
                <a:solidFill>
                  <a:schemeClr val="dk1"/>
                </a:solidFill>
                <a:effectLst/>
                <a:uFillTx/>
                <a:latin typeface="Bodoni MT Black"/>
                <a:ea typeface="宋体"/>
              </a:rPr>
              <a:t>把程序的输入域划分成</a:t>
            </a:r>
            <a:r>
              <a:rPr lang="zh-CN" sz="2400" b="0" u="none" strike="noStrike">
                <a:solidFill>
                  <a:srgbClr val="ff0000"/>
                </a:solidFill>
                <a:effectLst/>
                <a:uFillTx/>
                <a:latin typeface="Bodoni MT Black"/>
                <a:ea typeface="宋体"/>
              </a:rPr>
              <a:t>若干个数据类</a:t>
            </a:r>
            <a:r>
              <a:rPr lang="zh-CN" sz="2400" b="0" u="none" strike="noStrike">
                <a:solidFill>
                  <a:schemeClr val="dk1"/>
                </a:solidFill>
                <a:effectLst/>
                <a:uFillTx/>
                <a:latin typeface="Bodoni MT Black"/>
                <a:ea typeface="宋体"/>
              </a:rPr>
              <a:t>，据此导出测试用例。等价划分法力图设计出能发现若干类程序错误的测试用例，从而减少必须设计的测试用例的数目。</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     如果把所有可能的输入数据（</a:t>
            </a:r>
            <a:r>
              <a:rPr lang="zh-CN" sz="2400" b="0" u="none" strike="noStrike">
                <a:solidFill>
                  <a:srgbClr val="0070c0"/>
                </a:solidFill>
                <a:effectLst/>
                <a:uFillTx/>
                <a:latin typeface="Bodoni MT Black"/>
                <a:ea typeface="宋体"/>
              </a:rPr>
              <a:t>有效的</a:t>
            </a:r>
            <a:r>
              <a:rPr lang="zh-CN" sz="2400" b="0" u="none" strike="noStrike">
                <a:solidFill>
                  <a:schemeClr val="dk1"/>
                </a:solidFill>
                <a:effectLst/>
                <a:uFillTx/>
                <a:latin typeface="Bodoni MT Black"/>
                <a:ea typeface="宋体"/>
              </a:rPr>
              <a:t>和</a:t>
            </a:r>
            <a:r>
              <a:rPr lang="zh-CN" sz="2400" b="0" u="none" strike="noStrike">
                <a:solidFill>
                  <a:srgbClr val="0070c0"/>
                </a:solidFill>
                <a:effectLst/>
                <a:uFillTx/>
                <a:latin typeface="Bodoni MT Black"/>
                <a:ea typeface="宋体"/>
              </a:rPr>
              <a:t>无效的</a:t>
            </a:r>
            <a:r>
              <a:rPr lang="zh-CN" sz="2400" b="0" u="none" strike="noStrike">
                <a:solidFill>
                  <a:schemeClr val="dk1"/>
                </a:solidFill>
                <a:effectLst/>
                <a:uFillTx/>
                <a:latin typeface="Bodoni MT Black"/>
                <a:ea typeface="宋体"/>
              </a:rPr>
              <a:t>）划分成若干个等价类，则可以合理地做出下述假定：</a:t>
            </a:r>
            <a:r>
              <a:rPr lang="zh-CN" sz="2400" b="0" u="none" strike="noStrike">
                <a:solidFill>
                  <a:srgbClr val="ff0000"/>
                </a:solidFill>
                <a:effectLst/>
                <a:uFillTx/>
                <a:latin typeface="Bodoni MT Black"/>
                <a:ea typeface="宋体"/>
              </a:rPr>
              <a:t>每类中的一个典型值在测试中的作用与这一类中所有其他值的作用相同</a:t>
            </a:r>
            <a:r>
              <a:rPr lang="zh-CN" sz="2400" b="0" u="none" strike="noStrike">
                <a:solidFill>
                  <a:schemeClr val="dk1"/>
                </a:solidFill>
                <a:effectLst/>
                <a:uFillTx/>
                <a:latin typeface="Bodoni MT Black"/>
                <a:ea typeface="宋体"/>
              </a:rPr>
              <a:t>。因此，可以从每个等价类中只取一组数据作为测试数据。这样选取的测试数据</a:t>
            </a:r>
            <a:r>
              <a:rPr lang="zh-CN" sz="2400" b="0" u="none" strike="noStrike">
                <a:solidFill>
                  <a:srgbClr val="ff0000"/>
                </a:solidFill>
                <a:effectLst/>
                <a:uFillTx/>
                <a:latin typeface="Bodoni MT Black"/>
                <a:ea typeface="宋体"/>
              </a:rPr>
              <a:t>最有代表性</a:t>
            </a:r>
            <a:r>
              <a:rPr lang="zh-CN" sz="2400" b="0" u="none" strike="noStrike">
                <a:solidFill>
                  <a:schemeClr val="dk1"/>
                </a:solidFill>
                <a:effectLst/>
                <a:uFillTx/>
                <a:latin typeface="Bodoni MT Black"/>
                <a:ea typeface="宋体"/>
              </a:rPr>
              <a:t>，最可能发现程序中的错误。</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    </a:t>
            </a:r>
            <a:endParaRPr lang="en-US" sz="2400" b="0" u="none" strike="noStrike">
              <a:solidFill>
                <a:srgbClr val="000000"/>
              </a:solidFill>
              <a:effectLst/>
              <a:uFillTx/>
              <a:latin typeface="Arial"/>
            </a:endParaRPr>
          </a:p>
        </p:txBody>
      </p:sp>
      <p:sp>
        <p:nvSpPr>
          <p:cNvPr id="655"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656"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7.7.1 </a:t>
            </a:r>
            <a:r>
              <a:rPr lang="zh-CN" sz="2400" b="0" u="none" strike="noStrike">
                <a:solidFill>
                  <a:srgbClr val="d9d9d9"/>
                </a:solidFill>
                <a:effectLst/>
                <a:uFillTx/>
                <a:latin typeface="Bodoni MT Black"/>
              </a:rPr>
              <a:t>等价划分</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7"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7.7 </a:t>
            </a:r>
            <a:r>
              <a:rPr lang="zh-CN" sz="4400" b="1" u="none" strike="noStrike">
                <a:solidFill>
                  <a:schemeClr val="dk1"/>
                </a:solidFill>
                <a:effectLst/>
                <a:uFillTx/>
                <a:latin typeface="Bodoni MT Black"/>
              </a:rPr>
              <a:t>黑盒测试技术</a:t>
            </a:r>
            <a:endParaRPr lang="es-ES" sz="4400" b="0" u="none" strike="noStrike">
              <a:solidFill>
                <a:schemeClr val="dk1"/>
              </a:solidFill>
              <a:effectLst/>
              <a:uFillTx/>
              <a:latin typeface="Arial"/>
            </a:endParaRPr>
          </a:p>
        </p:txBody>
      </p:sp>
      <p:sp>
        <p:nvSpPr>
          <p:cNvPr id="658" name="TextBox 7"/>
          <p:cNvSpPr/>
          <p:nvPr/>
        </p:nvSpPr>
        <p:spPr>
          <a:xfrm>
            <a:off x="395280" y="1268280"/>
            <a:ext cx="8527680" cy="47088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使用等价划分法设计测试方案</a:t>
            </a:r>
            <a:r>
              <a:rPr lang="zh-CN" sz="2400" b="0" u="none" strike="noStrike">
                <a:solidFill>
                  <a:srgbClr val="ff0000"/>
                </a:solidFill>
                <a:effectLst/>
                <a:uFillTx/>
                <a:latin typeface="Bodoni MT Black"/>
                <a:ea typeface="宋体"/>
              </a:rPr>
              <a:t>首先需要划分输入数据的等价类</a:t>
            </a:r>
            <a:r>
              <a:rPr lang="zh-CN" sz="2400" b="0" u="none" strike="noStrike">
                <a:solidFill>
                  <a:schemeClr val="dk1"/>
                </a:solidFill>
                <a:effectLst/>
                <a:uFillTx/>
                <a:latin typeface="Bodoni MT Black"/>
                <a:ea typeface="宋体"/>
              </a:rPr>
              <a:t>，为此需要研究程序的功能说明，从而确定输入数据的</a:t>
            </a:r>
            <a:r>
              <a:rPr lang="zh-CN" sz="2400" b="0" u="none" strike="noStrike">
                <a:solidFill>
                  <a:srgbClr val="ff0000"/>
                </a:solidFill>
                <a:effectLst/>
                <a:uFillTx/>
                <a:latin typeface="Bodoni MT Black"/>
                <a:ea typeface="宋体"/>
              </a:rPr>
              <a:t>有效等价类</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无效等价类</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    划分等价类需要经验，下述的</a:t>
            </a:r>
            <a:r>
              <a:rPr lang="zh-CN" sz="2400" b="0" u="none" strike="noStrike">
                <a:solidFill>
                  <a:srgbClr val="ff0000"/>
                </a:solidFill>
                <a:effectLst/>
                <a:uFillTx/>
                <a:latin typeface="Bodoni MT Black"/>
                <a:ea typeface="宋体"/>
              </a:rPr>
              <a:t>启发式规则</a:t>
            </a:r>
            <a:r>
              <a:rPr lang="zh-CN" sz="2400" b="0" u="none" strike="noStrike">
                <a:solidFill>
                  <a:schemeClr val="dk1"/>
                </a:solidFill>
                <a:effectLst/>
                <a:uFillTx/>
                <a:latin typeface="Bodoni MT Black"/>
                <a:ea typeface="宋体"/>
              </a:rPr>
              <a:t>可能有助于等价类划分。</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① 如果规定了输入值的范围，则可划分出</a:t>
            </a:r>
            <a:r>
              <a:rPr lang="zh-CN" sz="2400" b="0" u="none" strike="noStrike">
                <a:solidFill>
                  <a:srgbClr val="ff0000"/>
                </a:solidFill>
                <a:effectLst/>
                <a:uFillTx/>
                <a:latin typeface="Bodoni MT Black"/>
                <a:ea typeface="宋体"/>
              </a:rPr>
              <a:t>一个有效</a:t>
            </a:r>
            <a:r>
              <a:rPr lang="zh-CN" sz="2400" b="0" u="none" strike="noStrike">
                <a:solidFill>
                  <a:schemeClr val="dk1"/>
                </a:solidFill>
                <a:effectLst/>
                <a:uFillTx/>
                <a:latin typeface="Bodoni MT Black"/>
                <a:ea typeface="宋体"/>
              </a:rPr>
              <a:t>的等价类（输入值在此范围内），</a:t>
            </a:r>
            <a:r>
              <a:rPr lang="zh-CN" sz="2400" b="0" u="none" strike="noStrike">
                <a:solidFill>
                  <a:srgbClr val="ff0000"/>
                </a:solidFill>
                <a:effectLst/>
                <a:uFillTx/>
                <a:latin typeface="Bodoni MT Black"/>
                <a:ea typeface="宋体"/>
              </a:rPr>
              <a:t>两个无效</a:t>
            </a:r>
            <a:r>
              <a:rPr lang="zh-CN" sz="2400" b="0" u="none" strike="noStrike">
                <a:solidFill>
                  <a:schemeClr val="dk1"/>
                </a:solidFill>
                <a:effectLst/>
                <a:uFillTx/>
                <a:latin typeface="Bodoni MT Black"/>
                <a:ea typeface="宋体"/>
              </a:rPr>
              <a:t>的等价类（输入值小于最小值或大于最大值）。</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② 如果规定了输入数据的个数，则类似地也可以划分出一个有效的等价类和两个无效的等价类。</a:t>
            </a:r>
            <a:endParaRPr lang="en-US" sz="2400" b="0" u="none" strike="noStrike">
              <a:solidFill>
                <a:srgbClr val="000000"/>
              </a:solidFill>
              <a:effectLst/>
              <a:uFillTx/>
              <a:latin typeface="Arial"/>
            </a:endParaRPr>
          </a:p>
        </p:txBody>
      </p:sp>
      <p:sp>
        <p:nvSpPr>
          <p:cNvPr id="659"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660"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7.7.1 </a:t>
            </a:r>
            <a:r>
              <a:rPr lang="zh-CN" sz="2400" b="0" u="none" strike="noStrike">
                <a:solidFill>
                  <a:srgbClr val="d9d9d9"/>
                </a:solidFill>
                <a:effectLst/>
                <a:uFillTx/>
                <a:latin typeface="Bodoni MT Black"/>
              </a:rPr>
              <a:t>等价划分</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1"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7.7 </a:t>
            </a:r>
            <a:r>
              <a:rPr lang="zh-CN" sz="4400" b="1" u="none" strike="noStrike">
                <a:solidFill>
                  <a:schemeClr val="dk1"/>
                </a:solidFill>
                <a:effectLst/>
                <a:uFillTx/>
                <a:latin typeface="Bodoni MT Black"/>
              </a:rPr>
              <a:t>黑盒测试技术</a:t>
            </a:r>
            <a:endParaRPr lang="es-ES" sz="4400" b="0" u="none" strike="noStrike">
              <a:solidFill>
                <a:schemeClr val="dk1"/>
              </a:solidFill>
              <a:effectLst/>
              <a:uFillTx/>
              <a:latin typeface="Arial"/>
            </a:endParaRPr>
          </a:p>
        </p:txBody>
      </p:sp>
      <p:sp>
        <p:nvSpPr>
          <p:cNvPr id="662" name="TextBox 7"/>
          <p:cNvSpPr/>
          <p:nvPr/>
        </p:nvSpPr>
        <p:spPr>
          <a:xfrm>
            <a:off x="343800" y="1221480"/>
            <a:ext cx="8456400" cy="47088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0" u="none" strike="noStrike">
                <a:solidFill>
                  <a:schemeClr val="dk1"/>
                </a:solidFill>
                <a:effectLst/>
                <a:uFillTx/>
                <a:latin typeface="Bodoni MT Black"/>
                <a:ea typeface="宋体"/>
              </a:rPr>
              <a:t>③ 如果规定了输入数据的一组值，而且程序对不同输入值做不同处理，则每个允许的输入值是一个有效的等价类，此外还有一个无效的等价类（任一个不允许的输入值）。</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④ 如果规定了输入数据必须遵循的规则，则可以划分出</a:t>
            </a:r>
            <a:r>
              <a:rPr lang="zh-CN" sz="2400" b="0" u="none" strike="noStrike">
                <a:solidFill>
                  <a:srgbClr val="ff0000"/>
                </a:solidFill>
                <a:effectLst/>
                <a:uFillTx/>
                <a:latin typeface="Bodoni MT Black"/>
                <a:ea typeface="宋体"/>
              </a:rPr>
              <a:t>一个有效</a:t>
            </a:r>
            <a:r>
              <a:rPr lang="zh-CN" sz="2400" b="0" u="none" strike="noStrike">
                <a:solidFill>
                  <a:schemeClr val="dk1"/>
                </a:solidFill>
                <a:effectLst/>
                <a:uFillTx/>
                <a:latin typeface="Bodoni MT Black"/>
                <a:ea typeface="宋体"/>
              </a:rPr>
              <a:t>等价类（符合规则）和</a:t>
            </a:r>
            <a:r>
              <a:rPr lang="zh-CN" sz="2400" b="0" u="none" strike="noStrike">
                <a:solidFill>
                  <a:srgbClr val="ff0000"/>
                </a:solidFill>
                <a:effectLst/>
                <a:uFillTx/>
                <a:latin typeface="Bodoni MT Black"/>
                <a:ea typeface="宋体"/>
              </a:rPr>
              <a:t>若干个无效</a:t>
            </a:r>
            <a:r>
              <a:rPr lang="zh-CN" sz="2400" b="0" u="none" strike="noStrike">
                <a:solidFill>
                  <a:schemeClr val="dk1"/>
                </a:solidFill>
                <a:effectLst/>
                <a:uFillTx/>
                <a:latin typeface="Bodoni MT Black"/>
                <a:ea typeface="宋体"/>
              </a:rPr>
              <a:t>等价类（从各种不同角度违反规则） 。</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⑤ 如果规定了输入数据为整型，则可以划分出正整数、零和负整数</a:t>
            </a:r>
            <a:r>
              <a:rPr lang="en-US" sz="2400" b="0" u="none" strike="noStrike">
                <a:solidFill>
                  <a:srgbClr val="ff0000"/>
                </a:solidFill>
                <a:effectLst/>
                <a:uFillTx/>
                <a:latin typeface="Bodoni MT Black"/>
                <a:ea typeface="宋体"/>
              </a:rPr>
              <a:t>3</a:t>
            </a:r>
            <a:r>
              <a:rPr lang="zh-CN" sz="2400" b="0" u="none" strike="noStrike">
                <a:solidFill>
                  <a:srgbClr val="ff0000"/>
                </a:solidFill>
                <a:effectLst/>
                <a:uFillTx/>
                <a:latin typeface="Bodoni MT Black"/>
                <a:ea typeface="宋体"/>
              </a:rPr>
              <a:t>个有效类</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⑥ 如果程序的处理对象是表格，则应该使用</a:t>
            </a:r>
            <a:r>
              <a:rPr lang="zh-CN" sz="2400" b="0" u="none" strike="noStrike">
                <a:solidFill>
                  <a:srgbClr val="ff0000"/>
                </a:solidFill>
                <a:effectLst/>
                <a:uFillTx/>
                <a:latin typeface="Bodoni MT Black"/>
                <a:ea typeface="宋体"/>
              </a:rPr>
              <a:t>空表</a:t>
            </a:r>
            <a:r>
              <a:rPr lang="zh-CN" sz="2400" b="0" u="none" strike="noStrike">
                <a:solidFill>
                  <a:schemeClr val="dk1"/>
                </a:solidFill>
                <a:effectLst/>
                <a:uFillTx/>
                <a:latin typeface="Bodoni MT Black"/>
                <a:ea typeface="宋体"/>
              </a:rPr>
              <a:t>，以及</a:t>
            </a:r>
            <a:r>
              <a:rPr lang="zh-CN" sz="2400" b="0" u="none" strike="noStrike">
                <a:solidFill>
                  <a:srgbClr val="ff0000"/>
                </a:solidFill>
                <a:effectLst/>
                <a:uFillTx/>
                <a:latin typeface="Bodoni MT Black"/>
                <a:ea typeface="宋体"/>
              </a:rPr>
              <a:t>含一项或多项的表</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663"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664"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7.7.1 </a:t>
            </a:r>
            <a:r>
              <a:rPr lang="zh-CN" sz="2400" b="0" u="none" strike="noStrike">
                <a:solidFill>
                  <a:srgbClr val="d9d9d9"/>
                </a:solidFill>
                <a:effectLst/>
                <a:uFillTx/>
                <a:latin typeface="Bodoni MT Black"/>
              </a:rPr>
              <a:t>等价划分</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5"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7.7 </a:t>
            </a:r>
            <a:r>
              <a:rPr lang="zh-CN" sz="4400" b="1" u="none" strike="noStrike">
                <a:solidFill>
                  <a:schemeClr val="dk1"/>
                </a:solidFill>
                <a:effectLst/>
                <a:uFillTx/>
                <a:latin typeface="Bodoni MT Black"/>
              </a:rPr>
              <a:t>黑盒测试技术</a:t>
            </a:r>
            <a:endParaRPr lang="es-ES" sz="4400" b="0" u="none" strike="noStrike">
              <a:solidFill>
                <a:schemeClr val="dk1"/>
              </a:solidFill>
              <a:effectLst/>
              <a:uFillTx/>
              <a:latin typeface="Arial"/>
            </a:endParaRPr>
          </a:p>
        </p:txBody>
      </p:sp>
      <p:sp>
        <p:nvSpPr>
          <p:cNvPr id="666" name="TextBox 7"/>
          <p:cNvSpPr/>
          <p:nvPr/>
        </p:nvSpPr>
        <p:spPr>
          <a:xfrm>
            <a:off x="251640" y="1290600"/>
            <a:ext cx="8568360" cy="42469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0" u="none" strike="noStrike">
                <a:solidFill>
                  <a:schemeClr val="dk1"/>
                </a:solidFill>
                <a:effectLst/>
                <a:uFillTx/>
                <a:latin typeface="Bodoni MT Black"/>
              </a:rPr>
              <a:t>    </a:t>
            </a:r>
            <a:r>
              <a:rPr lang="zh-CN" sz="2400" b="0" u="none" strike="noStrike">
                <a:solidFill>
                  <a:schemeClr val="dk1"/>
                </a:solidFill>
                <a:effectLst/>
                <a:uFillTx/>
                <a:latin typeface="Bodoni MT Black"/>
              </a:rPr>
              <a:t>划分出等价类以后，根据等价类设计测试方案时主要使用下面</a:t>
            </a:r>
            <a:r>
              <a:rPr lang="zh-CN" sz="2400" b="0" u="none" strike="noStrike">
                <a:solidFill>
                  <a:srgbClr val="ff0000"/>
                </a:solidFill>
                <a:effectLst/>
                <a:uFillTx/>
                <a:latin typeface="Bodoni MT Black"/>
              </a:rPr>
              <a:t>两</a:t>
            </a:r>
            <a:r>
              <a:rPr lang="zh-CN" sz="2400" b="0" u="none" strike="noStrike">
                <a:solidFill>
                  <a:schemeClr val="dk1"/>
                </a:solidFill>
                <a:effectLst/>
                <a:uFillTx/>
                <a:latin typeface="Bodoni MT Black"/>
              </a:rPr>
              <a:t>个步骤。</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① 设计一个新的测试方案以</a:t>
            </a:r>
            <a:r>
              <a:rPr lang="zh-CN" sz="2400" b="0" u="none" strike="noStrike">
                <a:solidFill>
                  <a:srgbClr val="ff0000"/>
                </a:solidFill>
                <a:effectLst/>
                <a:uFillTx/>
                <a:latin typeface="Bodoni MT Black"/>
              </a:rPr>
              <a:t>尽可能多地覆盖尚未被覆盖的有效等价类</a:t>
            </a:r>
            <a:r>
              <a:rPr lang="zh-CN" sz="2400" b="0" u="none" strike="noStrike">
                <a:solidFill>
                  <a:schemeClr val="dk1"/>
                </a:solidFill>
                <a:effectLst/>
                <a:uFillTx/>
                <a:latin typeface="Bodoni MT Black"/>
              </a:rPr>
              <a:t>，重复这一步骤直到所有有效等价类都被覆盖为止。</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② 设计一个新的测试方案，使它</a:t>
            </a:r>
            <a:r>
              <a:rPr lang="zh-CN" sz="2400" b="0" u="none" strike="noStrike">
                <a:solidFill>
                  <a:srgbClr val="ff0000"/>
                </a:solidFill>
                <a:effectLst/>
                <a:uFillTx/>
                <a:latin typeface="Bodoni MT Black"/>
              </a:rPr>
              <a:t>覆盖一个而且只覆盖一个尚未被覆盖的无效等价类</a:t>
            </a:r>
            <a:r>
              <a:rPr lang="zh-CN" sz="2400" b="0" u="none" strike="noStrike">
                <a:solidFill>
                  <a:schemeClr val="dk1"/>
                </a:solidFill>
                <a:effectLst/>
                <a:uFillTx/>
                <a:latin typeface="Bodoni MT Black"/>
              </a:rPr>
              <a:t>，重复这一步骤直到所有无效等价类都被覆盖为止。</a:t>
            </a:r>
            <a:endParaRPr lang="en-US" sz="2400" b="0" u="none" strike="noStrike">
              <a:solidFill>
                <a:srgbClr val="000000"/>
              </a:solidFill>
              <a:effectLst/>
              <a:uFillTx/>
              <a:latin typeface="Arial"/>
            </a:endParaRPr>
          </a:p>
          <a:p>
            <a:pPr>
              <a:lnSpc>
                <a:spcPct val="125000"/>
              </a:lnSpc>
              <a:tabLst>
                <a:tab algn="l" pos="0"/>
              </a:tabLst>
            </a:pPr>
            <a:r>
              <a:rPr lang="en-US" sz="2400" b="1" u="none" strike="noStrike">
                <a:solidFill>
                  <a:schemeClr val="dk1"/>
                </a:solidFill>
                <a:effectLst/>
                <a:uFillTx/>
                <a:latin typeface="Bodoni MT Black"/>
              </a:rPr>
              <a:t>    </a:t>
            </a:r>
            <a:r>
              <a:rPr lang="zh-CN" sz="2400" b="1" u="none" strike="noStrike">
                <a:solidFill>
                  <a:srgbClr val="c00000"/>
                </a:solidFill>
                <a:effectLst/>
                <a:uFillTx/>
                <a:latin typeface="Bodoni MT Black"/>
              </a:rPr>
              <a:t>注意</a:t>
            </a:r>
            <a:r>
              <a:rPr lang="zh-CN" sz="2400" b="0" u="none" strike="noStrike">
                <a:solidFill>
                  <a:schemeClr val="dk1"/>
                </a:solidFill>
                <a:effectLst/>
                <a:uFillTx/>
                <a:latin typeface="Bodoni MT Black"/>
              </a:rPr>
              <a:t>，通常程序发现一类错误后就不再检查是否还有其他错误，因此，应使每个测试方案只覆盖一个无效的等价类。</a:t>
            </a:r>
            <a:endParaRPr lang="en-US" sz="2400" b="0" u="none" strike="noStrike">
              <a:solidFill>
                <a:srgbClr val="000000"/>
              </a:solidFill>
              <a:effectLst/>
              <a:uFillTx/>
              <a:latin typeface="Arial"/>
            </a:endParaRPr>
          </a:p>
        </p:txBody>
      </p:sp>
      <p:sp>
        <p:nvSpPr>
          <p:cNvPr id="667"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668"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7.7.1 </a:t>
            </a:r>
            <a:r>
              <a:rPr lang="zh-CN" sz="2400" b="0" u="none" strike="noStrike">
                <a:solidFill>
                  <a:srgbClr val="d9d9d9"/>
                </a:solidFill>
                <a:effectLst/>
                <a:uFillTx/>
                <a:latin typeface="Bodoni MT Black"/>
              </a:rPr>
              <a:t>等价划分</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9"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7.7 </a:t>
            </a:r>
            <a:r>
              <a:rPr lang="zh-CN" sz="4400" b="1" u="none" strike="noStrike">
                <a:solidFill>
                  <a:schemeClr val="dk1"/>
                </a:solidFill>
                <a:effectLst/>
                <a:uFillTx/>
                <a:latin typeface="Bodoni MT Black"/>
              </a:rPr>
              <a:t>黑盒测试技术</a:t>
            </a:r>
            <a:endParaRPr lang="es-ES" sz="4400" b="0" u="none" strike="noStrike">
              <a:solidFill>
                <a:schemeClr val="dk1"/>
              </a:solidFill>
              <a:effectLst/>
              <a:uFillTx/>
              <a:latin typeface="Arial"/>
            </a:endParaRPr>
          </a:p>
        </p:txBody>
      </p:sp>
      <p:sp>
        <p:nvSpPr>
          <p:cNvPr id="670" name="TextBox 7"/>
          <p:cNvSpPr/>
          <p:nvPr/>
        </p:nvSpPr>
        <p:spPr>
          <a:xfrm>
            <a:off x="359640" y="1187280"/>
            <a:ext cx="8424360" cy="51703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200" b="0" u="none" strike="noStrike">
                <a:solidFill>
                  <a:schemeClr val="dk1"/>
                </a:solidFill>
                <a:effectLst/>
                <a:uFillTx/>
                <a:latin typeface="Bodoni MT Black"/>
              </a:rPr>
              <a:t>    </a:t>
            </a:r>
            <a:r>
              <a:rPr lang="zh-CN" sz="2200" b="0" u="none" strike="noStrike">
                <a:solidFill>
                  <a:schemeClr val="dk1"/>
                </a:solidFill>
                <a:effectLst/>
                <a:uFillTx/>
                <a:latin typeface="Bodoni MT Black"/>
              </a:rPr>
              <a:t>有一个把</a:t>
            </a:r>
            <a:r>
              <a:rPr lang="zh-CN" sz="2200" b="0" u="none" strike="noStrike">
                <a:solidFill>
                  <a:srgbClr val="ff0000"/>
                </a:solidFill>
                <a:effectLst/>
                <a:uFillTx/>
                <a:latin typeface="Bodoni MT Black"/>
              </a:rPr>
              <a:t>数字串转变成整数</a:t>
            </a:r>
            <a:r>
              <a:rPr lang="zh-CN" sz="2200" b="0" u="none" strike="noStrike">
                <a:solidFill>
                  <a:schemeClr val="dk1"/>
                </a:solidFill>
                <a:effectLst/>
                <a:uFillTx/>
                <a:latin typeface="Bodoni MT Black"/>
              </a:rPr>
              <a:t>的函数。程序的计算机字长</a:t>
            </a:r>
            <a:r>
              <a:rPr lang="en-US" sz="2200" b="0" u="none" strike="noStrike">
                <a:solidFill>
                  <a:srgbClr val="ff0000"/>
                </a:solidFill>
                <a:effectLst/>
                <a:uFillTx/>
                <a:latin typeface="Bodoni MT Black"/>
              </a:rPr>
              <a:t>16</a:t>
            </a:r>
            <a:r>
              <a:rPr lang="zh-CN" sz="2200" b="0" u="none" strike="noStrike">
                <a:solidFill>
                  <a:schemeClr val="dk1"/>
                </a:solidFill>
                <a:effectLst/>
                <a:uFillTx/>
                <a:latin typeface="Bodoni MT Black"/>
              </a:rPr>
              <a:t>位，用二进制补码（符号位和数值域统一处理）表示整数，</a:t>
            </a:r>
            <a:r>
              <a:rPr lang="en-US" sz="2200" b="0" u="none" strike="noStrike">
                <a:solidFill>
                  <a:schemeClr val="dk1"/>
                </a:solidFill>
                <a:effectLst/>
                <a:uFillTx/>
                <a:latin typeface="Times New Roman"/>
              </a:rPr>
              <a:t>Pascal</a:t>
            </a:r>
            <a:r>
              <a:rPr lang="zh-CN" sz="2200" b="0" u="none" strike="noStrike">
                <a:solidFill>
                  <a:schemeClr val="dk1"/>
                </a:solidFill>
                <a:effectLst/>
                <a:uFillTx/>
                <a:latin typeface="Bodoni MT Black"/>
              </a:rPr>
              <a:t>语言编写的函数说明如下：</a:t>
            </a:r>
            <a:endParaRPr lang="en-US" sz="2200" b="0" u="none" strike="noStrike">
              <a:solidFill>
                <a:srgbClr val="000000"/>
              </a:solidFill>
              <a:effectLst/>
              <a:uFillTx/>
              <a:latin typeface="Arial"/>
            </a:endParaRPr>
          </a:p>
          <a:p>
            <a:pPr>
              <a:lnSpc>
                <a:spcPct val="125000"/>
              </a:lnSpc>
              <a:tabLst>
                <a:tab algn="l" pos="0"/>
              </a:tabLst>
            </a:pPr>
            <a:r>
              <a:rPr lang="en-US" sz="2200" b="1" u="none" strike="noStrike">
                <a:solidFill>
                  <a:schemeClr val="dk1"/>
                </a:solidFill>
                <a:effectLst/>
                <a:uFillTx/>
                <a:latin typeface="Bodoni MT Black"/>
              </a:rPr>
              <a:t>                function strtoint (dstr:shortstr):integer;</a:t>
            </a:r>
            <a:endParaRPr lang="en-US" sz="2200" b="0" u="none" strike="noStrike">
              <a:solidFill>
                <a:srgbClr val="000000"/>
              </a:solidFill>
              <a:effectLst/>
              <a:uFillTx/>
              <a:latin typeface="Arial"/>
            </a:endParaRPr>
          </a:p>
          <a:p>
            <a:pPr>
              <a:lnSpc>
                <a:spcPct val="125000"/>
              </a:lnSpc>
              <a:tabLst>
                <a:tab algn="l" pos="0"/>
              </a:tabLst>
            </a:pPr>
            <a:r>
              <a:rPr lang="zh-CN" sz="2200" b="0" u="none" strike="noStrike">
                <a:solidFill>
                  <a:schemeClr val="dk1"/>
                </a:solidFill>
                <a:effectLst/>
                <a:uFillTx/>
                <a:latin typeface="Bodoni MT Black"/>
              </a:rPr>
              <a:t>函数的参数类型是</a:t>
            </a:r>
            <a:r>
              <a:rPr lang="en-US" sz="2200" b="0" u="none" strike="noStrike">
                <a:solidFill>
                  <a:schemeClr val="dk1"/>
                </a:solidFill>
                <a:effectLst/>
                <a:uFillTx/>
                <a:latin typeface="Bodoni MT Black"/>
              </a:rPr>
              <a:t>shortstr</a:t>
            </a:r>
            <a:r>
              <a:rPr lang="zh-CN" sz="2200" b="0" u="none" strike="noStrike">
                <a:solidFill>
                  <a:schemeClr val="dk1"/>
                </a:solidFill>
                <a:effectLst/>
                <a:uFillTx/>
                <a:latin typeface="Bodoni MT Black"/>
              </a:rPr>
              <a:t>，它的说明是：</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rPr>
              <a:t>                     </a:t>
            </a:r>
            <a:r>
              <a:rPr lang="en-US" sz="2200" b="1" u="none" strike="noStrike">
                <a:solidFill>
                  <a:schemeClr val="dk1"/>
                </a:solidFill>
                <a:effectLst/>
                <a:uFillTx/>
                <a:latin typeface="Bodoni MT Black"/>
              </a:rPr>
              <a:t>type shortstr=array[1..6] of char;</a:t>
            </a:r>
            <a:endParaRPr lang="en-US" sz="2200" b="0" u="none" strike="noStrike">
              <a:solidFill>
                <a:srgbClr val="000000"/>
              </a:solidFill>
              <a:effectLst/>
              <a:uFillTx/>
              <a:latin typeface="Arial"/>
            </a:endParaRPr>
          </a:p>
          <a:p>
            <a:pPr>
              <a:lnSpc>
                <a:spcPct val="125000"/>
              </a:lnSpc>
              <a:tabLst>
                <a:tab algn="l" pos="0"/>
              </a:tabLst>
            </a:pPr>
            <a:r>
              <a:rPr lang="zh-CN" sz="2200" b="0" u="none" strike="noStrike">
                <a:solidFill>
                  <a:schemeClr val="dk1"/>
                </a:solidFill>
                <a:effectLst/>
                <a:uFillTx/>
                <a:latin typeface="Bodoni MT Black"/>
              </a:rPr>
              <a:t>被处理的数字串是</a:t>
            </a:r>
            <a:r>
              <a:rPr lang="zh-CN" sz="2200" b="0" u="none" strike="noStrike">
                <a:solidFill>
                  <a:srgbClr val="ff0000"/>
                </a:solidFill>
                <a:effectLst/>
                <a:uFillTx/>
                <a:latin typeface="Bodoni MT Black"/>
              </a:rPr>
              <a:t>右对齐</a:t>
            </a:r>
            <a:r>
              <a:rPr lang="zh-CN" sz="2200" b="0" u="none" strike="noStrike">
                <a:solidFill>
                  <a:schemeClr val="dk1"/>
                </a:solidFill>
                <a:effectLst/>
                <a:uFillTx/>
                <a:latin typeface="Bodoni MT Black"/>
              </a:rPr>
              <a:t>的，如果数字串比</a:t>
            </a:r>
            <a:r>
              <a:rPr lang="en-US" sz="2200" b="0" u="none" strike="noStrike">
                <a:solidFill>
                  <a:srgbClr val="0070c0"/>
                </a:solidFill>
                <a:effectLst/>
                <a:uFillTx/>
                <a:latin typeface="Bodoni MT Black"/>
              </a:rPr>
              <a:t>6</a:t>
            </a:r>
            <a:r>
              <a:rPr lang="zh-CN" sz="2200" b="0" u="none" strike="noStrike">
                <a:solidFill>
                  <a:schemeClr val="dk1"/>
                </a:solidFill>
                <a:effectLst/>
                <a:uFillTx/>
                <a:latin typeface="Bodoni MT Black"/>
              </a:rPr>
              <a:t>个字符短，则在它的左边补空格。如果数字串是负的，则负号和最高位数字紧相邻（负号在最高位数字左边一位</a:t>
            </a:r>
            <a:r>
              <a:rPr lang="zh-CN" sz="2200" b="0" u="none" strike="noStrike">
                <a:solidFill>
                  <a:schemeClr val="dk1"/>
                </a:solidFill>
                <a:effectLst/>
                <a:uFillTx/>
                <a:latin typeface="Bodoni MT Black"/>
                <a:ea typeface="宋体"/>
              </a:rPr>
              <a:t>）。</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ea typeface="宋体"/>
              </a:rPr>
              <a:t>     考虑到</a:t>
            </a:r>
            <a:r>
              <a:rPr lang="en-US" sz="2200" b="0" u="none" strike="noStrike">
                <a:solidFill>
                  <a:schemeClr val="dk1"/>
                </a:solidFill>
                <a:effectLst/>
                <a:uFillTx/>
                <a:latin typeface="Times New Roman"/>
                <a:ea typeface="宋体"/>
              </a:rPr>
              <a:t>Pascal</a:t>
            </a:r>
            <a:r>
              <a:rPr lang="zh-CN" sz="2200" b="0" u="none" strike="noStrike">
                <a:solidFill>
                  <a:schemeClr val="dk1"/>
                </a:solidFill>
                <a:effectLst/>
                <a:uFillTx/>
                <a:latin typeface="Bodoni MT Black"/>
                <a:ea typeface="宋体"/>
              </a:rPr>
              <a:t>编译程序固有的检错功能，测试时不需要使用长度不等于</a:t>
            </a:r>
            <a:r>
              <a:rPr lang="en-US" sz="2200" b="0" u="none" strike="noStrike">
                <a:solidFill>
                  <a:schemeClr val="dk1"/>
                </a:solidFill>
                <a:effectLst/>
                <a:uFillTx/>
                <a:latin typeface="Bodoni MT Black"/>
                <a:ea typeface="宋体"/>
              </a:rPr>
              <a:t>6</a:t>
            </a:r>
            <a:r>
              <a:rPr lang="zh-CN" sz="2200" b="0" u="none" strike="noStrike">
                <a:solidFill>
                  <a:schemeClr val="dk1"/>
                </a:solidFill>
                <a:effectLst/>
                <a:uFillTx/>
                <a:latin typeface="Bodoni MT Black"/>
                <a:ea typeface="宋体"/>
              </a:rPr>
              <a:t>的数组做实际参数，更不需要使用任何非字符数组类型的实在参数。</a:t>
            </a:r>
            <a:endParaRPr lang="en-US" sz="2200" b="0" u="none" strike="noStrike">
              <a:solidFill>
                <a:srgbClr val="000000"/>
              </a:solidFill>
              <a:effectLst/>
              <a:uFillTx/>
              <a:latin typeface="Arial"/>
            </a:endParaRPr>
          </a:p>
        </p:txBody>
      </p:sp>
      <p:sp>
        <p:nvSpPr>
          <p:cNvPr id="671"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672"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7.7.1 </a:t>
            </a:r>
            <a:r>
              <a:rPr lang="zh-CN" sz="2400" b="0" u="none" strike="noStrike">
                <a:solidFill>
                  <a:srgbClr val="d9d9d9"/>
                </a:solidFill>
                <a:effectLst/>
                <a:uFillTx/>
                <a:latin typeface="Bodoni MT Black"/>
              </a:rPr>
              <a:t>等价划分</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3"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7.7 </a:t>
            </a:r>
            <a:r>
              <a:rPr lang="zh-CN" sz="4400" b="1" u="none" strike="noStrike">
                <a:solidFill>
                  <a:schemeClr val="dk1"/>
                </a:solidFill>
                <a:effectLst/>
                <a:uFillTx/>
                <a:latin typeface="Bodoni MT Black"/>
              </a:rPr>
              <a:t>黑盒测试技术</a:t>
            </a:r>
            <a:endParaRPr lang="es-ES" sz="4400" b="0" u="none" strike="noStrike">
              <a:solidFill>
                <a:schemeClr val="dk1"/>
              </a:solidFill>
              <a:effectLst/>
              <a:uFillTx/>
              <a:latin typeface="Arial"/>
            </a:endParaRPr>
          </a:p>
        </p:txBody>
      </p:sp>
      <p:sp>
        <p:nvSpPr>
          <p:cNvPr id="674" name="TextBox 7"/>
          <p:cNvSpPr/>
          <p:nvPr/>
        </p:nvSpPr>
        <p:spPr>
          <a:xfrm>
            <a:off x="457200" y="1135800"/>
            <a:ext cx="8175240" cy="47041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200" b="0" u="none" strike="noStrike">
                <a:solidFill>
                  <a:schemeClr val="dk1"/>
                </a:solidFill>
                <a:effectLst/>
                <a:uFillTx/>
                <a:latin typeface="Bodoni MT Black"/>
              </a:rPr>
              <a:t>分析这个程序的规格说明，可以划分出如下等价类。</a:t>
            </a:r>
            <a:endParaRPr lang="en-US" sz="2200" b="0" u="none" strike="noStrike">
              <a:solidFill>
                <a:srgbClr val="000000"/>
              </a:solidFill>
              <a:effectLst/>
              <a:uFillTx/>
              <a:latin typeface="Arial"/>
            </a:endParaRPr>
          </a:p>
          <a:p>
            <a:pPr marL="343080" indent="-343080">
              <a:lnSpc>
                <a:spcPct val="125000"/>
              </a:lnSpc>
              <a:buClr>
                <a:srgbClr val="ff0000"/>
              </a:buClr>
              <a:buFont typeface="Wingdings" charset="2"/>
              <a:buChar char=""/>
              <a:tabLst>
                <a:tab algn="l" pos="0"/>
              </a:tabLst>
            </a:pPr>
            <a:r>
              <a:rPr lang="zh-CN" sz="2200" b="1" u="none" strike="noStrike">
                <a:solidFill>
                  <a:srgbClr val="ff0000"/>
                </a:solidFill>
                <a:effectLst/>
                <a:uFillTx/>
                <a:latin typeface="Bodoni MT Black"/>
              </a:rPr>
              <a:t>有效输入的等价类</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rPr>
              <a:t>① </a:t>
            </a:r>
            <a:r>
              <a:rPr lang="en-US" sz="2200" b="0" u="none" strike="noStrike">
                <a:solidFill>
                  <a:schemeClr val="dk1"/>
                </a:solidFill>
                <a:effectLst/>
                <a:uFillTx/>
                <a:latin typeface="Bodoni MT Black"/>
              </a:rPr>
              <a:t>1</a:t>
            </a:r>
            <a:r>
              <a:rPr lang="zh-CN" sz="2200" b="0" u="none" strike="noStrike">
                <a:solidFill>
                  <a:schemeClr val="dk1"/>
                </a:solidFill>
                <a:effectLst/>
                <a:uFillTx/>
                <a:latin typeface="Bodoni MT Black"/>
              </a:rPr>
              <a:t>～</a:t>
            </a:r>
            <a:r>
              <a:rPr lang="en-US" sz="2200" b="0" u="none" strike="noStrike">
                <a:solidFill>
                  <a:schemeClr val="dk1"/>
                </a:solidFill>
                <a:effectLst/>
                <a:uFillTx/>
                <a:latin typeface="Bodoni MT Black"/>
              </a:rPr>
              <a:t>6</a:t>
            </a:r>
            <a:r>
              <a:rPr lang="zh-CN" sz="2200" b="0" u="none" strike="noStrike">
                <a:solidFill>
                  <a:schemeClr val="dk1"/>
                </a:solidFill>
                <a:effectLst/>
                <a:uFillTx/>
                <a:latin typeface="Bodoni MT Black"/>
              </a:rPr>
              <a:t>个数字字符组成的数字串（</a:t>
            </a:r>
            <a:r>
              <a:rPr lang="zh-CN" sz="2200" b="0" u="none" strike="noStrike">
                <a:solidFill>
                  <a:schemeClr val="dk1"/>
                </a:solidFill>
                <a:effectLst/>
                <a:uFillTx/>
                <a:latin typeface="Bodoni MT Black"/>
                <a:ea typeface="宋体"/>
              </a:rPr>
              <a:t>最高位数字不是零）。</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ea typeface="宋体"/>
              </a:rPr>
              <a:t>② 最高位数字是零的数字串。</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ea typeface="宋体"/>
              </a:rPr>
              <a:t>③ 最高位数字左邻是负号的数字串。</a:t>
            </a:r>
            <a:endParaRPr lang="en-US" sz="2200" b="0" u="none" strike="noStrike">
              <a:solidFill>
                <a:srgbClr val="000000"/>
              </a:solidFill>
              <a:effectLst/>
              <a:uFillTx/>
              <a:latin typeface="Arial"/>
            </a:endParaRPr>
          </a:p>
          <a:p>
            <a:pPr marL="343080" indent="-343080">
              <a:lnSpc>
                <a:spcPct val="125000"/>
              </a:lnSpc>
              <a:buClr>
                <a:srgbClr val="ff0000"/>
              </a:buClr>
              <a:buFont typeface="Wingdings" charset="2"/>
              <a:buChar char=""/>
              <a:tabLst>
                <a:tab algn="l" pos="0"/>
              </a:tabLst>
            </a:pPr>
            <a:r>
              <a:rPr lang="zh-CN" sz="2200" b="1" u="none" strike="noStrike">
                <a:solidFill>
                  <a:srgbClr val="ff0000"/>
                </a:solidFill>
                <a:effectLst/>
                <a:uFillTx/>
                <a:latin typeface="Bodoni MT Black"/>
                <a:ea typeface="宋体"/>
              </a:rPr>
              <a:t>无效输入的等价类</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ea typeface="宋体"/>
              </a:rPr>
              <a:t>① 空字符串（全是空格）。</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ea typeface="宋体"/>
              </a:rPr>
              <a:t>② 左部填充的字符既不是零也不是空格。</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ea typeface="宋体"/>
              </a:rPr>
              <a:t>③ 最高位数字右面由数字和空格混合组成。</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ea typeface="宋体"/>
              </a:rPr>
              <a:t>④ 最高位数字右面由数字和其他字符混合组成。</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ea typeface="宋体"/>
              </a:rPr>
              <a:t>⑤ 负号与最高位数字之间有空格。</a:t>
            </a:r>
            <a:endParaRPr lang="en-US" sz="2200" b="0" u="none" strike="noStrike">
              <a:solidFill>
                <a:srgbClr val="000000"/>
              </a:solidFill>
              <a:effectLst/>
              <a:uFillTx/>
              <a:latin typeface="Arial"/>
            </a:endParaRPr>
          </a:p>
        </p:txBody>
      </p:sp>
      <p:sp>
        <p:nvSpPr>
          <p:cNvPr id="675"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676"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7.7.1 </a:t>
            </a:r>
            <a:r>
              <a:rPr lang="zh-CN" sz="2400" b="0" u="none" strike="noStrike">
                <a:solidFill>
                  <a:srgbClr val="d9d9d9"/>
                </a:solidFill>
                <a:effectLst/>
                <a:uFillTx/>
                <a:latin typeface="Bodoni MT Black"/>
              </a:rPr>
              <a:t>等价划分</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7"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7.7 </a:t>
            </a:r>
            <a:r>
              <a:rPr lang="zh-CN" sz="4400" b="1" u="none" strike="noStrike">
                <a:solidFill>
                  <a:schemeClr val="dk1"/>
                </a:solidFill>
                <a:effectLst/>
                <a:uFillTx/>
                <a:latin typeface="Bodoni MT Black"/>
              </a:rPr>
              <a:t>黑盒测试技术</a:t>
            </a:r>
            <a:endParaRPr lang="es-ES" sz="4400" b="0" u="none" strike="noStrike">
              <a:solidFill>
                <a:schemeClr val="dk1"/>
              </a:solidFill>
              <a:effectLst/>
              <a:uFillTx/>
              <a:latin typeface="Arial"/>
            </a:endParaRPr>
          </a:p>
        </p:txBody>
      </p:sp>
      <p:sp>
        <p:nvSpPr>
          <p:cNvPr id="678" name="TextBox 7"/>
          <p:cNvSpPr/>
          <p:nvPr/>
        </p:nvSpPr>
        <p:spPr>
          <a:xfrm>
            <a:off x="520560" y="1412640"/>
            <a:ext cx="8102520" cy="4401000"/>
          </a:xfrm>
          <a:prstGeom prst="rect">
            <a:avLst/>
          </a:prstGeom>
          <a:noFill/>
          <a:ln w="0">
            <a:noFill/>
          </a:ln>
        </p:spPr>
        <p:style>
          <a:lnRef idx="0"/>
          <a:fillRef idx="0"/>
          <a:effectRef idx="0"/>
          <a:fontRef idx="minor"/>
        </p:style>
        <p:txBody>
          <a:bodyPr lIns="90000" rIns="90000" tIns="45000" bIns="45000" anchor="t">
            <a:spAutoFit/>
          </a:bodyPr>
          <a:p>
            <a:pPr>
              <a:lnSpc>
                <a:spcPct val="125000"/>
              </a:lnSpc>
              <a:buClr>
                <a:srgbClr val="ff0000"/>
              </a:buClr>
              <a:buFont typeface="Wingdings" charset="2"/>
              <a:buChar char=""/>
            </a:pPr>
            <a:r>
              <a:rPr lang="en-US" sz="2200" b="1" u="none" strike="noStrike">
                <a:solidFill>
                  <a:srgbClr val="ff0000"/>
                </a:solidFill>
                <a:effectLst/>
                <a:uFillTx/>
                <a:latin typeface="Bodoni MT Black"/>
              </a:rPr>
              <a:t> </a:t>
            </a:r>
            <a:r>
              <a:rPr lang="zh-CN" sz="2200" b="1" u="none" strike="noStrike">
                <a:solidFill>
                  <a:srgbClr val="ff0000"/>
                </a:solidFill>
                <a:effectLst/>
                <a:uFillTx/>
                <a:latin typeface="Bodoni MT Black"/>
              </a:rPr>
              <a:t>合法输出的等价类</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rPr>
              <a:t>① 在计算机能表示的最小负整数和零之间的负整数。</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rPr>
              <a:t>② 零。</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rPr>
              <a:t>③ 在零和计算机能表示的最大正整数之间的正整数。</a:t>
            </a:r>
            <a:endParaRPr lang="en-US" sz="2200" b="0" u="none" strike="noStrike">
              <a:solidFill>
                <a:srgbClr val="000000"/>
              </a:solidFill>
              <a:effectLst/>
              <a:uFillTx/>
              <a:latin typeface="Arial"/>
            </a:endParaRPr>
          </a:p>
          <a:p>
            <a:pPr>
              <a:lnSpc>
                <a:spcPct val="125000"/>
              </a:lnSpc>
              <a:buClr>
                <a:srgbClr val="ff0000"/>
              </a:buClr>
              <a:buFont typeface="Wingdings" charset="2"/>
              <a:buChar char=""/>
              <a:tabLst>
                <a:tab algn="l" pos="0"/>
              </a:tabLst>
            </a:pPr>
            <a:r>
              <a:rPr lang="en-US" sz="2200" b="1" u="none" strike="noStrike">
                <a:solidFill>
                  <a:srgbClr val="ff0000"/>
                </a:solidFill>
                <a:effectLst/>
                <a:uFillTx/>
                <a:latin typeface="Bodoni MT Black"/>
              </a:rPr>
              <a:t> 非法输出的等价类</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rPr>
              <a:t>① 比计算机能表示的最小负整数还小的负整数。</a:t>
            </a:r>
            <a:endParaRPr lang="en-US" sz="2200" b="0" u="none" strike="noStrike">
              <a:solidFill>
                <a:srgbClr val="000000"/>
              </a:solidFill>
              <a:effectLst/>
              <a:uFillTx/>
              <a:latin typeface="Arial"/>
            </a:endParaRPr>
          </a:p>
          <a:p>
            <a:pPr>
              <a:lnSpc>
                <a:spcPct val="125000"/>
              </a:lnSpc>
              <a:tabLst>
                <a:tab algn="l" pos="0"/>
              </a:tabLst>
            </a:pPr>
            <a:r>
              <a:rPr lang="en-US" sz="2200" b="0" u="none" strike="noStrike">
                <a:solidFill>
                  <a:schemeClr val="dk1"/>
                </a:solidFill>
                <a:effectLst/>
                <a:uFillTx/>
                <a:latin typeface="Bodoni MT Black"/>
              </a:rPr>
              <a:t>② 比计算机能表示的最大正整数还大的正整数。</a:t>
            </a:r>
            <a:endParaRPr lang="en-US" sz="2200" b="0" u="none" strike="noStrike">
              <a:solidFill>
                <a:srgbClr val="000000"/>
              </a:solidFill>
              <a:effectLst/>
              <a:uFillTx/>
              <a:latin typeface="Arial"/>
            </a:endParaRPr>
          </a:p>
          <a:p>
            <a:pPr>
              <a:lnSpc>
                <a:spcPct val="125000"/>
              </a:lnSpc>
              <a:spcBef>
                <a:spcPts val="601"/>
              </a:spcBef>
              <a:tabLst>
                <a:tab algn="l" pos="0"/>
              </a:tabLst>
            </a:pPr>
            <a:r>
              <a:rPr lang="en-US" sz="2200" b="0" u="none" strike="noStrike">
                <a:solidFill>
                  <a:schemeClr val="dk1"/>
                </a:solidFill>
                <a:effectLst/>
                <a:uFillTx/>
                <a:latin typeface="Bodoni MT Black"/>
              </a:rPr>
              <a:t>    因为所用的计算机字长</a:t>
            </a:r>
            <a:r>
              <a:rPr lang="en-US" sz="2200" b="0" u="none" strike="noStrike">
                <a:solidFill>
                  <a:schemeClr val="dk1"/>
                </a:solidFill>
                <a:effectLst/>
                <a:uFillTx/>
                <a:latin typeface="Bodoni MT Black"/>
              </a:rPr>
              <a:t>16</a:t>
            </a:r>
            <a:r>
              <a:rPr lang="zh-CN" sz="2200" b="0" u="none" strike="noStrike">
                <a:solidFill>
                  <a:schemeClr val="dk1"/>
                </a:solidFill>
                <a:effectLst/>
                <a:uFillTx/>
                <a:latin typeface="Bodoni MT Black"/>
              </a:rPr>
              <a:t>位，用二进制补码表示整数，所以能表示的最小负整数是</a:t>
            </a:r>
            <a:r>
              <a:rPr lang="en-US" sz="2200" b="1" u="none" strike="noStrike">
                <a:solidFill>
                  <a:schemeClr val="dk1"/>
                </a:solidFill>
                <a:effectLst/>
                <a:uFillTx/>
                <a:latin typeface="Bodoni MT Black"/>
              </a:rPr>
              <a:t>-32,768</a:t>
            </a:r>
            <a:r>
              <a:rPr lang="zh-CN" sz="2200" b="0" u="none" strike="noStrike">
                <a:solidFill>
                  <a:schemeClr val="dk1"/>
                </a:solidFill>
                <a:effectLst/>
                <a:uFillTx/>
                <a:latin typeface="Bodoni MT Black"/>
              </a:rPr>
              <a:t>，能表示的最大正整数是</a:t>
            </a:r>
            <a:r>
              <a:rPr lang="en-US" sz="2200" b="1" u="none" strike="noStrike">
                <a:solidFill>
                  <a:schemeClr val="dk1"/>
                </a:solidFill>
                <a:effectLst/>
                <a:uFillTx/>
                <a:latin typeface="Bodoni MT Black"/>
              </a:rPr>
              <a:t>32,767</a:t>
            </a:r>
            <a:r>
              <a:rPr lang="zh-CN" sz="2200" b="0" u="none" strike="noStrike">
                <a:solidFill>
                  <a:schemeClr val="dk1"/>
                </a:solidFill>
                <a:effectLst/>
                <a:uFillTx/>
                <a:latin typeface="Bodoni MT Black"/>
              </a:rPr>
              <a:t>。</a:t>
            </a:r>
            <a:endParaRPr lang="en-US" sz="2200" b="0" u="none" strike="noStrike">
              <a:solidFill>
                <a:srgbClr val="000000"/>
              </a:solidFill>
              <a:effectLst/>
              <a:uFillTx/>
              <a:latin typeface="Arial"/>
            </a:endParaRPr>
          </a:p>
        </p:txBody>
      </p:sp>
      <p:sp>
        <p:nvSpPr>
          <p:cNvPr id="679"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680"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7.7.1 </a:t>
            </a:r>
            <a:r>
              <a:rPr lang="zh-CN" sz="2400" b="0" u="none" strike="noStrike">
                <a:solidFill>
                  <a:srgbClr val="d9d9d9"/>
                </a:solidFill>
                <a:effectLst/>
                <a:uFillTx/>
                <a:latin typeface="Bodoni MT Black"/>
              </a:rPr>
              <a:t>等价划分</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1"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7.7 </a:t>
            </a:r>
            <a:r>
              <a:rPr lang="zh-CN" sz="4400" b="1" u="none" strike="noStrike">
                <a:solidFill>
                  <a:schemeClr val="dk1"/>
                </a:solidFill>
                <a:effectLst/>
                <a:uFillTx/>
                <a:latin typeface="Bodoni MT Black"/>
              </a:rPr>
              <a:t>黑盒测试技术</a:t>
            </a:r>
            <a:endParaRPr lang="es-ES" sz="4400" b="0" u="none" strike="noStrike">
              <a:solidFill>
                <a:schemeClr val="dk1"/>
              </a:solidFill>
              <a:effectLst/>
              <a:uFillTx/>
              <a:latin typeface="Arial"/>
            </a:endParaRPr>
          </a:p>
        </p:txBody>
      </p:sp>
      <p:sp>
        <p:nvSpPr>
          <p:cNvPr id="682" name="TextBox 7"/>
          <p:cNvSpPr/>
          <p:nvPr/>
        </p:nvSpPr>
        <p:spPr>
          <a:xfrm>
            <a:off x="704880" y="1557360"/>
            <a:ext cx="7919640" cy="399600"/>
          </a:xfrm>
          <a:prstGeom prst="rect">
            <a:avLst/>
          </a:prstGeom>
          <a:noFill/>
          <a:ln w="0">
            <a:noFill/>
          </a:ln>
        </p:spPr>
        <p:style>
          <a:lnRef idx="0"/>
          <a:fillRef idx="0"/>
          <a:effectRef idx="0"/>
          <a:fontRef idx="minor"/>
        </p:style>
        <p:txBody>
          <a:bodyPr lIns="90000" rIns="90000" tIns="45000" bIns="45000" anchor="t">
            <a:spAutoFit/>
          </a:bodyPr>
          <a:p>
            <a:pPr>
              <a:lnSpc>
                <a:spcPts val="2401"/>
              </a:lnSpc>
              <a:tabLst>
                <a:tab algn="l" pos="0"/>
              </a:tabLst>
            </a:pPr>
            <a:r>
              <a:rPr lang="zh-CN" sz="2200" b="0" u="none" strike="noStrike">
                <a:solidFill>
                  <a:schemeClr val="dk1"/>
                </a:solidFill>
                <a:effectLst/>
                <a:uFillTx/>
                <a:latin typeface="Bodoni MT Black"/>
              </a:rPr>
              <a:t>根据划分出的等价类，可以设计出下述测试方案如下：</a:t>
            </a:r>
            <a:endParaRPr lang="en-US" sz="2200" b="0" u="none" strike="noStrike">
              <a:solidFill>
                <a:srgbClr val="000000"/>
              </a:solidFill>
              <a:effectLst/>
              <a:uFillTx/>
              <a:latin typeface="Arial"/>
            </a:endParaRPr>
          </a:p>
        </p:txBody>
      </p:sp>
      <p:graphicFrame>
        <p:nvGraphicFramePr>
          <p:cNvPr id="683" name="表格 1"/>
          <p:cNvGraphicFramePr/>
          <p:nvPr/>
        </p:nvGraphicFramePr>
        <p:xfrm>
          <a:off x="611640" y="2061000"/>
          <a:ext cx="7920000" cy="3616200"/>
        </p:xfrm>
        <a:graphic>
          <a:graphicData uri="http://schemas.openxmlformats.org/drawingml/2006/table">
            <a:tbl>
              <a:tblPr/>
              <a:tblGrid>
                <a:gridCol w="908640"/>
                <a:gridCol w="3051000"/>
                <a:gridCol w="1980000"/>
                <a:gridCol w="1980000"/>
              </a:tblGrid>
              <a:tr h="414000">
                <a:tc>
                  <a:txBody>
                    <a:bodyPr anchor="ctr">
                      <a:noAutofit/>
                    </a:bodyPr>
                    <a:p>
                      <a:pPr defTabSz="914400">
                        <a:lnSpc>
                          <a:spcPct val="100000"/>
                        </a:lnSpc>
                      </a:pPr>
                      <a:r>
                        <a:rPr lang="zh-CN" sz="1800" b="1" u="none" strike="noStrike">
                          <a:solidFill>
                            <a:schemeClr val="lt1"/>
                          </a:solidFill>
                          <a:effectLst/>
                          <a:uFillTx/>
                          <a:latin typeface="Calibri"/>
                        </a:rPr>
                        <a:t>编号</a:t>
                      </a:r>
                      <a:endParaRPr lang="en-US"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ctr">
                      <a:noAutofit/>
                    </a:bodyPr>
                    <a:p>
                      <a:pPr defTabSz="914400">
                        <a:lnSpc>
                          <a:spcPct val="100000"/>
                        </a:lnSpc>
                      </a:pPr>
                      <a:r>
                        <a:rPr lang="zh-CN" sz="1800" b="1" u="none" strike="noStrike">
                          <a:solidFill>
                            <a:schemeClr val="lt1"/>
                          </a:solidFill>
                          <a:effectLst/>
                          <a:uFillTx/>
                          <a:latin typeface="Calibri"/>
                        </a:rPr>
                        <a:t>描述</a:t>
                      </a:r>
                      <a:endParaRPr lang="en-US"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ctr">
                      <a:noAutofit/>
                    </a:bodyPr>
                    <a:p>
                      <a:pPr defTabSz="914400">
                        <a:lnSpc>
                          <a:spcPct val="100000"/>
                        </a:lnSpc>
                      </a:pPr>
                      <a:r>
                        <a:rPr lang="zh-CN" sz="1800" b="1" u="none" strike="noStrike">
                          <a:solidFill>
                            <a:schemeClr val="lt1"/>
                          </a:solidFill>
                          <a:effectLst/>
                          <a:uFillTx/>
                          <a:latin typeface="Calibri"/>
                        </a:rPr>
                        <a:t>输入</a:t>
                      </a:r>
                      <a:endParaRPr lang="en-US"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ctr">
                      <a:noAutofit/>
                    </a:bodyPr>
                    <a:p>
                      <a:pPr defTabSz="914400">
                        <a:lnSpc>
                          <a:spcPct val="100000"/>
                        </a:lnSpc>
                      </a:pPr>
                      <a:r>
                        <a:rPr lang="zh-CN" sz="1800" b="1" u="none" strike="noStrike">
                          <a:solidFill>
                            <a:schemeClr val="lt1"/>
                          </a:solidFill>
                          <a:effectLst/>
                          <a:uFillTx/>
                          <a:latin typeface="Calibri"/>
                        </a:rPr>
                        <a:t>预期输出</a:t>
                      </a:r>
                      <a:endParaRPr lang="en-US"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621000">
                <a:tc>
                  <a:txBody>
                    <a:bodyPr anchor="ctr">
                      <a:noAutofit/>
                    </a:bodyPr>
                    <a:p>
                      <a:pPr defTabSz="914400">
                        <a:lnSpc>
                          <a:spcPct val="100000"/>
                        </a:lnSpc>
                      </a:pPr>
                      <a:r>
                        <a:rPr lang="en-US" sz="1800" b="0" u="none" strike="noStrike">
                          <a:solidFill>
                            <a:schemeClr val="dk1"/>
                          </a:solidFill>
                          <a:effectLst/>
                          <a:uFillTx/>
                          <a:latin typeface="Calibri"/>
                        </a:rPr>
                        <a:t>1</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pPr>
                      <a:r>
                        <a:rPr lang="en-US" sz="1800" b="0" u="none" strike="noStrike">
                          <a:solidFill>
                            <a:schemeClr val="dk1"/>
                          </a:solidFill>
                          <a:effectLst/>
                          <a:uFillTx/>
                          <a:latin typeface="Calibri"/>
                        </a:rPr>
                        <a:t>1</a:t>
                      </a:r>
                      <a:r>
                        <a:rPr lang="zh-CN" sz="1800" b="0" u="none" strike="noStrike">
                          <a:solidFill>
                            <a:schemeClr val="dk1"/>
                          </a:solidFill>
                          <a:effectLst/>
                          <a:uFillTx/>
                          <a:latin typeface="Calibri"/>
                        </a:rPr>
                        <a:t>～</a:t>
                      </a:r>
                      <a:r>
                        <a:rPr lang="en-US" sz="1800" b="0" u="none" strike="noStrike">
                          <a:solidFill>
                            <a:schemeClr val="dk1"/>
                          </a:solidFill>
                          <a:effectLst/>
                          <a:uFillTx/>
                          <a:latin typeface="Calibri"/>
                        </a:rPr>
                        <a:t>6</a:t>
                      </a:r>
                      <a:r>
                        <a:rPr lang="zh-CN" sz="1800" b="0" u="none" strike="noStrike">
                          <a:solidFill>
                            <a:schemeClr val="dk1"/>
                          </a:solidFill>
                          <a:effectLst/>
                          <a:uFillTx/>
                          <a:latin typeface="Calibri"/>
                        </a:rPr>
                        <a:t>个数字组成的数字串，输出是合法的正整数</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pPr>
                      <a:r>
                        <a:rPr lang="en-US" sz="1800" b="0" u="none" strike="noStrike">
                          <a:solidFill>
                            <a:schemeClr val="dk1"/>
                          </a:solidFill>
                          <a:effectLst/>
                          <a:uFillTx/>
                          <a:latin typeface="Calibri"/>
                        </a:rPr>
                        <a:t>‘</a:t>
                      </a:r>
                      <a:r>
                        <a:rPr lang="en-US" sz="1800" b="0" u="none" strike="noStrike">
                          <a:solidFill>
                            <a:schemeClr val="dk1"/>
                          </a:solidFill>
                          <a:effectLst/>
                          <a:uFillTx/>
                          <a:latin typeface="Calibri"/>
                        </a:rPr>
                        <a:t>         1’</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pPr>
                      <a:r>
                        <a:rPr lang="en-US" sz="1800" b="0" u="none" strike="noStrike">
                          <a:solidFill>
                            <a:schemeClr val="dk1"/>
                          </a:solidFill>
                          <a:effectLst/>
                          <a:uFillTx/>
                          <a:latin typeface="Calibri"/>
                        </a:rPr>
                        <a:t>1</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621000">
                <a:tc>
                  <a:txBody>
                    <a:bodyPr anchor="ctr">
                      <a:noAutofit/>
                    </a:bodyPr>
                    <a:p>
                      <a:pPr defTabSz="914400">
                        <a:lnSpc>
                          <a:spcPct val="100000"/>
                        </a:lnSpc>
                      </a:pPr>
                      <a:r>
                        <a:rPr lang="en-US" sz="1800" b="0" u="none" strike="noStrike">
                          <a:solidFill>
                            <a:schemeClr val="dk1"/>
                          </a:solidFill>
                          <a:effectLst/>
                          <a:uFillTx/>
                          <a:latin typeface="Calibri"/>
                        </a:rPr>
                        <a:t>2</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0000"/>
                        </a:lnSpc>
                      </a:pPr>
                      <a:r>
                        <a:rPr lang="zh-CN" sz="1800" b="0" u="none" strike="noStrike">
                          <a:solidFill>
                            <a:schemeClr val="dk1"/>
                          </a:solidFill>
                          <a:effectLst/>
                          <a:uFillTx/>
                          <a:latin typeface="Calibri"/>
                        </a:rPr>
                        <a:t>最高位数字是零的数字串，输出是合法的正整数</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0000"/>
                        </a:lnSpc>
                      </a:pPr>
                      <a:r>
                        <a:rPr lang="en-US" sz="1800" b="0" u="none" strike="noStrike">
                          <a:solidFill>
                            <a:schemeClr val="dk1"/>
                          </a:solidFill>
                          <a:effectLst/>
                          <a:uFillTx/>
                          <a:latin typeface="Calibri"/>
                        </a:rPr>
                        <a:t>‘</a:t>
                      </a:r>
                      <a:r>
                        <a:rPr lang="en-US" sz="1800" b="0" u="none" strike="noStrike">
                          <a:solidFill>
                            <a:schemeClr val="dk1"/>
                          </a:solidFill>
                          <a:effectLst/>
                          <a:uFillTx/>
                          <a:latin typeface="Calibri"/>
                        </a:rPr>
                        <a:t>000001’</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0000"/>
                        </a:lnSpc>
                      </a:pPr>
                      <a:r>
                        <a:rPr lang="en-US" sz="1800" b="0" u="none" strike="noStrike">
                          <a:solidFill>
                            <a:schemeClr val="dk1"/>
                          </a:solidFill>
                          <a:effectLst/>
                          <a:uFillTx/>
                          <a:latin typeface="Calibri"/>
                        </a:rPr>
                        <a:t>1</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621000">
                <a:tc>
                  <a:txBody>
                    <a:bodyPr anchor="ctr">
                      <a:noAutofit/>
                    </a:bodyPr>
                    <a:p>
                      <a:pPr defTabSz="914400">
                        <a:lnSpc>
                          <a:spcPct val="100000"/>
                        </a:lnSpc>
                      </a:pPr>
                      <a:r>
                        <a:rPr lang="en-US" sz="1800" b="0" u="none" strike="noStrike">
                          <a:solidFill>
                            <a:schemeClr val="dk1"/>
                          </a:solidFill>
                          <a:effectLst/>
                          <a:uFillTx/>
                          <a:latin typeface="Calibri"/>
                        </a:rPr>
                        <a:t>3</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pPr>
                      <a:r>
                        <a:rPr lang="zh-CN" sz="1800" b="0" u="none" strike="noStrike">
                          <a:solidFill>
                            <a:schemeClr val="dk1"/>
                          </a:solidFill>
                          <a:effectLst/>
                          <a:uFillTx/>
                          <a:latin typeface="Calibri"/>
                        </a:rPr>
                        <a:t>负号与最高位数字紧相邻，输出合法的负整数</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pPr>
                      <a:r>
                        <a:rPr lang="en-US" sz="1800" b="0" u="none" strike="noStrike">
                          <a:solidFill>
                            <a:schemeClr val="dk1"/>
                          </a:solidFill>
                          <a:effectLst/>
                          <a:uFillTx/>
                          <a:latin typeface="Calibri"/>
                        </a:rPr>
                        <a:t>‘</a:t>
                      </a:r>
                      <a:r>
                        <a:rPr lang="en-US" sz="1800" b="0" u="none" strike="noStrike">
                          <a:solidFill>
                            <a:schemeClr val="dk1"/>
                          </a:solidFill>
                          <a:effectLst/>
                          <a:uFillTx/>
                          <a:latin typeface="Calibri"/>
                        </a:rPr>
                        <a:t>-00001’</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pPr>
                      <a:r>
                        <a:rPr lang="en-US" sz="1800" b="0" u="none" strike="noStrike">
                          <a:solidFill>
                            <a:schemeClr val="dk1"/>
                          </a:solidFill>
                          <a:effectLst/>
                          <a:uFillTx/>
                          <a:latin typeface="Calibri"/>
                        </a:rPr>
                        <a:t>-1</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621000">
                <a:tc>
                  <a:txBody>
                    <a:bodyPr anchor="ctr">
                      <a:noAutofit/>
                    </a:bodyPr>
                    <a:p>
                      <a:pPr defTabSz="914400">
                        <a:lnSpc>
                          <a:spcPct val="100000"/>
                        </a:lnSpc>
                      </a:pPr>
                      <a:r>
                        <a:rPr lang="en-US" sz="1800" b="0" u="none" strike="noStrike">
                          <a:solidFill>
                            <a:schemeClr val="dk1"/>
                          </a:solidFill>
                          <a:effectLst/>
                          <a:uFillTx/>
                          <a:latin typeface="Calibri"/>
                        </a:rPr>
                        <a:t>4</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0000"/>
                        </a:lnSpc>
                      </a:pPr>
                      <a:r>
                        <a:rPr lang="zh-CN" sz="1800" b="0" u="none" strike="noStrike">
                          <a:solidFill>
                            <a:schemeClr val="dk1"/>
                          </a:solidFill>
                          <a:effectLst/>
                          <a:uFillTx/>
                          <a:latin typeface="Calibri"/>
                        </a:rPr>
                        <a:t>最高位数字是零，输出也是零</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0000"/>
                        </a:lnSpc>
                      </a:pPr>
                      <a:r>
                        <a:rPr lang="en-US" sz="1800" b="0" u="none" strike="noStrike">
                          <a:solidFill>
                            <a:schemeClr val="dk1"/>
                          </a:solidFill>
                          <a:effectLst/>
                          <a:uFillTx/>
                          <a:latin typeface="Calibri"/>
                        </a:rPr>
                        <a:t>‘</a:t>
                      </a:r>
                      <a:r>
                        <a:rPr lang="en-US" sz="1800" b="0" u="none" strike="noStrike">
                          <a:solidFill>
                            <a:schemeClr val="dk1"/>
                          </a:solidFill>
                          <a:effectLst/>
                          <a:uFillTx/>
                          <a:latin typeface="Calibri"/>
                        </a:rPr>
                        <a:t>000000’</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0000"/>
                        </a:lnSpc>
                      </a:pPr>
                      <a:r>
                        <a:rPr lang="en-US" sz="1800" b="0" u="none" strike="noStrike">
                          <a:solidFill>
                            <a:schemeClr val="dk1"/>
                          </a:solidFill>
                          <a:effectLst/>
                          <a:uFillTx/>
                          <a:latin typeface="Calibri"/>
                        </a:rPr>
                        <a:t>0</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621000">
                <a:tc>
                  <a:txBody>
                    <a:bodyPr anchor="ctr">
                      <a:noAutofit/>
                    </a:bodyPr>
                    <a:p>
                      <a:pPr defTabSz="914400">
                        <a:lnSpc>
                          <a:spcPct val="100000"/>
                        </a:lnSpc>
                      </a:pPr>
                      <a:r>
                        <a:rPr lang="en-US" sz="1800" b="0" u="none" strike="noStrike">
                          <a:solidFill>
                            <a:schemeClr val="dk1"/>
                          </a:solidFill>
                          <a:effectLst/>
                          <a:uFillTx/>
                          <a:latin typeface="Calibri"/>
                        </a:rPr>
                        <a:t>5</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pPr>
                      <a:r>
                        <a:rPr lang="zh-CN" sz="1800" b="0" u="none" strike="noStrike">
                          <a:solidFill>
                            <a:schemeClr val="dk1"/>
                          </a:solidFill>
                          <a:effectLst/>
                          <a:uFillTx/>
                          <a:latin typeface="Calibri"/>
                        </a:rPr>
                        <a:t>太小的负整数</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pPr>
                      <a:r>
                        <a:rPr lang="en-US" sz="1800" b="0" u="none" strike="noStrike">
                          <a:solidFill>
                            <a:schemeClr val="dk1"/>
                          </a:solidFill>
                          <a:effectLst/>
                          <a:uFillTx/>
                          <a:latin typeface="Calibri"/>
                        </a:rPr>
                        <a:t>‘</a:t>
                      </a:r>
                      <a:r>
                        <a:rPr lang="en-US" sz="1800" b="0" u="none" strike="noStrike">
                          <a:solidFill>
                            <a:schemeClr val="dk1"/>
                          </a:solidFill>
                          <a:effectLst/>
                          <a:uFillTx/>
                          <a:latin typeface="Calibri"/>
                        </a:rPr>
                        <a:t>-47561’</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pPr>
                      <a:r>
                        <a:rPr lang="zh-CN" sz="1800" b="0" u="none" strike="noStrike">
                          <a:solidFill>
                            <a:schemeClr val="dk1"/>
                          </a:solidFill>
                          <a:effectLst/>
                          <a:uFillTx/>
                          <a:latin typeface="Calibri"/>
                        </a:rPr>
                        <a:t>错误——无效输入</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
        <p:nvSpPr>
          <p:cNvPr id="684"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685"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7.7.1 </a:t>
            </a:r>
            <a:r>
              <a:rPr lang="zh-CN" sz="2400" b="0" u="none" strike="noStrike">
                <a:solidFill>
                  <a:srgbClr val="d9d9d9"/>
                </a:solidFill>
                <a:effectLst/>
                <a:uFillTx/>
                <a:latin typeface="Bodoni MT Black"/>
              </a:rPr>
              <a:t>等价划分</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6"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7.7 </a:t>
            </a:r>
            <a:r>
              <a:rPr lang="zh-CN" sz="4400" b="1" u="none" strike="noStrike">
                <a:solidFill>
                  <a:schemeClr val="dk1"/>
                </a:solidFill>
                <a:effectLst/>
                <a:uFillTx/>
                <a:latin typeface="Bodoni MT Black"/>
              </a:rPr>
              <a:t>黑盒测试技术</a:t>
            </a:r>
            <a:endParaRPr lang="es-ES" sz="4400" b="0" u="none" strike="noStrike">
              <a:solidFill>
                <a:schemeClr val="dk1"/>
              </a:solidFill>
              <a:effectLst/>
              <a:uFillTx/>
              <a:latin typeface="Arial"/>
            </a:endParaRPr>
          </a:p>
        </p:txBody>
      </p:sp>
      <p:graphicFrame>
        <p:nvGraphicFramePr>
          <p:cNvPr id="687" name="表格 1"/>
          <p:cNvGraphicFramePr/>
          <p:nvPr/>
        </p:nvGraphicFramePr>
        <p:xfrm>
          <a:off x="611280" y="1482480"/>
          <a:ext cx="7920360" cy="4178880"/>
        </p:xfrm>
        <a:graphic>
          <a:graphicData uri="http://schemas.openxmlformats.org/drawingml/2006/table">
            <a:tbl>
              <a:tblPr/>
              <a:tblGrid>
                <a:gridCol w="792000"/>
                <a:gridCol w="2952000"/>
                <a:gridCol w="1872000"/>
                <a:gridCol w="2304000"/>
              </a:tblGrid>
              <a:tr h="414000">
                <a:tc>
                  <a:txBody>
                    <a:bodyPr anchor="ctr">
                      <a:noAutofit/>
                    </a:bodyPr>
                    <a:p>
                      <a:pPr defTabSz="914400">
                        <a:lnSpc>
                          <a:spcPct val="100000"/>
                        </a:lnSpc>
                      </a:pPr>
                      <a:r>
                        <a:rPr lang="zh-CN" sz="1800" b="1" u="none" strike="noStrike">
                          <a:solidFill>
                            <a:schemeClr val="lt1"/>
                          </a:solidFill>
                          <a:effectLst/>
                          <a:uFillTx/>
                          <a:latin typeface="Calibri"/>
                        </a:rPr>
                        <a:t>编号</a:t>
                      </a:r>
                      <a:endParaRPr lang="en-US"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ctr">
                      <a:noAutofit/>
                    </a:bodyPr>
                    <a:p>
                      <a:pPr defTabSz="914400">
                        <a:lnSpc>
                          <a:spcPct val="100000"/>
                        </a:lnSpc>
                      </a:pPr>
                      <a:r>
                        <a:rPr lang="zh-CN" sz="1800" b="1" u="none" strike="noStrike">
                          <a:solidFill>
                            <a:schemeClr val="lt1"/>
                          </a:solidFill>
                          <a:effectLst/>
                          <a:uFillTx/>
                          <a:latin typeface="Calibri"/>
                        </a:rPr>
                        <a:t>描述</a:t>
                      </a:r>
                      <a:endParaRPr lang="en-US"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ctr">
                      <a:noAutofit/>
                    </a:bodyPr>
                    <a:p>
                      <a:pPr defTabSz="914400">
                        <a:lnSpc>
                          <a:spcPct val="100000"/>
                        </a:lnSpc>
                      </a:pPr>
                      <a:r>
                        <a:rPr lang="zh-CN" sz="1800" b="1" u="none" strike="noStrike">
                          <a:solidFill>
                            <a:schemeClr val="lt1"/>
                          </a:solidFill>
                          <a:effectLst/>
                          <a:uFillTx/>
                          <a:latin typeface="Calibri"/>
                        </a:rPr>
                        <a:t>输入</a:t>
                      </a:r>
                      <a:endParaRPr lang="en-US"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ctr">
                      <a:noAutofit/>
                    </a:bodyPr>
                    <a:p>
                      <a:pPr defTabSz="914400">
                        <a:lnSpc>
                          <a:spcPct val="100000"/>
                        </a:lnSpc>
                      </a:pPr>
                      <a:r>
                        <a:rPr lang="zh-CN" sz="1800" b="1" u="none" strike="noStrike">
                          <a:solidFill>
                            <a:schemeClr val="lt1"/>
                          </a:solidFill>
                          <a:effectLst/>
                          <a:uFillTx/>
                          <a:latin typeface="Calibri"/>
                        </a:rPr>
                        <a:t>预期输出</a:t>
                      </a:r>
                      <a:endParaRPr lang="en-US"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621000">
                <a:tc>
                  <a:txBody>
                    <a:bodyPr anchor="ctr">
                      <a:noAutofit/>
                    </a:bodyPr>
                    <a:p>
                      <a:pPr defTabSz="914400">
                        <a:lnSpc>
                          <a:spcPct val="100000"/>
                        </a:lnSpc>
                      </a:pPr>
                      <a:r>
                        <a:rPr lang="en-US" sz="1800" b="0" u="none" strike="noStrike">
                          <a:solidFill>
                            <a:schemeClr val="dk1"/>
                          </a:solidFill>
                          <a:effectLst/>
                          <a:uFillTx/>
                          <a:latin typeface="Calibri"/>
                        </a:rPr>
                        <a:t>6</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pPr>
                      <a:r>
                        <a:rPr lang="zh-CN" sz="1800" b="0" u="none" strike="noStrike">
                          <a:solidFill>
                            <a:schemeClr val="dk1"/>
                          </a:solidFill>
                          <a:effectLst/>
                          <a:uFillTx/>
                          <a:latin typeface="Calibri"/>
                        </a:rPr>
                        <a:t>太大的正整数</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pPr>
                      <a:r>
                        <a:rPr lang="en-US" sz="1800" b="0" u="none" strike="noStrike">
                          <a:solidFill>
                            <a:schemeClr val="dk1"/>
                          </a:solidFill>
                          <a:effectLst/>
                          <a:uFillTx/>
                          <a:latin typeface="Calibri"/>
                        </a:rPr>
                        <a:t>‘</a:t>
                      </a:r>
                      <a:r>
                        <a:rPr lang="en-US" sz="1800" b="0" u="none" strike="noStrike">
                          <a:solidFill>
                            <a:schemeClr val="dk1"/>
                          </a:solidFill>
                          <a:effectLst/>
                          <a:uFillTx/>
                          <a:latin typeface="Calibri"/>
                        </a:rPr>
                        <a:t>132767’</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pPr>
                      <a:r>
                        <a:rPr lang="zh-CN" sz="1800" b="0" u="none" strike="noStrike">
                          <a:solidFill>
                            <a:schemeClr val="dk1"/>
                          </a:solidFill>
                          <a:effectLst/>
                          <a:uFillTx/>
                          <a:latin typeface="Calibri"/>
                        </a:rPr>
                        <a:t>错误——无效输入</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621000">
                <a:tc>
                  <a:txBody>
                    <a:bodyPr anchor="ctr">
                      <a:noAutofit/>
                    </a:bodyPr>
                    <a:p>
                      <a:pPr defTabSz="914400">
                        <a:lnSpc>
                          <a:spcPct val="100000"/>
                        </a:lnSpc>
                      </a:pPr>
                      <a:r>
                        <a:rPr lang="en-US" sz="1800" b="0" u="none" strike="noStrike">
                          <a:solidFill>
                            <a:schemeClr val="dk1"/>
                          </a:solidFill>
                          <a:effectLst/>
                          <a:uFillTx/>
                          <a:latin typeface="Calibri"/>
                        </a:rPr>
                        <a:t>7</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0000"/>
                        </a:lnSpc>
                      </a:pPr>
                      <a:r>
                        <a:rPr lang="zh-CN" sz="1800" b="0" u="none" strike="noStrike">
                          <a:solidFill>
                            <a:schemeClr val="dk1"/>
                          </a:solidFill>
                          <a:effectLst/>
                          <a:uFillTx/>
                          <a:latin typeface="Calibri"/>
                        </a:rPr>
                        <a:t>空字符串</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0000"/>
                        </a:lnSpc>
                      </a:pPr>
                      <a:r>
                        <a:rPr lang="en-US" sz="1800" b="0" u="none" strike="noStrike">
                          <a:solidFill>
                            <a:schemeClr val="dk1"/>
                          </a:solidFill>
                          <a:effectLst/>
                          <a:uFillTx/>
                          <a:latin typeface="Calibri"/>
                        </a:rPr>
                        <a:t>‘</a:t>
                      </a:r>
                      <a:r>
                        <a:rPr lang="en-US" sz="1800" b="0" u="none" strike="noStrike">
                          <a:solidFill>
                            <a:schemeClr val="dk1"/>
                          </a:solidFill>
                          <a:effectLst/>
                          <a:uFillTx/>
                          <a:latin typeface="Calibri"/>
                        </a:rPr>
                        <a:t>           ’</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0000"/>
                        </a:lnSpc>
                      </a:pPr>
                      <a:r>
                        <a:rPr lang="zh-CN" sz="1800" b="0" u="none" strike="noStrike">
                          <a:solidFill>
                            <a:schemeClr val="dk1"/>
                          </a:solidFill>
                          <a:effectLst/>
                          <a:uFillTx/>
                          <a:latin typeface="Calibri"/>
                        </a:rPr>
                        <a:t>错误——没有数字</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621000">
                <a:tc>
                  <a:txBody>
                    <a:bodyPr anchor="ctr">
                      <a:noAutofit/>
                    </a:bodyPr>
                    <a:p>
                      <a:pPr defTabSz="914400">
                        <a:lnSpc>
                          <a:spcPct val="100000"/>
                        </a:lnSpc>
                      </a:pPr>
                      <a:r>
                        <a:rPr lang="en-US" sz="1800" b="0" u="none" strike="noStrike">
                          <a:solidFill>
                            <a:schemeClr val="dk1"/>
                          </a:solidFill>
                          <a:effectLst/>
                          <a:uFillTx/>
                          <a:latin typeface="Calibri"/>
                        </a:rPr>
                        <a:t>8</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pPr>
                      <a:r>
                        <a:rPr lang="zh-CN" sz="1800" b="0" u="none" strike="noStrike">
                          <a:solidFill>
                            <a:schemeClr val="dk1"/>
                          </a:solidFill>
                          <a:effectLst/>
                          <a:uFillTx/>
                          <a:latin typeface="Calibri"/>
                        </a:rPr>
                        <a:t>字符串左部字符既不是零也不是空格</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pPr>
                      <a:r>
                        <a:rPr lang="en-US" sz="1800" b="0" u="none" strike="noStrike">
                          <a:solidFill>
                            <a:schemeClr val="dk1"/>
                          </a:solidFill>
                          <a:effectLst/>
                          <a:uFillTx/>
                          <a:latin typeface="Calibri"/>
                        </a:rPr>
                        <a:t>‘×××××</a:t>
                      </a:r>
                      <a:r>
                        <a:rPr lang="en-US" sz="1800" b="0" u="none" strike="noStrike">
                          <a:solidFill>
                            <a:schemeClr val="dk1"/>
                          </a:solidFill>
                          <a:effectLst/>
                          <a:uFillTx/>
                          <a:latin typeface="Calibri"/>
                        </a:rPr>
                        <a:t>1’</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pPr>
                      <a:r>
                        <a:rPr lang="zh-CN" sz="1800" b="0" u="none" strike="noStrike">
                          <a:solidFill>
                            <a:schemeClr val="dk1"/>
                          </a:solidFill>
                          <a:effectLst/>
                          <a:uFillTx/>
                          <a:latin typeface="Calibri"/>
                        </a:rPr>
                        <a:t>错误——填充错</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621000">
                <a:tc>
                  <a:txBody>
                    <a:bodyPr anchor="ctr">
                      <a:noAutofit/>
                    </a:bodyPr>
                    <a:p>
                      <a:pPr defTabSz="914400">
                        <a:lnSpc>
                          <a:spcPct val="100000"/>
                        </a:lnSpc>
                      </a:pPr>
                      <a:r>
                        <a:rPr lang="en-US" sz="1800" b="0" u="none" strike="noStrike">
                          <a:solidFill>
                            <a:schemeClr val="dk1"/>
                          </a:solidFill>
                          <a:effectLst/>
                          <a:uFillTx/>
                          <a:latin typeface="Calibri"/>
                        </a:rPr>
                        <a:t>9</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0000"/>
                        </a:lnSpc>
                      </a:pPr>
                      <a:r>
                        <a:rPr lang="zh-CN" sz="1800" b="0" u="none" strike="noStrike">
                          <a:solidFill>
                            <a:schemeClr val="dk1"/>
                          </a:solidFill>
                          <a:effectLst/>
                          <a:uFillTx/>
                          <a:latin typeface="Calibri"/>
                        </a:rPr>
                        <a:t>最高位数字后面有空格</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0000"/>
                        </a:lnSpc>
                      </a:pPr>
                      <a:r>
                        <a:rPr lang="en-US" sz="1800" b="0" u="none" strike="noStrike">
                          <a:solidFill>
                            <a:schemeClr val="dk1"/>
                          </a:solidFill>
                          <a:effectLst/>
                          <a:uFillTx/>
                          <a:latin typeface="Calibri"/>
                        </a:rPr>
                        <a:t>‘</a:t>
                      </a:r>
                      <a:r>
                        <a:rPr lang="en-US" sz="1800" b="0" u="none" strike="noStrike">
                          <a:solidFill>
                            <a:schemeClr val="dk1"/>
                          </a:solidFill>
                          <a:effectLst/>
                          <a:uFillTx/>
                          <a:latin typeface="Calibri"/>
                        </a:rPr>
                        <a:t>     1    2’</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0000"/>
                        </a:lnSpc>
                      </a:pPr>
                      <a:r>
                        <a:rPr lang="zh-CN" sz="1800" b="0" u="none" strike="noStrike">
                          <a:solidFill>
                            <a:schemeClr val="dk1"/>
                          </a:solidFill>
                          <a:effectLst/>
                          <a:uFillTx/>
                          <a:latin typeface="Calibri"/>
                        </a:rPr>
                        <a:t>错误——无效输入</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621000">
                <a:tc>
                  <a:txBody>
                    <a:bodyPr anchor="ctr">
                      <a:noAutofit/>
                    </a:bodyPr>
                    <a:p>
                      <a:pPr defTabSz="914400">
                        <a:lnSpc>
                          <a:spcPct val="100000"/>
                        </a:lnSpc>
                      </a:pPr>
                      <a:r>
                        <a:rPr lang="en-US" sz="1800" b="0" u="none" strike="noStrike">
                          <a:solidFill>
                            <a:schemeClr val="dk1"/>
                          </a:solidFill>
                          <a:effectLst/>
                          <a:uFillTx/>
                          <a:latin typeface="Calibri"/>
                        </a:rPr>
                        <a:t>10</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pPr>
                      <a:r>
                        <a:rPr lang="zh-CN" sz="1800" b="0" u="none" strike="noStrike">
                          <a:solidFill>
                            <a:schemeClr val="dk1"/>
                          </a:solidFill>
                          <a:effectLst/>
                          <a:uFillTx/>
                          <a:latin typeface="Calibri"/>
                        </a:rPr>
                        <a:t>最高位数字后面有其他字符</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pPr>
                      <a:r>
                        <a:rPr lang="en-US" sz="1800" b="0" u="none" strike="noStrike">
                          <a:solidFill>
                            <a:schemeClr val="dk1"/>
                          </a:solidFill>
                          <a:effectLst/>
                          <a:uFillTx/>
                          <a:latin typeface="Calibri"/>
                        </a:rPr>
                        <a:t>‘</a:t>
                      </a:r>
                      <a:r>
                        <a:rPr lang="en-US" sz="1800" b="0" u="none" strike="noStrike">
                          <a:solidFill>
                            <a:schemeClr val="dk1"/>
                          </a:solidFill>
                          <a:effectLst/>
                          <a:uFillTx/>
                          <a:latin typeface="Calibri"/>
                        </a:rPr>
                        <a:t>  1××2’</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pPr>
                      <a:r>
                        <a:rPr lang="zh-CN" sz="1800" b="0" u="none" strike="noStrike">
                          <a:solidFill>
                            <a:schemeClr val="dk1"/>
                          </a:solidFill>
                          <a:effectLst/>
                          <a:uFillTx/>
                          <a:latin typeface="Calibri"/>
                        </a:rPr>
                        <a:t>错误——无效输入</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621000">
                <a:tc>
                  <a:txBody>
                    <a:bodyPr anchor="ctr">
                      <a:noAutofit/>
                    </a:bodyPr>
                    <a:p>
                      <a:pPr defTabSz="914400">
                        <a:lnSpc>
                          <a:spcPct val="100000"/>
                        </a:lnSpc>
                      </a:pPr>
                      <a:r>
                        <a:rPr lang="en-US" sz="1800" b="0" u="none" strike="noStrike">
                          <a:solidFill>
                            <a:schemeClr val="dk1"/>
                          </a:solidFill>
                          <a:effectLst/>
                          <a:uFillTx/>
                          <a:latin typeface="Calibri"/>
                        </a:rPr>
                        <a:t>11</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0000"/>
                        </a:lnSpc>
                      </a:pPr>
                      <a:r>
                        <a:rPr lang="zh-CN" sz="1800" b="0" u="none" strike="noStrike">
                          <a:solidFill>
                            <a:schemeClr val="dk1"/>
                          </a:solidFill>
                          <a:effectLst/>
                          <a:uFillTx/>
                          <a:latin typeface="Calibri"/>
                        </a:rPr>
                        <a:t>负号和最高位数字之间有空格</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0000"/>
                        </a:lnSpc>
                      </a:pPr>
                      <a:r>
                        <a:rPr lang="en-US" sz="1800" b="0" u="none" strike="noStrike">
                          <a:solidFill>
                            <a:schemeClr val="dk1"/>
                          </a:solidFill>
                          <a:effectLst/>
                          <a:uFillTx/>
                          <a:latin typeface="Calibri"/>
                        </a:rPr>
                        <a:t>‘</a:t>
                      </a:r>
                      <a:r>
                        <a:rPr lang="en-US" sz="1800" b="0" u="none" strike="noStrike">
                          <a:solidFill>
                            <a:schemeClr val="dk1"/>
                          </a:solidFill>
                          <a:effectLst/>
                          <a:uFillTx/>
                          <a:latin typeface="Calibri"/>
                        </a:rPr>
                        <a:t>-         12’</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0000"/>
                        </a:lnSpc>
                      </a:pPr>
                      <a:r>
                        <a:rPr lang="zh-CN" sz="1800" b="0" u="none" strike="noStrike">
                          <a:solidFill>
                            <a:schemeClr val="dk1"/>
                          </a:solidFill>
                          <a:effectLst/>
                          <a:uFillTx/>
                          <a:latin typeface="Calibri"/>
                        </a:rPr>
                        <a:t>错误——负号位置错</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
        <p:nvSpPr>
          <p:cNvPr id="688"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689"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7.7.1 </a:t>
            </a:r>
            <a:r>
              <a:rPr lang="zh-CN" sz="2400" b="0" u="none" strike="noStrike">
                <a:solidFill>
                  <a:srgbClr val="d9d9d9"/>
                </a:solidFill>
                <a:effectLst/>
                <a:uFillTx/>
                <a:latin typeface="Bodoni MT Black"/>
              </a:rPr>
              <a:t>等价划分</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0"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7.7 </a:t>
            </a:r>
            <a:r>
              <a:rPr lang="zh-CN" sz="4400" b="1" u="none" strike="noStrike">
                <a:solidFill>
                  <a:schemeClr val="dk1"/>
                </a:solidFill>
                <a:effectLst/>
                <a:uFillTx/>
                <a:latin typeface="Bodoni MT Black"/>
              </a:rPr>
              <a:t>黑盒测试技术</a:t>
            </a:r>
            <a:endParaRPr lang="es-ES" sz="4400" b="0" u="none" strike="noStrike">
              <a:solidFill>
                <a:schemeClr val="dk1"/>
              </a:solidFill>
              <a:effectLst/>
              <a:uFillTx/>
              <a:latin typeface="Arial"/>
            </a:endParaRPr>
          </a:p>
        </p:txBody>
      </p:sp>
      <p:sp>
        <p:nvSpPr>
          <p:cNvPr id="691" name="PlaceHolder 2"/>
          <p:cNvSpPr>
            <a:spLocks noGrp="1"/>
          </p:cNvSpPr>
          <p:nvPr>
            <p:ph/>
          </p:nvPr>
        </p:nvSpPr>
        <p:spPr>
          <a:xfrm>
            <a:off x="395280" y="1125360"/>
            <a:ext cx="8229240" cy="60300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7.7.2 </a:t>
            </a:r>
            <a:r>
              <a:rPr lang="zh-CN" sz="3200" b="1" u="none" strike="noStrike">
                <a:solidFill>
                  <a:schemeClr val="dk1"/>
                </a:solidFill>
                <a:effectLst/>
                <a:uFillTx/>
                <a:latin typeface="Bodoni MT Black"/>
              </a:rPr>
              <a:t>边界值分析</a:t>
            </a:r>
            <a:endParaRPr lang="es-ES" sz="3200" b="0" u="none" strike="noStrike">
              <a:solidFill>
                <a:schemeClr val="dk1"/>
              </a:solidFill>
              <a:effectLst/>
              <a:uFillTx/>
              <a:latin typeface="Calibri"/>
            </a:endParaRPr>
          </a:p>
        </p:txBody>
      </p:sp>
      <p:sp>
        <p:nvSpPr>
          <p:cNvPr id="692" name="TextBox 7"/>
          <p:cNvSpPr/>
          <p:nvPr/>
        </p:nvSpPr>
        <p:spPr>
          <a:xfrm>
            <a:off x="328320" y="1772640"/>
            <a:ext cx="8491680" cy="42469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经验表明，</a:t>
            </a:r>
            <a:r>
              <a:rPr lang="zh-CN" sz="2400" b="1" u="none" strike="noStrike">
                <a:solidFill>
                  <a:srgbClr val="0070c0"/>
                </a:solidFill>
                <a:effectLst/>
                <a:uFillTx/>
                <a:latin typeface="Bodoni MT Black"/>
                <a:ea typeface="宋体"/>
              </a:rPr>
              <a:t>处理边界情况时程序最容易发生错误</a:t>
            </a:r>
            <a:r>
              <a:rPr lang="zh-CN" sz="2400" b="0" u="none" strike="noStrike">
                <a:solidFill>
                  <a:schemeClr val="dk1"/>
                </a:solidFill>
                <a:effectLst/>
                <a:uFillTx/>
                <a:latin typeface="Bodoni MT Black"/>
                <a:ea typeface="宋体"/>
              </a:rPr>
              <a:t>。例如，许多程序错误出现在下标、纯量、数据结构和循环等等的</a:t>
            </a:r>
            <a:r>
              <a:rPr lang="zh-CN" sz="2400" b="0" u="none" strike="noStrike">
                <a:solidFill>
                  <a:srgbClr val="ff0000"/>
                </a:solidFill>
                <a:effectLst/>
                <a:uFillTx/>
                <a:latin typeface="Bodoni MT Black"/>
                <a:ea typeface="宋体"/>
              </a:rPr>
              <a:t>边界附近</a:t>
            </a:r>
            <a:r>
              <a:rPr lang="zh-CN" sz="2400" b="0" u="none" strike="noStrike">
                <a:solidFill>
                  <a:schemeClr val="dk1"/>
                </a:solidFill>
                <a:effectLst/>
                <a:uFillTx/>
                <a:latin typeface="Bodoni MT Black"/>
                <a:ea typeface="宋体"/>
              </a:rPr>
              <a:t>。因此，设计使程序运行在边界情况附近的测试方案，暴露出程序错误的可能性更大一些。</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      使用</a:t>
            </a:r>
            <a:r>
              <a:rPr lang="zh-CN" sz="2400" b="1" u="none" strike="noStrike">
                <a:solidFill>
                  <a:srgbClr val="c00000"/>
                </a:solidFill>
                <a:effectLst/>
                <a:uFillTx/>
                <a:latin typeface="Bodoni MT Black"/>
                <a:ea typeface="宋体"/>
              </a:rPr>
              <a:t>边界值分析方法</a:t>
            </a:r>
            <a:r>
              <a:rPr lang="zh-CN" sz="2400" b="0" u="none" strike="noStrike">
                <a:solidFill>
                  <a:schemeClr val="dk1"/>
                </a:solidFill>
                <a:effectLst/>
                <a:uFillTx/>
                <a:latin typeface="Bodoni MT Black"/>
                <a:ea typeface="宋体"/>
              </a:rPr>
              <a:t>设计测试方案首先应确定边界情况，通常输入等价类和输出等价类的边界。选取的测试数据应该刚好</a:t>
            </a:r>
            <a:r>
              <a:rPr lang="zh-CN" sz="2400" b="0" u="none" strike="noStrike">
                <a:solidFill>
                  <a:srgbClr val="ff0000"/>
                </a:solidFill>
                <a:effectLst/>
                <a:uFillTx/>
                <a:latin typeface="Bodoni MT Black"/>
                <a:ea typeface="宋体"/>
              </a:rPr>
              <a:t>等于</a:t>
            </a:r>
            <a:r>
              <a:rPr lang="zh-CN" sz="2400" b="0" u="none" strike="noStrike">
                <a:solidFill>
                  <a:schemeClr val="dk1"/>
                </a:solidFill>
                <a:effectLst/>
                <a:uFillTx/>
                <a:latin typeface="Bodoni MT Black"/>
                <a:ea typeface="宋体"/>
              </a:rPr>
              <a:t>、</a:t>
            </a:r>
            <a:r>
              <a:rPr lang="zh-CN" sz="2400" b="0" u="none" strike="noStrike">
                <a:solidFill>
                  <a:srgbClr val="ff0000"/>
                </a:solidFill>
                <a:effectLst/>
                <a:uFillTx/>
                <a:latin typeface="Bodoni MT Black"/>
                <a:ea typeface="宋体"/>
              </a:rPr>
              <a:t>刚刚小于</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刚刚大于</a:t>
            </a:r>
            <a:r>
              <a:rPr lang="zh-CN" sz="2400" b="0" u="none" strike="noStrike">
                <a:solidFill>
                  <a:schemeClr val="dk1"/>
                </a:solidFill>
                <a:effectLst/>
                <a:uFillTx/>
                <a:latin typeface="Bodoni MT Black"/>
                <a:ea typeface="宋体"/>
              </a:rPr>
              <a:t>边界值。</a:t>
            </a:r>
            <a:endParaRPr lang="en-US" sz="2400" b="0" u="none" strike="noStrike">
              <a:solidFill>
                <a:srgbClr val="000000"/>
              </a:solidFill>
              <a:effectLst/>
              <a:uFillTx/>
              <a:latin typeface="Arial"/>
            </a:endParaRPr>
          </a:p>
          <a:p>
            <a:pPr>
              <a:lnSpc>
                <a:spcPct val="125000"/>
              </a:lnSpc>
              <a:tabLst>
                <a:tab algn="l" pos="0"/>
              </a:tabLst>
            </a:pPr>
            <a:r>
              <a:rPr lang="en-US" sz="2400" b="1" u="none" strike="noStrike">
                <a:solidFill>
                  <a:schemeClr val="dk1"/>
                </a:solidFill>
                <a:effectLst/>
                <a:uFillTx/>
                <a:latin typeface="Bodoni MT Black"/>
                <a:ea typeface="宋体"/>
              </a:rPr>
              <a:t>      通常设计测试方案时总是联合使用</a:t>
            </a:r>
            <a:r>
              <a:rPr lang="zh-CN" sz="2400" b="1" u="none" strike="noStrike">
                <a:solidFill>
                  <a:srgbClr val="ff0000"/>
                </a:solidFill>
                <a:effectLst/>
                <a:uFillTx/>
                <a:latin typeface="Bodoni MT Black"/>
                <a:ea typeface="宋体"/>
              </a:rPr>
              <a:t>等价划分</a:t>
            </a:r>
            <a:r>
              <a:rPr lang="zh-CN" sz="2400" b="1" u="none" strike="noStrike">
                <a:solidFill>
                  <a:schemeClr val="dk1"/>
                </a:solidFill>
                <a:effectLst/>
                <a:uFillTx/>
                <a:latin typeface="Bodoni MT Black"/>
                <a:ea typeface="宋体"/>
              </a:rPr>
              <a:t>和</a:t>
            </a:r>
            <a:r>
              <a:rPr lang="zh-CN" sz="2400" b="1" u="none" strike="noStrike">
                <a:solidFill>
                  <a:srgbClr val="ff0000"/>
                </a:solidFill>
                <a:effectLst/>
                <a:uFillTx/>
                <a:latin typeface="Bodoni MT Black"/>
                <a:ea typeface="宋体"/>
              </a:rPr>
              <a:t>边界值分析</a:t>
            </a:r>
            <a:r>
              <a:rPr lang="zh-CN" sz="2400" b="1" u="none" strike="noStrike">
                <a:solidFill>
                  <a:schemeClr val="dk1"/>
                </a:solidFill>
                <a:effectLst/>
                <a:uFillTx/>
                <a:latin typeface="Bodoni MT Black"/>
                <a:ea typeface="宋体"/>
              </a:rPr>
              <a:t>两种技术</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693"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694"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7.7.2 </a:t>
            </a:r>
            <a:r>
              <a:rPr lang="zh-CN" sz="2400" b="0" u="none" strike="noStrike">
                <a:solidFill>
                  <a:srgbClr val="d9d9d9"/>
                </a:solidFill>
                <a:effectLst/>
                <a:uFillTx/>
                <a:latin typeface="Bodoni MT Black"/>
              </a:rPr>
              <a:t>边界值分析</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5" name="PlaceHolder 1"/>
          <p:cNvSpPr>
            <a:spLocks noGrp="1"/>
          </p:cNvSpPr>
          <p:nvPr>
            <p:ph type="title"/>
          </p:nvPr>
        </p:nvSpPr>
        <p:spPr>
          <a:xfrm>
            <a:off x="457200" y="54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7.7 </a:t>
            </a:r>
            <a:r>
              <a:rPr lang="zh-CN" sz="4400" b="1" u="none" strike="noStrike">
                <a:solidFill>
                  <a:schemeClr val="dk1"/>
                </a:solidFill>
                <a:effectLst/>
                <a:uFillTx/>
                <a:latin typeface="Bodoni MT Black"/>
              </a:rPr>
              <a:t>黑盒测试技术</a:t>
            </a:r>
            <a:endParaRPr lang="es-ES" sz="4400" b="0" u="none" strike="noStrike">
              <a:solidFill>
                <a:schemeClr val="dk1"/>
              </a:solidFill>
              <a:effectLst/>
              <a:uFillTx/>
              <a:latin typeface="Arial"/>
            </a:endParaRPr>
          </a:p>
        </p:txBody>
      </p:sp>
      <p:sp>
        <p:nvSpPr>
          <p:cNvPr id="696" name="TextBox 7"/>
          <p:cNvSpPr/>
          <p:nvPr/>
        </p:nvSpPr>
        <p:spPr>
          <a:xfrm>
            <a:off x="385200" y="1197000"/>
            <a:ext cx="8372880" cy="13183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200" b="0" u="none" strike="noStrike">
                <a:solidFill>
                  <a:schemeClr val="dk1"/>
                </a:solidFill>
                <a:effectLst/>
                <a:uFillTx/>
                <a:latin typeface="Bodoni MT Black"/>
                <a:ea typeface="宋体"/>
              </a:rPr>
              <a:t>     </a:t>
            </a:r>
            <a:r>
              <a:rPr lang="zh-CN" sz="2200" b="0" u="none" strike="noStrike">
                <a:solidFill>
                  <a:schemeClr val="dk1"/>
                </a:solidFill>
                <a:effectLst/>
                <a:uFillTx/>
                <a:latin typeface="Bodoni MT Black"/>
                <a:ea typeface="宋体"/>
              </a:rPr>
              <a:t>为了测试前述的把数字串转变成整数的程序，除了上一小节已经用等价划分法设计出的测试方案外，还应该用边界值分析法再补充下述测试方案。</a:t>
            </a:r>
            <a:endParaRPr lang="en-US" sz="2200" b="0" u="none" strike="noStrike">
              <a:solidFill>
                <a:srgbClr val="000000"/>
              </a:solidFill>
              <a:effectLst/>
              <a:uFillTx/>
              <a:latin typeface="Arial"/>
            </a:endParaRPr>
          </a:p>
        </p:txBody>
      </p:sp>
      <p:graphicFrame>
        <p:nvGraphicFramePr>
          <p:cNvPr id="697" name="表格 1"/>
          <p:cNvGraphicFramePr/>
          <p:nvPr/>
        </p:nvGraphicFramePr>
        <p:xfrm>
          <a:off x="611280" y="2565000"/>
          <a:ext cx="7920000" cy="2648520"/>
        </p:xfrm>
        <a:graphic>
          <a:graphicData uri="http://schemas.openxmlformats.org/drawingml/2006/table">
            <a:tbl>
              <a:tblPr/>
              <a:tblGrid>
                <a:gridCol w="720000"/>
                <a:gridCol w="3240000"/>
                <a:gridCol w="1980000"/>
                <a:gridCol w="1980000"/>
              </a:tblGrid>
              <a:tr h="414000">
                <a:tc>
                  <a:txBody>
                    <a:bodyPr anchor="ctr">
                      <a:noAutofit/>
                    </a:bodyPr>
                    <a:p>
                      <a:pPr defTabSz="914400">
                        <a:lnSpc>
                          <a:spcPct val="100000"/>
                        </a:lnSpc>
                      </a:pPr>
                      <a:r>
                        <a:rPr lang="zh-CN" sz="1800" b="1" u="none" strike="noStrike">
                          <a:solidFill>
                            <a:schemeClr val="lt1"/>
                          </a:solidFill>
                          <a:effectLst/>
                          <a:uFillTx/>
                          <a:latin typeface="Calibri"/>
                        </a:rPr>
                        <a:t>编号</a:t>
                      </a:r>
                      <a:endParaRPr lang="en-US"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ctr">
                      <a:noAutofit/>
                    </a:bodyPr>
                    <a:p>
                      <a:pPr defTabSz="914400">
                        <a:lnSpc>
                          <a:spcPct val="100000"/>
                        </a:lnSpc>
                      </a:pPr>
                      <a:r>
                        <a:rPr lang="zh-CN" sz="1800" b="1" u="none" strike="noStrike">
                          <a:solidFill>
                            <a:schemeClr val="lt1"/>
                          </a:solidFill>
                          <a:effectLst/>
                          <a:uFillTx/>
                          <a:latin typeface="Calibri"/>
                        </a:rPr>
                        <a:t>描述</a:t>
                      </a:r>
                      <a:endParaRPr lang="en-US"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ctr">
                      <a:noAutofit/>
                    </a:bodyPr>
                    <a:p>
                      <a:pPr defTabSz="914400">
                        <a:lnSpc>
                          <a:spcPct val="100000"/>
                        </a:lnSpc>
                      </a:pPr>
                      <a:r>
                        <a:rPr lang="zh-CN" sz="1800" b="1" u="none" strike="noStrike">
                          <a:solidFill>
                            <a:schemeClr val="lt1"/>
                          </a:solidFill>
                          <a:effectLst/>
                          <a:uFillTx/>
                          <a:latin typeface="Calibri"/>
                        </a:rPr>
                        <a:t>输入</a:t>
                      </a:r>
                      <a:endParaRPr lang="en-US"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ctr">
                      <a:noAutofit/>
                    </a:bodyPr>
                    <a:p>
                      <a:pPr defTabSz="914400">
                        <a:lnSpc>
                          <a:spcPct val="100000"/>
                        </a:lnSpc>
                      </a:pPr>
                      <a:r>
                        <a:rPr lang="zh-CN" sz="1800" b="1" u="none" strike="noStrike">
                          <a:solidFill>
                            <a:schemeClr val="lt1"/>
                          </a:solidFill>
                          <a:effectLst/>
                          <a:uFillTx/>
                          <a:latin typeface="Calibri"/>
                        </a:rPr>
                        <a:t>预期输出</a:t>
                      </a:r>
                      <a:endParaRPr lang="en-US"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449640">
                <a:tc>
                  <a:txBody>
                    <a:bodyPr anchor="ctr">
                      <a:noAutofit/>
                    </a:bodyPr>
                    <a:p>
                      <a:pPr defTabSz="914400">
                        <a:lnSpc>
                          <a:spcPct val="100000"/>
                        </a:lnSpc>
                      </a:pPr>
                      <a:r>
                        <a:rPr lang="en-US" sz="1800" b="0" u="none" strike="noStrike">
                          <a:solidFill>
                            <a:schemeClr val="dk1"/>
                          </a:solidFill>
                          <a:effectLst/>
                          <a:uFillTx/>
                          <a:latin typeface="Calibri"/>
                        </a:rPr>
                        <a:t>1</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pPr>
                      <a:r>
                        <a:rPr lang="zh-CN" sz="1800" b="0" u="none" strike="noStrike">
                          <a:solidFill>
                            <a:schemeClr val="dk1"/>
                          </a:solidFill>
                          <a:effectLst/>
                          <a:uFillTx/>
                          <a:latin typeface="Calibri"/>
                        </a:rPr>
                        <a:t>使输出刚好等于最小的负整数</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pPr>
                      <a:r>
                        <a:rPr lang="en-US" sz="1800" b="0" u="none" strike="noStrike">
                          <a:solidFill>
                            <a:schemeClr val="dk1"/>
                          </a:solidFill>
                          <a:effectLst/>
                          <a:uFillTx/>
                          <a:latin typeface="Calibri"/>
                        </a:rPr>
                        <a:t>‘</a:t>
                      </a:r>
                      <a:r>
                        <a:rPr lang="en-US" sz="1800" b="0" u="none" strike="noStrike">
                          <a:solidFill>
                            <a:schemeClr val="dk1"/>
                          </a:solidFill>
                          <a:effectLst/>
                          <a:uFillTx/>
                          <a:latin typeface="Calibri"/>
                        </a:rPr>
                        <a:t>-32768’</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pPr>
                      <a:r>
                        <a:rPr lang="en-US" sz="1800" b="0" u="none" strike="noStrike">
                          <a:solidFill>
                            <a:schemeClr val="dk1"/>
                          </a:solidFill>
                          <a:effectLst/>
                          <a:uFillTx/>
                          <a:latin typeface="Calibri"/>
                        </a:rPr>
                        <a:t>-32768</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504000">
                <a:tc>
                  <a:txBody>
                    <a:bodyPr anchor="ctr">
                      <a:noAutofit/>
                    </a:bodyPr>
                    <a:p>
                      <a:pPr defTabSz="914400">
                        <a:lnSpc>
                          <a:spcPct val="100000"/>
                        </a:lnSpc>
                      </a:pPr>
                      <a:r>
                        <a:rPr lang="en-US" sz="1800" b="0" u="none" strike="noStrike">
                          <a:solidFill>
                            <a:schemeClr val="dk1"/>
                          </a:solidFill>
                          <a:effectLst/>
                          <a:uFillTx/>
                          <a:latin typeface="Calibri"/>
                        </a:rPr>
                        <a:t>2</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0000"/>
                        </a:lnSpc>
                      </a:pPr>
                      <a:r>
                        <a:rPr lang="zh-CN" sz="1800" b="0" u="none" strike="noStrike">
                          <a:solidFill>
                            <a:schemeClr val="dk1"/>
                          </a:solidFill>
                          <a:effectLst/>
                          <a:uFillTx/>
                          <a:latin typeface="Calibri"/>
                        </a:rPr>
                        <a:t>使输出刚好等于最大的正整数</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0000"/>
                        </a:lnSpc>
                      </a:pPr>
                      <a:r>
                        <a:rPr lang="en-US" sz="1800" b="0" u="none" strike="noStrike">
                          <a:solidFill>
                            <a:schemeClr val="dk1"/>
                          </a:solidFill>
                          <a:effectLst/>
                          <a:uFillTx/>
                          <a:latin typeface="Calibri"/>
                        </a:rPr>
                        <a:t>‘</a:t>
                      </a:r>
                      <a:r>
                        <a:rPr lang="en-US" sz="1800" b="0" u="none" strike="noStrike">
                          <a:solidFill>
                            <a:schemeClr val="dk1"/>
                          </a:solidFill>
                          <a:effectLst/>
                          <a:uFillTx/>
                          <a:latin typeface="Calibri"/>
                        </a:rPr>
                        <a:t>32767’</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0000"/>
                        </a:lnSpc>
                      </a:pPr>
                      <a:r>
                        <a:rPr lang="en-US" sz="1800" b="0" u="none" strike="noStrike">
                          <a:solidFill>
                            <a:schemeClr val="dk1"/>
                          </a:solidFill>
                          <a:effectLst/>
                          <a:uFillTx/>
                          <a:latin typeface="Calibri"/>
                        </a:rPr>
                        <a:t>32767</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504000">
                <a:tc>
                  <a:txBody>
                    <a:bodyPr anchor="ctr">
                      <a:noAutofit/>
                    </a:bodyPr>
                    <a:p>
                      <a:pPr defTabSz="914400">
                        <a:lnSpc>
                          <a:spcPct val="100000"/>
                        </a:lnSpc>
                      </a:pPr>
                      <a:r>
                        <a:rPr lang="en-US" sz="1800" b="0" u="none" strike="noStrike">
                          <a:solidFill>
                            <a:schemeClr val="dk1"/>
                          </a:solidFill>
                          <a:effectLst/>
                          <a:uFillTx/>
                          <a:latin typeface="Calibri"/>
                        </a:rPr>
                        <a:t>3</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pPr>
                      <a:r>
                        <a:rPr lang="zh-CN" sz="1800" b="0" u="none" strike="noStrike">
                          <a:solidFill>
                            <a:schemeClr val="dk1"/>
                          </a:solidFill>
                          <a:effectLst/>
                          <a:uFillTx/>
                          <a:latin typeface="Calibri"/>
                        </a:rPr>
                        <a:t>使输出刚刚小于最小的负整数</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pPr>
                      <a:r>
                        <a:rPr lang="en-US" sz="1800" b="0" u="none" strike="noStrike">
                          <a:solidFill>
                            <a:schemeClr val="dk1"/>
                          </a:solidFill>
                          <a:effectLst/>
                          <a:uFillTx/>
                          <a:latin typeface="Calibri"/>
                        </a:rPr>
                        <a:t>‘</a:t>
                      </a:r>
                      <a:r>
                        <a:rPr lang="en-US" sz="1800" b="0" u="none" strike="noStrike">
                          <a:solidFill>
                            <a:schemeClr val="dk1"/>
                          </a:solidFill>
                          <a:effectLst/>
                          <a:uFillTx/>
                          <a:latin typeface="Calibri"/>
                        </a:rPr>
                        <a:t>-32769’</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pPr>
                      <a:r>
                        <a:rPr lang="zh-CN" sz="1800" b="0" u="none" strike="noStrike">
                          <a:solidFill>
                            <a:schemeClr val="dk1"/>
                          </a:solidFill>
                          <a:effectLst/>
                          <a:uFillTx/>
                          <a:latin typeface="Calibri"/>
                        </a:rPr>
                        <a:t>错误——无效输入</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504000">
                <a:tc>
                  <a:txBody>
                    <a:bodyPr anchor="ctr">
                      <a:noAutofit/>
                    </a:bodyPr>
                    <a:p>
                      <a:pPr defTabSz="914400">
                        <a:lnSpc>
                          <a:spcPct val="100000"/>
                        </a:lnSpc>
                      </a:pPr>
                      <a:r>
                        <a:rPr lang="en-US" sz="1800" b="0" u="none" strike="noStrike">
                          <a:solidFill>
                            <a:schemeClr val="dk1"/>
                          </a:solidFill>
                          <a:effectLst/>
                          <a:uFillTx/>
                          <a:latin typeface="Calibri"/>
                        </a:rPr>
                        <a:t>4</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0000"/>
                        </a:lnSpc>
                      </a:pPr>
                      <a:r>
                        <a:rPr lang="zh-CN" sz="1800" b="0" u="none" strike="noStrike">
                          <a:solidFill>
                            <a:schemeClr val="dk1"/>
                          </a:solidFill>
                          <a:effectLst/>
                          <a:uFillTx/>
                          <a:latin typeface="Calibri"/>
                        </a:rPr>
                        <a:t>使输出刚刚大于最大的正整数</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0000"/>
                        </a:lnSpc>
                      </a:pPr>
                      <a:r>
                        <a:rPr lang="en-US" sz="1800" b="0" u="none" strike="noStrike">
                          <a:solidFill>
                            <a:schemeClr val="dk1"/>
                          </a:solidFill>
                          <a:effectLst/>
                          <a:uFillTx/>
                          <a:latin typeface="Calibri"/>
                        </a:rPr>
                        <a:t>‘</a:t>
                      </a:r>
                      <a:r>
                        <a:rPr lang="en-US" sz="1800" b="0" u="none" strike="noStrike">
                          <a:solidFill>
                            <a:schemeClr val="dk1"/>
                          </a:solidFill>
                          <a:effectLst/>
                          <a:uFillTx/>
                          <a:latin typeface="Calibri"/>
                        </a:rPr>
                        <a:t>32768’</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0000"/>
                        </a:lnSpc>
                      </a:pPr>
                      <a:r>
                        <a:rPr lang="zh-CN" sz="1800" b="0" u="none" strike="noStrike">
                          <a:solidFill>
                            <a:schemeClr val="dk1"/>
                          </a:solidFill>
                          <a:effectLst/>
                          <a:uFillTx/>
                          <a:latin typeface="Calibri"/>
                        </a:rPr>
                        <a:t>错误——无效输入</a:t>
                      </a:r>
                      <a:endParaRPr lang="en-US" sz="18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
        <p:nvSpPr>
          <p:cNvPr id="698" name="TextBox 7"/>
          <p:cNvSpPr/>
          <p:nvPr/>
        </p:nvSpPr>
        <p:spPr>
          <a:xfrm>
            <a:off x="626400" y="5085360"/>
            <a:ext cx="8075160" cy="93384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0" u="none" strike="noStrike">
                <a:solidFill>
                  <a:schemeClr val="dk1"/>
                </a:solidFill>
                <a:effectLst/>
                <a:uFillTx/>
                <a:latin typeface="Bodoni MT Black"/>
                <a:ea typeface="宋体"/>
              </a:rPr>
              <a:t>     </a:t>
            </a:r>
            <a:r>
              <a:rPr lang="zh-CN" sz="2200" b="0" u="none" strike="noStrike">
                <a:solidFill>
                  <a:schemeClr val="dk1"/>
                </a:solidFill>
                <a:effectLst/>
                <a:uFillTx/>
                <a:latin typeface="Bodoni MT Black"/>
                <a:ea typeface="宋体"/>
              </a:rPr>
              <a:t>根据边界值分析方法的要求，应该分别使用长度为</a:t>
            </a:r>
            <a:r>
              <a:rPr lang="en-US" sz="2200" b="0" u="none" strike="noStrike">
                <a:solidFill>
                  <a:schemeClr val="dk1"/>
                </a:solidFill>
                <a:effectLst/>
                <a:uFillTx/>
                <a:latin typeface="Bodoni MT Black"/>
                <a:ea typeface="宋体"/>
              </a:rPr>
              <a:t>0</a:t>
            </a:r>
            <a:r>
              <a:rPr lang="zh-CN" sz="2200" b="0" u="none" strike="noStrike">
                <a:solidFill>
                  <a:schemeClr val="dk1"/>
                </a:solidFill>
                <a:effectLst/>
                <a:uFillTx/>
                <a:latin typeface="Bodoni MT Black"/>
                <a:ea typeface="宋体"/>
              </a:rPr>
              <a:t>，</a:t>
            </a:r>
            <a:r>
              <a:rPr lang="en-US" sz="2200" b="0" u="none" strike="noStrike">
                <a:solidFill>
                  <a:schemeClr val="dk1"/>
                </a:solidFill>
                <a:effectLst/>
                <a:uFillTx/>
                <a:latin typeface="Bodoni MT Black"/>
                <a:ea typeface="宋体"/>
              </a:rPr>
              <a:t>1</a:t>
            </a:r>
            <a:r>
              <a:rPr lang="zh-CN" sz="2200" b="0" u="none" strike="noStrike">
                <a:solidFill>
                  <a:schemeClr val="dk1"/>
                </a:solidFill>
                <a:effectLst/>
                <a:uFillTx/>
                <a:latin typeface="Bodoni MT Black"/>
                <a:ea typeface="宋体"/>
              </a:rPr>
              <a:t>和</a:t>
            </a:r>
            <a:r>
              <a:rPr lang="en-US" sz="2200" b="0" u="none" strike="noStrike">
                <a:solidFill>
                  <a:schemeClr val="dk1"/>
                </a:solidFill>
                <a:effectLst/>
                <a:uFillTx/>
                <a:latin typeface="Bodoni MT Black"/>
                <a:ea typeface="宋体"/>
              </a:rPr>
              <a:t>6</a:t>
            </a:r>
            <a:r>
              <a:rPr lang="zh-CN" sz="2200" b="0" u="none" strike="noStrike">
                <a:solidFill>
                  <a:schemeClr val="dk1"/>
                </a:solidFill>
                <a:effectLst/>
                <a:uFillTx/>
                <a:latin typeface="Bodoni MT Black"/>
                <a:ea typeface="宋体"/>
              </a:rPr>
              <a:t>的数字串作为测试数据。</a:t>
            </a:r>
            <a:endParaRPr lang="en-US" sz="2200" b="0" u="none" strike="noStrike">
              <a:solidFill>
                <a:srgbClr val="000000"/>
              </a:solidFill>
              <a:effectLst/>
              <a:uFillTx/>
              <a:latin typeface="Arial"/>
            </a:endParaRPr>
          </a:p>
        </p:txBody>
      </p:sp>
      <p:sp>
        <p:nvSpPr>
          <p:cNvPr id="699"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700"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7.7.2 </a:t>
            </a:r>
            <a:r>
              <a:rPr lang="zh-CN" sz="2400" b="0" u="none" strike="noStrike">
                <a:solidFill>
                  <a:srgbClr val="d9d9d9"/>
                </a:solidFill>
                <a:effectLst/>
                <a:uFillTx/>
                <a:latin typeface="Bodoni MT Black"/>
              </a:rPr>
              <a:t>边界值分析</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1"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7.7 </a:t>
            </a:r>
            <a:r>
              <a:rPr lang="zh-CN" sz="4400" b="1" u="none" strike="noStrike">
                <a:solidFill>
                  <a:schemeClr val="dk1"/>
                </a:solidFill>
                <a:effectLst/>
                <a:uFillTx/>
                <a:latin typeface="Bodoni MT Black"/>
              </a:rPr>
              <a:t>黑盒测试技术</a:t>
            </a:r>
            <a:endParaRPr lang="es-ES" sz="4400" b="0" u="none" strike="noStrike">
              <a:solidFill>
                <a:schemeClr val="dk1"/>
              </a:solidFill>
              <a:effectLst/>
              <a:uFillTx/>
              <a:latin typeface="Arial"/>
            </a:endParaRPr>
          </a:p>
        </p:txBody>
      </p:sp>
      <p:sp>
        <p:nvSpPr>
          <p:cNvPr id="702" name="PlaceHolder 2"/>
          <p:cNvSpPr>
            <a:spLocks noGrp="1"/>
          </p:cNvSpPr>
          <p:nvPr>
            <p:ph/>
          </p:nvPr>
        </p:nvSpPr>
        <p:spPr>
          <a:xfrm>
            <a:off x="395280" y="102384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7.7.3 </a:t>
            </a:r>
            <a:r>
              <a:rPr lang="zh-CN" sz="3200" b="1" u="none" strike="noStrike">
                <a:solidFill>
                  <a:schemeClr val="dk1"/>
                </a:solidFill>
                <a:effectLst/>
                <a:uFillTx/>
                <a:latin typeface="Bodoni MT Black"/>
              </a:rPr>
              <a:t>错误推测</a:t>
            </a:r>
            <a:endParaRPr lang="es-ES" sz="3200" b="0" u="none" strike="noStrike">
              <a:solidFill>
                <a:schemeClr val="dk1"/>
              </a:solidFill>
              <a:effectLst/>
              <a:uFillTx/>
              <a:latin typeface="Calibri"/>
            </a:endParaRPr>
          </a:p>
        </p:txBody>
      </p:sp>
      <p:sp>
        <p:nvSpPr>
          <p:cNvPr id="703" name="TextBox 7"/>
          <p:cNvSpPr/>
          <p:nvPr/>
        </p:nvSpPr>
        <p:spPr>
          <a:xfrm>
            <a:off x="349200" y="1601640"/>
            <a:ext cx="8445240" cy="47088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1" u="none" strike="noStrike">
                <a:solidFill>
                  <a:srgbClr val="c00000"/>
                </a:solidFill>
                <a:effectLst/>
                <a:uFillTx/>
                <a:latin typeface="Bodoni MT Black"/>
                <a:ea typeface="宋体"/>
              </a:rPr>
              <a:t>     </a:t>
            </a:r>
            <a:r>
              <a:rPr lang="zh-CN" sz="2400" b="1" u="none" strike="noStrike">
                <a:solidFill>
                  <a:srgbClr val="c00000"/>
                </a:solidFill>
                <a:effectLst/>
                <a:uFillTx/>
                <a:latin typeface="Bodoni MT Black"/>
                <a:ea typeface="宋体"/>
              </a:rPr>
              <a:t>错误推测法</a:t>
            </a:r>
            <a:r>
              <a:rPr lang="zh-CN" sz="2400" b="0" u="none" strike="noStrike">
                <a:solidFill>
                  <a:schemeClr val="dk1"/>
                </a:solidFill>
                <a:effectLst/>
                <a:uFillTx/>
                <a:latin typeface="Bodoni MT Black"/>
                <a:ea typeface="宋体"/>
              </a:rPr>
              <a:t>在很大程度上靠</a:t>
            </a:r>
            <a:r>
              <a:rPr lang="zh-CN" sz="2400" b="0" u="none" strike="noStrike">
                <a:solidFill>
                  <a:srgbClr val="ff0000"/>
                </a:solidFill>
                <a:effectLst/>
                <a:uFillTx/>
                <a:latin typeface="Bodoni MT Black"/>
                <a:ea typeface="宋体"/>
              </a:rPr>
              <a:t>直觉</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经验</a:t>
            </a:r>
            <a:r>
              <a:rPr lang="zh-CN" sz="2400" b="0" u="none" strike="noStrike">
                <a:solidFill>
                  <a:schemeClr val="dk1"/>
                </a:solidFill>
                <a:effectLst/>
                <a:uFillTx/>
                <a:latin typeface="Bodoni MT Black"/>
                <a:ea typeface="宋体"/>
              </a:rPr>
              <a:t>进行。它的基本想法是列举出程序中可能有的错误和容易发生错误的特殊情况，并且根据它们选择测试方案。</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     应该仔细分析</a:t>
            </a:r>
            <a:r>
              <a:rPr lang="zh-CN" sz="2400" b="0" u="none" strike="noStrike">
                <a:solidFill>
                  <a:srgbClr val="ff0000"/>
                </a:solidFill>
                <a:effectLst/>
                <a:uFillTx/>
                <a:latin typeface="Bodoni MT Black"/>
                <a:ea typeface="宋体"/>
              </a:rPr>
              <a:t>程序规格说明书</a:t>
            </a:r>
            <a:r>
              <a:rPr lang="zh-CN" sz="2400" b="0" u="none" strike="noStrike">
                <a:solidFill>
                  <a:schemeClr val="dk1"/>
                </a:solidFill>
                <a:effectLst/>
                <a:uFillTx/>
                <a:latin typeface="Bodoni MT Black"/>
                <a:ea typeface="宋体"/>
              </a:rPr>
              <a:t>，注意找出其中遗漏或省略的部分，以便设计相应的测试方案，检测程序员对这些部分的处理是否正确。</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     经验表明，</a:t>
            </a:r>
            <a:r>
              <a:rPr lang="zh-CN" sz="2400" b="0" u="none" strike="noStrike">
                <a:solidFill>
                  <a:srgbClr val="ff0000"/>
                </a:solidFill>
                <a:effectLst/>
                <a:uFillTx/>
                <a:latin typeface="Bodoni MT Black"/>
                <a:ea typeface="宋体"/>
              </a:rPr>
              <a:t>在一段程序中已经发现的错误数目往往和尚未发现的错误数成正比</a:t>
            </a:r>
            <a:r>
              <a:rPr lang="zh-CN" sz="2400" b="0" u="none" strike="noStrike">
                <a:solidFill>
                  <a:schemeClr val="dk1"/>
                </a:solidFill>
                <a:effectLst/>
                <a:uFillTx/>
                <a:latin typeface="Bodoni MT Black"/>
                <a:ea typeface="宋体"/>
              </a:rPr>
              <a:t>。例如，在</a:t>
            </a:r>
            <a:r>
              <a:rPr lang="en-US" sz="2400" b="0" u="none" strike="noStrike">
                <a:solidFill>
                  <a:schemeClr val="dk1"/>
                </a:solidFill>
                <a:effectLst/>
                <a:uFillTx/>
                <a:latin typeface="Times New Roman"/>
                <a:ea typeface="宋体"/>
              </a:rPr>
              <a:t>IBM OS/370</a:t>
            </a:r>
            <a:r>
              <a:rPr lang="zh-CN" sz="2400" b="0" u="none" strike="noStrike">
                <a:solidFill>
                  <a:schemeClr val="dk1"/>
                </a:solidFill>
                <a:effectLst/>
                <a:uFillTx/>
                <a:latin typeface="Bodoni MT Black"/>
                <a:ea typeface="宋体"/>
              </a:rPr>
              <a:t>操作系统中，用户发现的全部错误的</a:t>
            </a:r>
            <a:r>
              <a:rPr lang="en-US" sz="2400" b="0" u="none" strike="noStrike">
                <a:solidFill>
                  <a:schemeClr val="dk1"/>
                </a:solidFill>
                <a:effectLst/>
                <a:uFillTx/>
                <a:latin typeface="Bodoni MT Black"/>
                <a:ea typeface="宋体"/>
              </a:rPr>
              <a:t>47%</a:t>
            </a:r>
            <a:r>
              <a:rPr lang="zh-CN" sz="2400" b="0" u="none" strike="noStrike">
                <a:solidFill>
                  <a:schemeClr val="dk1"/>
                </a:solidFill>
                <a:effectLst/>
                <a:uFillTx/>
                <a:latin typeface="Bodoni MT Black"/>
                <a:ea typeface="宋体"/>
              </a:rPr>
              <a:t>只与该系统</a:t>
            </a:r>
            <a:r>
              <a:rPr lang="en-US" sz="2400" b="0" u="none" strike="noStrike">
                <a:solidFill>
                  <a:schemeClr val="dk1"/>
                </a:solidFill>
                <a:effectLst/>
                <a:uFillTx/>
                <a:latin typeface="Bodoni MT Black"/>
                <a:ea typeface="宋体"/>
              </a:rPr>
              <a:t>4%</a:t>
            </a:r>
            <a:r>
              <a:rPr lang="zh-CN" sz="2400" b="0" u="none" strike="noStrike">
                <a:solidFill>
                  <a:schemeClr val="dk1"/>
                </a:solidFill>
                <a:effectLst/>
                <a:uFillTx/>
                <a:latin typeface="Bodoni MT Black"/>
                <a:ea typeface="宋体"/>
              </a:rPr>
              <a:t>的模块有关。进一步测试时着重测试那些已发现了较多错误的程序段。</a:t>
            </a:r>
            <a:endParaRPr lang="en-US" sz="2400" b="0" u="none" strike="noStrike">
              <a:solidFill>
                <a:srgbClr val="000000"/>
              </a:solidFill>
              <a:effectLst/>
              <a:uFillTx/>
              <a:latin typeface="Arial"/>
            </a:endParaRPr>
          </a:p>
        </p:txBody>
      </p:sp>
      <p:sp>
        <p:nvSpPr>
          <p:cNvPr id="704"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705"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7.7.3 </a:t>
            </a:r>
            <a:r>
              <a:rPr lang="zh-CN" sz="2400" b="0" u="none" strike="noStrike">
                <a:solidFill>
                  <a:srgbClr val="d9d9d9"/>
                </a:solidFill>
                <a:effectLst/>
                <a:uFillTx/>
                <a:latin typeface="Bodoni MT Black"/>
              </a:rPr>
              <a:t>错误推测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6"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7.7 </a:t>
            </a:r>
            <a:r>
              <a:rPr lang="zh-CN" sz="4400" b="1" u="none" strike="noStrike">
                <a:solidFill>
                  <a:schemeClr val="dk1"/>
                </a:solidFill>
                <a:effectLst/>
                <a:uFillTx/>
                <a:latin typeface="Bodoni MT Black"/>
              </a:rPr>
              <a:t>黑盒测试技术</a:t>
            </a:r>
            <a:endParaRPr lang="es-ES" sz="4400" b="0" u="none" strike="noStrike">
              <a:solidFill>
                <a:schemeClr val="dk1"/>
              </a:solidFill>
              <a:effectLst/>
              <a:uFillTx/>
              <a:latin typeface="Arial"/>
            </a:endParaRPr>
          </a:p>
        </p:txBody>
      </p:sp>
      <p:sp>
        <p:nvSpPr>
          <p:cNvPr id="707" name="TextBox 7"/>
          <p:cNvSpPr/>
          <p:nvPr/>
        </p:nvSpPr>
        <p:spPr>
          <a:xfrm>
            <a:off x="457200" y="1268640"/>
            <a:ext cx="8205480" cy="42469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0" u="none" strike="noStrike">
                <a:solidFill>
                  <a:schemeClr val="dk1"/>
                </a:solidFill>
                <a:effectLst/>
                <a:uFillTx/>
                <a:latin typeface="Bodoni MT Black"/>
              </a:rPr>
              <a:t>     </a:t>
            </a:r>
            <a:r>
              <a:rPr lang="zh-CN" sz="2400" b="0" u="none" strike="noStrike">
                <a:solidFill>
                  <a:schemeClr val="dk1"/>
                </a:solidFill>
                <a:effectLst/>
                <a:uFillTx/>
                <a:latin typeface="Bodoni MT Black"/>
              </a:rPr>
              <a:t>等价划分法和边界值分析法都只孤立地考虑各个输入数据的测试功效，而没有考虑</a:t>
            </a:r>
            <a:r>
              <a:rPr lang="zh-CN" sz="2400" b="0" u="none" strike="noStrike">
                <a:solidFill>
                  <a:srgbClr val="ff0000"/>
                </a:solidFill>
                <a:effectLst/>
                <a:uFillTx/>
                <a:latin typeface="Bodoni MT Black"/>
              </a:rPr>
              <a:t>多个输入数据的组合效应</a:t>
            </a:r>
            <a:r>
              <a:rPr lang="zh-CN" sz="2400" b="0" u="none" strike="noStrike">
                <a:solidFill>
                  <a:schemeClr val="dk1"/>
                </a:solidFill>
                <a:effectLst/>
                <a:uFillTx/>
                <a:latin typeface="Bodoni MT Black"/>
              </a:rPr>
              <a:t>，可能会遗漏了输入数据易于出错的组合情况。</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a:t>
            </a:r>
            <a:r>
              <a:rPr lang="zh-CN" sz="2400" b="1" u="none" strike="noStrike">
                <a:solidFill>
                  <a:srgbClr val="ff0000"/>
                </a:solidFill>
                <a:effectLst/>
                <a:uFillTx/>
                <a:latin typeface="Bodoni MT Black"/>
              </a:rPr>
              <a:t>选择输入组合</a:t>
            </a:r>
            <a:r>
              <a:rPr lang="zh-CN" sz="2400" b="0" u="none" strike="noStrike">
                <a:solidFill>
                  <a:schemeClr val="dk1"/>
                </a:solidFill>
                <a:effectLst/>
                <a:uFillTx/>
                <a:latin typeface="Bodoni MT Black"/>
              </a:rPr>
              <a:t>的一个有效途径是利用</a:t>
            </a:r>
            <a:r>
              <a:rPr lang="zh-CN" sz="2400" b="0" u="none" strike="noStrike">
                <a:solidFill>
                  <a:srgbClr val="ff0000"/>
                </a:solidFill>
                <a:effectLst/>
                <a:uFillTx/>
                <a:latin typeface="Bodoni MT Black"/>
              </a:rPr>
              <a:t>判定表</a:t>
            </a:r>
            <a:r>
              <a:rPr lang="zh-CN" sz="2400" b="0" u="none" strike="noStrike">
                <a:solidFill>
                  <a:schemeClr val="dk1"/>
                </a:solidFill>
                <a:effectLst/>
                <a:uFillTx/>
                <a:latin typeface="Bodoni MT Black"/>
              </a:rPr>
              <a:t>或</a:t>
            </a:r>
            <a:r>
              <a:rPr lang="zh-CN" sz="2400" b="0" u="none" strike="noStrike">
                <a:solidFill>
                  <a:srgbClr val="ff0000"/>
                </a:solidFill>
                <a:effectLst/>
                <a:uFillTx/>
                <a:latin typeface="Bodoni MT Black"/>
              </a:rPr>
              <a:t>判定树</a:t>
            </a:r>
            <a:r>
              <a:rPr lang="zh-CN" sz="2400" b="0" u="none" strike="noStrike">
                <a:solidFill>
                  <a:schemeClr val="dk1"/>
                </a:solidFill>
                <a:effectLst/>
                <a:uFillTx/>
                <a:latin typeface="Bodoni MT Black"/>
              </a:rPr>
              <a:t>为工具，列出输入数据各种组合与程序应作的动作（及相应的输出结果</a:t>
            </a:r>
            <a:r>
              <a:rPr lang="zh-CN" sz="2400" b="0" u="none" strike="noStrike">
                <a:solidFill>
                  <a:schemeClr val="dk1"/>
                </a:solidFill>
                <a:effectLst/>
                <a:uFillTx/>
                <a:latin typeface="Bodoni MT Black"/>
                <a:ea typeface="宋体"/>
              </a:rPr>
              <a:t>）之间的对应关系，然后为判定表的每一列至少设计一个测试用例。</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     </a:t>
            </a:r>
            <a:r>
              <a:rPr lang="zh-CN" sz="2400" b="1" u="none" strike="noStrike">
                <a:solidFill>
                  <a:schemeClr val="dk1"/>
                </a:solidFill>
                <a:effectLst/>
                <a:uFillTx/>
                <a:latin typeface="Bodoni MT Black"/>
                <a:ea typeface="宋体"/>
              </a:rPr>
              <a:t>选择输入组合</a:t>
            </a:r>
            <a:r>
              <a:rPr lang="zh-CN" sz="2400" b="0" u="none" strike="noStrike">
                <a:solidFill>
                  <a:schemeClr val="dk1"/>
                </a:solidFill>
                <a:effectLst/>
                <a:uFillTx/>
                <a:latin typeface="Bodoni MT Black"/>
                <a:ea typeface="宋体"/>
              </a:rPr>
              <a:t>的另一个有效途径是把</a:t>
            </a:r>
            <a:r>
              <a:rPr lang="zh-CN" sz="2400" b="0" u="none" strike="noStrike">
                <a:solidFill>
                  <a:srgbClr val="ff0000"/>
                </a:solidFill>
                <a:effectLst/>
                <a:uFillTx/>
                <a:latin typeface="Bodoni MT Black"/>
                <a:ea typeface="宋体"/>
              </a:rPr>
              <a:t>计算机测试</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人工检查代码</a:t>
            </a:r>
            <a:r>
              <a:rPr lang="zh-CN" sz="2400" b="0" u="none" strike="noStrike">
                <a:solidFill>
                  <a:schemeClr val="dk1"/>
                </a:solidFill>
                <a:effectLst/>
                <a:uFillTx/>
                <a:latin typeface="Bodoni MT Black"/>
                <a:ea typeface="宋体"/>
              </a:rPr>
              <a:t>结合起来。</a:t>
            </a:r>
            <a:endParaRPr lang="en-US" sz="2400" b="0" u="none" strike="noStrike">
              <a:solidFill>
                <a:srgbClr val="000000"/>
              </a:solidFill>
              <a:effectLst/>
              <a:uFillTx/>
              <a:latin typeface="Arial"/>
            </a:endParaRPr>
          </a:p>
        </p:txBody>
      </p:sp>
      <p:sp>
        <p:nvSpPr>
          <p:cNvPr id="708"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709"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7.7.3 </a:t>
            </a:r>
            <a:r>
              <a:rPr lang="zh-CN" sz="2400" b="0" u="none" strike="noStrike">
                <a:solidFill>
                  <a:srgbClr val="d9d9d9"/>
                </a:solidFill>
                <a:effectLst/>
                <a:uFillTx/>
                <a:latin typeface="Bodoni MT Black"/>
              </a:rPr>
              <a:t>边界值分析</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0" name="1 Título"/>
          <p:cNvSpPr/>
          <p:nvPr/>
        </p:nvSpPr>
        <p:spPr>
          <a:xfrm>
            <a:off x="684360" y="355680"/>
            <a:ext cx="7703640" cy="863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5760"/>
              </a:lnSpc>
            </a:pPr>
            <a:r>
              <a:rPr lang="zh-CN" sz="4400" b="1" u="none" strike="noStrike">
                <a:solidFill>
                  <a:schemeClr val="dk1"/>
                </a:solidFill>
                <a:effectLst/>
                <a:uFillTx/>
                <a:latin typeface="Bodoni MT Black"/>
              </a:rPr>
              <a:t>主要内容</a:t>
            </a:r>
            <a:endParaRPr lang="en-US" sz="4400" b="0" u="none" strike="noStrike">
              <a:solidFill>
                <a:srgbClr val="000000"/>
              </a:solidFill>
              <a:effectLst/>
              <a:uFillTx/>
              <a:latin typeface="Arial"/>
            </a:endParaRPr>
          </a:p>
        </p:txBody>
      </p:sp>
      <p:sp>
        <p:nvSpPr>
          <p:cNvPr id="711"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sp>
        <p:nvSpPr>
          <p:cNvPr id="712"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7.8 </a:t>
            </a:r>
            <a:r>
              <a:rPr lang="zh-CN" sz="2400" b="0" u="none" strike="noStrike">
                <a:solidFill>
                  <a:srgbClr val="d9d9d9"/>
                </a:solidFill>
                <a:effectLst/>
                <a:uFillTx/>
                <a:latin typeface="Bodoni MT Black"/>
                <a:ea typeface="宋体"/>
              </a:rPr>
              <a:t>调试</a:t>
            </a:r>
            <a:endParaRPr lang="en-US" sz="2400" b="0" u="none" strike="noStrike">
              <a:solidFill>
                <a:srgbClr val="000000"/>
              </a:solidFill>
              <a:effectLst/>
              <a:uFillTx/>
              <a:latin typeface="Arial"/>
            </a:endParaRPr>
          </a:p>
        </p:txBody>
      </p:sp>
      <p:pic>
        <p:nvPicPr>
          <p:cNvPr id="713"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714"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715" name="TextBox 3">
            <a:hlinkClick r:id="rId3" action="ppaction://hlinksldjump"/>
          </p:cNvPr>
          <p:cNvSpPr/>
          <p:nvPr/>
        </p:nvSpPr>
        <p:spPr>
          <a:xfrm>
            <a:off x="1071720" y="2071800"/>
            <a:ext cx="192852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716" name="TextBox 4"/>
          <p:cNvSpPr/>
          <p:nvPr/>
        </p:nvSpPr>
        <p:spPr>
          <a:xfrm>
            <a:off x="1000080" y="2714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717" name="TextBox 5"/>
          <p:cNvSpPr/>
          <p:nvPr/>
        </p:nvSpPr>
        <p:spPr>
          <a:xfrm>
            <a:off x="1000080" y="328608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718" name="TextBox 6"/>
          <p:cNvSpPr/>
          <p:nvPr/>
        </p:nvSpPr>
        <p:spPr>
          <a:xfrm>
            <a:off x="1000080" y="3857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719" name="Rectangle 3"/>
          <p:cNvSpPr/>
          <p:nvPr/>
        </p:nvSpPr>
        <p:spPr>
          <a:xfrm>
            <a:off x="539640" y="1292400"/>
            <a:ext cx="8135640" cy="4512960"/>
          </a:xfrm>
          <a:prstGeom prst="rect">
            <a:avLst/>
          </a:prstGeom>
          <a:noFill/>
          <a:ln w="0">
            <a:noFill/>
          </a:ln>
        </p:spPr>
        <p:style>
          <a:lnRef idx="0"/>
          <a:fillRef idx="0"/>
          <a:effectRef idx="0"/>
          <a:fontRef idx="minor"/>
        </p:style>
        <p:txBody>
          <a:bodyPr lIns="90000" rIns="90000" tIns="45000" bIns="45000" anchor="t">
            <a:noAutofit/>
          </a:bodyPr>
          <a:p>
            <a:pPr>
              <a:lnSpc>
                <a:spcPts val="2599"/>
              </a:lnSpc>
              <a:spcBef>
                <a:spcPts val="1199"/>
              </a:spcBef>
              <a:tabLst>
                <a:tab algn="l" pos="0"/>
              </a:tabLst>
            </a:pPr>
            <a:r>
              <a:rPr lang="en-US" sz="2400" b="0" u="none" strike="noStrike">
                <a:solidFill>
                  <a:srgbClr val="3c3c77"/>
                </a:solidFill>
                <a:effectLst/>
                <a:uFillTx/>
                <a:latin typeface="Bodoni MT Black"/>
                <a:ea typeface="黑体"/>
              </a:rPr>
              <a:t>   </a:t>
            </a:r>
            <a:r>
              <a:rPr lang="en-US" sz="2400" b="1" u="none" strike="noStrike">
                <a:solidFill>
                  <a:schemeClr val="dk1"/>
                </a:solidFill>
                <a:effectLst/>
                <a:uFillTx/>
                <a:latin typeface="Bodoni MT Black"/>
                <a:ea typeface="黑体"/>
              </a:rPr>
              <a:t>7.1   </a:t>
            </a:r>
            <a:r>
              <a:rPr lang="zh-CN" sz="2400" b="1" u="none" strike="noStrike">
                <a:solidFill>
                  <a:schemeClr val="dk1"/>
                </a:solidFill>
                <a:effectLst/>
                <a:uFillTx/>
                <a:latin typeface="Bodoni MT Black"/>
                <a:ea typeface="黑体"/>
              </a:rPr>
              <a:t>编码</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7.2   </a:t>
            </a:r>
            <a:r>
              <a:rPr lang="zh-CN" sz="2400" b="1" u="none" strike="noStrike">
                <a:solidFill>
                  <a:schemeClr val="dk1"/>
                </a:solidFill>
                <a:effectLst/>
                <a:uFillTx/>
                <a:latin typeface="Bodoni MT Black"/>
                <a:ea typeface="黑体"/>
              </a:rPr>
              <a:t>软件测试基础</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7.3   </a:t>
            </a:r>
            <a:r>
              <a:rPr lang="zh-CN" sz="2400" b="1" u="none" strike="noStrike">
                <a:solidFill>
                  <a:schemeClr val="dk1"/>
                </a:solidFill>
                <a:effectLst/>
                <a:uFillTx/>
                <a:latin typeface="Bodoni MT Black"/>
                <a:ea typeface="黑体"/>
              </a:rPr>
              <a:t>单元测试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7.4   </a:t>
            </a:r>
            <a:r>
              <a:rPr lang="zh-CN" sz="2400" b="1" u="none" strike="noStrike">
                <a:solidFill>
                  <a:schemeClr val="dk1"/>
                </a:solidFill>
                <a:effectLst/>
                <a:uFillTx/>
                <a:latin typeface="Bodoni MT Black"/>
                <a:ea typeface="黑体"/>
              </a:rPr>
              <a:t>集成测试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7.5   </a:t>
            </a:r>
            <a:r>
              <a:rPr lang="zh-CN" sz="2400" b="1" u="none" strike="noStrike">
                <a:solidFill>
                  <a:schemeClr val="dk1"/>
                </a:solidFill>
                <a:effectLst/>
                <a:uFillTx/>
                <a:latin typeface="Bodoni MT Black"/>
                <a:ea typeface="黑体"/>
              </a:rPr>
              <a:t>确认测试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7.6   </a:t>
            </a:r>
            <a:r>
              <a:rPr lang="zh-CN" sz="2400" b="1" u="none" strike="noStrike">
                <a:solidFill>
                  <a:schemeClr val="dk1"/>
                </a:solidFill>
                <a:effectLst/>
                <a:uFillTx/>
                <a:latin typeface="Bodoni MT Black"/>
                <a:ea typeface="黑体"/>
              </a:rPr>
              <a:t>白盒测试技术</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7.7   </a:t>
            </a:r>
            <a:r>
              <a:rPr lang="zh-CN" sz="2400" b="1" u="none" strike="noStrike">
                <a:solidFill>
                  <a:schemeClr val="dk1"/>
                </a:solidFill>
                <a:effectLst/>
                <a:uFillTx/>
                <a:latin typeface="Bodoni MT Black"/>
                <a:ea typeface="黑体"/>
              </a:rPr>
              <a:t>黑盒测试技术</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7.8   </a:t>
            </a:r>
            <a:r>
              <a:rPr lang="zh-CN" sz="2400" b="1" u="none" strike="noStrike">
                <a:solidFill>
                  <a:schemeClr val="dk1"/>
                </a:solidFill>
                <a:effectLst/>
                <a:uFillTx/>
                <a:latin typeface="Bodoni MT Black"/>
                <a:ea typeface="黑体"/>
              </a:rPr>
              <a:t>调试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7.9   </a:t>
            </a:r>
            <a:r>
              <a:rPr lang="zh-CN" sz="2400" b="1" u="none" strike="noStrike">
                <a:solidFill>
                  <a:schemeClr val="dk1"/>
                </a:solidFill>
                <a:effectLst/>
                <a:uFillTx/>
                <a:latin typeface="Bodoni MT Black"/>
                <a:ea typeface="黑体"/>
              </a:rPr>
              <a:t>软件可靠性</a:t>
            </a:r>
            <a:endParaRPr lang="en-US" sz="2400" b="0" u="none" strike="noStrike">
              <a:solidFill>
                <a:srgbClr val="000000"/>
              </a:solidFill>
              <a:effectLst/>
              <a:uFillTx/>
              <a:latin typeface="Arial"/>
            </a:endParaRPr>
          </a:p>
        </p:txBody>
      </p:sp>
      <p:sp>
        <p:nvSpPr>
          <p:cNvPr id="720" name="1 Título"/>
          <p:cNvSpPr/>
          <p:nvPr/>
        </p:nvSpPr>
        <p:spPr>
          <a:xfrm>
            <a:off x="0" y="6300720"/>
            <a:ext cx="231588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7</a:t>
            </a:r>
            <a:r>
              <a:rPr lang="zh-CN" sz="2400" b="0" u="none" strike="noStrike">
                <a:solidFill>
                  <a:srgbClr val="d9d9d9"/>
                </a:solidFill>
                <a:effectLst/>
                <a:uFillTx/>
                <a:latin typeface="Bodoni MT Black"/>
                <a:ea typeface="宋体"/>
              </a:rPr>
              <a:t>章　实现</a:t>
            </a:r>
            <a:endParaRPr lang="en-US" sz="2400" b="0" u="none" strike="noStrike">
              <a:solidFill>
                <a:srgbClr val="000000"/>
              </a:solidFill>
              <a:effectLst/>
              <a:uFillTx/>
              <a:latin typeface="Arial"/>
            </a:endParaRPr>
          </a:p>
        </p:txBody>
      </p:sp>
      <p:sp>
        <p:nvSpPr>
          <p:cNvPr id="721" name="矩形 12"/>
          <p:cNvSpPr/>
          <p:nvPr/>
        </p:nvSpPr>
        <p:spPr>
          <a:xfrm>
            <a:off x="827640" y="480204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722" name="等腰三角形 13"/>
          <p:cNvSpPr/>
          <p:nvPr/>
        </p:nvSpPr>
        <p:spPr>
          <a:xfrm rot="5400000">
            <a:off x="336240" y="4888800"/>
            <a:ext cx="537840" cy="4312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Tree>
  </p:cSld>
  <mc:AlternateContent>
    <mc:Choice Requires="p14">
      <p:transition spd="slow" p14:dur="2000"/>
    </mc:Choice>
    <mc:Fallback>
      <p:transition spd="slow"/>
    </mc:Fallback>
  </mc:AlternateContent>
</p:sld>
</file>

<file path=ppt/slides/slide1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7.8 </a:t>
            </a:r>
            <a:r>
              <a:rPr lang="zh-CN" sz="4400" b="1" u="none" strike="noStrike">
                <a:solidFill>
                  <a:schemeClr val="dk1"/>
                </a:solidFill>
                <a:effectLst/>
                <a:uFillTx/>
                <a:latin typeface="Bodoni MT Black"/>
              </a:rPr>
              <a:t>调试</a:t>
            </a:r>
            <a:endParaRPr lang="es-ES" sz="4400" b="0" u="none" strike="noStrike">
              <a:solidFill>
                <a:schemeClr val="dk1"/>
              </a:solidFill>
              <a:effectLst/>
              <a:uFillTx/>
              <a:latin typeface="Arial"/>
            </a:endParaRPr>
          </a:p>
        </p:txBody>
      </p:sp>
      <p:sp>
        <p:nvSpPr>
          <p:cNvPr id="724"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725"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7.8.1 </a:t>
            </a:r>
            <a:r>
              <a:rPr lang="zh-CN" sz="2400" b="0" u="none" strike="noStrike">
                <a:solidFill>
                  <a:srgbClr val="d9d9d9"/>
                </a:solidFill>
                <a:effectLst/>
                <a:uFillTx/>
                <a:latin typeface="Bodoni MT Black"/>
              </a:rPr>
              <a:t>调试过程</a:t>
            </a:r>
            <a:endParaRPr lang="en-US" sz="2400" b="0" u="none" strike="noStrike">
              <a:solidFill>
                <a:srgbClr val="000000"/>
              </a:solidFill>
              <a:effectLst/>
              <a:uFillTx/>
              <a:latin typeface="Arial"/>
            </a:endParaRPr>
          </a:p>
        </p:txBody>
      </p:sp>
      <p:sp>
        <p:nvSpPr>
          <p:cNvPr id="726" name="TextBox 7"/>
          <p:cNvSpPr/>
          <p:nvPr/>
        </p:nvSpPr>
        <p:spPr>
          <a:xfrm>
            <a:off x="530280" y="1700640"/>
            <a:ext cx="8156160" cy="23533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1" u="none" strike="noStrike">
                <a:solidFill>
                  <a:srgbClr val="c00000"/>
                </a:solidFill>
                <a:effectLst/>
                <a:uFillTx/>
                <a:latin typeface="Bodoni MT Black"/>
                <a:ea typeface="宋体"/>
              </a:rPr>
              <a:t>      </a:t>
            </a:r>
            <a:r>
              <a:rPr lang="zh-CN" sz="2400" b="1" u="none" strike="noStrike">
                <a:solidFill>
                  <a:srgbClr val="c00000"/>
                </a:solidFill>
                <a:effectLst/>
                <a:uFillTx/>
                <a:latin typeface="Bodoni MT Black"/>
                <a:ea typeface="宋体"/>
              </a:rPr>
              <a:t>调试</a:t>
            </a:r>
            <a:r>
              <a:rPr lang="zh-CN" sz="2400" b="0" u="none" strike="noStrike">
                <a:solidFill>
                  <a:schemeClr val="dk1"/>
                </a:solidFill>
                <a:effectLst/>
                <a:uFillTx/>
                <a:latin typeface="Bodoni MT Black"/>
                <a:ea typeface="宋体"/>
              </a:rPr>
              <a:t>（也称为纠错）作为成功测试的后果出现，即</a:t>
            </a:r>
            <a:r>
              <a:rPr lang="zh-CN" sz="2400" b="0" u="none" strike="noStrike">
                <a:solidFill>
                  <a:srgbClr val="ff0000"/>
                </a:solidFill>
                <a:effectLst/>
                <a:uFillTx/>
                <a:latin typeface="Bodoni MT Black"/>
                <a:ea typeface="宋体"/>
              </a:rPr>
              <a:t>调试是在测试发现错误之后排除错误的过程。</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      软件错误的外部表现和它的内在原因之间可能并没有明显的联系。</a:t>
            </a:r>
            <a:r>
              <a:rPr lang="zh-CN" sz="2400" b="1" u="none" strike="noStrike">
                <a:solidFill>
                  <a:srgbClr val="c00000"/>
                </a:solidFill>
                <a:effectLst/>
                <a:uFillTx/>
                <a:latin typeface="Bodoni MT Black"/>
                <a:ea typeface="宋体"/>
              </a:rPr>
              <a:t>调试</a:t>
            </a:r>
            <a:r>
              <a:rPr lang="zh-CN" sz="2400" b="0" u="none" strike="noStrike">
                <a:solidFill>
                  <a:schemeClr val="dk1"/>
                </a:solidFill>
                <a:effectLst/>
                <a:uFillTx/>
                <a:latin typeface="Bodoni MT Black"/>
                <a:ea typeface="宋体"/>
              </a:rPr>
              <a:t>就是把症状和原因联系起来的尚未被人深入认识的智力过程。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7"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7.8 </a:t>
            </a:r>
            <a:r>
              <a:rPr lang="zh-CN" sz="4400" b="1" u="none" strike="noStrike">
                <a:solidFill>
                  <a:schemeClr val="dk1"/>
                </a:solidFill>
                <a:effectLst/>
                <a:uFillTx/>
                <a:latin typeface="Bodoni MT Black"/>
              </a:rPr>
              <a:t>调试</a:t>
            </a:r>
            <a:endParaRPr lang="es-ES" sz="4400" b="0" u="none" strike="noStrike">
              <a:solidFill>
                <a:schemeClr val="dk1"/>
              </a:solidFill>
              <a:effectLst/>
              <a:uFillTx/>
              <a:latin typeface="Arial"/>
            </a:endParaRPr>
          </a:p>
        </p:txBody>
      </p:sp>
      <p:sp>
        <p:nvSpPr>
          <p:cNvPr id="728" name="PlaceHolder 2"/>
          <p:cNvSpPr>
            <a:spLocks noGrp="1"/>
          </p:cNvSpPr>
          <p:nvPr>
            <p:ph/>
          </p:nvPr>
        </p:nvSpPr>
        <p:spPr>
          <a:xfrm>
            <a:off x="430560" y="102708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7.8.1 </a:t>
            </a:r>
            <a:r>
              <a:rPr lang="zh-CN" sz="3200" b="1" u="none" strike="noStrike">
                <a:solidFill>
                  <a:schemeClr val="dk1"/>
                </a:solidFill>
                <a:effectLst/>
                <a:uFillTx/>
                <a:latin typeface="Bodoni MT Black"/>
              </a:rPr>
              <a:t>调试过程</a:t>
            </a:r>
            <a:endParaRPr lang="es-ES" sz="3200" b="0" u="none" strike="noStrike">
              <a:solidFill>
                <a:schemeClr val="dk1"/>
              </a:solidFill>
              <a:effectLst/>
              <a:uFillTx/>
              <a:latin typeface="Calibri"/>
            </a:endParaRPr>
          </a:p>
        </p:txBody>
      </p:sp>
      <p:sp>
        <p:nvSpPr>
          <p:cNvPr id="729" name="TextBox 7"/>
          <p:cNvSpPr/>
          <p:nvPr/>
        </p:nvSpPr>
        <p:spPr>
          <a:xfrm>
            <a:off x="457200" y="2061000"/>
            <a:ext cx="8156160" cy="18918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0" u="none" strike="noStrike">
                <a:solidFill>
                  <a:schemeClr val="dk1"/>
                </a:solidFill>
                <a:effectLst/>
                <a:uFillTx/>
                <a:latin typeface="Bodoni MT Black"/>
              </a:rPr>
              <a:t>     </a:t>
            </a:r>
            <a:r>
              <a:rPr lang="zh-CN" sz="2400" b="0" u="none" strike="noStrike">
                <a:solidFill>
                  <a:srgbClr val="ff0000"/>
                </a:solidFill>
                <a:effectLst/>
                <a:uFillTx/>
                <a:latin typeface="Bodoni MT Black"/>
              </a:rPr>
              <a:t>调试不是测试</a:t>
            </a:r>
            <a:r>
              <a:rPr lang="zh-CN" sz="2400" b="0" u="none" strike="noStrike">
                <a:solidFill>
                  <a:schemeClr val="dk1"/>
                </a:solidFill>
                <a:effectLst/>
                <a:uFillTx/>
                <a:latin typeface="Bodoni MT Black"/>
              </a:rPr>
              <a:t>。调试过程从执行一个测试用例开始，评估测试结果，如果发现实际结果与预期结果不一致，则这种不一致就是一个症状，它表明在软件中存在着隐藏的问题。调试过程试图找出产生症状的原因，以便改正错误。</a:t>
            </a:r>
            <a:endParaRPr lang="en-US" sz="2400" b="0" u="none" strike="noStrike">
              <a:solidFill>
                <a:srgbClr val="000000"/>
              </a:solidFill>
              <a:effectLst/>
              <a:uFillTx/>
              <a:latin typeface="Arial"/>
            </a:endParaRPr>
          </a:p>
        </p:txBody>
      </p:sp>
      <p:sp>
        <p:nvSpPr>
          <p:cNvPr id="730"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731"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7.8.1 </a:t>
            </a:r>
            <a:r>
              <a:rPr lang="zh-CN" sz="2400" b="0" u="none" strike="noStrike">
                <a:solidFill>
                  <a:srgbClr val="d9d9d9"/>
                </a:solidFill>
                <a:effectLst/>
                <a:uFillTx/>
                <a:latin typeface="Bodoni MT Black"/>
              </a:rPr>
              <a:t>调试过程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7.8 </a:t>
            </a:r>
            <a:r>
              <a:rPr lang="zh-CN" sz="4400" b="1" u="none" strike="noStrike">
                <a:solidFill>
                  <a:schemeClr val="dk1"/>
                </a:solidFill>
                <a:effectLst/>
                <a:uFillTx/>
                <a:latin typeface="Bodoni MT Black"/>
              </a:rPr>
              <a:t>调试</a:t>
            </a:r>
            <a:endParaRPr lang="es-ES" sz="4400" b="0" u="none" strike="noStrike">
              <a:solidFill>
                <a:schemeClr val="dk1"/>
              </a:solidFill>
              <a:effectLst/>
              <a:uFillTx/>
              <a:latin typeface="Arial"/>
            </a:endParaRPr>
          </a:p>
        </p:txBody>
      </p:sp>
      <p:sp>
        <p:nvSpPr>
          <p:cNvPr id="733" name="TextBox 7"/>
          <p:cNvSpPr/>
          <p:nvPr/>
        </p:nvSpPr>
        <p:spPr>
          <a:xfrm>
            <a:off x="221760" y="1162440"/>
            <a:ext cx="3674880" cy="470880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zh-CN" sz="2400" b="0" u="none" strike="noStrike">
                <a:solidFill>
                  <a:schemeClr val="dk1"/>
                </a:solidFill>
                <a:effectLst/>
                <a:uFillTx/>
                <a:latin typeface="Bodoni MT Black"/>
                <a:ea typeface="宋体"/>
              </a:rPr>
              <a:t>调试过程总会有以下两种结果之一： ①找到了问题的原因并把问题改正和排除掉了； ②没找出问题的原因。在后一种情况下，调试人员可以猜想一个原因，并设计测试用例来验证这个假设，重复此过程直至找到原因并改正了错误。</a:t>
            </a:r>
            <a:endParaRPr lang="en-US" sz="2400" b="0" u="none" strike="noStrike">
              <a:solidFill>
                <a:srgbClr val="000000"/>
              </a:solidFill>
              <a:effectLst/>
              <a:uFillTx/>
              <a:latin typeface="Arial"/>
            </a:endParaRPr>
          </a:p>
        </p:txBody>
      </p:sp>
      <p:pic>
        <p:nvPicPr>
          <p:cNvPr id="734" name="图片 1"/>
          <p:cNvPicPr/>
          <p:nvPr/>
        </p:nvPicPr>
        <p:blipFill>
          <a:blip r:embed="rId1"/>
          <a:stretch/>
        </p:blipFill>
        <p:spPr>
          <a:xfrm>
            <a:off x="4068000" y="1845000"/>
            <a:ext cx="4824000" cy="3192840"/>
          </a:xfrm>
          <a:prstGeom prst="rect">
            <a:avLst/>
          </a:prstGeom>
          <a:noFill/>
          <a:ln w="9525">
            <a:noFill/>
          </a:ln>
        </p:spPr>
      </p:pic>
      <p:sp>
        <p:nvSpPr>
          <p:cNvPr id="735" name="文本框 2"/>
          <p:cNvSpPr/>
          <p:nvPr/>
        </p:nvSpPr>
        <p:spPr>
          <a:xfrm>
            <a:off x="6012000" y="5223240"/>
            <a:ext cx="1512360" cy="36648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0070c0"/>
                </a:solidFill>
                <a:effectLst/>
                <a:uFillTx/>
                <a:latin typeface="Bodoni MT Black"/>
                <a:ea typeface="宋体"/>
              </a:rPr>
              <a:t>  调试过程</a:t>
            </a:r>
            <a:endParaRPr lang="en-US" sz="1800" b="0" u="none" strike="noStrike">
              <a:solidFill>
                <a:srgbClr val="000000"/>
              </a:solidFill>
              <a:effectLst/>
              <a:uFillTx/>
              <a:latin typeface="Arial"/>
            </a:endParaRPr>
          </a:p>
        </p:txBody>
      </p:sp>
      <p:sp>
        <p:nvSpPr>
          <p:cNvPr id="736"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737"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7.8.1 </a:t>
            </a:r>
            <a:r>
              <a:rPr lang="zh-CN" sz="2400" b="0" u="none" strike="noStrike">
                <a:solidFill>
                  <a:srgbClr val="d9d9d9"/>
                </a:solidFill>
                <a:effectLst/>
                <a:uFillTx/>
                <a:latin typeface="Bodoni MT Black"/>
              </a:rPr>
              <a:t>调试过程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7.8 </a:t>
            </a:r>
            <a:r>
              <a:rPr lang="zh-CN" sz="4400" b="1" u="none" strike="noStrike">
                <a:solidFill>
                  <a:schemeClr val="dk1"/>
                </a:solidFill>
                <a:effectLst/>
                <a:uFillTx/>
                <a:latin typeface="Bodoni MT Black"/>
              </a:rPr>
              <a:t>调试</a:t>
            </a:r>
            <a:endParaRPr lang="es-ES" sz="4400" b="0" u="none" strike="noStrike">
              <a:solidFill>
                <a:schemeClr val="dk1"/>
              </a:solidFill>
              <a:effectLst/>
              <a:uFillTx/>
              <a:latin typeface="Arial"/>
            </a:endParaRPr>
          </a:p>
        </p:txBody>
      </p:sp>
      <p:sp>
        <p:nvSpPr>
          <p:cNvPr id="739" name="TextBox 7"/>
          <p:cNvSpPr/>
          <p:nvPr/>
        </p:nvSpPr>
        <p:spPr>
          <a:xfrm>
            <a:off x="313920" y="1342080"/>
            <a:ext cx="8722080" cy="42469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0" u="none" strike="noStrike">
                <a:solidFill>
                  <a:schemeClr val="dk1"/>
                </a:solidFill>
                <a:effectLst/>
                <a:uFillTx/>
                <a:latin typeface="Bodoni MT Black"/>
              </a:rPr>
              <a:t>     </a:t>
            </a:r>
            <a:r>
              <a:rPr lang="zh-CN" sz="2400" b="0" u="none" strike="noStrike">
                <a:solidFill>
                  <a:schemeClr val="dk1"/>
                </a:solidFill>
                <a:effectLst/>
                <a:uFillTx/>
                <a:latin typeface="Bodoni MT Black"/>
              </a:rPr>
              <a:t>调试是软件开发过程中最艰巨的脑力劳动，工作如此困难，软件错误的下述特征是相当重要的原因。</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症状和产生症状的原因可能在程序中相距甚远，症状可能出现在程序的一个部分，而实际的原因可能在与之相距很远的另一部分。</a:t>
            </a:r>
            <a:r>
              <a:rPr lang="zh-CN" sz="2400" b="0" u="none" strike="noStrike">
                <a:solidFill>
                  <a:srgbClr val="ff0000"/>
                </a:solidFill>
                <a:effectLst/>
                <a:uFillTx/>
                <a:latin typeface="Bodoni MT Black"/>
              </a:rPr>
              <a:t>紧耦合的程序结构</a:t>
            </a:r>
            <a:r>
              <a:rPr lang="zh-CN" sz="2400" b="0" u="none" strike="noStrike">
                <a:solidFill>
                  <a:schemeClr val="dk1"/>
                </a:solidFill>
                <a:effectLst/>
                <a:uFillTx/>
                <a:latin typeface="Bodoni MT Black"/>
              </a:rPr>
              <a:t>更加剧了这种情况。</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当改正了另一个错误之后，症状可能暂时消失了。</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症状可能实际上并不是由错误引起的（如舍入误差）。</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症状可能是由不易跟踪的</a:t>
            </a:r>
            <a:r>
              <a:rPr lang="zh-CN" sz="2400" b="0" u="none" strike="noStrike">
                <a:solidFill>
                  <a:srgbClr val="ff0000"/>
                </a:solidFill>
                <a:effectLst/>
                <a:uFillTx/>
                <a:latin typeface="Bodoni MT Black"/>
              </a:rPr>
              <a:t>人为错误</a:t>
            </a:r>
            <a:r>
              <a:rPr lang="zh-CN" sz="2400" b="0" u="none" strike="noStrike">
                <a:solidFill>
                  <a:schemeClr val="dk1"/>
                </a:solidFill>
                <a:effectLst/>
                <a:uFillTx/>
                <a:latin typeface="Bodoni MT Black"/>
              </a:rPr>
              <a:t>引起的。</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症状可能是由</a:t>
            </a:r>
            <a:r>
              <a:rPr lang="zh-CN" sz="2400" b="0" u="none" strike="noStrike">
                <a:solidFill>
                  <a:srgbClr val="ff0000"/>
                </a:solidFill>
                <a:effectLst/>
                <a:uFillTx/>
                <a:latin typeface="Bodoni MT Black"/>
              </a:rPr>
              <a:t>定时问题</a:t>
            </a:r>
            <a:r>
              <a:rPr lang="zh-CN" sz="2400" b="0" u="none" strike="noStrike">
                <a:solidFill>
                  <a:schemeClr val="dk1"/>
                </a:solidFill>
                <a:effectLst/>
                <a:uFillTx/>
                <a:latin typeface="Bodoni MT Black"/>
              </a:rPr>
              <a:t>而不是由处理问题引起的。</a:t>
            </a:r>
            <a:endParaRPr lang="en-US" sz="2400" b="0" u="none" strike="noStrike">
              <a:solidFill>
                <a:srgbClr val="000000"/>
              </a:solidFill>
              <a:effectLst/>
              <a:uFillTx/>
              <a:latin typeface="Arial"/>
            </a:endParaRPr>
          </a:p>
        </p:txBody>
      </p:sp>
      <p:sp>
        <p:nvSpPr>
          <p:cNvPr id="740"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741"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7.8.1 </a:t>
            </a:r>
            <a:r>
              <a:rPr lang="zh-CN" sz="2400" b="0" u="none" strike="noStrike">
                <a:solidFill>
                  <a:srgbClr val="d9d9d9"/>
                </a:solidFill>
                <a:effectLst/>
                <a:uFillTx/>
                <a:latin typeface="Bodoni MT Black"/>
              </a:rPr>
              <a:t>调试过程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2"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7.8 </a:t>
            </a:r>
            <a:r>
              <a:rPr lang="zh-CN" sz="4400" b="1" u="none" strike="noStrike">
                <a:solidFill>
                  <a:schemeClr val="dk1"/>
                </a:solidFill>
                <a:effectLst/>
                <a:uFillTx/>
                <a:latin typeface="Bodoni MT Black"/>
              </a:rPr>
              <a:t>调试</a:t>
            </a:r>
            <a:endParaRPr lang="es-ES" sz="4400" b="0" u="none" strike="noStrike">
              <a:solidFill>
                <a:schemeClr val="dk1"/>
              </a:solidFill>
              <a:effectLst/>
              <a:uFillTx/>
              <a:latin typeface="Arial"/>
            </a:endParaRPr>
          </a:p>
        </p:txBody>
      </p:sp>
      <p:sp>
        <p:nvSpPr>
          <p:cNvPr id="743" name="TextBox 7"/>
          <p:cNvSpPr/>
          <p:nvPr/>
        </p:nvSpPr>
        <p:spPr>
          <a:xfrm>
            <a:off x="302760" y="1628640"/>
            <a:ext cx="8722080" cy="2862000"/>
          </a:xfrm>
          <a:prstGeom prst="rect">
            <a:avLst/>
          </a:prstGeom>
          <a:noFill/>
          <a:ln w="0">
            <a:noFill/>
          </a:ln>
        </p:spPr>
        <p:style>
          <a:lnRef idx="0"/>
          <a:fillRef idx="0"/>
          <a:effectRef idx="0"/>
          <a:fontRef idx="minor"/>
        </p:style>
        <p:txBody>
          <a:bodyPr lIns="90000" rIns="90000" tIns="45000" bIns="45000" anchor="t">
            <a:spAutoFit/>
          </a:bodyPr>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rPr>
              <a:t>可能</a:t>
            </a:r>
            <a:r>
              <a:rPr lang="zh-CN" sz="2400" b="0" u="none" strike="noStrike">
                <a:solidFill>
                  <a:srgbClr val="ff0000"/>
                </a:solidFill>
                <a:effectLst/>
                <a:uFillTx/>
                <a:latin typeface="Bodoni MT Black"/>
              </a:rPr>
              <a:t>很难重新产生完全一样的输入条件</a:t>
            </a:r>
            <a:r>
              <a:rPr lang="zh-CN" sz="2400" b="0" u="none" strike="noStrike">
                <a:solidFill>
                  <a:schemeClr val="dk1"/>
                </a:solidFill>
                <a:effectLst/>
                <a:uFillTx/>
                <a:latin typeface="Bodoni MT Black"/>
              </a:rPr>
              <a:t>（如输入顺序不确定的实时应用系统）。</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rPr>
              <a:t>症状可能时有时无，这种情况在硬件和软件紧密地耦合在一起的</a:t>
            </a:r>
            <a:r>
              <a:rPr lang="zh-CN" sz="2400" b="0" u="none" strike="noStrike">
                <a:solidFill>
                  <a:srgbClr val="ff0000"/>
                </a:solidFill>
                <a:effectLst/>
                <a:uFillTx/>
                <a:latin typeface="Bodoni MT Black"/>
              </a:rPr>
              <a:t>嵌入式系统</a:t>
            </a:r>
            <a:r>
              <a:rPr lang="zh-CN" sz="2400" b="0" u="none" strike="noStrike">
                <a:solidFill>
                  <a:schemeClr val="dk1"/>
                </a:solidFill>
                <a:effectLst/>
                <a:uFillTx/>
                <a:latin typeface="Bodoni MT Black"/>
              </a:rPr>
              <a:t>中特别常见。</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rPr>
              <a:t>症状可能是由分布在</a:t>
            </a:r>
            <a:r>
              <a:rPr lang="zh-CN" sz="2400" b="0" u="none" strike="noStrike">
                <a:solidFill>
                  <a:srgbClr val="ff0000"/>
                </a:solidFill>
                <a:effectLst/>
                <a:uFillTx/>
                <a:latin typeface="Bodoni MT Black"/>
              </a:rPr>
              <a:t>许多任务</a:t>
            </a:r>
            <a:r>
              <a:rPr lang="zh-CN" sz="2400" b="0" u="none" strike="noStrike">
                <a:solidFill>
                  <a:schemeClr val="dk1"/>
                </a:solidFill>
                <a:effectLst/>
                <a:uFillTx/>
                <a:latin typeface="Bodoni MT Black"/>
              </a:rPr>
              <a:t>中的原因引起的，这些任务运行在不同的处理机上。</a:t>
            </a:r>
            <a:endParaRPr lang="en-US" sz="2400" b="0" u="none" strike="noStrike">
              <a:solidFill>
                <a:srgbClr val="000000"/>
              </a:solidFill>
              <a:effectLst/>
              <a:uFillTx/>
              <a:latin typeface="Arial"/>
            </a:endParaRPr>
          </a:p>
        </p:txBody>
      </p:sp>
      <p:sp>
        <p:nvSpPr>
          <p:cNvPr id="744"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745"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7.8.1 </a:t>
            </a:r>
            <a:r>
              <a:rPr lang="zh-CN" sz="2400" b="0" u="none" strike="noStrike">
                <a:solidFill>
                  <a:srgbClr val="d9d9d9"/>
                </a:solidFill>
                <a:effectLst/>
                <a:uFillTx/>
                <a:latin typeface="Bodoni MT Black"/>
              </a:rPr>
              <a:t>调试过程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6"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7.8 </a:t>
            </a:r>
            <a:r>
              <a:rPr lang="zh-CN" sz="4400" b="1" u="none" strike="noStrike">
                <a:solidFill>
                  <a:schemeClr val="dk1"/>
                </a:solidFill>
                <a:effectLst/>
                <a:uFillTx/>
                <a:latin typeface="Bodoni MT Black"/>
              </a:rPr>
              <a:t>调试</a:t>
            </a:r>
            <a:endParaRPr lang="es-ES" sz="4400" b="0" u="none" strike="noStrike">
              <a:solidFill>
                <a:schemeClr val="dk1"/>
              </a:solidFill>
              <a:effectLst/>
              <a:uFillTx/>
              <a:latin typeface="Arial"/>
            </a:endParaRPr>
          </a:p>
        </p:txBody>
      </p:sp>
      <p:sp>
        <p:nvSpPr>
          <p:cNvPr id="747" name="PlaceHolder 2"/>
          <p:cNvSpPr>
            <a:spLocks noGrp="1"/>
          </p:cNvSpPr>
          <p:nvPr>
            <p:ph/>
          </p:nvPr>
        </p:nvSpPr>
        <p:spPr>
          <a:xfrm>
            <a:off x="323640" y="90864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7.8.2 </a:t>
            </a:r>
            <a:r>
              <a:rPr lang="zh-CN" sz="3200" b="1" u="none" strike="noStrike">
                <a:solidFill>
                  <a:schemeClr val="dk1"/>
                </a:solidFill>
                <a:effectLst/>
                <a:uFillTx/>
                <a:latin typeface="Bodoni MT Black"/>
              </a:rPr>
              <a:t>调试途径</a:t>
            </a:r>
            <a:endParaRPr lang="es-ES" sz="3200" b="0" u="none" strike="noStrike">
              <a:solidFill>
                <a:schemeClr val="dk1"/>
              </a:solidFill>
              <a:effectLst/>
              <a:uFillTx/>
              <a:latin typeface="Calibri"/>
            </a:endParaRPr>
          </a:p>
        </p:txBody>
      </p:sp>
      <p:sp>
        <p:nvSpPr>
          <p:cNvPr id="748" name="TextBox 7"/>
          <p:cNvSpPr/>
          <p:nvPr/>
        </p:nvSpPr>
        <p:spPr>
          <a:xfrm>
            <a:off x="323640" y="1545120"/>
            <a:ext cx="8496360" cy="47088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1" u="none" strike="noStrike">
                <a:solidFill>
                  <a:schemeClr val="dk1"/>
                </a:solidFill>
                <a:effectLst/>
                <a:uFillTx/>
                <a:latin typeface="Bodoni MT Black"/>
              </a:rPr>
              <a:t>1. </a:t>
            </a:r>
            <a:r>
              <a:rPr lang="zh-CN" sz="2400" b="1" u="none" strike="noStrike">
                <a:solidFill>
                  <a:schemeClr val="dk1"/>
                </a:solidFill>
                <a:effectLst/>
                <a:uFillTx/>
                <a:latin typeface="Bodoni MT Black"/>
              </a:rPr>
              <a:t>蛮干法</a:t>
            </a:r>
            <a:endParaRPr lang="en-US" sz="2400" b="0" u="none" strike="noStrike">
              <a:solidFill>
                <a:srgbClr val="000000"/>
              </a:solidFill>
              <a:effectLst/>
              <a:uFillTx/>
              <a:latin typeface="Arial"/>
            </a:endParaRPr>
          </a:p>
          <a:p>
            <a:pPr marL="343080" indent="-343080">
              <a:lnSpc>
                <a:spcPct val="125000"/>
              </a:lnSpc>
              <a:buClr>
                <a:srgbClr val="c00000"/>
              </a:buClr>
              <a:buFont typeface="Wingdings" charset="2"/>
              <a:buChar char=""/>
              <a:tabLst>
                <a:tab algn="l" pos="0"/>
              </a:tabLst>
            </a:pPr>
            <a:r>
              <a:rPr lang="zh-CN" sz="2400" b="1" u="none" strike="noStrike">
                <a:solidFill>
                  <a:srgbClr val="c00000"/>
                </a:solidFill>
                <a:effectLst/>
                <a:uFillTx/>
                <a:latin typeface="Bodoni MT Black"/>
              </a:rPr>
              <a:t>蛮干法</a:t>
            </a:r>
            <a:r>
              <a:rPr lang="zh-CN" sz="2400" b="0" u="none" strike="noStrike">
                <a:solidFill>
                  <a:schemeClr val="dk1"/>
                </a:solidFill>
                <a:effectLst/>
                <a:uFillTx/>
                <a:latin typeface="Bodoni MT Black"/>
              </a:rPr>
              <a:t>可能是寻找软件错误原因的</a:t>
            </a:r>
            <a:r>
              <a:rPr lang="zh-CN" sz="2400" b="0" u="none" strike="noStrike">
                <a:solidFill>
                  <a:srgbClr val="ff0000"/>
                </a:solidFill>
                <a:effectLst/>
                <a:uFillTx/>
                <a:latin typeface="Bodoni MT Black"/>
              </a:rPr>
              <a:t>最低效</a:t>
            </a:r>
            <a:r>
              <a:rPr lang="zh-CN" sz="2400" b="0" u="none" strike="noStrike">
                <a:solidFill>
                  <a:schemeClr val="dk1"/>
                </a:solidFill>
                <a:effectLst/>
                <a:uFillTx/>
                <a:latin typeface="Bodoni MT Black"/>
              </a:rPr>
              <a:t>的方法。仅当所有其他方法都失败了的情况下，才应该使用这种方法。</a:t>
            </a:r>
            <a:endParaRPr lang="en-US" sz="2400" b="0" u="none" strike="noStrike">
              <a:solidFill>
                <a:srgbClr val="000000"/>
              </a:solidFill>
              <a:effectLst/>
              <a:uFillTx/>
              <a:latin typeface="Arial"/>
            </a:endParaRPr>
          </a:p>
          <a:p>
            <a:pPr marL="343080" indent="-343080">
              <a:lnSpc>
                <a:spcPct val="125000"/>
              </a:lnSpc>
              <a:buClr>
                <a:srgbClr val="c00000"/>
              </a:buClr>
              <a:buFont typeface="Wingdings" charset="2"/>
              <a:buChar char=""/>
              <a:tabLst>
                <a:tab algn="l" pos="0"/>
              </a:tabLst>
            </a:pPr>
            <a:r>
              <a:rPr lang="zh-CN" sz="2400" b="1" u="none" strike="noStrike">
                <a:solidFill>
                  <a:srgbClr val="c00000"/>
                </a:solidFill>
                <a:effectLst/>
                <a:uFillTx/>
                <a:latin typeface="Bodoni MT Black"/>
              </a:rPr>
              <a:t>蛮干法</a:t>
            </a:r>
            <a:r>
              <a:rPr lang="zh-CN" sz="2400" b="0" u="none" strike="noStrike">
                <a:solidFill>
                  <a:schemeClr val="dk1"/>
                </a:solidFill>
                <a:effectLst/>
                <a:uFillTx/>
                <a:latin typeface="Bodoni MT Black"/>
              </a:rPr>
              <a:t>按照“让计算机自己寻找错误”的策略，这种方法印出内存的内容，激活对运行过程的跟踪，并在程序中到处都写上</a:t>
            </a:r>
            <a:r>
              <a:rPr lang="en-US" sz="2400" b="0" u="none" strike="noStrike">
                <a:solidFill>
                  <a:srgbClr val="ff0000"/>
                </a:solidFill>
                <a:effectLst/>
                <a:uFillTx/>
                <a:latin typeface="Bodoni MT Black"/>
              </a:rPr>
              <a:t>WRITE</a:t>
            </a:r>
            <a:r>
              <a:rPr lang="zh-CN" sz="2400" b="0" u="none" strike="noStrike">
                <a:solidFill>
                  <a:srgbClr val="ff0000"/>
                </a:solidFill>
                <a:effectLst/>
                <a:uFillTx/>
                <a:latin typeface="Bodoni MT Black"/>
              </a:rPr>
              <a:t>（输出）</a:t>
            </a:r>
            <a:r>
              <a:rPr lang="zh-CN" sz="2400" b="0" u="none" strike="noStrike">
                <a:solidFill>
                  <a:schemeClr val="dk1"/>
                </a:solidFill>
                <a:effectLst/>
                <a:uFillTx/>
                <a:latin typeface="Bodoni MT Black"/>
              </a:rPr>
              <a:t>语句，希望在这样生成的信息海洋的某个地方发现错误原因的线索。</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在更多情况下这样做只会浪费时间和精力。在使用任何一种调试方法之前，必须首先进行周密的思考，必须有明确的目的，应该尽量减少无关信息的数量。    </a:t>
            </a:r>
            <a:endParaRPr lang="en-US" sz="2400" b="0" u="none" strike="noStrike">
              <a:solidFill>
                <a:srgbClr val="000000"/>
              </a:solidFill>
              <a:effectLst/>
              <a:uFillTx/>
              <a:latin typeface="Arial"/>
            </a:endParaRPr>
          </a:p>
        </p:txBody>
      </p:sp>
      <p:sp>
        <p:nvSpPr>
          <p:cNvPr id="749"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750"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7.8.2 </a:t>
            </a:r>
            <a:r>
              <a:rPr lang="zh-CN" sz="2400" b="0" u="none" strike="noStrike">
                <a:solidFill>
                  <a:srgbClr val="d9d9d9"/>
                </a:solidFill>
                <a:effectLst/>
                <a:uFillTx/>
                <a:latin typeface="Bodoni MT Black"/>
              </a:rPr>
              <a:t>调试途径</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1"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7.8 </a:t>
            </a:r>
            <a:r>
              <a:rPr lang="zh-CN" sz="4400" b="1" u="none" strike="noStrike">
                <a:solidFill>
                  <a:schemeClr val="dk1"/>
                </a:solidFill>
                <a:effectLst/>
                <a:uFillTx/>
                <a:latin typeface="Bodoni MT Black"/>
              </a:rPr>
              <a:t>调试</a:t>
            </a:r>
            <a:endParaRPr lang="es-ES" sz="4400" b="0" u="none" strike="noStrike">
              <a:solidFill>
                <a:schemeClr val="dk1"/>
              </a:solidFill>
              <a:effectLst/>
              <a:uFillTx/>
              <a:latin typeface="Arial"/>
            </a:endParaRPr>
          </a:p>
        </p:txBody>
      </p:sp>
      <p:sp>
        <p:nvSpPr>
          <p:cNvPr id="752" name="TextBox 7"/>
          <p:cNvSpPr/>
          <p:nvPr/>
        </p:nvSpPr>
        <p:spPr>
          <a:xfrm>
            <a:off x="444960" y="1187280"/>
            <a:ext cx="8303400" cy="3272400"/>
          </a:xfrm>
          <a:prstGeom prst="rect">
            <a:avLst/>
          </a:prstGeom>
          <a:noFill/>
          <a:ln w="0">
            <a:noFill/>
          </a:ln>
        </p:spPr>
        <p:style>
          <a:lnRef idx="0"/>
          <a:fillRef idx="0"/>
          <a:effectRef idx="0"/>
          <a:fontRef idx="minor"/>
        </p:style>
        <p:txBody>
          <a:bodyPr lIns="90000" rIns="90000" tIns="45000" bIns="45000" anchor="t">
            <a:spAutoFit/>
          </a:bodyPr>
          <a:p>
            <a:pPr>
              <a:lnSpc>
                <a:spcPts val="3200"/>
              </a:lnSpc>
              <a:tabLst>
                <a:tab algn="l" pos="0"/>
              </a:tabLst>
            </a:pPr>
            <a:r>
              <a:rPr lang="en-US" sz="2400" b="1" u="none" strike="noStrike">
                <a:solidFill>
                  <a:schemeClr val="dk1"/>
                </a:solidFill>
                <a:effectLst/>
                <a:uFillTx/>
                <a:latin typeface="Bodoni MT Black"/>
              </a:rPr>
              <a:t>2. </a:t>
            </a:r>
            <a:r>
              <a:rPr lang="zh-CN" sz="2400" b="1" u="none" strike="noStrike">
                <a:solidFill>
                  <a:schemeClr val="dk1"/>
                </a:solidFill>
                <a:effectLst/>
                <a:uFillTx/>
                <a:latin typeface="Bodoni MT Black"/>
              </a:rPr>
              <a:t>回溯法</a:t>
            </a:r>
            <a:endParaRPr lang="en-US" sz="2400" b="0" u="none" strike="noStrike">
              <a:solidFill>
                <a:srgbClr val="000000"/>
              </a:solidFill>
              <a:effectLst/>
              <a:uFillTx/>
              <a:latin typeface="Arial"/>
            </a:endParaRPr>
          </a:p>
          <a:p>
            <a:pPr marL="343080" indent="-343080">
              <a:lnSpc>
                <a:spcPct val="125000"/>
              </a:lnSpc>
              <a:buClr>
                <a:srgbClr val="c00000"/>
              </a:buClr>
              <a:buFont typeface="Wingdings" charset="2"/>
              <a:buChar char=""/>
              <a:tabLst>
                <a:tab algn="l" pos="0"/>
              </a:tabLst>
            </a:pPr>
            <a:r>
              <a:rPr lang="zh-CN" sz="2400" b="0" u="none" strike="noStrike">
                <a:solidFill>
                  <a:srgbClr val="c00000"/>
                </a:solidFill>
                <a:effectLst/>
                <a:uFillTx/>
                <a:latin typeface="Bodoni MT Black"/>
              </a:rPr>
              <a:t>回溯</a:t>
            </a:r>
            <a:r>
              <a:rPr lang="zh-CN" sz="2400" b="0" u="none" strike="noStrike">
                <a:solidFill>
                  <a:schemeClr val="dk1"/>
                </a:solidFill>
                <a:effectLst/>
                <a:uFillTx/>
                <a:latin typeface="Bodoni MT Black"/>
              </a:rPr>
              <a:t>是一种相当常用的调试方法，当调试小程序时这种方法是有效的。具体做法：从发现症状的地方开始，</a:t>
            </a:r>
            <a:r>
              <a:rPr lang="zh-CN" sz="2400" b="0" u="none" strike="noStrike">
                <a:solidFill>
                  <a:srgbClr val="ff0000"/>
                </a:solidFill>
                <a:effectLst/>
                <a:uFillTx/>
                <a:latin typeface="Bodoni MT Black"/>
              </a:rPr>
              <a:t>人工沿程序的控制流往回追踪分析源程序代码</a:t>
            </a:r>
            <a:r>
              <a:rPr lang="zh-CN" sz="2400" b="0" u="none" strike="noStrike">
                <a:solidFill>
                  <a:schemeClr val="dk1"/>
                </a:solidFill>
                <a:effectLst/>
                <a:uFillTx/>
                <a:latin typeface="Bodoni MT Black"/>
              </a:rPr>
              <a:t>，直到找出错误原因为止。</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rPr>
              <a:t>随着程序规模的扩大，应该回溯的路径数目变得越来越大，回溯法不适用于这种规模的程序。</a:t>
            </a:r>
            <a:endParaRPr lang="en-US" sz="2400" b="0" u="none" strike="noStrike">
              <a:solidFill>
                <a:srgbClr val="000000"/>
              </a:solidFill>
              <a:effectLst/>
              <a:uFillTx/>
              <a:latin typeface="Arial"/>
            </a:endParaRPr>
          </a:p>
        </p:txBody>
      </p:sp>
      <p:sp>
        <p:nvSpPr>
          <p:cNvPr id="753"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754"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7.8.2 </a:t>
            </a:r>
            <a:r>
              <a:rPr lang="zh-CN" sz="2400" b="0" u="none" strike="noStrike">
                <a:solidFill>
                  <a:srgbClr val="d9d9d9"/>
                </a:solidFill>
                <a:effectLst/>
                <a:uFillTx/>
                <a:latin typeface="Bodoni MT Black"/>
              </a:rPr>
              <a:t>调试途径</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5"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7.8 </a:t>
            </a:r>
            <a:r>
              <a:rPr lang="zh-CN" sz="4400" b="1" u="none" strike="noStrike">
                <a:solidFill>
                  <a:schemeClr val="dk1"/>
                </a:solidFill>
                <a:effectLst/>
                <a:uFillTx/>
                <a:latin typeface="Bodoni MT Black"/>
              </a:rPr>
              <a:t>调试</a:t>
            </a:r>
            <a:endParaRPr lang="es-ES" sz="4400" b="0" u="none" strike="noStrike">
              <a:solidFill>
                <a:schemeClr val="dk1"/>
              </a:solidFill>
              <a:effectLst/>
              <a:uFillTx/>
              <a:latin typeface="Arial"/>
            </a:endParaRPr>
          </a:p>
        </p:txBody>
      </p:sp>
      <p:sp>
        <p:nvSpPr>
          <p:cNvPr id="756" name="TextBox 7"/>
          <p:cNvSpPr/>
          <p:nvPr/>
        </p:nvSpPr>
        <p:spPr>
          <a:xfrm>
            <a:off x="323640" y="1268280"/>
            <a:ext cx="8568720" cy="33235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1" u="none" strike="noStrike">
                <a:solidFill>
                  <a:schemeClr val="dk1"/>
                </a:solidFill>
                <a:effectLst/>
                <a:uFillTx/>
                <a:latin typeface="Bodoni MT Black"/>
              </a:rPr>
              <a:t>3. </a:t>
            </a:r>
            <a:r>
              <a:rPr lang="zh-CN" sz="2400" b="1" u="none" strike="noStrike">
                <a:solidFill>
                  <a:schemeClr val="dk1"/>
                </a:solidFill>
                <a:effectLst/>
                <a:uFillTx/>
                <a:latin typeface="Bodoni MT Black"/>
              </a:rPr>
              <a:t>原因排错法</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    </a:t>
            </a:r>
            <a:r>
              <a:rPr lang="zh-CN" sz="2400" b="0" u="none" strike="noStrike">
                <a:solidFill>
                  <a:srgbClr val="ff0000"/>
                </a:solidFill>
                <a:effectLst/>
                <a:uFillTx/>
                <a:latin typeface="Bodoni MT Black"/>
                <a:ea typeface="宋体"/>
              </a:rPr>
              <a:t>对分查找法</a:t>
            </a:r>
            <a:r>
              <a:rPr lang="zh-CN" sz="2400" b="0" u="none" strike="noStrike">
                <a:solidFill>
                  <a:schemeClr val="dk1"/>
                </a:solidFill>
                <a:effectLst/>
                <a:uFillTx/>
                <a:latin typeface="Bodoni MT Black"/>
                <a:ea typeface="宋体"/>
              </a:rPr>
              <a:t>、</a:t>
            </a:r>
            <a:r>
              <a:rPr lang="zh-CN" sz="2400" b="0" u="none" strike="noStrike">
                <a:solidFill>
                  <a:srgbClr val="ff0000"/>
                </a:solidFill>
                <a:effectLst/>
                <a:uFillTx/>
                <a:latin typeface="Bodoni MT Black"/>
                <a:ea typeface="宋体"/>
              </a:rPr>
              <a:t>归纳法</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演绎法</a:t>
            </a:r>
            <a:r>
              <a:rPr lang="zh-CN" sz="2400" b="0" u="none" strike="noStrike">
                <a:solidFill>
                  <a:schemeClr val="dk1"/>
                </a:solidFill>
                <a:effectLst/>
                <a:uFillTx/>
                <a:latin typeface="Bodoni MT Black"/>
                <a:ea typeface="宋体"/>
              </a:rPr>
              <a:t>都属于原因排除法。</a:t>
            </a:r>
            <a:endParaRPr lang="en-US" sz="2400" b="0" u="none" strike="noStrike">
              <a:solidFill>
                <a:srgbClr val="000000"/>
              </a:solidFill>
              <a:effectLst/>
              <a:uFillTx/>
              <a:latin typeface="Arial"/>
            </a:endParaRPr>
          </a:p>
          <a:p>
            <a:pPr>
              <a:lnSpc>
                <a:spcPct val="125000"/>
              </a:lnSpc>
              <a:tabLst>
                <a:tab algn="l" pos="0"/>
              </a:tabLst>
            </a:pPr>
            <a:r>
              <a:rPr lang="en-US" sz="2400" b="1" u="none" strike="noStrike">
                <a:solidFill>
                  <a:srgbClr val="c00000"/>
                </a:solidFill>
                <a:effectLst/>
                <a:uFillTx/>
                <a:latin typeface="Bodoni MT Black"/>
                <a:ea typeface="宋体"/>
              </a:rPr>
              <a:t>① 对分查找法</a:t>
            </a:r>
            <a:r>
              <a:rPr lang="zh-CN" sz="2400" b="0" u="none" strike="noStrike">
                <a:solidFill>
                  <a:schemeClr val="dk1"/>
                </a:solidFill>
                <a:effectLst/>
                <a:uFillTx/>
                <a:latin typeface="Bodoni MT Black"/>
                <a:ea typeface="宋体"/>
              </a:rPr>
              <a:t>的基本思路是，如果已经知道每个变量在程序内若干个关键点的正确值，则可以用赋值语句或输入语句在</a:t>
            </a:r>
            <a:r>
              <a:rPr lang="zh-CN" sz="2400" b="0" u="none" strike="noStrike">
                <a:solidFill>
                  <a:srgbClr val="ff0000"/>
                </a:solidFill>
                <a:effectLst/>
                <a:uFillTx/>
                <a:latin typeface="Bodoni MT Black"/>
                <a:ea typeface="宋体"/>
              </a:rPr>
              <a:t>程序中点</a:t>
            </a:r>
            <a:r>
              <a:rPr lang="zh-CN" sz="2400" b="0" u="none" strike="noStrike">
                <a:solidFill>
                  <a:schemeClr val="dk1"/>
                </a:solidFill>
                <a:effectLst/>
                <a:uFillTx/>
                <a:latin typeface="Bodoni MT Black"/>
                <a:ea typeface="宋体"/>
              </a:rPr>
              <a:t>附近“注入”这些变量的正确值，然后运行程序并检查所得到的输出。</a:t>
            </a:r>
            <a:endParaRPr lang="en-US" sz="2400" b="0" u="none" strike="noStrike">
              <a:solidFill>
                <a:srgbClr val="000000"/>
              </a:solidFill>
              <a:effectLst/>
              <a:uFillTx/>
              <a:latin typeface="Arial"/>
            </a:endParaRPr>
          </a:p>
          <a:p>
            <a:pPr>
              <a:lnSpc>
                <a:spcPct val="125000"/>
              </a:lnSpc>
              <a:tabLst>
                <a:tab algn="l" pos="0"/>
              </a:tabLst>
            </a:pPr>
            <a:endParaRPr lang="en-US" sz="2400" b="0" u="none" strike="noStrike">
              <a:solidFill>
                <a:srgbClr val="000000"/>
              </a:solidFill>
              <a:effectLst/>
              <a:uFillTx/>
              <a:latin typeface="Arial"/>
            </a:endParaRPr>
          </a:p>
        </p:txBody>
      </p:sp>
      <p:sp>
        <p:nvSpPr>
          <p:cNvPr id="757"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758"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7.8.2 </a:t>
            </a:r>
            <a:r>
              <a:rPr lang="zh-CN" sz="2400" b="0" u="none" strike="noStrike">
                <a:solidFill>
                  <a:srgbClr val="d9d9d9"/>
                </a:solidFill>
                <a:effectLst/>
                <a:uFillTx/>
                <a:latin typeface="Bodoni MT Black"/>
              </a:rPr>
              <a:t>调试途径</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9" name="PlaceHolder 1"/>
          <p:cNvSpPr>
            <a:spLocks noGrp="1"/>
          </p:cNvSpPr>
          <p:nvPr>
            <p:ph type="title"/>
          </p:nvPr>
        </p:nvSpPr>
        <p:spPr>
          <a:xfrm>
            <a:off x="457200" y="-1764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7.8 </a:t>
            </a:r>
            <a:r>
              <a:rPr lang="zh-CN" sz="4400" b="1" u="none" strike="noStrike">
                <a:solidFill>
                  <a:schemeClr val="dk1"/>
                </a:solidFill>
                <a:effectLst/>
                <a:uFillTx/>
                <a:latin typeface="Bodoni MT Black"/>
              </a:rPr>
              <a:t>调试</a:t>
            </a:r>
            <a:endParaRPr lang="es-ES" sz="4400" b="0" u="none" strike="noStrike">
              <a:solidFill>
                <a:schemeClr val="dk1"/>
              </a:solidFill>
              <a:effectLst/>
              <a:uFillTx/>
              <a:latin typeface="Arial"/>
            </a:endParaRPr>
          </a:p>
        </p:txBody>
      </p:sp>
      <p:sp>
        <p:nvSpPr>
          <p:cNvPr id="760" name="TextBox 7"/>
          <p:cNvSpPr/>
          <p:nvPr/>
        </p:nvSpPr>
        <p:spPr>
          <a:xfrm>
            <a:off x="323640" y="1125360"/>
            <a:ext cx="8569440" cy="37854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1" u="none" strike="noStrike">
                <a:solidFill>
                  <a:schemeClr val="dk1"/>
                </a:solidFill>
                <a:effectLst/>
                <a:uFillTx/>
                <a:latin typeface="Bodoni MT Black"/>
                <a:ea typeface="宋体"/>
              </a:rPr>
              <a:t>3. </a:t>
            </a:r>
            <a:r>
              <a:rPr lang="zh-CN" sz="2400" b="1" u="none" strike="noStrike">
                <a:solidFill>
                  <a:schemeClr val="dk1"/>
                </a:solidFill>
                <a:effectLst/>
                <a:uFillTx/>
                <a:latin typeface="Bodoni MT Black"/>
                <a:ea typeface="宋体"/>
              </a:rPr>
              <a:t>原因排错法</a:t>
            </a:r>
            <a:endParaRPr lang="en-US" sz="2400" b="0" u="none" strike="noStrike">
              <a:solidFill>
                <a:srgbClr val="000000"/>
              </a:solidFill>
              <a:effectLst/>
              <a:uFillTx/>
              <a:latin typeface="Arial"/>
            </a:endParaRPr>
          </a:p>
          <a:p>
            <a:pPr>
              <a:lnSpc>
                <a:spcPct val="125000"/>
              </a:lnSpc>
              <a:tabLst>
                <a:tab algn="l" pos="0"/>
              </a:tabLst>
            </a:pPr>
            <a:r>
              <a:rPr lang="en-US" sz="2400" b="1" u="none" strike="noStrike">
                <a:solidFill>
                  <a:srgbClr val="c00000"/>
                </a:solidFill>
                <a:effectLst/>
                <a:uFillTx/>
                <a:latin typeface="Bodoni MT Black"/>
                <a:ea typeface="宋体"/>
              </a:rPr>
              <a:t>② 归纳法</a:t>
            </a:r>
            <a:r>
              <a:rPr lang="zh-CN" sz="2400" b="0" u="none" strike="noStrike">
                <a:solidFill>
                  <a:schemeClr val="dk1"/>
                </a:solidFill>
                <a:effectLst/>
                <a:uFillTx/>
                <a:latin typeface="Bodoni MT Black"/>
                <a:ea typeface="宋体"/>
              </a:rPr>
              <a:t>是从</a:t>
            </a:r>
            <a:r>
              <a:rPr lang="zh-CN" sz="2400" b="0" u="none" strike="noStrike">
                <a:solidFill>
                  <a:srgbClr val="ff0000"/>
                </a:solidFill>
                <a:effectLst/>
                <a:uFillTx/>
                <a:latin typeface="Bodoni MT Black"/>
                <a:ea typeface="宋体"/>
              </a:rPr>
              <a:t>个别现象推断出一般性结论</a:t>
            </a:r>
            <a:r>
              <a:rPr lang="zh-CN" sz="2400" b="0" u="none" strike="noStrike">
                <a:solidFill>
                  <a:schemeClr val="dk1"/>
                </a:solidFill>
                <a:effectLst/>
                <a:uFillTx/>
                <a:latin typeface="Bodoni MT Black"/>
                <a:ea typeface="宋体"/>
              </a:rPr>
              <a:t>的思维方法。使用这种方法调试程序时，首先把和错误有关的数据组织起来进行分析，以便发现可能的错误原因。然后导出对错误原因的一个或多个假设，并利用已有的数据来证明或排除这些假设。</a:t>
            </a:r>
            <a:endParaRPr lang="en-US" sz="2400" b="0" u="none" strike="noStrike">
              <a:solidFill>
                <a:srgbClr val="000000"/>
              </a:solidFill>
              <a:effectLst/>
              <a:uFillTx/>
              <a:latin typeface="Arial"/>
            </a:endParaRPr>
          </a:p>
          <a:p>
            <a:pPr>
              <a:lnSpc>
                <a:spcPct val="125000"/>
              </a:lnSpc>
              <a:tabLst>
                <a:tab algn="l" pos="0"/>
              </a:tabLst>
            </a:pPr>
            <a:r>
              <a:rPr lang="en-US" sz="2400" b="1" u="none" strike="noStrike">
                <a:solidFill>
                  <a:srgbClr val="c00000"/>
                </a:solidFill>
                <a:effectLst/>
                <a:uFillTx/>
                <a:latin typeface="Bodoni MT Black"/>
                <a:ea typeface="宋体"/>
              </a:rPr>
              <a:t>③ 演绎法</a:t>
            </a:r>
            <a:r>
              <a:rPr lang="zh-CN" sz="2400" b="0" u="none" strike="noStrike">
                <a:solidFill>
                  <a:schemeClr val="dk1"/>
                </a:solidFill>
                <a:effectLst/>
                <a:uFillTx/>
                <a:latin typeface="Bodoni MT Black"/>
                <a:ea typeface="宋体"/>
              </a:rPr>
              <a:t>从</a:t>
            </a:r>
            <a:r>
              <a:rPr lang="zh-CN" sz="2400" b="0" u="none" strike="noStrike">
                <a:solidFill>
                  <a:srgbClr val="ff0000"/>
                </a:solidFill>
                <a:effectLst/>
                <a:uFillTx/>
                <a:latin typeface="Bodoni MT Black"/>
                <a:ea typeface="宋体"/>
              </a:rPr>
              <a:t>一般原理</a:t>
            </a:r>
            <a:r>
              <a:rPr lang="zh-CN" sz="2400" b="0" u="none" strike="noStrike">
                <a:solidFill>
                  <a:schemeClr val="dk1"/>
                </a:solidFill>
                <a:effectLst/>
                <a:uFillTx/>
                <a:latin typeface="Bodoni MT Black"/>
                <a:ea typeface="宋体"/>
              </a:rPr>
              <a:t>或前提出发，经过</a:t>
            </a:r>
            <a:r>
              <a:rPr lang="zh-CN" sz="2400" b="0" u="none" strike="noStrike">
                <a:solidFill>
                  <a:srgbClr val="ff0000"/>
                </a:solidFill>
                <a:effectLst/>
                <a:uFillTx/>
                <a:latin typeface="Bodoni MT Black"/>
                <a:ea typeface="宋体"/>
              </a:rPr>
              <a:t>排除和精化</a:t>
            </a:r>
            <a:r>
              <a:rPr lang="zh-CN" sz="2400" b="0" u="none" strike="noStrike">
                <a:solidFill>
                  <a:schemeClr val="dk1"/>
                </a:solidFill>
                <a:effectLst/>
                <a:uFillTx/>
                <a:latin typeface="Bodoni MT Black"/>
                <a:ea typeface="宋体"/>
              </a:rPr>
              <a:t>的过程推导出结论。采用这种方法调试程序时，首先设想出所有可能的出错原因，然后试图用测试来排除每一个假设的原因。</a:t>
            </a:r>
            <a:endParaRPr lang="en-US" sz="2400" b="0" u="none" strike="noStrike">
              <a:solidFill>
                <a:srgbClr val="000000"/>
              </a:solidFill>
              <a:effectLst/>
              <a:uFillTx/>
              <a:latin typeface="Arial"/>
            </a:endParaRPr>
          </a:p>
        </p:txBody>
      </p:sp>
      <p:sp>
        <p:nvSpPr>
          <p:cNvPr id="761"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762"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7.8.2 </a:t>
            </a:r>
            <a:r>
              <a:rPr lang="zh-CN" sz="2400" b="0" u="none" strike="noStrike">
                <a:solidFill>
                  <a:srgbClr val="d9d9d9"/>
                </a:solidFill>
                <a:effectLst/>
                <a:uFillTx/>
                <a:latin typeface="Bodoni MT Black"/>
              </a:rPr>
              <a:t>调试途径</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3" name="1 Título"/>
          <p:cNvSpPr/>
          <p:nvPr/>
        </p:nvSpPr>
        <p:spPr>
          <a:xfrm>
            <a:off x="684360" y="355680"/>
            <a:ext cx="7703640" cy="863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5760"/>
              </a:lnSpc>
            </a:pPr>
            <a:r>
              <a:rPr lang="zh-CN" sz="4400" b="1" u="none" strike="noStrike">
                <a:solidFill>
                  <a:schemeClr val="dk1"/>
                </a:solidFill>
                <a:effectLst/>
                <a:uFillTx/>
                <a:latin typeface="Bodoni MT Black"/>
              </a:rPr>
              <a:t>主要内容</a:t>
            </a:r>
            <a:endParaRPr lang="en-US" sz="4400" b="0" u="none" strike="noStrike">
              <a:solidFill>
                <a:srgbClr val="000000"/>
              </a:solidFill>
              <a:effectLst/>
              <a:uFillTx/>
              <a:latin typeface="Arial"/>
            </a:endParaRPr>
          </a:p>
        </p:txBody>
      </p:sp>
      <p:sp>
        <p:nvSpPr>
          <p:cNvPr id="764"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sp>
        <p:nvSpPr>
          <p:cNvPr id="765"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7.9 </a:t>
            </a:r>
            <a:r>
              <a:rPr lang="zh-CN" sz="2400" b="0" u="none" strike="noStrike">
                <a:solidFill>
                  <a:srgbClr val="d9d9d9"/>
                </a:solidFill>
                <a:effectLst/>
                <a:uFillTx/>
                <a:latin typeface="Bodoni MT Black"/>
                <a:ea typeface="宋体"/>
              </a:rPr>
              <a:t>软件可靠性</a:t>
            </a:r>
            <a:endParaRPr lang="en-US" sz="2400" b="0" u="none" strike="noStrike">
              <a:solidFill>
                <a:srgbClr val="000000"/>
              </a:solidFill>
              <a:effectLst/>
              <a:uFillTx/>
              <a:latin typeface="Arial"/>
            </a:endParaRPr>
          </a:p>
        </p:txBody>
      </p:sp>
      <p:pic>
        <p:nvPicPr>
          <p:cNvPr id="766"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767"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768" name="TextBox 3">
            <a:hlinkClick r:id="rId3" action="ppaction://hlinksldjump"/>
          </p:cNvPr>
          <p:cNvSpPr/>
          <p:nvPr/>
        </p:nvSpPr>
        <p:spPr>
          <a:xfrm>
            <a:off x="1071720" y="2071800"/>
            <a:ext cx="192852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769" name="TextBox 4"/>
          <p:cNvSpPr/>
          <p:nvPr/>
        </p:nvSpPr>
        <p:spPr>
          <a:xfrm>
            <a:off x="1000080" y="2714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770" name="TextBox 5"/>
          <p:cNvSpPr/>
          <p:nvPr/>
        </p:nvSpPr>
        <p:spPr>
          <a:xfrm>
            <a:off x="1000080" y="328608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771" name="TextBox 6"/>
          <p:cNvSpPr/>
          <p:nvPr/>
        </p:nvSpPr>
        <p:spPr>
          <a:xfrm>
            <a:off x="1000080" y="3857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a typeface="宋体"/>
            </a:endParaRPr>
          </a:p>
        </p:txBody>
      </p:sp>
      <p:sp>
        <p:nvSpPr>
          <p:cNvPr id="772" name="Rectangle 3"/>
          <p:cNvSpPr/>
          <p:nvPr/>
        </p:nvSpPr>
        <p:spPr>
          <a:xfrm>
            <a:off x="539640" y="1292400"/>
            <a:ext cx="8135640" cy="4512960"/>
          </a:xfrm>
          <a:prstGeom prst="rect">
            <a:avLst/>
          </a:prstGeom>
          <a:noFill/>
          <a:ln w="0">
            <a:noFill/>
          </a:ln>
        </p:spPr>
        <p:style>
          <a:lnRef idx="0"/>
          <a:fillRef idx="0"/>
          <a:effectRef idx="0"/>
          <a:fontRef idx="minor"/>
        </p:style>
        <p:txBody>
          <a:bodyPr lIns="90000" rIns="90000" tIns="45000" bIns="45000" anchor="t">
            <a:noAutofit/>
          </a:bodyPr>
          <a:p>
            <a:pPr>
              <a:lnSpc>
                <a:spcPts val="2599"/>
              </a:lnSpc>
              <a:spcBef>
                <a:spcPts val="1199"/>
              </a:spcBef>
              <a:tabLst>
                <a:tab algn="l" pos="0"/>
              </a:tabLst>
            </a:pPr>
            <a:r>
              <a:rPr lang="en-US" sz="2400" b="0" u="none" strike="noStrike">
                <a:solidFill>
                  <a:srgbClr val="3c3c77"/>
                </a:solidFill>
                <a:effectLst/>
                <a:uFillTx/>
                <a:latin typeface="Bodoni MT Black"/>
                <a:ea typeface="黑体"/>
              </a:rPr>
              <a:t>   </a:t>
            </a:r>
            <a:r>
              <a:rPr lang="en-US" sz="2400" b="1" u="none" strike="noStrike">
                <a:solidFill>
                  <a:schemeClr val="dk1"/>
                </a:solidFill>
                <a:effectLst/>
                <a:uFillTx/>
                <a:latin typeface="Bodoni MT Black"/>
                <a:ea typeface="黑体"/>
              </a:rPr>
              <a:t>7.1   </a:t>
            </a:r>
            <a:r>
              <a:rPr lang="zh-CN" sz="2400" b="1" u="none" strike="noStrike">
                <a:solidFill>
                  <a:schemeClr val="dk1"/>
                </a:solidFill>
                <a:effectLst/>
                <a:uFillTx/>
                <a:latin typeface="Bodoni MT Black"/>
                <a:ea typeface="黑体"/>
              </a:rPr>
              <a:t>编码</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7.2   </a:t>
            </a:r>
            <a:r>
              <a:rPr lang="zh-CN" sz="2400" b="1" u="none" strike="noStrike">
                <a:solidFill>
                  <a:schemeClr val="dk1"/>
                </a:solidFill>
                <a:effectLst/>
                <a:uFillTx/>
                <a:latin typeface="Bodoni MT Black"/>
                <a:ea typeface="黑体"/>
              </a:rPr>
              <a:t>软件测试基础</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7.3   </a:t>
            </a:r>
            <a:r>
              <a:rPr lang="zh-CN" sz="2400" b="1" u="none" strike="noStrike">
                <a:solidFill>
                  <a:schemeClr val="dk1"/>
                </a:solidFill>
                <a:effectLst/>
                <a:uFillTx/>
                <a:latin typeface="Bodoni MT Black"/>
                <a:ea typeface="黑体"/>
              </a:rPr>
              <a:t>单元测试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7.4   </a:t>
            </a:r>
            <a:r>
              <a:rPr lang="zh-CN" sz="2400" b="1" u="none" strike="noStrike">
                <a:solidFill>
                  <a:schemeClr val="dk1"/>
                </a:solidFill>
                <a:effectLst/>
                <a:uFillTx/>
                <a:latin typeface="Bodoni MT Black"/>
                <a:ea typeface="黑体"/>
              </a:rPr>
              <a:t>集成测试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7.5   </a:t>
            </a:r>
            <a:r>
              <a:rPr lang="zh-CN" sz="2400" b="1" u="none" strike="noStrike">
                <a:solidFill>
                  <a:schemeClr val="dk1"/>
                </a:solidFill>
                <a:effectLst/>
                <a:uFillTx/>
                <a:latin typeface="Bodoni MT Black"/>
                <a:ea typeface="黑体"/>
              </a:rPr>
              <a:t>确认测试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7.6   </a:t>
            </a:r>
            <a:r>
              <a:rPr lang="zh-CN" sz="2400" b="1" u="none" strike="noStrike">
                <a:solidFill>
                  <a:schemeClr val="dk1"/>
                </a:solidFill>
                <a:effectLst/>
                <a:uFillTx/>
                <a:latin typeface="Bodoni MT Black"/>
                <a:ea typeface="黑体"/>
              </a:rPr>
              <a:t>白盒测试技术</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7.7   </a:t>
            </a:r>
            <a:r>
              <a:rPr lang="zh-CN" sz="2400" b="1" u="none" strike="noStrike">
                <a:solidFill>
                  <a:schemeClr val="dk1"/>
                </a:solidFill>
                <a:effectLst/>
                <a:uFillTx/>
                <a:latin typeface="Bodoni MT Black"/>
                <a:ea typeface="黑体"/>
              </a:rPr>
              <a:t>黑盒测试技术</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7.8   </a:t>
            </a:r>
            <a:r>
              <a:rPr lang="zh-CN" sz="2400" b="1" u="none" strike="noStrike">
                <a:solidFill>
                  <a:schemeClr val="dk1"/>
                </a:solidFill>
                <a:effectLst/>
                <a:uFillTx/>
                <a:latin typeface="Bodoni MT Black"/>
                <a:ea typeface="黑体"/>
              </a:rPr>
              <a:t>调试</a:t>
            </a:r>
            <a:endParaRPr lang="en-US" sz="2400" b="0" u="none" strike="noStrike">
              <a:solidFill>
                <a:srgbClr val="000000"/>
              </a:solidFill>
              <a:effectLst/>
              <a:uFillTx/>
              <a:latin typeface="Arial"/>
            </a:endParaRPr>
          </a:p>
          <a:p>
            <a:pPr>
              <a:lnSpc>
                <a:spcPts val="2599"/>
              </a:lnSpc>
              <a:spcBef>
                <a:spcPts val="1199"/>
              </a:spcBef>
              <a:tabLst>
                <a:tab algn="l" pos="0"/>
              </a:tabLst>
            </a:pPr>
            <a:r>
              <a:rPr lang="en-US" sz="2400" b="1" u="none" strike="noStrike">
                <a:solidFill>
                  <a:schemeClr val="dk1"/>
                </a:solidFill>
                <a:effectLst/>
                <a:uFillTx/>
                <a:latin typeface="Bodoni MT Black"/>
                <a:ea typeface="黑体"/>
              </a:rPr>
              <a:t>   7.9   </a:t>
            </a:r>
            <a:r>
              <a:rPr lang="zh-CN" sz="2400" b="1" u="none" strike="noStrike">
                <a:solidFill>
                  <a:schemeClr val="dk1"/>
                </a:solidFill>
                <a:effectLst/>
                <a:uFillTx/>
                <a:latin typeface="Bodoni MT Black"/>
                <a:ea typeface="黑体"/>
              </a:rPr>
              <a:t>软件可靠性</a:t>
            </a:r>
            <a:endParaRPr lang="en-US" sz="2400" b="0" u="none" strike="noStrike">
              <a:solidFill>
                <a:srgbClr val="000000"/>
              </a:solidFill>
              <a:effectLst/>
              <a:uFillTx/>
              <a:latin typeface="Arial"/>
            </a:endParaRPr>
          </a:p>
        </p:txBody>
      </p:sp>
      <p:sp>
        <p:nvSpPr>
          <p:cNvPr id="773" name="1 Título"/>
          <p:cNvSpPr/>
          <p:nvPr/>
        </p:nvSpPr>
        <p:spPr>
          <a:xfrm>
            <a:off x="0" y="6300720"/>
            <a:ext cx="231588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第</a:t>
            </a:r>
            <a:r>
              <a:rPr lang="en-US" sz="2400" b="0" u="none" strike="noStrike">
                <a:solidFill>
                  <a:srgbClr val="d9d9d9"/>
                </a:solidFill>
                <a:effectLst/>
                <a:uFillTx/>
                <a:latin typeface="Bodoni MT Black"/>
                <a:ea typeface="宋体"/>
              </a:rPr>
              <a:t>7</a:t>
            </a:r>
            <a:r>
              <a:rPr lang="zh-CN" sz="2400" b="0" u="none" strike="noStrike">
                <a:solidFill>
                  <a:srgbClr val="d9d9d9"/>
                </a:solidFill>
                <a:effectLst/>
                <a:uFillTx/>
                <a:latin typeface="Bodoni MT Black"/>
                <a:ea typeface="宋体"/>
              </a:rPr>
              <a:t>章　实现</a:t>
            </a:r>
            <a:endParaRPr lang="en-US" sz="2400" b="0" u="none" strike="noStrike">
              <a:solidFill>
                <a:srgbClr val="000000"/>
              </a:solidFill>
              <a:effectLst/>
              <a:uFillTx/>
              <a:latin typeface="Arial"/>
            </a:endParaRPr>
          </a:p>
        </p:txBody>
      </p:sp>
      <p:sp>
        <p:nvSpPr>
          <p:cNvPr id="774" name="矩形 12"/>
          <p:cNvSpPr/>
          <p:nvPr/>
        </p:nvSpPr>
        <p:spPr>
          <a:xfrm>
            <a:off x="827640" y="530064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775" name="等腰三角形 13"/>
          <p:cNvSpPr/>
          <p:nvPr/>
        </p:nvSpPr>
        <p:spPr>
          <a:xfrm rot="5400000">
            <a:off x="336240" y="5387400"/>
            <a:ext cx="537840" cy="4312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Tree>
  </p:cSld>
  <mc:AlternateContent>
    <mc:Choice Requires="p14">
      <p:transition spd="slow" p14:dur="2000"/>
    </mc:Choice>
    <mc:Fallback>
      <p:transition spd="slow"/>
    </mc:Fallback>
  </mc:AlternateContent>
</p:sld>
</file>

<file path=ppt/slides/slide1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6"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7.9 </a:t>
            </a:r>
            <a:r>
              <a:rPr lang="zh-CN" sz="4400" b="1" u="none" strike="noStrike">
                <a:solidFill>
                  <a:schemeClr val="dk1"/>
                </a:solidFill>
                <a:effectLst/>
                <a:uFillTx/>
                <a:latin typeface="Bodoni MT Black"/>
              </a:rPr>
              <a:t>软件可靠性</a:t>
            </a:r>
            <a:endParaRPr lang="es-ES" sz="4400" b="0" u="none" strike="noStrike">
              <a:solidFill>
                <a:schemeClr val="dk1"/>
              </a:solidFill>
              <a:effectLst/>
              <a:uFillTx/>
              <a:latin typeface="Arial"/>
            </a:endParaRPr>
          </a:p>
        </p:txBody>
      </p:sp>
      <p:sp>
        <p:nvSpPr>
          <p:cNvPr id="777" name="PlaceHolder 2"/>
          <p:cNvSpPr>
            <a:spLocks noGrp="1"/>
          </p:cNvSpPr>
          <p:nvPr>
            <p:ph/>
          </p:nvPr>
        </p:nvSpPr>
        <p:spPr>
          <a:xfrm>
            <a:off x="179640" y="98064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7.9.1 </a:t>
            </a:r>
            <a:r>
              <a:rPr lang="zh-CN" sz="3200" b="1" u="none" strike="noStrike">
                <a:solidFill>
                  <a:schemeClr val="dk1"/>
                </a:solidFill>
                <a:effectLst/>
                <a:uFillTx/>
                <a:latin typeface="Bodoni MT Black"/>
              </a:rPr>
              <a:t>基本概念</a:t>
            </a:r>
            <a:endParaRPr lang="es-ES" sz="3200" b="0" u="none" strike="noStrike">
              <a:solidFill>
                <a:schemeClr val="dk1"/>
              </a:solidFill>
              <a:effectLst/>
              <a:uFillTx/>
              <a:latin typeface="Calibri"/>
            </a:endParaRPr>
          </a:p>
        </p:txBody>
      </p:sp>
      <p:sp>
        <p:nvSpPr>
          <p:cNvPr id="778" name="TextBox 7"/>
          <p:cNvSpPr/>
          <p:nvPr/>
        </p:nvSpPr>
        <p:spPr>
          <a:xfrm>
            <a:off x="179640" y="1484640"/>
            <a:ext cx="8784720" cy="47088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对于任何其故障是可以修复的系统，都应该同时使用可靠性和可用性衡量它的优劣程度。</a:t>
            </a:r>
            <a:endParaRPr lang="en-US" sz="2400" b="0" u="none" strike="noStrike">
              <a:solidFill>
                <a:srgbClr val="000000"/>
              </a:solidFill>
              <a:effectLst/>
              <a:uFillTx/>
              <a:latin typeface="Arial"/>
            </a:endParaRPr>
          </a:p>
          <a:p>
            <a:pPr>
              <a:lnSpc>
                <a:spcPct val="125000"/>
              </a:lnSpc>
              <a:tabLst>
                <a:tab algn="l" pos="0"/>
              </a:tabLst>
            </a:pPr>
            <a:r>
              <a:rPr lang="en-US" sz="2400" b="1" u="none" strike="noStrike">
                <a:solidFill>
                  <a:srgbClr val="c00000"/>
                </a:solidFill>
                <a:effectLst/>
                <a:uFillTx/>
                <a:latin typeface="Bodoni MT Black"/>
                <a:ea typeface="宋体"/>
              </a:rPr>
              <a:t>① 软件可靠性</a:t>
            </a:r>
            <a:r>
              <a:rPr lang="zh-CN" sz="2400" b="0" u="none" strike="noStrike">
                <a:solidFill>
                  <a:schemeClr val="dk1"/>
                </a:solidFill>
                <a:effectLst/>
                <a:uFillTx/>
                <a:latin typeface="Bodoni MT Black"/>
                <a:ea typeface="宋体"/>
              </a:rPr>
              <a:t>是程序在给定的</a:t>
            </a:r>
            <a:r>
              <a:rPr lang="zh-CN" sz="2400" b="0" u="none" strike="noStrike">
                <a:solidFill>
                  <a:srgbClr val="ff0000"/>
                </a:solidFill>
                <a:effectLst/>
                <a:uFillTx/>
                <a:latin typeface="Bodoni MT Black"/>
                <a:ea typeface="宋体"/>
              </a:rPr>
              <a:t>时间间隔内</a:t>
            </a:r>
            <a:r>
              <a:rPr lang="zh-CN" sz="2400" b="0" u="none" strike="noStrike">
                <a:solidFill>
                  <a:schemeClr val="dk1"/>
                </a:solidFill>
                <a:effectLst/>
                <a:uFillTx/>
                <a:latin typeface="Bodoni MT Black"/>
                <a:ea typeface="宋体"/>
              </a:rPr>
              <a:t>，按照规格说明书的规定成功地运行的概率。软件可靠性随着给定的时间间隔的加大而减少。</a:t>
            </a:r>
            <a:endParaRPr lang="en-US" sz="2400" b="0" u="none" strike="noStrike">
              <a:solidFill>
                <a:srgbClr val="000000"/>
              </a:solidFill>
              <a:effectLst/>
              <a:uFillTx/>
              <a:latin typeface="Arial"/>
            </a:endParaRPr>
          </a:p>
          <a:p>
            <a:pPr>
              <a:lnSpc>
                <a:spcPct val="125000"/>
              </a:lnSpc>
              <a:tabLst>
                <a:tab algn="l" pos="0"/>
              </a:tabLst>
            </a:pPr>
            <a:r>
              <a:rPr lang="en-US" sz="2400" b="1" u="none" strike="noStrike">
                <a:solidFill>
                  <a:srgbClr val="c00000"/>
                </a:solidFill>
                <a:effectLst/>
                <a:uFillTx/>
                <a:latin typeface="Bodoni MT Black"/>
                <a:ea typeface="宋体"/>
              </a:rPr>
              <a:t>② 软件可用性</a:t>
            </a:r>
            <a:r>
              <a:rPr lang="zh-CN" sz="2400" b="0" u="none" strike="noStrike">
                <a:solidFill>
                  <a:schemeClr val="dk1"/>
                </a:solidFill>
                <a:effectLst/>
                <a:uFillTx/>
                <a:latin typeface="Bodoni MT Black"/>
                <a:ea typeface="宋体"/>
              </a:rPr>
              <a:t>是程序在给定的</a:t>
            </a:r>
            <a:r>
              <a:rPr lang="zh-CN" sz="2400" b="0" u="none" strike="noStrike">
                <a:solidFill>
                  <a:srgbClr val="ff0000"/>
                </a:solidFill>
                <a:effectLst/>
                <a:uFillTx/>
                <a:latin typeface="Bodoni MT Black"/>
                <a:ea typeface="宋体"/>
              </a:rPr>
              <a:t>时间点</a:t>
            </a:r>
            <a:r>
              <a:rPr lang="zh-CN" sz="2400" b="0" u="none" strike="noStrike">
                <a:solidFill>
                  <a:schemeClr val="dk1"/>
                </a:solidFill>
                <a:effectLst/>
                <a:uFillTx/>
                <a:latin typeface="Bodoni MT Black"/>
                <a:ea typeface="宋体"/>
              </a:rPr>
              <a:t>，按照规格说明书的规定，成功地运行的概率。</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     </a:t>
            </a:r>
            <a:r>
              <a:rPr lang="zh-CN" sz="2400" b="0" u="none" strike="noStrike">
                <a:solidFill>
                  <a:srgbClr val="0070c0"/>
                </a:solidFill>
                <a:effectLst/>
                <a:uFillTx/>
                <a:latin typeface="Bodoni MT Black"/>
                <a:ea typeface="宋体"/>
              </a:rPr>
              <a:t>可靠性和可用性之间的</a:t>
            </a:r>
            <a:r>
              <a:rPr lang="zh-CN" sz="2400" b="1" u="none" strike="noStrike">
                <a:solidFill>
                  <a:srgbClr val="0070c0"/>
                </a:solidFill>
                <a:effectLst/>
                <a:uFillTx/>
                <a:latin typeface="Bodoni MT Black"/>
                <a:ea typeface="宋体"/>
              </a:rPr>
              <a:t>主要差别</a:t>
            </a:r>
            <a:r>
              <a:rPr lang="zh-CN" sz="2400" b="0" u="none" strike="noStrike">
                <a:solidFill>
                  <a:schemeClr val="dk1"/>
                </a:solidFill>
                <a:effectLst/>
                <a:uFillTx/>
                <a:latin typeface="Bodoni MT Black"/>
                <a:ea typeface="宋体"/>
              </a:rPr>
              <a:t>是可靠性意味着在</a:t>
            </a:r>
            <a:r>
              <a:rPr lang="en-US" sz="2400" b="0" u="none" strike="noStrike">
                <a:solidFill>
                  <a:schemeClr val="dk1"/>
                </a:solidFill>
                <a:effectLst/>
                <a:uFillTx/>
                <a:latin typeface="Bodoni MT Black"/>
                <a:ea typeface="宋体"/>
              </a:rPr>
              <a:t>0</a:t>
            </a:r>
            <a:r>
              <a:rPr lang="zh-CN" sz="2400" b="0" u="none" strike="noStrike">
                <a:solidFill>
                  <a:schemeClr val="dk1"/>
                </a:solidFill>
                <a:effectLst/>
                <a:uFillTx/>
                <a:latin typeface="Bodoni MT Black"/>
                <a:ea typeface="宋体"/>
              </a:rPr>
              <a:t>到</a:t>
            </a:r>
            <a:r>
              <a:rPr lang="en-US" sz="2400" b="0" u="none" strike="noStrike">
                <a:solidFill>
                  <a:schemeClr val="dk1"/>
                </a:solidFill>
                <a:effectLst/>
                <a:uFillTx/>
                <a:latin typeface="Bodoni MT Black"/>
                <a:ea typeface="宋体"/>
              </a:rPr>
              <a:t>t</a:t>
            </a:r>
            <a:r>
              <a:rPr lang="zh-CN" sz="2400" b="0" u="none" strike="noStrike">
                <a:solidFill>
                  <a:schemeClr val="dk1"/>
                </a:solidFill>
                <a:effectLst/>
                <a:uFillTx/>
                <a:latin typeface="Bodoni MT Black"/>
                <a:ea typeface="宋体"/>
              </a:rPr>
              <a:t>这段时间间隔内系统没有失效，而可用性只意味着在时刻</a:t>
            </a:r>
            <a:r>
              <a:rPr lang="en-US" sz="2400" b="0" u="none" strike="noStrike">
                <a:solidFill>
                  <a:schemeClr val="dk1"/>
                </a:solidFill>
                <a:effectLst/>
                <a:uFillTx/>
                <a:latin typeface="Bodoni MT Black"/>
                <a:ea typeface="宋体"/>
              </a:rPr>
              <a:t>t</a:t>
            </a:r>
            <a:r>
              <a:rPr lang="zh-CN" sz="2400" b="0" u="none" strike="noStrike">
                <a:solidFill>
                  <a:schemeClr val="dk1"/>
                </a:solidFill>
                <a:effectLst/>
                <a:uFillTx/>
                <a:latin typeface="Bodoni MT Black"/>
                <a:ea typeface="宋体"/>
              </a:rPr>
              <a:t>，系统是正常运行的。</a:t>
            </a:r>
            <a:endParaRPr lang="en-US" sz="2400" b="0" u="none" strike="noStrike">
              <a:solidFill>
                <a:srgbClr val="000000"/>
              </a:solidFill>
              <a:effectLst/>
              <a:uFillTx/>
              <a:latin typeface="Arial"/>
            </a:endParaRPr>
          </a:p>
        </p:txBody>
      </p:sp>
      <p:sp>
        <p:nvSpPr>
          <p:cNvPr id="779"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780"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7.9.1 </a:t>
            </a:r>
            <a:r>
              <a:rPr lang="zh-CN" sz="2400" b="0" u="none" strike="noStrike">
                <a:solidFill>
                  <a:srgbClr val="d9d9d9"/>
                </a:solidFill>
                <a:effectLst/>
                <a:uFillTx/>
                <a:latin typeface="Bodoni MT Black"/>
              </a:rPr>
              <a:t>基本概念</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1"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7.9 </a:t>
            </a:r>
            <a:r>
              <a:rPr lang="zh-CN" sz="4400" b="1" u="none" strike="noStrike">
                <a:solidFill>
                  <a:schemeClr val="dk1"/>
                </a:solidFill>
                <a:effectLst/>
                <a:uFillTx/>
                <a:latin typeface="Bodoni MT Black"/>
              </a:rPr>
              <a:t>软件可靠性</a:t>
            </a:r>
            <a:endParaRPr lang="es-ES" sz="4400" b="0" u="none" strike="noStrike">
              <a:solidFill>
                <a:schemeClr val="dk1"/>
              </a:solidFill>
              <a:effectLst/>
              <a:uFillTx/>
              <a:latin typeface="Arial"/>
            </a:endParaRPr>
          </a:p>
        </p:txBody>
      </p:sp>
      <p:sp>
        <p:nvSpPr>
          <p:cNvPr id="782" name="TextBox 7"/>
          <p:cNvSpPr/>
          <p:nvPr/>
        </p:nvSpPr>
        <p:spPr>
          <a:xfrm>
            <a:off x="323640" y="1097280"/>
            <a:ext cx="8496360" cy="180072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r>
              <a:rPr lang="en-US" sz="1800" b="0" u="none" strike="noStrike">
                <a:solidFill>
                  <a:srgbClr val="ffffff">
                    <a:alpha val="1000"/>
                  </a:srgbClr>
                </a:solidFill>
                <a:effectLst/>
                <a:uFillTx/>
                <a:latin typeface="Arial"/>
                <a:ea typeface="宋体"/>
              </a:rPr>
              <a:t> </a:t>
            </a:r>
            <a:endParaRPr lang="en-US" sz="1800" b="0" u="none" strike="noStrike">
              <a:solidFill>
                <a:srgbClr val="000000"/>
              </a:solidFill>
              <a:effectLst/>
              <a:uFillTx/>
              <a:latin typeface="Arial"/>
            </a:endParaRPr>
          </a:p>
        </p:txBody>
      </p:sp>
      <p:sp>
        <p:nvSpPr>
          <p:cNvPr id="783" name="文本框 2"/>
          <p:cNvSpPr/>
          <p:nvPr/>
        </p:nvSpPr>
        <p:spPr>
          <a:xfrm>
            <a:off x="323640" y="2997360"/>
            <a:ext cx="8496360" cy="1176480"/>
          </a:xfrm>
          <a:prstGeom prst="rect">
            <a:avLst/>
          </a:prstGeom>
          <a:blipFill rotWithShape="0">
            <a:blip r:embed="rId2"/>
            <a:srcRect/>
            <a:stretch/>
          </a:blipFill>
          <a:ln w="9525">
            <a:noFill/>
          </a:ln>
        </p:spPr>
        <p:style>
          <a:lnRef idx="0"/>
          <a:fillRef idx="0"/>
          <a:effectRef idx="0"/>
          <a:fontRef idx="minor"/>
        </p:style>
        <p:txBody>
          <a:bodyPr lIns="90000" rIns="90000" tIns="45000" bIns="45000" anchor="t">
            <a:noAutofit/>
          </a:bodyPr>
          <a:p>
            <a:pPr>
              <a:lnSpc>
                <a:spcPct val="100000"/>
              </a:lnSpc>
            </a:pPr>
            <a:r>
              <a:rPr lang="en-US" sz="1800" b="0" u="none" strike="noStrike">
                <a:solidFill>
                  <a:srgbClr val="ffffff">
                    <a:alpha val="1000"/>
                  </a:srgbClr>
                </a:solidFill>
                <a:effectLst/>
                <a:uFillTx/>
                <a:latin typeface="Arial"/>
                <a:ea typeface="宋体"/>
              </a:rPr>
              <a:t> </a:t>
            </a:r>
            <a:endParaRPr lang="en-US" sz="1800" b="0" u="none" strike="noStrike">
              <a:solidFill>
                <a:srgbClr val="000000"/>
              </a:solidFill>
              <a:effectLst/>
              <a:uFillTx/>
              <a:latin typeface="Arial"/>
            </a:endParaRPr>
          </a:p>
        </p:txBody>
      </p:sp>
      <p:sp>
        <p:nvSpPr>
          <p:cNvPr id="784" name="文本框 3"/>
          <p:cNvSpPr/>
          <p:nvPr/>
        </p:nvSpPr>
        <p:spPr>
          <a:xfrm>
            <a:off x="323640" y="4181040"/>
            <a:ext cx="8496360" cy="178488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200" b="0" u="none" strike="noStrike">
                <a:solidFill>
                  <a:srgbClr val="ff0000"/>
                </a:solidFill>
                <a:effectLst/>
                <a:uFillTx/>
                <a:latin typeface="Bodoni MT Black"/>
                <a:ea typeface="宋体"/>
              </a:rPr>
              <a:t>MTTR</a:t>
            </a:r>
            <a:r>
              <a:rPr lang="en-US" sz="2200" b="0" u="none" strike="noStrike">
                <a:solidFill>
                  <a:schemeClr val="dk1"/>
                </a:solidFill>
                <a:effectLst/>
                <a:uFillTx/>
                <a:latin typeface="Bodoni MT Black"/>
                <a:ea typeface="宋体"/>
              </a:rPr>
              <a:t> - </a:t>
            </a:r>
            <a:r>
              <a:rPr lang="zh-CN" sz="2200" b="0" u="none" strike="noStrike">
                <a:solidFill>
                  <a:schemeClr val="dk1"/>
                </a:solidFill>
                <a:effectLst/>
                <a:uFillTx/>
                <a:latin typeface="Bodoni MT Black"/>
                <a:ea typeface="宋体"/>
              </a:rPr>
              <a:t>修复一个故障平均需要的时间，它取决于</a:t>
            </a:r>
            <a:r>
              <a:rPr lang="zh-CN" sz="2200" b="0" u="none" strike="noStrike">
                <a:solidFill>
                  <a:srgbClr val="ff0000"/>
                </a:solidFill>
                <a:effectLst/>
                <a:uFillTx/>
                <a:latin typeface="Bodoni MT Black"/>
                <a:ea typeface="宋体"/>
              </a:rPr>
              <a:t>维护人员的技术水平</a:t>
            </a:r>
            <a:r>
              <a:rPr lang="zh-CN" sz="2200" b="0" u="none" strike="noStrike">
                <a:solidFill>
                  <a:schemeClr val="dk1"/>
                </a:solidFill>
                <a:effectLst/>
                <a:uFillTx/>
                <a:latin typeface="Bodoni MT Black"/>
                <a:ea typeface="宋体"/>
              </a:rPr>
              <a:t>和</a:t>
            </a:r>
            <a:r>
              <a:rPr lang="zh-CN" sz="2200" b="0" u="none" strike="noStrike">
                <a:solidFill>
                  <a:srgbClr val="ff0000"/>
                </a:solidFill>
                <a:effectLst/>
                <a:uFillTx/>
                <a:latin typeface="Bodoni MT Black"/>
                <a:ea typeface="宋体"/>
              </a:rPr>
              <a:t>对系统的熟悉程度</a:t>
            </a:r>
            <a:r>
              <a:rPr lang="zh-CN" sz="2200" b="0" u="none" strike="noStrike">
                <a:solidFill>
                  <a:schemeClr val="dk1"/>
                </a:solidFill>
                <a:effectLst/>
                <a:uFillTx/>
                <a:latin typeface="Bodoni MT Black"/>
                <a:ea typeface="宋体"/>
              </a:rPr>
              <a:t>，也和系统的可维护性有重要关系。</a:t>
            </a:r>
            <a:endParaRPr lang="en-US" sz="2200" b="0" u="none" strike="noStrike">
              <a:solidFill>
                <a:srgbClr val="000000"/>
              </a:solidFill>
              <a:effectLst/>
              <a:uFillTx/>
              <a:latin typeface="Arial"/>
            </a:endParaRPr>
          </a:p>
          <a:p>
            <a:pPr>
              <a:lnSpc>
                <a:spcPct val="125000"/>
              </a:lnSpc>
            </a:pPr>
            <a:r>
              <a:rPr lang="en-US" sz="2200" b="0" u="none" strike="noStrike">
                <a:solidFill>
                  <a:srgbClr val="ff0000"/>
                </a:solidFill>
                <a:effectLst/>
                <a:uFillTx/>
                <a:latin typeface="Bodoni MT Black"/>
                <a:ea typeface="宋体"/>
              </a:rPr>
              <a:t>MTTF </a:t>
            </a:r>
            <a:r>
              <a:rPr lang="en-US" sz="2200" b="0" u="none" strike="noStrike">
                <a:solidFill>
                  <a:schemeClr val="dk1"/>
                </a:solidFill>
                <a:effectLst/>
                <a:uFillTx/>
                <a:latin typeface="Bodoni MT Black"/>
                <a:ea typeface="宋体"/>
              </a:rPr>
              <a:t>-</a:t>
            </a:r>
            <a:r>
              <a:rPr lang="en-US" sz="2200" b="0" u="none" strike="noStrike">
                <a:solidFill>
                  <a:srgbClr val="ff0000"/>
                </a:solidFill>
                <a:effectLst/>
                <a:uFillTx/>
                <a:latin typeface="Bodoni MT Black"/>
                <a:ea typeface="宋体"/>
              </a:rPr>
              <a:t> </a:t>
            </a:r>
            <a:r>
              <a:rPr lang="zh-CN" sz="2200" b="0" u="none" strike="noStrike">
                <a:solidFill>
                  <a:schemeClr val="dk1"/>
                </a:solidFill>
                <a:effectLst/>
                <a:uFillTx/>
                <a:latin typeface="Bodoni MT Black"/>
                <a:ea typeface="宋体"/>
              </a:rPr>
              <a:t>系统按规格说明书规定成功地运行的平均时间，它主要取决于系统中</a:t>
            </a:r>
            <a:r>
              <a:rPr lang="zh-CN" sz="2200" b="0" u="none" strike="noStrike">
                <a:solidFill>
                  <a:srgbClr val="ff0000"/>
                </a:solidFill>
                <a:effectLst/>
                <a:uFillTx/>
                <a:latin typeface="Bodoni MT Black"/>
                <a:ea typeface="宋体"/>
              </a:rPr>
              <a:t>潜伏的错误的数目</a:t>
            </a:r>
            <a:r>
              <a:rPr lang="zh-CN" sz="2200" b="0" u="none" strike="noStrike">
                <a:solidFill>
                  <a:schemeClr val="dk1"/>
                </a:solidFill>
                <a:effectLst/>
                <a:uFillTx/>
                <a:latin typeface="Bodoni MT Black"/>
                <a:ea typeface="宋体"/>
              </a:rPr>
              <a:t>。</a:t>
            </a:r>
            <a:endParaRPr lang="en-US" sz="2200" b="0" u="none" strike="noStrike">
              <a:solidFill>
                <a:srgbClr val="000000"/>
              </a:solidFill>
              <a:effectLst/>
              <a:uFillTx/>
              <a:latin typeface="Arial"/>
            </a:endParaRPr>
          </a:p>
        </p:txBody>
      </p:sp>
      <p:sp>
        <p:nvSpPr>
          <p:cNvPr id="785"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786"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7.9.1 </a:t>
            </a:r>
            <a:r>
              <a:rPr lang="zh-CN" sz="2400" b="0" u="none" strike="noStrike">
                <a:solidFill>
                  <a:srgbClr val="d9d9d9"/>
                </a:solidFill>
                <a:effectLst/>
                <a:uFillTx/>
                <a:latin typeface="Bodoni MT Black"/>
              </a:rPr>
              <a:t>基本概念</a:t>
            </a:r>
            <a:endParaRPr lang="en-US" sz="2400" b="0" u="none" strike="noStrike">
              <a:solidFill>
                <a:srgbClr val="000000"/>
              </a:solidFill>
              <a:effectLst/>
              <a:uFillTx/>
              <a:latin typeface="Arial"/>
            </a:endParaRPr>
          </a:p>
        </p:txBody>
      </p:sp>
      <p:sp>
        <p:nvSpPr>
          <p:cNvPr id="787" name="矩形 2"/>
          <p:cNvSpPr/>
          <p:nvPr/>
        </p:nvSpPr>
        <p:spPr>
          <a:xfrm>
            <a:off x="5758200" y="2240280"/>
            <a:ext cx="2848680" cy="3690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1800" b="0" u="none" strike="noStrike">
                <a:solidFill>
                  <a:schemeClr val="dk1"/>
                </a:solidFill>
                <a:effectLst/>
                <a:uFillTx/>
                <a:latin typeface="Bodoni MT Black"/>
                <a:ea typeface="宋体"/>
              </a:rPr>
              <a:t>其中，</a:t>
            </a:r>
            <a:r>
              <a:rPr lang="en-US" sz="1800" b="0" i="1" u="none" strike="noStrike">
                <a:solidFill>
                  <a:schemeClr val="dk1"/>
                </a:solidFill>
                <a:effectLst/>
                <a:uFillTx/>
                <a:latin typeface="Bodoni MT Black"/>
                <a:ea typeface="宋体"/>
              </a:rPr>
              <a:t>T</a:t>
            </a:r>
            <a:r>
              <a:rPr lang="en-US" sz="1800" b="0" i="1" u="none" strike="noStrike" baseline="-25000">
                <a:solidFill>
                  <a:schemeClr val="dk1"/>
                </a:solidFill>
                <a:effectLst/>
                <a:uFillTx/>
                <a:latin typeface="Bodoni MT Black"/>
                <a:ea typeface="宋体"/>
              </a:rPr>
              <a:t>up</a:t>
            </a:r>
            <a:r>
              <a:rPr lang="en-US" sz="1800" b="0" i="1" u="none" strike="noStrike">
                <a:solidFill>
                  <a:schemeClr val="dk1"/>
                </a:solidFill>
                <a:effectLst/>
                <a:uFillTx/>
                <a:latin typeface="Bodoni MT Black"/>
                <a:ea typeface="宋体"/>
              </a:rPr>
              <a:t>=∑t</a:t>
            </a:r>
            <a:r>
              <a:rPr lang="en-US" sz="1800" b="0" i="1" u="none" strike="noStrike" baseline="-25000">
                <a:solidFill>
                  <a:schemeClr val="dk1"/>
                </a:solidFill>
                <a:effectLst/>
                <a:uFillTx/>
                <a:latin typeface="Bodoni MT Black"/>
                <a:ea typeface="宋体"/>
              </a:rPr>
              <a:t>ui</a:t>
            </a:r>
            <a:r>
              <a:rPr lang="zh-CN" sz="1800" b="0" i="1" u="none" strike="noStrike">
                <a:solidFill>
                  <a:schemeClr val="dk1"/>
                </a:solidFill>
                <a:effectLst/>
                <a:uFillTx/>
                <a:latin typeface="Bodoni MT Black"/>
                <a:ea typeface="宋体"/>
              </a:rPr>
              <a:t>，</a:t>
            </a:r>
            <a:r>
              <a:rPr lang="en-US" sz="1800" b="0" i="1" u="none" strike="noStrike">
                <a:solidFill>
                  <a:schemeClr val="dk1"/>
                </a:solidFill>
                <a:effectLst/>
                <a:uFillTx/>
                <a:latin typeface="Bodoni MT Black"/>
                <a:ea typeface="宋体"/>
              </a:rPr>
              <a:t>T</a:t>
            </a:r>
            <a:r>
              <a:rPr lang="en-US" sz="1800" b="0" i="1" u="none" strike="noStrike" baseline="-25000">
                <a:solidFill>
                  <a:schemeClr val="dk1"/>
                </a:solidFill>
                <a:effectLst/>
                <a:uFillTx/>
                <a:latin typeface="Bodoni MT Black"/>
                <a:ea typeface="宋体"/>
              </a:rPr>
              <a:t>down</a:t>
            </a:r>
            <a:r>
              <a:rPr lang="en-US" sz="1800" b="0" i="1" u="none" strike="noStrike">
                <a:solidFill>
                  <a:schemeClr val="dk1"/>
                </a:solidFill>
                <a:effectLst/>
                <a:uFillTx/>
                <a:latin typeface="Bodoni MT Black"/>
                <a:ea typeface="宋体"/>
              </a:rPr>
              <a:t>=∑t</a:t>
            </a:r>
            <a:r>
              <a:rPr lang="en-US" sz="1800" b="0" i="1" u="none" strike="noStrike" baseline="-25000">
                <a:solidFill>
                  <a:schemeClr val="dk1"/>
                </a:solidFill>
                <a:effectLst/>
                <a:uFillTx/>
                <a:latin typeface="Bodoni MT Black"/>
                <a:ea typeface="宋体"/>
              </a:rPr>
              <a:t>di</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8"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7.9 </a:t>
            </a:r>
            <a:r>
              <a:rPr lang="zh-CN" sz="4400" b="1" u="none" strike="noStrike">
                <a:solidFill>
                  <a:schemeClr val="dk1"/>
                </a:solidFill>
                <a:effectLst/>
                <a:uFillTx/>
                <a:latin typeface="Bodoni MT Black"/>
              </a:rPr>
              <a:t>软件可靠性</a:t>
            </a:r>
            <a:endParaRPr lang="es-ES" sz="4400" b="0" u="none" strike="noStrike">
              <a:solidFill>
                <a:schemeClr val="dk1"/>
              </a:solidFill>
              <a:effectLst/>
              <a:uFillTx/>
              <a:latin typeface="Arial"/>
            </a:endParaRPr>
          </a:p>
        </p:txBody>
      </p:sp>
      <p:sp>
        <p:nvSpPr>
          <p:cNvPr id="789" name="PlaceHolder 2"/>
          <p:cNvSpPr>
            <a:spLocks noGrp="1"/>
          </p:cNvSpPr>
          <p:nvPr>
            <p:ph/>
          </p:nvPr>
        </p:nvSpPr>
        <p:spPr>
          <a:xfrm>
            <a:off x="457200" y="104040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7.9.2 </a:t>
            </a:r>
            <a:r>
              <a:rPr lang="zh-CN" sz="3200" b="1" u="none" strike="noStrike">
                <a:solidFill>
                  <a:schemeClr val="dk1"/>
                </a:solidFill>
                <a:effectLst/>
                <a:uFillTx/>
                <a:latin typeface="Bodoni MT Black"/>
              </a:rPr>
              <a:t>估算平均无故障时间的方法</a:t>
            </a:r>
            <a:endParaRPr lang="es-ES" sz="3200" b="0" u="none" strike="noStrike">
              <a:solidFill>
                <a:schemeClr val="dk1"/>
              </a:solidFill>
              <a:effectLst/>
              <a:uFillTx/>
              <a:latin typeface="Calibri"/>
            </a:endParaRPr>
          </a:p>
        </p:txBody>
      </p:sp>
      <p:sp>
        <p:nvSpPr>
          <p:cNvPr id="790" name="TextBox 7"/>
          <p:cNvSpPr/>
          <p:nvPr/>
        </p:nvSpPr>
        <p:spPr>
          <a:xfrm>
            <a:off x="519120" y="1671480"/>
            <a:ext cx="8516520" cy="32724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1" u="none" strike="noStrike">
                <a:solidFill>
                  <a:schemeClr val="dk1"/>
                </a:solidFill>
                <a:effectLst/>
                <a:uFillTx/>
                <a:latin typeface="Bodoni MT Black"/>
              </a:rPr>
              <a:t>1. </a:t>
            </a:r>
            <a:r>
              <a:rPr lang="zh-CN" sz="2400" b="1" u="none" strike="noStrike">
                <a:solidFill>
                  <a:schemeClr val="dk1"/>
                </a:solidFill>
                <a:effectLst/>
                <a:uFillTx/>
                <a:latin typeface="Bodoni MT Black"/>
              </a:rPr>
              <a:t>符号</a:t>
            </a:r>
            <a:endParaRPr lang="en-US" sz="2400" b="0" u="none" strike="noStrike">
              <a:solidFill>
                <a:srgbClr val="000000"/>
              </a:solidFill>
              <a:effectLst/>
              <a:uFillTx/>
              <a:latin typeface="Arial"/>
            </a:endParaRPr>
          </a:p>
          <a:p>
            <a:pPr marL="743040" indent="-285840">
              <a:lnSpc>
                <a:spcPct val="125000"/>
              </a:lnSpc>
              <a:tabLst>
                <a:tab algn="l" pos="0"/>
              </a:tabLst>
            </a:pPr>
            <a:r>
              <a:rPr lang="zh-CN" sz="2400" b="0" u="none" strike="noStrike">
                <a:solidFill>
                  <a:schemeClr val="dk1"/>
                </a:solidFill>
                <a:effectLst/>
                <a:uFillTx/>
                <a:latin typeface="Bodoni MT Black"/>
                <a:ea typeface="宋体"/>
              </a:rPr>
              <a:t>在估算</a:t>
            </a:r>
            <a:r>
              <a:rPr lang="en-US" sz="2400" b="0" u="none" strike="noStrike">
                <a:solidFill>
                  <a:schemeClr val="dk1"/>
                </a:solidFill>
                <a:effectLst/>
                <a:uFillTx/>
                <a:latin typeface="Bodoni MT Black"/>
                <a:ea typeface="宋体"/>
              </a:rPr>
              <a:t>MTTF</a:t>
            </a:r>
            <a:r>
              <a:rPr lang="zh-CN" sz="2400" b="0" u="none" strike="noStrike">
                <a:solidFill>
                  <a:schemeClr val="dk1"/>
                </a:solidFill>
                <a:effectLst/>
                <a:uFillTx/>
                <a:latin typeface="Bodoni MT Black"/>
                <a:ea typeface="宋体"/>
              </a:rPr>
              <a:t>的过程中使用下述符号表示有关的数量。</a:t>
            </a:r>
            <a:endParaRPr lang="en-US" sz="2400" b="0" u="none" strike="noStrike">
              <a:solidFill>
                <a:srgbClr val="000000"/>
              </a:solidFill>
              <a:effectLst/>
              <a:uFillTx/>
              <a:latin typeface="Arial"/>
            </a:endParaRPr>
          </a:p>
          <a:p>
            <a:pPr marL="743040" indent="-285840">
              <a:lnSpc>
                <a:spcPct val="125000"/>
              </a:lnSpc>
              <a:tabLst>
                <a:tab algn="l" pos="0"/>
              </a:tabLst>
            </a:pPr>
            <a:r>
              <a:rPr lang="en-US" sz="2400" b="0" i="1" u="none" strike="noStrike">
                <a:solidFill>
                  <a:srgbClr val="ff0000"/>
                </a:solidFill>
                <a:effectLst/>
                <a:uFillTx/>
                <a:latin typeface="Bodoni MT Black"/>
                <a:ea typeface="宋体"/>
              </a:rPr>
              <a:t>E</a:t>
            </a:r>
            <a:r>
              <a:rPr lang="en-US" sz="2400" b="0" i="1" u="none" strike="noStrike" baseline="-25000">
                <a:solidFill>
                  <a:srgbClr val="ff0000"/>
                </a:solidFill>
                <a:effectLst/>
                <a:uFillTx/>
                <a:latin typeface="Bodoni MT Black"/>
                <a:ea typeface="宋体"/>
              </a:rPr>
              <a:t>T  </a:t>
            </a: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测试之前程序中错误总数；</a:t>
            </a:r>
            <a:endParaRPr lang="en-US" sz="2400" b="0" u="none" strike="noStrike">
              <a:solidFill>
                <a:srgbClr val="000000"/>
              </a:solidFill>
              <a:effectLst/>
              <a:uFillTx/>
              <a:latin typeface="Arial"/>
            </a:endParaRPr>
          </a:p>
          <a:p>
            <a:pPr marL="743040" indent="-285840">
              <a:lnSpc>
                <a:spcPct val="125000"/>
              </a:lnSpc>
              <a:tabLst>
                <a:tab algn="l" pos="0"/>
              </a:tabLst>
            </a:pPr>
            <a:r>
              <a:rPr lang="en-US" sz="2400" b="0" i="1" u="none" strike="noStrike">
                <a:solidFill>
                  <a:srgbClr val="ff0000"/>
                </a:solidFill>
                <a:effectLst/>
                <a:uFillTx/>
                <a:latin typeface="Bodoni MT Black"/>
                <a:ea typeface="宋体"/>
              </a:rPr>
              <a:t>I</a:t>
            </a:r>
            <a:r>
              <a:rPr lang="en-US" sz="2400" b="0" i="1" u="none" strike="noStrike" baseline="-25000">
                <a:solidFill>
                  <a:srgbClr val="ff0000"/>
                </a:solidFill>
                <a:effectLst/>
                <a:uFillTx/>
                <a:latin typeface="Bodoni MT Black"/>
                <a:ea typeface="宋体"/>
              </a:rPr>
              <a:t>T</a:t>
            </a:r>
            <a:r>
              <a:rPr lang="en-US" sz="2400" b="0" u="none" strike="noStrike">
                <a:solidFill>
                  <a:schemeClr val="dk1"/>
                </a:solidFill>
                <a:effectLst/>
                <a:uFillTx/>
                <a:latin typeface="Bodoni MT Black"/>
                <a:ea typeface="宋体"/>
              </a:rPr>
              <a:t> - </a:t>
            </a:r>
            <a:r>
              <a:rPr lang="zh-CN" sz="2400" b="0" u="none" strike="noStrike">
                <a:solidFill>
                  <a:schemeClr val="dk1"/>
                </a:solidFill>
                <a:effectLst/>
                <a:uFillTx/>
                <a:latin typeface="Bodoni MT Black"/>
                <a:ea typeface="宋体"/>
              </a:rPr>
              <a:t>程序长度（机器指令总数）；</a:t>
            </a:r>
            <a:endParaRPr lang="en-US" sz="2400" b="0" u="none" strike="noStrike">
              <a:solidFill>
                <a:srgbClr val="000000"/>
              </a:solidFill>
              <a:effectLst/>
              <a:uFillTx/>
              <a:latin typeface="Arial"/>
            </a:endParaRPr>
          </a:p>
          <a:p>
            <a:pPr marL="743040" indent="-285840">
              <a:lnSpc>
                <a:spcPct val="125000"/>
              </a:lnSpc>
              <a:tabLst>
                <a:tab algn="l" pos="0"/>
              </a:tabLst>
            </a:pPr>
            <a:r>
              <a:rPr lang="en-US" sz="2400" b="0" i="1" u="none" strike="noStrike">
                <a:solidFill>
                  <a:srgbClr val="ff0000"/>
                </a:solidFill>
                <a:effectLst/>
                <a:uFillTx/>
                <a:latin typeface="Bodoni MT Black"/>
                <a:ea typeface="宋体"/>
              </a:rPr>
              <a:t>τ</a:t>
            </a:r>
            <a:r>
              <a:rPr lang="en-US" sz="2400" b="0" u="none" strike="noStrike">
                <a:solidFill>
                  <a:schemeClr val="dk1"/>
                </a:solidFill>
                <a:effectLst/>
                <a:uFillTx/>
                <a:latin typeface="Bodoni MT Black"/>
                <a:ea typeface="宋体"/>
              </a:rPr>
              <a:t> - </a:t>
            </a:r>
            <a:r>
              <a:rPr lang="zh-CN" sz="2400" b="0" u="none" strike="noStrike">
                <a:solidFill>
                  <a:schemeClr val="dk1"/>
                </a:solidFill>
                <a:effectLst/>
                <a:uFillTx/>
                <a:latin typeface="Bodoni MT Black"/>
                <a:ea typeface="宋体"/>
              </a:rPr>
              <a:t>测试（包括调试）时间；</a:t>
            </a:r>
            <a:endParaRPr lang="en-US" sz="2400" b="0" u="none" strike="noStrike">
              <a:solidFill>
                <a:srgbClr val="000000"/>
              </a:solidFill>
              <a:effectLst/>
              <a:uFillTx/>
              <a:latin typeface="Arial"/>
            </a:endParaRPr>
          </a:p>
          <a:p>
            <a:pPr marL="743040" indent="-285840">
              <a:lnSpc>
                <a:spcPct val="125000"/>
              </a:lnSpc>
              <a:tabLst>
                <a:tab algn="l" pos="0"/>
              </a:tabLst>
            </a:pPr>
            <a:r>
              <a:rPr lang="en-US" sz="2400" b="0" i="1" u="none" strike="noStrike">
                <a:solidFill>
                  <a:srgbClr val="ff0000"/>
                </a:solidFill>
                <a:effectLst/>
                <a:uFillTx/>
                <a:latin typeface="Bodoni MT Black"/>
                <a:ea typeface="宋体"/>
              </a:rPr>
              <a:t>E</a:t>
            </a:r>
            <a:r>
              <a:rPr lang="en-US" sz="2400" b="0" i="1" u="none" strike="noStrike" baseline="-25000">
                <a:solidFill>
                  <a:srgbClr val="ff0000"/>
                </a:solidFill>
                <a:effectLst/>
                <a:uFillTx/>
                <a:latin typeface="Bodoni MT Black"/>
                <a:ea typeface="宋体"/>
              </a:rPr>
              <a:t>d</a:t>
            </a:r>
            <a:r>
              <a:rPr lang="en-US" sz="2400" b="0" u="none" strike="noStrike">
                <a:solidFill>
                  <a:srgbClr val="ff0000"/>
                </a:solidFill>
                <a:effectLst/>
                <a:uFillTx/>
                <a:latin typeface="Bodoni MT Black"/>
                <a:ea typeface="宋体"/>
              </a:rPr>
              <a:t>(</a:t>
            </a:r>
            <a:r>
              <a:rPr lang="en-US" sz="2400" b="0" i="1" u="none" strike="noStrike">
                <a:solidFill>
                  <a:srgbClr val="ff0000"/>
                </a:solidFill>
                <a:effectLst/>
                <a:uFillTx/>
                <a:latin typeface="Bodoni MT Black"/>
                <a:ea typeface="宋体"/>
              </a:rPr>
              <a:t>τ</a:t>
            </a:r>
            <a:r>
              <a:rPr lang="en-US" sz="2400" b="0" u="none" strike="noStrike">
                <a:solidFill>
                  <a:srgbClr val="ff0000"/>
                </a:solidFill>
                <a:effectLst/>
                <a:uFillTx/>
                <a:latin typeface="Bodoni MT Black"/>
                <a:ea typeface="宋体"/>
              </a:rPr>
              <a:t>)</a:t>
            </a:r>
            <a:r>
              <a:rPr lang="en-US" sz="2400" b="0" u="none" strike="noStrike">
                <a:solidFill>
                  <a:schemeClr val="dk1"/>
                </a:solidFill>
                <a:effectLst/>
                <a:uFillTx/>
                <a:latin typeface="Bodoni MT Black"/>
                <a:ea typeface="宋体"/>
              </a:rPr>
              <a:t> - </a:t>
            </a:r>
            <a:r>
              <a:rPr lang="zh-CN" sz="2400" b="0" u="none" strike="noStrike">
                <a:solidFill>
                  <a:schemeClr val="dk1"/>
                </a:solidFill>
                <a:effectLst/>
                <a:uFillTx/>
                <a:latin typeface="Bodoni MT Black"/>
                <a:ea typeface="宋体"/>
              </a:rPr>
              <a:t>在</a:t>
            </a:r>
            <a:r>
              <a:rPr lang="en-US" sz="2400" b="0" u="none" strike="noStrike">
                <a:solidFill>
                  <a:schemeClr val="dk1"/>
                </a:solidFill>
                <a:effectLst/>
                <a:uFillTx/>
                <a:latin typeface="Bodoni MT Black"/>
                <a:ea typeface="宋体"/>
              </a:rPr>
              <a:t>0</a:t>
            </a:r>
            <a:r>
              <a:rPr lang="zh-CN" sz="2400" b="0" u="none" strike="noStrike">
                <a:solidFill>
                  <a:schemeClr val="dk1"/>
                </a:solidFill>
                <a:effectLst/>
                <a:uFillTx/>
                <a:latin typeface="Bodoni MT Black"/>
                <a:ea typeface="宋体"/>
              </a:rPr>
              <a:t>至</a:t>
            </a:r>
            <a:r>
              <a:rPr lang="en-US" sz="2400" b="0" i="1" u="none" strike="noStrike">
                <a:solidFill>
                  <a:schemeClr val="dk1"/>
                </a:solidFill>
                <a:effectLst/>
                <a:uFillTx/>
                <a:latin typeface="Bodoni MT Black"/>
                <a:ea typeface="宋体"/>
              </a:rPr>
              <a:t>τ</a:t>
            </a:r>
            <a:r>
              <a:rPr lang="zh-CN" sz="2400" b="0" u="none" strike="noStrike">
                <a:solidFill>
                  <a:schemeClr val="dk1"/>
                </a:solidFill>
                <a:effectLst/>
                <a:uFillTx/>
                <a:latin typeface="Bodoni MT Black"/>
                <a:ea typeface="宋体"/>
              </a:rPr>
              <a:t>期间发现的错误数；</a:t>
            </a:r>
            <a:endParaRPr lang="en-US" sz="2400" b="0" u="none" strike="noStrike">
              <a:solidFill>
                <a:srgbClr val="000000"/>
              </a:solidFill>
              <a:effectLst/>
              <a:uFillTx/>
              <a:latin typeface="Arial"/>
            </a:endParaRPr>
          </a:p>
          <a:p>
            <a:pPr marL="743040" indent="-285840">
              <a:lnSpc>
                <a:spcPct val="125000"/>
              </a:lnSpc>
              <a:tabLst>
                <a:tab algn="l" pos="0"/>
              </a:tabLst>
            </a:pPr>
            <a:r>
              <a:rPr lang="en-US" sz="2400" b="0" i="1" u="none" strike="noStrike">
                <a:solidFill>
                  <a:srgbClr val="ff0000"/>
                </a:solidFill>
                <a:effectLst/>
                <a:uFillTx/>
                <a:latin typeface="Bodoni MT Black"/>
                <a:ea typeface="宋体"/>
              </a:rPr>
              <a:t>E</a:t>
            </a:r>
            <a:r>
              <a:rPr lang="en-US" sz="2400" b="0" i="1" u="none" strike="noStrike" baseline="-25000">
                <a:solidFill>
                  <a:srgbClr val="ff0000"/>
                </a:solidFill>
                <a:effectLst/>
                <a:uFillTx/>
                <a:latin typeface="Bodoni MT Black"/>
                <a:ea typeface="宋体"/>
              </a:rPr>
              <a:t>c</a:t>
            </a:r>
            <a:r>
              <a:rPr lang="en-US" sz="2400" b="0" u="none" strike="noStrike">
                <a:solidFill>
                  <a:srgbClr val="ff0000"/>
                </a:solidFill>
                <a:effectLst/>
                <a:uFillTx/>
                <a:latin typeface="Bodoni MT Black"/>
                <a:ea typeface="宋体"/>
              </a:rPr>
              <a:t>(</a:t>
            </a:r>
            <a:r>
              <a:rPr lang="en-US" sz="2400" b="0" i="1" u="none" strike="noStrike">
                <a:solidFill>
                  <a:srgbClr val="ff0000"/>
                </a:solidFill>
                <a:effectLst/>
                <a:uFillTx/>
                <a:latin typeface="Bodoni MT Black"/>
                <a:ea typeface="宋体"/>
              </a:rPr>
              <a:t>τ</a:t>
            </a:r>
            <a:r>
              <a:rPr lang="en-US" sz="2400" b="0" u="none" strike="noStrike">
                <a:solidFill>
                  <a:srgbClr val="ff0000"/>
                </a:solidFill>
                <a:effectLst/>
                <a:uFillTx/>
                <a:latin typeface="Bodoni MT Black"/>
                <a:ea typeface="宋体"/>
              </a:rPr>
              <a:t>)</a:t>
            </a:r>
            <a:r>
              <a:rPr lang="en-US" sz="2400" b="0" u="none" strike="noStrike">
                <a:solidFill>
                  <a:schemeClr val="dk1"/>
                </a:solidFill>
                <a:effectLst/>
                <a:uFillTx/>
                <a:latin typeface="Bodoni MT Black"/>
                <a:ea typeface="宋体"/>
              </a:rPr>
              <a:t> - </a:t>
            </a:r>
            <a:r>
              <a:rPr lang="zh-CN" sz="2400" b="0" u="none" strike="noStrike">
                <a:solidFill>
                  <a:schemeClr val="dk1"/>
                </a:solidFill>
                <a:effectLst/>
                <a:uFillTx/>
                <a:latin typeface="Bodoni MT Black"/>
                <a:ea typeface="宋体"/>
              </a:rPr>
              <a:t>在</a:t>
            </a:r>
            <a:r>
              <a:rPr lang="en-US" sz="2400" b="0" u="none" strike="noStrike">
                <a:solidFill>
                  <a:schemeClr val="dk1"/>
                </a:solidFill>
                <a:effectLst/>
                <a:uFillTx/>
                <a:latin typeface="Bodoni MT Black"/>
                <a:ea typeface="宋体"/>
              </a:rPr>
              <a:t>0</a:t>
            </a:r>
            <a:r>
              <a:rPr lang="zh-CN" sz="2400" b="0" u="none" strike="noStrike">
                <a:solidFill>
                  <a:schemeClr val="dk1"/>
                </a:solidFill>
                <a:effectLst/>
                <a:uFillTx/>
                <a:latin typeface="Bodoni MT Black"/>
                <a:ea typeface="宋体"/>
              </a:rPr>
              <a:t>至</a:t>
            </a:r>
            <a:r>
              <a:rPr lang="en-US" sz="2400" b="0" i="1" u="none" strike="noStrike">
                <a:solidFill>
                  <a:schemeClr val="dk1"/>
                </a:solidFill>
                <a:effectLst/>
                <a:uFillTx/>
                <a:latin typeface="Bodoni MT Black"/>
                <a:ea typeface="宋体"/>
              </a:rPr>
              <a:t>τ</a:t>
            </a:r>
            <a:r>
              <a:rPr lang="zh-CN" sz="2400" b="0" u="none" strike="noStrike">
                <a:solidFill>
                  <a:schemeClr val="dk1"/>
                </a:solidFill>
                <a:effectLst/>
                <a:uFillTx/>
                <a:latin typeface="Bodoni MT Black"/>
                <a:ea typeface="宋体"/>
              </a:rPr>
              <a:t>期间改正的错误数。</a:t>
            </a:r>
            <a:endParaRPr lang="en-US" sz="2400" b="0" u="none" strike="noStrike">
              <a:solidFill>
                <a:srgbClr val="000000"/>
              </a:solidFill>
              <a:effectLst/>
              <a:uFillTx/>
              <a:latin typeface="Arial"/>
            </a:endParaRPr>
          </a:p>
        </p:txBody>
      </p:sp>
      <p:sp>
        <p:nvSpPr>
          <p:cNvPr id="791"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792"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7.9.2 </a:t>
            </a:r>
            <a:r>
              <a:rPr lang="zh-CN" sz="2400" b="0" u="none" strike="noStrike">
                <a:solidFill>
                  <a:srgbClr val="d9d9d9"/>
                </a:solidFill>
                <a:effectLst/>
                <a:uFillTx/>
                <a:latin typeface="Bodoni MT Black"/>
              </a:rPr>
              <a:t>估算平均无障碍时间的方法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3"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7.9 </a:t>
            </a:r>
            <a:r>
              <a:rPr lang="zh-CN" sz="4400" b="1" u="none" strike="noStrike">
                <a:solidFill>
                  <a:schemeClr val="dk1"/>
                </a:solidFill>
                <a:effectLst/>
                <a:uFillTx/>
                <a:latin typeface="Bodoni MT Black"/>
              </a:rPr>
              <a:t>软件可靠性</a:t>
            </a:r>
            <a:endParaRPr lang="es-ES" sz="4400" b="0" u="none" strike="noStrike">
              <a:solidFill>
                <a:schemeClr val="dk1"/>
              </a:solidFill>
              <a:effectLst/>
              <a:uFillTx/>
              <a:latin typeface="Arial"/>
            </a:endParaRPr>
          </a:p>
        </p:txBody>
      </p:sp>
      <p:sp>
        <p:nvSpPr>
          <p:cNvPr id="794" name="TextBox 7"/>
          <p:cNvSpPr/>
          <p:nvPr/>
        </p:nvSpPr>
        <p:spPr>
          <a:xfrm>
            <a:off x="313560" y="1187280"/>
            <a:ext cx="8516520" cy="4503600"/>
          </a:xfrm>
          <a:prstGeom prst="rect">
            <a:avLst/>
          </a:prstGeom>
          <a:noFill/>
          <a:ln w="0">
            <a:noFill/>
          </a:ln>
        </p:spPr>
        <p:style>
          <a:lnRef idx="0"/>
          <a:fillRef idx="0"/>
          <a:effectRef idx="0"/>
          <a:fontRef idx="minor"/>
        </p:style>
        <p:txBody>
          <a:bodyPr lIns="90000" rIns="90000" tIns="45000" bIns="45000" anchor="t">
            <a:spAutoFit/>
          </a:bodyPr>
          <a:p>
            <a:pPr>
              <a:lnSpc>
                <a:spcPts val="3200"/>
              </a:lnSpc>
              <a:tabLst>
                <a:tab algn="l" pos="0"/>
              </a:tabLst>
            </a:pPr>
            <a:r>
              <a:rPr lang="en-US" sz="2400" b="1" u="none" strike="noStrike">
                <a:solidFill>
                  <a:schemeClr val="dk1"/>
                </a:solidFill>
                <a:effectLst/>
                <a:uFillTx/>
                <a:latin typeface="Bodoni MT Black"/>
              </a:rPr>
              <a:t>2. </a:t>
            </a:r>
            <a:r>
              <a:rPr lang="zh-CN" sz="2400" b="1" u="none" strike="noStrike">
                <a:solidFill>
                  <a:schemeClr val="dk1"/>
                </a:solidFill>
                <a:effectLst/>
                <a:uFillTx/>
                <a:latin typeface="Bodoni MT Black"/>
              </a:rPr>
              <a:t>基本假定</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单位长度程序中的错误数</a:t>
            </a:r>
            <a:r>
              <a:rPr lang="en-US" sz="2400" b="0" i="1" u="none" strike="noStrike">
                <a:solidFill>
                  <a:srgbClr val="ff0000"/>
                </a:solidFill>
                <a:effectLst/>
                <a:uFillTx/>
                <a:latin typeface="Bodoni MT Black"/>
                <a:ea typeface="宋体"/>
              </a:rPr>
              <a:t>E</a:t>
            </a:r>
            <a:r>
              <a:rPr lang="en-US" sz="2400" b="0" i="1" u="none" strike="noStrike" baseline="-25000">
                <a:solidFill>
                  <a:srgbClr val="ff0000"/>
                </a:solidFill>
                <a:effectLst/>
                <a:uFillTx/>
                <a:latin typeface="Bodoni MT Black"/>
                <a:ea typeface="宋体"/>
              </a:rPr>
              <a:t>T </a:t>
            </a:r>
            <a:r>
              <a:rPr lang="en-US" sz="2400" b="0" u="none" strike="noStrike">
                <a:solidFill>
                  <a:srgbClr val="ff0000"/>
                </a:solidFill>
                <a:effectLst/>
                <a:uFillTx/>
                <a:latin typeface="Bodoni MT Black"/>
                <a:ea typeface="宋体"/>
              </a:rPr>
              <a:t>/</a:t>
            </a:r>
            <a:r>
              <a:rPr lang="en-US" sz="2400" b="0" i="1" u="none" strike="noStrike">
                <a:solidFill>
                  <a:srgbClr val="ff0000"/>
                </a:solidFill>
                <a:effectLst/>
                <a:uFillTx/>
                <a:latin typeface="Bodoni MT Black"/>
                <a:ea typeface="宋体"/>
              </a:rPr>
              <a:t> I</a:t>
            </a:r>
            <a:r>
              <a:rPr lang="en-US" sz="2400" b="0" i="1" u="none" strike="noStrike" baseline="-25000">
                <a:solidFill>
                  <a:srgbClr val="ff0000"/>
                </a:solidFill>
                <a:effectLst/>
                <a:uFillTx/>
                <a:latin typeface="Bodoni MT Black"/>
                <a:ea typeface="宋体"/>
              </a:rPr>
              <a:t>T</a:t>
            </a:r>
            <a:r>
              <a:rPr lang="zh-CN" sz="2400" b="0" u="none" strike="noStrike">
                <a:solidFill>
                  <a:schemeClr val="dk1"/>
                </a:solidFill>
                <a:effectLst/>
                <a:uFillTx/>
                <a:latin typeface="Bodoni MT Black"/>
                <a:ea typeface="宋体"/>
              </a:rPr>
              <a:t>近似为</a:t>
            </a:r>
            <a:r>
              <a:rPr lang="zh-CN" sz="2400" b="0" u="none" strike="noStrike">
                <a:solidFill>
                  <a:srgbClr val="ff0000"/>
                </a:solidFill>
                <a:effectLst/>
                <a:uFillTx/>
                <a:latin typeface="Bodoni MT Black"/>
                <a:ea typeface="宋体"/>
              </a:rPr>
              <a:t>常数</a:t>
            </a:r>
            <a:r>
              <a:rPr lang="zh-CN" sz="2400" b="0" u="none" strike="noStrike">
                <a:solidFill>
                  <a:schemeClr val="dk1"/>
                </a:solidFill>
                <a:effectLst/>
                <a:uFillTx/>
                <a:latin typeface="Bodoni MT Black"/>
                <a:ea typeface="宋体"/>
              </a:rPr>
              <a:t>，通常为：</a:t>
            </a:r>
            <a:r>
              <a:rPr lang="en-US" sz="2400" b="0" u="none" strike="noStrike">
                <a:solidFill>
                  <a:schemeClr val="dk1"/>
                </a:solidFill>
                <a:effectLst/>
                <a:uFillTx/>
                <a:latin typeface="Bodoni MT Black"/>
                <a:ea typeface="宋体"/>
              </a:rPr>
              <a:t>0.5×10</a:t>
            </a:r>
            <a:r>
              <a:rPr lang="en-US" sz="2400" b="0" u="none" strike="noStrike" baseline="30000">
                <a:solidFill>
                  <a:schemeClr val="dk1"/>
                </a:solidFill>
                <a:effectLst/>
                <a:uFillTx/>
                <a:latin typeface="Bodoni MT Black"/>
                <a:ea typeface="宋体"/>
              </a:rPr>
              <a:t>-2 </a:t>
            </a:r>
            <a:r>
              <a:rPr lang="en-US" sz="2400" b="0" u="none" strike="noStrike">
                <a:solidFill>
                  <a:schemeClr val="dk1"/>
                </a:solidFill>
                <a:effectLst/>
                <a:uFillTx/>
                <a:latin typeface="Bodoni MT Black"/>
                <a:ea typeface="宋体"/>
              </a:rPr>
              <a:t>≤</a:t>
            </a:r>
            <a:r>
              <a:rPr lang="en-US" sz="2400" b="0" i="1" u="none" strike="noStrike">
                <a:solidFill>
                  <a:srgbClr val="ff0000"/>
                </a:solidFill>
                <a:effectLst/>
                <a:uFillTx/>
                <a:latin typeface="Bodoni MT Black"/>
                <a:ea typeface="宋体"/>
              </a:rPr>
              <a:t> E</a:t>
            </a:r>
            <a:r>
              <a:rPr lang="en-US" sz="2400" b="0" i="1" u="none" strike="noStrike" baseline="-25000">
                <a:solidFill>
                  <a:srgbClr val="ff0000"/>
                </a:solidFill>
                <a:effectLst/>
                <a:uFillTx/>
                <a:latin typeface="Bodoni MT Black"/>
                <a:ea typeface="宋体"/>
              </a:rPr>
              <a:t>T </a:t>
            </a:r>
            <a:r>
              <a:rPr lang="en-US" sz="2400" b="0" u="none" strike="noStrike">
                <a:solidFill>
                  <a:srgbClr val="ff0000"/>
                </a:solidFill>
                <a:effectLst/>
                <a:uFillTx/>
                <a:latin typeface="Bodoni MT Black"/>
                <a:ea typeface="宋体"/>
              </a:rPr>
              <a:t>/</a:t>
            </a:r>
            <a:r>
              <a:rPr lang="en-US" sz="2400" b="0" i="1" u="none" strike="noStrike">
                <a:solidFill>
                  <a:srgbClr val="ff0000"/>
                </a:solidFill>
                <a:effectLst/>
                <a:uFillTx/>
                <a:latin typeface="Bodoni MT Black"/>
                <a:ea typeface="宋体"/>
              </a:rPr>
              <a:t> I</a:t>
            </a:r>
            <a:r>
              <a:rPr lang="en-US" sz="2400" b="0" i="1" u="none" strike="noStrike" baseline="-25000">
                <a:solidFill>
                  <a:srgbClr val="ff0000"/>
                </a:solidFill>
                <a:effectLst/>
                <a:uFillTx/>
                <a:latin typeface="Bodoni MT Black"/>
                <a:ea typeface="宋体"/>
              </a:rPr>
              <a:t>T  </a:t>
            </a:r>
            <a:r>
              <a:rPr lang="en-US" sz="2400" b="0" u="none" strike="noStrike">
                <a:solidFill>
                  <a:schemeClr val="dk1"/>
                </a:solidFill>
                <a:effectLst/>
                <a:uFillTx/>
                <a:latin typeface="Bodoni MT Black"/>
                <a:ea typeface="宋体"/>
              </a:rPr>
              <a:t>≤ 2×10</a:t>
            </a:r>
            <a:r>
              <a:rPr lang="en-US" sz="2400" b="0" u="none" strike="noStrike" baseline="30000">
                <a:solidFill>
                  <a:schemeClr val="dk1"/>
                </a:solidFill>
                <a:effectLst/>
                <a:uFillTx/>
                <a:latin typeface="Bodoni MT Black"/>
                <a:ea typeface="宋体"/>
              </a:rPr>
              <a:t>-2</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marL="343080" lvl="1" indent="-343080">
              <a:lnSpc>
                <a:spcPct val="125000"/>
              </a:lnSpc>
              <a:buClr>
                <a:srgbClr val="ff0000"/>
              </a:buClr>
              <a:buFont typeface="Wingdings" charset="2"/>
              <a:buChar char=""/>
              <a:tabLst>
                <a:tab algn="l" pos="0"/>
              </a:tabLst>
            </a:pPr>
            <a:r>
              <a:rPr lang="zh-CN" sz="2400" b="0" u="none" strike="noStrike">
                <a:solidFill>
                  <a:srgbClr val="ff0000"/>
                </a:solidFill>
                <a:effectLst/>
                <a:uFillTx/>
                <a:latin typeface="Bodoni MT Black"/>
                <a:ea typeface="宋体"/>
              </a:rPr>
              <a:t>失效率</a:t>
            </a:r>
            <a:r>
              <a:rPr lang="zh-CN" sz="2400" b="0" u="none" strike="noStrike">
                <a:solidFill>
                  <a:schemeClr val="dk1"/>
                </a:solidFill>
                <a:effectLst/>
                <a:uFillTx/>
                <a:latin typeface="Bodoni MT Black"/>
                <a:ea typeface="宋体"/>
              </a:rPr>
              <a:t>正比于软件中剩余的（潜藏的）错误数，而平均无故障时间</a:t>
            </a:r>
            <a:r>
              <a:rPr lang="en-US" sz="2400" b="0" u="none" strike="noStrike">
                <a:solidFill>
                  <a:schemeClr val="dk1"/>
                </a:solidFill>
                <a:effectLst/>
                <a:uFillTx/>
                <a:latin typeface="Bodoni MT Black"/>
                <a:ea typeface="宋体"/>
              </a:rPr>
              <a:t>MTTF</a:t>
            </a:r>
            <a:r>
              <a:rPr lang="zh-CN" sz="2400" b="0" u="none" strike="noStrike">
                <a:solidFill>
                  <a:schemeClr val="dk1"/>
                </a:solidFill>
                <a:effectLst/>
                <a:uFillTx/>
                <a:latin typeface="Bodoni MT Black"/>
                <a:ea typeface="宋体"/>
              </a:rPr>
              <a:t>与剩余的错误数成反比；</a:t>
            </a:r>
            <a:endParaRPr lang="en-US" sz="2400" b="0" u="none" strike="noStrike">
              <a:solidFill>
                <a:srgbClr val="000000"/>
              </a:solidFill>
              <a:effectLst/>
              <a:uFillTx/>
              <a:latin typeface="Arial"/>
            </a:endParaRPr>
          </a:p>
          <a:p>
            <a:pPr marL="343080" lvl="1" indent="-343080">
              <a:lnSpc>
                <a:spcPct val="125000"/>
              </a:lnSpc>
              <a:buClr>
                <a:srgbClr val="000000"/>
              </a:buClr>
              <a:buFont typeface="Wingdings" charset="2"/>
              <a:buChar char=""/>
              <a:tabLst>
                <a:tab algn="l" pos="0"/>
              </a:tabLst>
            </a:pPr>
            <a:r>
              <a:rPr lang="zh-CN" sz="2400" b="0" u="none" strike="noStrike">
                <a:solidFill>
                  <a:schemeClr val="dk1"/>
                </a:solidFill>
                <a:effectLst/>
                <a:uFillTx/>
                <a:latin typeface="Bodoni MT Black"/>
                <a:ea typeface="宋体"/>
              </a:rPr>
              <a:t>假设发现的每一个错误都立即正确改正（即调试过程没有引入新的错误），</a:t>
            </a:r>
            <a:r>
              <a:rPr lang="en-US" sz="2400" b="0" i="1" u="none" strike="noStrike">
                <a:solidFill>
                  <a:schemeClr val="dk1"/>
                </a:solidFill>
                <a:effectLst/>
                <a:uFillTx/>
                <a:latin typeface="Bodoni MT Black"/>
                <a:ea typeface="宋体"/>
              </a:rPr>
              <a:t>E</a:t>
            </a:r>
            <a:r>
              <a:rPr lang="en-US" sz="2400" b="0" i="1" u="none" strike="noStrike" baseline="-25000">
                <a:solidFill>
                  <a:schemeClr val="dk1"/>
                </a:solidFill>
                <a:effectLst/>
                <a:uFillTx/>
                <a:latin typeface="Bodoni MT Black"/>
                <a:ea typeface="宋体"/>
              </a:rPr>
              <a:t>c</a:t>
            </a:r>
            <a:r>
              <a:rPr lang="en-US" sz="2400" b="0" u="none" strike="noStrike">
                <a:solidFill>
                  <a:schemeClr val="dk1"/>
                </a:solidFill>
                <a:effectLst/>
                <a:uFillTx/>
                <a:latin typeface="Bodoni MT Black"/>
                <a:ea typeface="宋体"/>
              </a:rPr>
              <a:t>(</a:t>
            </a:r>
            <a:r>
              <a:rPr lang="en-US" sz="2400" b="0" i="1" u="none" strike="noStrike">
                <a:solidFill>
                  <a:schemeClr val="dk1"/>
                </a:solidFill>
                <a:effectLst/>
                <a:uFillTx/>
                <a:latin typeface="Bodoni MT Black"/>
                <a:ea typeface="宋体"/>
              </a:rPr>
              <a:t>τ</a:t>
            </a:r>
            <a:r>
              <a:rPr lang="en-US" sz="2400" b="0" u="none" strike="noStrike">
                <a:solidFill>
                  <a:schemeClr val="dk1"/>
                </a:solidFill>
                <a:effectLst/>
                <a:uFillTx/>
                <a:latin typeface="Bodoni MT Black"/>
                <a:ea typeface="宋体"/>
              </a:rPr>
              <a:t>)</a:t>
            </a:r>
            <a:r>
              <a:rPr lang="en-US" sz="2400" b="0" i="1" u="none" strike="noStrike">
                <a:solidFill>
                  <a:schemeClr val="dk1"/>
                </a:solidFill>
                <a:effectLst/>
                <a:uFillTx/>
                <a:latin typeface="Bodoni MT Black"/>
                <a:ea typeface="宋体"/>
              </a:rPr>
              <a:t>=E</a:t>
            </a:r>
            <a:r>
              <a:rPr lang="en-US" sz="2400" b="0" i="1" u="none" strike="noStrike" baseline="-25000">
                <a:solidFill>
                  <a:schemeClr val="dk1"/>
                </a:solidFill>
                <a:effectLst/>
                <a:uFillTx/>
                <a:latin typeface="Bodoni MT Black"/>
                <a:ea typeface="宋体"/>
              </a:rPr>
              <a:t>d</a:t>
            </a:r>
            <a:r>
              <a:rPr lang="en-US" sz="2400" b="0" u="none" strike="noStrike">
                <a:solidFill>
                  <a:schemeClr val="dk1"/>
                </a:solidFill>
                <a:effectLst/>
                <a:uFillTx/>
                <a:latin typeface="Bodoni MT Black"/>
                <a:ea typeface="宋体"/>
              </a:rPr>
              <a:t>(</a:t>
            </a:r>
            <a:r>
              <a:rPr lang="en-US" sz="2400" b="0" i="1" u="none" strike="noStrike">
                <a:solidFill>
                  <a:schemeClr val="dk1"/>
                </a:solidFill>
                <a:effectLst/>
                <a:uFillTx/>
                <a:latin typeface="Bodoni MT Black"/>
                <a:ea typeface="宋体"/>
              </a:rPr>
              <a:t>τ</a:t>
            </a:r>
            <a:r>
              <a:rPr lang="en-US" sz="2400" b="0" u="none" strike="noStrike">
                <a:solidFill>
                  <a:schemeClr val="dk1"/>
                </a:solidFill>
                <a:effectLst/>
                <a:uFillTx/>
                <a:latin typeface="Bodoni MT Black"/>
                <a:ea typeface="宋体"/>
              </a:rPr>
              <a:t>)</a:t>
            </a:r>
            <a:r>
              <a:rPr lang="zh-CN" sz="2400" b="0" u="none" strike="noStrike">
                <a:solidFill>
                  <a:schemeClr val="dk1"/>
                </a:solidFill>
                <a:effectLst/>
                <a:uFillTx/>
                <a:latin typeface="Bodoni MT Black"/>
                <a:ea typeface="宋体"/>
              </a:rPr>
              <a:t>。剩余的错误数为</a:t>
            </a:r>
            <a:r>
              <a:rPr lang="en-US" sz="2400" b="0" i="1" u="none" strike="noStrike">
                <a:solidFill>
                  <a:schemeClr val="dk1"/>
                </a:solidFill>
                <a:effectLst/>
                <a:uFillTx/>
                <a:latin typeface="Bodoni MT Black"/>
                <a:ea typeface="宋体"/>
              </a:rPr>
              <a:t>E</a:t>
            </a:r>
            <a:r>
              <a:rPr lang="en-US" sz="2400" b="0" i="1" u="none" strike="noStrike" baseline="-25000">
                <a:solidFill>
                  <a:schemeClr val="dk1"/>
                </a:solidFill>
                <a:effectLst/>
                <a:uFillTx/>
                <a:latin typeface="Bodoni MT Black"/>
                <a:ea typeface="宋体"/>
              </a:rPr>
              <a:t>r</a:t>
            </a:r>
            <a:r>
              <a:rPr lang="en-US" sz="2400" b="0" u="none" strike="noStrike">
                <a:solidFill>
                  <a:schemeClr val="dk1"/>
                </a:solidFill>
                <a:effectLst/>
                <a:uFillTx/>
                <a:latin typeface="Bodoni MT Black"/>
                <a:ea typeface="宋体"/>
              </a:rPr>
              <a:t>(</a:t>
            </a:r>
            <a:r>
              <a:rPr lang="en-US" sz="2400" b="0" i="1" u="none" strike="noStrike">
                <a:solidFill>
                  <a:schemeClr val="dk1"/>
                </a:solidFill>
                <a:effectLst/>
                <a:uFillTx/>
                <a:latin typeface="Bodoni MT Black"/>
                <a:ea typeface="宋体"/>
              </a:rPr>
              <a:t>τ</a:t>
            </a:r>
            <a:r>
              <a:rPr lang="en-US" sz="2400" b="0" u="none" strike="noStrike">
                <a:solidFill>
                  <a:schemeClr val="dk1"/>
                </a:solidFill>
                <a:effectLst/>
                <a:uFillTx/>
                <a:latin typeface="Bodoni MT Black"/>
                <a:ea typeface="宋体"/>
              </a:rPr>
              <a:t>)</a:t>
            </a:r>
            <a:r>
              <a:rPr lang="en-US" sz="2400" b="0" i="1" u="none" strike="noStrike">
                <a:solidFill>
                  <a:schemeClr val="dk1"/>
                </a:solidFill>
                <a:effectLst/>
                <a:uFillTx/>
                <a:latin typeface="Bodoni MT Black"/>
                <a:ea typeface="宋体"/>
              </a:rPr>
              <a:t>=E</a:t>
            </a:r>
            <a:r>
              <a:rPr lang="en-US" sz="2400" b="0" i="1" u="none" strike="noStrike" baseline="-25000">
                <a:solidFill>
                  <a:schemeClr val="dk1"/>
                </a:solidFill>
                <a:effectLst/>
                <a:uFillTx/>
                <a:latin typeface="Bodoni MT Black"/>
                <a:ea typeface="宋体"/>
              </a:rPr>
              <a:t>T </a:t>
            </a:r>
            <a:r>
              <a:rPr lang="en-US" sz="2400" b="0" i="1" u="none" strike="noStrike">
                <a:solidFill>
                  <a:schemeClr val="dk1"/>
                </a:solidFill>
                <a:effectLst/>
                <a:uFillTx/>
                <a:latin typeface="Bodoni MT Black"/>
                <a:ea typeface="宋体"/>
              </a:rPr>
              <a:t>-E</a:t>
            </a:r>
            <a:r>
              <a:rPr lang="en-US" sz="2400" b="0" i="1" u="none" strike="noStrike" baseline="-25000">
                <a:solidFill>
                  <a:schemeClr val="dk1"/>
                </a:solidFill>
                <a:effectLst/>
                <a:uFillTx/>
                <a:latin typeface="Bodoni MT Black"/>
                <a:ea typeface="宋体"/>
              </a:rPr>
              <a:t>c</a:t>
            </a:r>
            <a:r>
              <a:rPr lang="en-US" sz="2400" b="0" u="none" strike="noStrike">
                <a:solidFill>
                  <a:schemeClr val="dk1"/>
                </a:solidFill>
                <a:effectLst/>
                <a:uFillTx/>
                <a:latin typeface="Bodoni MT Black"/>
                <a:ea typeface="宋体"/>
              </a:rPr>
              <a:t>(</a:t>
            </a:r>
            <a:r>
              <a:rPr lang="en-US" sz="2400" b="0" i="1" u="none" strike="noStrike">
                <a:solidFill>
                  <a:schemeClr val="dk1"/>
                </a:solidFill>
                <a:effectLst/>
                <a:uFillTx/>
                <a:latin typeface="Bodoni MT Black"/>
                <a:ea typeface="宋体"/>
              </a:rPr>
              <a:t>τ</a:t>
            </a:r>
            <a:r>
              <a:rPr lang="en-US" sz="2400" b="0" u="none" strike="noStrike">
                <a:solidFill>
                  <a:schemeClr val="dk1"/>
                </a:solidFill>
                <a:effectLst/>
                <a:uFillTx/>
                <a:latin typeface="Bodoni MT Black"/>
                <a:ea typeface="宋体"/>
              </a:rPr>
              <a:t>)</a:t>
            </a:r>
            <a:r>
              <a:rPr lang="zh-CN" sz="2400" b="0" u="none" strike="noStrike">
                <a:solidFill>
                  <a:schemeClr val="dk1"/>
                </a:solidFill>
                <a:effectLst/>
                <a:uFillTx/>
                <a:latin typeface="Bodoni MT Black"/>
                <a:ea typeface="宋体"/>
              </a:rPr>
              <a:t>，单位长度程序中剩余的错误数为</a:t>
            </a:r>
            <a:r>
              <a:rPr lang="en-US" sz="2400" b="0" i="1" u="none" strike="noStrike">
                <a:solidFill>
                  <a:srgbClr val="ff0000"/>
                </a:solidFill>
                <a:effectLst/>
                <a:uFillTx/>
                <a:latin typeface="Bodoni MT Black"/>
                <a:ea typeface="宋体"/>
              </a:rPr>
              <a:t>ε</a:t>
            </a:r>
            <a:r>
              <a:rPr lang="en-US" sz="2400" b="0" i="1" u="none" strike="noStrike" baseline="-25000">
                <a:solidFill>
                  <a:srgbClr val="ff0000"/>
                </a:solidFill>
                <a:effectLst/>
                <a:uFillTx/>
                <a:latin typeface="Bodoni MT Black"/>
                <a:ea typeface="宋体"/>
              </a:rPr>
              <a:t>r</a:t>
            </a:r>
            <a:r>
              <a:rPr lang="en-US" sz="2400" b="0" u="none" strike="noStrike">
                <a:solidFill>
                  <a:srgbClr val="ff0000"/>
                </a:solidFill>
                <a:effectLst/>
                <a:uFillTx/>
                <a:latin typeface="Bodoni MT Black"/>
                <a:ea typeface="宋体"/>
              </a:rPr>
              <a:t>(</a:t>
            </a:r>
            <a:r>
              <a:rPr lang="en-US" sz="2400" b="0" i="1" u="none" strike="noStrike">
                <a:solidFill>
                  <a:srgbClr val="ff0000"/>
                </a:solidFill>
                <a:effectLst/>
                <a:uFillTx/>
                <a:latin typeface="Bodoni MT Black"/>
                <a:ea typeface="宋体"/>
              </a:rPr>
              <a:t>τ</a:t>
            </a:r>
            <a:r>
              <a:rPr lang="en-US" sz="2400" b="0" u="none" strike="noStrike">
                <a:solidFill>
                  <a:srgbClr val="ff0000"/>
                </a:solidFill>
                <a:effectLst/>
                <a:uFillTx/>
                <a:latin typeface="Bodoni MT Black"/>
                <a:ea typeface="宋体"/>
              </a:rPr>
              <a:t>)</a:t>
            </a:r>
            <a:r>
              <a:rPr lang="en-US" sz="2400" b="0" i="1" u="none" strike="noStrike">
                <a:solidFill>
                  <a:srgbClr val="ff0000"/>
                </a:solidFill>
                <a:effectLst/>
                <a:uFillTx/>
                <a:latin typeface="Bodoni MT Black"/>
                <a:ea typeface="宋体"/>
              </a:rPr>
              <a:t>=E</a:t>
            </a:r>
            <a:r>
              <a:rPr lang="en-US" sz="2400" b="0" i="1" u="none" strike="noStrike" baseline="-25000">
                <a:solidFill>
                  <a:srgbClr val="ff0000"/>
                </a:solidFill>
                <a:effectLst/>
                <a:uFillTx/>
                <a:latin typeface="Bodoni MT Black"/>
                <a:ea typeface="宋体"/>
              </a:rPr>
              <a:t>T</a:t>
            </a:r>
            <a:r>
              <a:rPr lang="en-US" sz="2400" b="0" i="1" u="none" strike="noStrike">
                <a:solidFill>
                  <a:srgbClr val="ff0000"/>
                </a:solidFill>
                <a:effectLst/>
                <a:uFillTx/>
                <a:latin typeface="Bodoni MT Black"/>
                <a:ea typeface="宋体"/>
              </a:rPr>
              <a:t>/I</a:t>
            </a:r>
            <a:r>
              <a:rPr lang="en-US" sz="2400" b="0" i="1" u="none" strike="noStrike" baseline="-25000">
                <a:solidFill>
                  <a:srgbClr val="ff0000"/>
                </a:solidFill>
                <a:effectLst/>
                <a:uFillTx/>
                <a:latin typeface="Bodoni MT Black"/>
                <a:ea typeface="宋体"/>
              </a:rPr>
              <a:t>T  </a:t>
            </a:r>
            <a:r>
              <a:rPr lang="en-US" sz="2400" b="0" i="1" u="none" strike="noStrike">
                <a:solidFill>
                  <a:srgbClr val="ff0000"/>
                </a:solidFill>
                <a:effectLst/>
                <a:uFillTx/>
                <a:latin typeface="Bodoni MT Black"/>
                <a:ea typeface="宋体"/>
              </a:rPr>
              <a:t>- E</a:t>
            </a:r>
            <a:r>
              <a:rPr lang="en-US" sz="2400" b="0" i="1" u="none" strike="noStrike" baseline="-25000">
                <a:solidFill>
                  <a:srgbClr val="ff0000"/>
                </a:solidFill>
                <a:effectLst/>
                <a:uFillTx/>
                <a:latin typeface="Bodoni MT Black"/>
                <a:ea typeface="宋体"/>
              </a:rPr>
              <a:t>c</a:t>
            </a:r>
            <a:r>
              <a:rPr lang="en-US" sz="2400" b="0" u="none" strike="noStrike">
                <a:solidFill>
                  <a:srgbClr val="ff0000"/>
                </a:solidFill>
                <a:effectLst/>
                <a:uFillTx/>
                <a:latin typeface="Bodoni MT Black"/>
                <a:ea typeface="宋体"/>
              </a:rPr>
              <a:t>(</a:t>
            </a:r>
            <a:r>
              <a:rPr lang="en-US" sz="2400" b="0" i="1" u="none" strike="noStrike">
                <a:solidFill>
                  <a:srgbClr val="ff0000"/>
                </a:solidFill>
                <a:effectLst/>
                <a:uFillTx/>
                <a:latin typeface="Bodoni MT Black"/>
                <a:ea typeface="宋体"/>
              </a:rPr>
              <a:t>τ</a:t>
            </a:r>
            <a:r>
              <a:rPr lang="en-US" sz="2400" b="0" u="none" strike="noStrike">
                <a:solidFill>
                  <a:srgbClr val="ff0000"/>
                </a:solidFill>
                <a:effectLst/>
                <a:uFillTx/>
                <a:latin typeface="Bodoni MT Black"/>
                <a:ea typeface="宋体"/>
              </a:rPr>
              <a:t>)</a:t>
            </a:r>
            <a:r>
              <a:rPr lang="en-US" sz="2400" b="0" i="1" u="none" strike="noStrike">
                <a:solidFill>
                  <a:srgbClr val="ff0000"/>
                </a:solidFill>
                <a:effectLst/>
                <a:uFillTx/>
                <a:latin typeface="Bodoni MT Black"/>
                <a:ea typeface="宋体"/>
              </a:rPr>
              <a:t>/I</a:t>
            </a:r>
            <a:r>
              <a:rPr lang="en-US" sz="2400" b="0" i="1" u="none" strike="noStrike" baseline="-25000">
                <a:solidFill>
                  <a:srgbClr val="ff0000"/>
                </a:solidFill>
                <a:effectLst/>
                <a:uFillTx/>
                <a:latin typeface="Bodoni MT Black"/>
                <a:ea typeface="宋体"/>
              </a:rPr>
              <a:t>T</a:t>
            </a:r>
            <a:r>
              <a:rPr lang="en-US" sz="2400" b="0" i="1" u="none" strike="noStrike">
                <a:solidFill>
                  <a:srgbClr val="ff0000"/>
                </a:solidFill>
                <a:effectLst/>
                <a:uFillTx/>
                <a:latin typeface="Bodoni MT Black"/>
                <a:ea typeface="宋体"/>
              </a:rPr>
              <a:t> </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a:lnSpc>
                <a:spcPct val="125000"/>
              </a:lnSpc>
              <a:tabLst>
                <a:tab algn="l" pos="0"/>
              </a:tabLst>
            </a:pPr>
            <a:endParaRPr lang="en-US" sz="2400" b="0" u="none" strike="noStrike">
              <a:solidFill>
                <a:srgbClr val="000000"/>
              </a:solidFill>
              <a:effectLst/>
              <a:uFillTx/>
              <a:latin typeface="Arial"/>
            </a:endParaRPr>
          </a:p>
          <a:p>
            <a:pPr>
              <a:lnSpc>
                <a:spcPct val="125000"/>
              </a:lnSpc>
              <a:tabLst>
                <a:tab algn="l" pos="0"/>
              </a:tabLst>
            </a:pPr>
            <a:endParaRPr lang="en-US" sz="2400" b="0" u="none" strike="noStrike">
              <a:solidFill>
                <a:srgbClr val="000000"/>
              </a:solidFill>
              <a:effectLst/>
              <a:uFillTx/>
              <a:latin typeface="Arial"/>
            </a:endParaRPr>
          </a:p>
        </p:txBody>
      </p:sp>
      <p:sp>
        <p:nvSpPr>
          <p:cNvPr id="795"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796"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7.9.2 </a:t>
            </a:r>
            <a:r>
              <a:rPr lang="zh-CN" sz="2400" b="0" u="none" strike="noStrike">
                <a:solidFill>
                  <a:srgbClr val="d9d9d9"/>
                </a:solidFill>
                <a:effectLst/>
                <a:uFillTx/>
                <a:latin typeface="Bodoni MT Black"/>
              </a:rPr>
              <a:t>估算平均无障碍时间的方法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7"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7.9 </a:t>
            </a:r>
            <a:r>
              <a:rPr lang="zh-CN" sz="4400" b="1" u="none" strike="noStrike">
                <a:solidFill>
                  <a:schemeClr val="dk1"/>
                </a:solidFill>
                <a:effectLst/>
                <a:uFillTx/>
                <a:latin typeface="Bodoni MT Black"/>
              </a:rPr>
              <a:t>软件可靠性</a:t>
            </a:r>
            <a:endParaRPr lang="es-ES" sz="4400" b="0" u="none" strike="noStrike">
              <a:solidFill>
                <a:schemeClr val="dk1"/>
              </a:solidFill>
              <a:effectLst/>
              <a:uFillTx/>
              <a:latin typeface="Arial"/>
            </a:endParaRPr>
          </a:p>
        </p:txBody>
      </p:sp>
      <p:sp>
        <p:nvSpPr>
          <p:cNvPr id="798" name="TextBox 7"/>
          <p:cNvSpPr/>
          <p:nvPr/>
        </p:nvSpPr>
        <p:spPr>
          <a:xfrm>
            <a:off x="194760" y="1196640"/>
            <a:ext cx="8678520" cy="463824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r>
              <a:rPr lang="en-US" sz="1800" b="0" u="none" strike="noStrike">
                <a:solidFill>
                  <a:srgbClr val="ffffff">
                    <a:alpha val="1000"/>
                  </a:srgbClr>
                </a:solidFill>
                <a:effectLst/>
                <a:uFillTx/>
                <a:latin typeface="Arial"/>
                <a:ea typeface="宋体"/>
              </a:rPr>
              <a:t> </a:t>
            </a:r>
            <a:endParaRPr lang="en-US" sz="1800" b="0" u="none" strike="noStrike">
              <a:solidFill>
                <a:srgbClr val="000000"/>
              </a:solidFill>
              <a:effectLst/>
              <a:uFillTx/>
              <a:latin typeface="Arial"/>
            </a:endParaRPr>
          </a:p>
        </p:txBody>
      </p:sp>
      <p:sp>
        <p:nvSpPr>
          <p:cNvPr id="799"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800"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7.9.2 </a:t>
            </a:r>
            <a:r>
              <a:rPr lang="zh-CN" sz="2400" b="0" u="none" strike="noStrike">
                <a:solidFill>
                  <a:srgbClr val="d9d9d9"/>
                </a:solidFill>
                <a:effectLst/>
                <a:uFillTx/>
                <a:latin typeface="Bodoni MT Black"/>
              </a:rPr>
              <a:t>估算平均无障碍时间的方法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1"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7.9 </a:t>
            </a:r>
            <a:r>
              <a:rPr lang="zh-CN" sz="4400" b="1" u="none" strike="noStrike">
                <a:solidFill>
                  <a:schemeClr val="dk1"/>
                </a:solidFill>
                <a:effectLst/>
                <a:uFillTx/>
                <a:latin typeface="Bodoni MT Black"/>
              </a:rPr>
              <a:t>软件可靠性</a:t>
            </a:r>
            <a:endParaRPr lang="es-ES" sz="4400" b="0" u="none" strike="noStrike">
              <a:solidFill>
                <a:schemeClr val="dk1"/>
              </a:solidFill>
              <a:effectLst/>
              <a:uFillTx/>
              <a:latin typeface="Arial"/>
            </a:endParaRPr>
          </a:p>
        </p:txBody>
      </p:sp>
      <p:sp>
        <p:nvSpPr>
          <p:cNvPr id="802" name="TextBox 7"/>
          <p:cNvSpPr/>
          <p:nvPr/>
        </p:nvSpPr>
        <p:spPr>
          <a:xfrm>
            <a:off x="312840" y="1045080"/>
            <a:ext cx="8373600" cy="487044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r>
              <a:rPr lang="en-US" sz="1800" b="0" u="none" strike="noStrike">
                <a:solidFill>
                  <a:srgbClr val="ffffff">
                    <a:alpha val="1000"/>
                  </a:srgbClr>
                </a:solidFill>
                <a:effectLst/>
                <a:uFillTx/>
                <a:latin typeface="Arial"/>
                <a:ea typeface="宋体"/>
              </a:rPr>
              <a:t> </a:t>
            </a:r>
            <a:endParaRPr lang="en-US" sz="1800" b="0" u="none" strike="noStrike">
              <a:solidFill>
                <a:srgbClr val="000000"/>
              </a:solidFill>
              <a:effectLst/>
              <a:uFillTx/>
              <a:latin typeface="Arial"/>
            </a:endParaRPr>
          </a:p>
        </p:txBody>
      </p:sp>
      <p:sp>
        <p:nvSpPr>
          <p:cNvPr id="803"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804"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7.9.2 </a:t>
            </a:r>
            <a:r>
              <a:rPr lang="zh-CN" sz="2400" b="0" u="none" strike="noStrike">
                <a:solidFill>
                  <a:srgbClr val="d9d9d9"/>
                </a:solidFill>
                <a:effectLst/>
                <a:uFillTx/>
                <a:latin typeface="Bodoni MT Black"/>
              </a:rPr>
              <a:t>估算平均无障碍时间的方法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5"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7.9 </a:t>
            </a:r>
            <a:r>
              <a:rPr lang="zh-CN" sz="4400" b="1" u="none" strike="noStrike">
                <a:solidFill>
                  <a:schemeClr val="dk1"/>
                </a:solidFill>
                <a:effectLst/>
                <a:uFillTx/>
                <a:latin typeface="Bodoni MT Black"/>
              </a:rPr>
              <a:t>软件可靠性</a:t>
            </a:r>
            <a:endParaRPr lang="es-ES" sz="4400" b="0" u="none" strike="noStrike">
              <a:solidFill>
                <a:schemeClr val="dk1"/>
              </a:solidFill>
              <a:effectLst/>
              <a:uFillTx/>
              <a:latin typeface="Arial"/>
            </a:endParaRPr>
          </a:p>
        </p:txBody>
      </p:sp>
      <p:sp>
        <p:nvSpPr>
          <p:cNvPr id="806" name="TextBox 7"/>
          <p:cNvSpPr/>
          <p:nvPr/>
        </p:nvSpPr>
        <p:spPr>
          <a:xfrm>
            <a:off x="251640" y="980640"/>
            <a:ext cx="8640720" cy="47088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1" u="none" strike="noStrike">
                <a:solidFill>
                  <a:schemeClr val="dk1"/>
                </a:solidFill>
                <a:effectLst/>
                <a:uFillTx/>
                <a:latin typeface="Bodoni MT Black"/>
                <a:ea typeface="宋体"/>
              </a:rPr>
              <a:t>4.  </a:t>
            </a:r>
            <a:r>
              <a:rPr lang="zh-CN" sz="2400" b="1" u="none" strike="noStrike">
                <a:solidFill>
                  <a:schemeClr val="dk1"/>
                </a:solidFill>
                <a:effectLst/>
                <a:uFillTx/>
                <a:latin typeface="Bodoni MT Black"/>
                <a:ea typeface="宋体"/>
              </a:rPr>
              <a:t>估计错误总数的方法</a:t>
            </a:r>
            <a:endParaRPr lang="en-US" sz="2400" b="0" u="none" strike="noStrike">
              <a:solidFill>
                <a:srgbClr val="000000"/>
              </a:solidFill>
              <a:effectLst/>
              <a:uFillTx/>
              <a:latin typeface="Arial"/>
            </a:endParaRPr>
          </a:p>
          <a:p>
            <a:pPr>
              <a:lnSpc>
                <a:spcPct val="125000"/>
              </a:lnSpc>
              <a:tabLst>
                <a:tab algn="l" pos="0"/>
              </a:tabLst>
            </a:pPr>
            <a:r>
              <a:rPr lang="en-US" sz="2400" b="1" u="none" strike="noStrike">
                <a:solidFill>
                  <a:schemeClr val="dk1"/>
                </a:solidFill>
                <a:effectLst/>
                <a:uFillTx/>
                <a:latin typeface="Bodoni MT Black"/>
                <a:ea typeface="宋体"/>
              </a:rPr>
              <a:t>② </a:t>
            </a:r>
            <a:r>
              <a:rPr lang="zh-CN" sz="2400" b="1" u="none" strike="noStrike">
                <a:solidFill>
                  <a:srgbClr val="ff0000"/>
                </a:solidFill>
                <a:effectLst/>
                <a:uFillTx/>
                <a:latin typeface="Bodoni MT Black"/>
                <a:ea typeface="宋体"/>
              </a:rPr>
              <a:t>分别测试法</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     为了随机地给一部分错误加标记，</a:t>
            </a:r>
            <a:r>
              <a:rPr lang="zh-CN" sz="2400" b="1" u="none" strike="noStrike">
                <a:solidFill>
                  <a:srgbClr val="c00000"/>
                </a:solidFill>
                <a:effectLst/>
                <a:uFillTx/>
                <a:latin typeface="Bodoni MT Black"/>
                <a:ea typeface="宋体"/>
              </a:rPr>
              <a:t>分别测试法</a:t>
            </a:r>
            <a:r>
              <a:rPr lang="zh-CN" sz="2400" b="0" u="none" strike="noStrike">
                <a:solidFill>
                  <a:schemeClr val="dk1"/>
                </a:solidFill>
                <a:effectLst/>
                <a:uFillTx/>
                <a:latin typeface="Bodoni MT Black"/>
                <a:ea typeface="宋体"/>
              </a:rPr>
              <a:t>使用两个测试员，</a:t>
            </a:r>
            <a:r>
              <a:rPr lang="zh-CN" sz="2400" b="0" u="none" strike="noStrike">
                <a:solidFill>
                  <a:srgbClr val="ff0000"/>
                </a:solidFill>
                <a:effectLst/>
                <a:uFillTx/>
                <a:latin typeface="Bodoni MT Black"/>
                <a:ea typeface="宋体"/>
              </a:rPr>
              <a:t>彼此独立地测试</a:t>
            </a:r>
            <a:r>
              <a:rPr lang="zh-CN" sz="2400" b="0" u="none" strike="noStrike">
                <a:solidFill>
                  <a:schemeClr val="dk1"/>
                </a:solidFill>
                <a:effectLst/>
                <a:uFillTx/>
                <a:latin typeface="Bodoni MT Black"/>
                <a:ea typeface="宋体"/>
              </a:rPr>
              <a:t>同一个程序的两个副本，</a:t>
            </a:r>
            <a:r>
              <a:rPr lang="zh-CN" sz="2400" b="0" u="none" strike="noStrike">
                <a:solidFill>
                  <a:srgbClr val="ff0000"/>
                </a:solidFill>
                <a:effectLst/>
                <a:uFillTx/>
                <a:latin typeface="Bodoni MT Black"/>
                <a:ea typeface="宋体"/>
              </a:rPr>
              <a:t>把其中一个测试员发现的错误作为有标记的错误</a:t>
            </a:r>
            <a:r>
              <a:rPr lang="zh-CN" sz="2400" b="0" u="none" strike="noStrike">
                <a:solidFill>
                  <a:schemeClr val="dk1"/>
                </a:solidFill>
                <a:effectLst/>
                <a:uFillTx/>
                <a:latin typeface="Bodoni MT Black"/>
                <a:ea typeface="宋体"/>
              </a:rPr>
              <a:t>。由另一名分析员分析他们的测试结果。用</a:t>
            </a:r>
            <a:r>
              <a:rPr lang="en-US" sz="2400" b="1" i="1" u="none" strike="noStrike">
                <a:solidFill>
                  <a:schemeClr val="dk1"/>
                </a:solidFill>
                <a:effectLst/>
                <a:uFillTx/>
                <a:latin typeface="Bodoni MT Black"/>
                <a:ea typeface="宋体"/>
              </a:rPr>
              <a:t>τ</a:t>
            </a:r>
            <a:r>
              <a:rPr lang="zh-CN" sz="2400" b="0" u="none" strike="noStrike">
                <a:solidFill>
                  <a:schemeClr val="dk1"/>
                </a:solidFill>
                <a:effectLst/>
                <a:uFillTx/>
                <a:latin typeface="Bodoni MT Black"/>
                <a:ea typeface="宋体"/>
              </a:rPr>
              <a:t>表示测试时间，假设</a:t>
            </a:r>
            <a:endParaRPr lang="en-US" sz="2400" b="0" u="none" strike="noStrike">
              <a:solidFill>
                <a:srgbClr val="000000"/>
              </a:solidFill>
              <a:effectLst/>
              <a:uFillTx/>
              <a:latin typeface="Arial"/>
            </a:endParaRPr>
          </a:p>
          <a:p>
            <a:pPr marL="972000" indent="-343080">
              <a:lnSpc>
                <a:spcPct val="125000"/>
              </a:lnSpc>
              <a:buClr>
                <a:srgbClr val="000000"/>
              </a:buClr>
              <a:buSzPct val="70000"/>
              <a:buFont typeface="Wingdings" charset="2"/>
              <a:buChar char=""/>
              <a:tabLst>
                <a:tab algn="l" pos="0"/>
              </a:tabLst>
            </a:pPr>
            <a:r>
              <a:rPr lang="en-US" sz="2400" b="1" i="1" u="none" strike="noStrike">
                <a:solidFill>
                  <a:schemeClr val="dk1"/>
                </a:solidFill>
                <a:effectLst/>
                <a:uFillTx/>
                <a:latin typeface="Bodoni MT Black"/>
                <a:ea typeface="宋体"/>
              </a:rPr>
              <a:t>τ</a:t>
            </a:r>
            <a:r>
              <a:rPr lang="en-US" sz="2400" b="0" u="none" strike="noStrike">
                <a:solidFill>
                  <a:schemeClr val="dk1"/>
                </a:solidFill>
                <a:effectLst/>
                <a:uFillTx/>
                <a:latin typeface="Bodoni MT Black"/>
                <a:ea typeface="宋体"/>
              </a:rPr>
              <a:t>=0</a:t>
            </a:r>
            <a:r>
              <a:rPr lang="zh-CN" sz="2400" b="0" u="none" strike="noStrike">
                <a:solidFill>
                  <a:schemeClr val="dk1"/>
                </a:solidFill>
                <a:effectLst/>
                <a:uFillTx/>
                <a:latin typeface="Bodoni MT Black"/>
                <a:ea typeface="宋体"/>
              </a:rPr>
              <a:t>时错误总数为</a:t>
            </a:r>
            <a:r>
              <a:rPr lang="en-US" sz="2400" b="0" i="1" u="none" strike="noStrike">
                <a:solidFill>
                  <a:schemeClr val="dk1"/>
                </a:solidFill>
                <a:effectLst/>
                <a:uFillTx/>
                <a:latin typeface="Bodoni MT Black"/>
                <a:ea typeface="宋体"/>
              </a:rPr>
              <a:t>B</a:t>
            </a:r>
            <a:r>
              <a:rPr lang="en-US" sz="2400" b="0" u="none" strike="noStrike" baseline="-25000">
                <a:solidFill>
                  <a:schemeClr val="dk1"/>
                </a:solidFill>
                <a:effectLst/>
                <a:uFillTx/>
                <a:latin typeface="Bodoni MT Black"/>
                <a:ea typeface="宋体"/>
              </a:rPr>
              <a:t>0</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marL="972000" indent="-343080">
              <a:lnSpc>
                <a:spcPct val="125000"/>
              </a:lnSpc>
              <a:buClr>
                <a:srgbClr val="000000"/>
              </a:buClr>
              <a:buSzPct val="70000"/>
              <a:buFont typeface="Wingdings" charset="2"/>
              <a:buChar char=""/>
              <a:tabLst>
                <a:tab algn="l" pos="0"/>
              </a:tabLst>
            </a:pPr>
            <a:r>
              <a:rPr lang="en-US" sz="2400" b="1" i="1" u="none" strike="noStrike">
                <a:solidFill>
                  <a:schemeClr val="dk1"/>
                </a:solidFill>
                <a:effectLst/>
                <a:uFillTx/>
                <a:latin typeface="Bodoni MT Black"/>
                <a:ea typeface="宋体"/>
              </a:rPr>
              <a:t>τ</a:t>
            </a:r>
            <a:r>
              <a:rPr lang="en-US" sz="2400" b="0" u="none" strike="noStrike">
                <a:solidFill>
                  <a:schemeClr val="dk1"/>
                </a:solidFill>
                <a:effectLst/>
                <a:uFillTx/>
                <a:latin typeface="Bodoni MT Black"/>
                <a:ea typeface="宋体"/>
              </a:rPr>
              <a:t>=</a:t>
            </a:r>
            <a:r>
              <a:rPr lang="en-US" sz="2400" b="1" i="1" u="none" strike="noStrike">
                <a:solidFill>
                  <a:schemeClr val="dk1"/>
                </a:solidFill>
                <a:effectLst/>
                <a:uFillTx/>
                <a:latin typeface="Bodoni MT Black"/>
                <a:ea typeface="宋体"/>
              </a:rPr>
              <a:t>τ</a:t>
            </a:r>
            <a:r>
              <a:rPr lang="en-US" sz="2400" b="0" u="none" strike="noStrike" baseline="-25000">
                <a:solidFill>
                  <a:schemeClr val="dk1"/>
                </a:solidFill>
                <a:effectLst/>
                <a:uFillTx/>
                <a:latin typeface="Bodoni MT Black"/>
                <a:ea typeface="宋体"/>
              </a:rPr>
              <a:t>1</a:t>
            </a:r>
            <a:r>
              <a:rPr lang="zh-CN" sz="2400" b="0" u="none" strike="noStrike">
                <a:solidFill>
                  <a:schemeClr val="dk1"/>
                </a:solidFill>
                <a:effectLst/>
                <a:uFillTx/>
                <a:latin typeface="Bodoni MT Black"/>
                <a:ea typeface="宋体"/>
              </a:rPr>
              <a:t>时测试员甲发现的错误数为</a:t>
            </a:r>
            <a:r>
              <a:rPr lang="en-US" sz="2400" b="0" i="1" u="none" strike="noStrike">
                <a:solidFill>
                  <a:schemeClr val="dk1"/>
                </a:solidFill>
                <a:effectLst/>
                <a:uFillTx/>
                <a:latin typeface="Bodoni MT Black"/>
                <a:ea typeface="宋体"/>
              </a:rPr>
              <a:t>B</a:t>
            </a:r>
            <a:r>
              <a:rPr lang="en-US" sz="2400" b="0" u="none" strike="noStrike" baseline="-25000">
                <a:solidFill>
                  <a:schemeClr val="dk1"/>
                </a:solidFill>
                <a:effectLst/>
                <a:uFillTx/>
                <a:latin typeface="Bodoni MT Black"/>
                <a:ea typeface="宋体"/>
              </a:rPr>
              <a:t>1</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marL="972000" indent="-343080">
              <a:lnSpc>
                <a:spcPct val="125000"/>
              </a:lnSpc>
              <a:buClr>
                <a:srgbClr val="000000"/>
              </a:buClr>
              <a:buSzPct val="70000"/>
              <a:buFont typeface="Wingdings" charset="2"/>
              <a:buChar char=""/>
              <a:tabLst>
                <a:tab algn="l" pos="0"/>
              </a:tabLst>
            </a:pPr>
            <a:r>
              <a:rPr lang="en-US" sz="2400" b="1" i="1" u="none" strike="noStrike">
                <a:solidFill>
                  <a:schemeClr val="dk1"/>
                </a:solidFill>
                <a:effectLst/>
                <a:uFillTx/>
                <a:latin typeface="Bodoni MT Black"/>
                <a:ea typeface="宋体"/>
              </a:rPr>
              <a:t>τ</a:t>
            </a:r>
            <a:r>
              <a:rPr lang="en-US" sz="2400" b="0" u="none" strike="noStrike">
                <a:solidFill>
                  <a:schemeClr val="dk1"/>
                </a:solidFill>
                <a:effectLst/>
                <a:uFillTx/>
                <a:latin typeface="Bodoni MT Black"/>
                <a:ea typeface="宋体"/>
              </a:rPr>
              <a:t>=</a:t>
            </a:r>
            <a:r>
              <a:rPr lang="en-US" sz="2400" b="1" i="1" u="none" strike="noStrike">
                <a:solidFill>
                  <a:schemeClr val="dk1"/>
                </a:solidFill>
                <a:effectLst/>
                <a:uFillTx/>
                <a:latin typeface="Bodoni MT Black"/>
                <a:ea typeface="宋体"/>
              </a:rPr>
              <a:t>τ</a:t>
            </a:r>
            <a:r>
              <a:rPr lang="en-US" sz="2400" b="0" u="none" strike="noStrike" baseline="-25000">
                <a:solidFill>
                  <a:schemeClr val="dk1"/>
                </a:solidFill>
                <a:effectLst/>
                <a:uFillTx/>
                <a:latin typeface="Bodoni MT Black"/>
                <a:ea typeface="宋体"/>
              </a:rPr>
              <a:t>1</a:t>
            </a:r>
            <a:r>
              <a:rPr lang="zh-CN" sz="2400" b="0" u="none" strike="noStrike">
                <a:solidFill>
                  <a:schemeClr val="dk1"/>
                </a:solidFill>
                <a:effectLst/>
                <a:uFillTx/>
                <a:latin typeface="Bodoni MT Black"/>
                <a:ea typeface="宋体"/>
              </a:rPr>
              <a:t>时测试员乙发现的错误数为</a:t>
            </a:r>
            <a:r>
              <a:rPr lang="en-US" sz="2400" b="0" i="1" u="none" strike="noStrike">
                <a:solidFill>
                  <a:schemeClr val="dk1"/>
                </a:solidFill>
                <a:effectLst/>
                <a:uFillTx/>
                <a:latin typeface="Bodoni MT Black"/>
                <a:ea typeface="宋体"/>
              </a:rPr>
              <a:t>B</a:t>
            </a:r>
            <a:r>
              <a:rPr lang="en-US" sz="2400" b="0" u="none" strike="noStrike" baseline="-25000">
                <a:solidFill>
                  <a:schemeClr val="dk1"/>
                </a:solidFill>
                <a:effectLst/>
                <a:uFillTx/>
                <a:latin typeface="Bodoni MT Black"/>
                <a:ea typeface="宋体"/>
              </a:rPr>
              <a:t>2</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marL="972000" indent="-343080">
              <a:lnSpc>
                <a:spcPct val="125000"/>
              </a:lnSpc>
              <a:buClr>
                <a:srgbClr val="000000"/>
              </a:buClr>
              <a:buSzPct val="70000"/>
              <a:buFont typeface="Wingdings" charset="2"/>
              <a:buChar char=""/>
              <a:tabLst>
                <a:tab algn="l" pos="0"/>
              </a:tabLst>
            </a:pPr>
            <a:r>
              <a:rPr lang="en-US" sz="2400" b="1" i="1" u="none" strike="noStrike">
                <a:solidFill>
                  <a:schemeClr val="dk1"/>
                </a:solidFill>
                <a:effectLst/>
                <a:uFillTx/>
                <a:latin typeface="Bodoni MT Black"/>
                <a:ea typeface="宋体"/>
              </a:rPr>
              <a:t>τ</a:t>
            </a:r>
            <a:r>
              <a:rPr lang="en-US" sz="2400" b="0" u="none" strike="noStrike">
                <a:solidFill>
                  <a:schemeClr val="dk1"/>
                </a:solidFill>
                <a:effectLst/>
                <a:uFillTx/>
                <a:latin typeface="Bodoni MT Black"/>
                <a:ea typeface="宋体"/>
              </a:rPr>
              <a:t>=</a:t>
            </a:r>
            <a:r>
              <a:rPr lang="en-US" sz="2400" b="1" i="1" u="none" strike="noStrike">
                <a:solidFill>
                  <a:schemeClr val="dk1"/>
                </a:solidFill>
                <a:effectLst/>
                <a:uFillTx/>
                <a:latin typeface="Bodoni MT Black"/>
                <a:ea typeface="宋体"/>
              </a:rPr>
              <a:t>τ</a:t>
            </a:r>
            <a:r>
              <a:rPr lang="en-US" sz="2400" b="0" u="none" strike="noStrike" baseline="-25000">
                <a:solidFill>
                  <a:schemeClr val="dk1"/>
                </a:solidFill>
                <a:effectLst/>
                <a:uFillTx/>
                <a:latin typeface="Bodoni MT Black"/>
                <a:ea typeface="宋体"/>
              </a:rPr>
              <a:t>1</a:t>
            </a:r>
            <a:r>
              <a:rPr lang="zh-CN" sz="2400" b="0" u="none" strike="noStrike">
                <a:solidFill>
                  <a:schemeClr val="dk1"/>
                </a:solidFill>
                <a:effectLst/>
                <a:uFillTx/>
                <a:latin typeface="Bodoni MT Black"/>
                <a:ea typeface="宋体"/>
              </a:rPr>
              <a:t>时两个测试员发现的相同错误数为</a:t>
            </a:r>
            <a:r>
              <a:rPr lang="en-US" sz="2400" b="0" i="1" u="none" strike="noStrike">
                <a:solidFill>
                  <a:schemeClr val="dk1"/>
                </a:solidFill>
                <a:effectLst/>
                <a:uFillTx/>
                <a:latin typeface="Bodoni MT Black"/>
                <a:ea typeface="宋体"/>
              </a:rPr>
              <a:t>b</a:t>
            </a:r>
            <a:r>
              <a:rPr lang="en-US" sz="2400" b="0" i="1" u="none" strike="noStrike" baseline="-25000">
                <a:solidFill>
                  <a:schemeClr val="dk1"/>
                </a:solidFill>
                <a:effectLst/>
                <a:uFillTx/>
                <a:latin typeface="Bodoni MT Black"/>
                <a:ea typeface="宋体"/>
              </a:rPr>
              <a:t>c</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807"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808"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7.9.2 </a:t>
            </a:r>
            <a:r>
              <a:rPr lang="zh-CN" sz="2400" b="0" u="none" strike="noStrike">
                <a:solidFill>
                  <a:srgbClr val="d9d9d9"/>
                </a:solidFill>
                <a:effectLst/>
                <a:uFillTx/>
                <a:latin typeface="Bodoni MT Black"/>
              </a:rPr>
              <a:t>估算平均无障碍时间的方法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9" name="PlaceHolder 1"/>
          <p:cNvSpPr>
            <a:spLocks noGrp="1"/>
          </p:cNvSpPr>
          <p:nvPr>
            <p:ph type="title"/>
          </p:nvPr>
        </p:nvSpPr>
        <p:spPr>
          <a:xfrm>
            <a:off x="45720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7.9 </a:t>
            </a:r>
            <a:r>
              <a:rPr lang="zh-CN" sz="4400" b="1" u="none" strike="noStrike">
                <a:solidFill>
                  <a:schemeClr val="dk1"/>
                </a:solidFill>
                <a:effectLst/>
                <a:uFillTx/>
                <a:latin typeface="Bodoni MT Black"/>
              </a:rPr>
              <a:t>软件可靠性</a:t>
            </a:r>
            <a:endParaRPr lang="es-ES" sz="4400" b="0" u="none" strike="noStrike">
              <a:solidFill>
                <a:schemeClr val="dk1"/>
              </a:solidFill>
              <a:effectLst/>
              <a:uFillTx/>
              <a:latin typeface="Arial"/>
            </a:endParaRPr>
          </a:p>
        </p:txBody>
      </p:sp>
      <p:sp>
        <p:nvSpPr>
          <p:cNvPr id="810" name="TextBox 7"/>
          <p:cNvSpPr/>
          <p:nvPr/>
        </p:nvSpPr>
        <p:spPr>
          <a:xfrm>
            <a:off x="251640" y="980640"/>
            <a:ext cx="8640720" cy="404856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r>
              <a:rPr lang="en-US" sz="1800" b="0" u="none" strike="noStrike">
                <a:solidFill>
                  <a:srgbClr val="ffffff">
                    <a:alpha val="1000"/>
                  </a:srgbClr>
                </a:solidFill>
                <a:effectLst/>
                <a:uFillTx/>
                <a:latin typeface="Arial"/>
                <a:ea typeface="宋体"/>
              </a:rPr>
              <a:t> </a:t>
            </a:r>
            <a:endParaRPr lang="en-US" sz="1800" b="0" u="none" strike="noStrike">
              <a:solidFill>
                <a:srgbClr val="000000"/>
              </a:solidFill>
              <a:effectLst/>
              <a:uFillTx/>
              <a:latin typeface="Arial"/>
            </a:endParaRPr>
          </a:p>
        </p:txBody>
      </p:sp>
      <p:sp>
        <p:nvSpPr>
          <p:cNvPr id="811"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
        <p:nvSpPr>
          <p:cNvPr id="812"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7.9.2 </a:t>
            </a:r>
            <a:r>
              <a:rPr lang="zh-CN" sz="2400" b="0" u="none" strike="noStrike">
                <a:solidFill>
                  <a:srgbClr val="d9d9d9"/>
                </a:solidFill>
                <a:effectLst/>
                <a:uFillTx/>
                <a:latin typeface="Bodoni MT Black"/>
              </a:rPr>
              <a:t>估算平均无障碍时间的方法</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3" name="PlaceHolder 1"/>
          <p:cNvSpPr>
            <a:spLocks noGrp="1"/>
          </p:cNvSpPr>
          <p:nvPr>
            <p:ph type="title"/>
          </p:nvPr>
        </p:nvSpPr>
        <p:spPr>
          <a:xfrm>
            <a:off x="2210760" y="-180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zh-CN" sz="4400" b="1" u="none" strike="noStrike">
                <a:solidFill>
                  <a:schemeClr val="dk1"/>
                </a:solidFill>
                <a:effectLst/>
                <a:uFillTx/>
                <a:latin typeface="Bodoni MT Black"/>
              </a:rPr>
              <a:t>本章小结</a:t>
            </a:r>
            <a:endParaRPr lang="es-ES" sz="4400" b="0" u="none" strike="noStrike">
              <a:solidFill>
                <a:schemeClr val="dk1"/>
              </a:solidFill>
              <a:effectLst/>
              <a:uFillTx/>
              <a:latin typeface="Arial"/>
            </a:endParaRPr>
          </a:p>
        </p:txBody>
      </p:sp>
      <p:sp>
        <p:nvSpPr>
          <p:cNvPr id="814" name="PlaceHolder 2"/>
          <p:cNvSpPr>
            <a:spLocks noGrp="1"/>
          </p:cNvSpPr>
          <p:nvPr>
            <p:ph/>
          </p:nvPr>
        </p:nvSpPr>
        <p:spPr>
          <a:xfrm>
            <a:off x="287280" y="0"/>
            <a:ext cx="8712720" cy="5256000"/>
          </a:xfrm>
          <a:prstGeom prst="rect">
            <a:avLst/>
          </a:prstGeom>
          <a:noFill/>
          <a:ln w="9360">
            <a:noFill/>
          </a:ln>
        </p:spPr>
        <p:txBody>
          <a:bodyPr numCol="1" spcCol="0" lIns="91440" rIns="91440" tIns="45720" bIns="45720" anchor="t">
            <a:noAutofit/>
          </a:bodyPr>
          <a:p>
            <a:pPr indent="0">
              <a:lnSpc>
                <a:spcPct val="125000"/>
              </a:lnSpc>
              <a:spcBef>
                <a:spcPts val="601"/>
              </a:spcBef>
              <a:buNone/>
              <a:tabLst>
                <a:tab algn="l" pos="0"/>
              </a:tabLst>
            </a:pPr>
            <a:r>
              <a:rPr lang="en-US" sz="2400" b="0" u="none" strike="noStrike">
                <a:solidFill>
                  <a:schemeClr val="dk1"/>
                </a:solidFill>
                <a:effectLst/>
                <a:uFillTx/>
                <a:latin typeface="Bodoni MT Black"/>
              </a:rPr>
              <a:t>1. </a:t>
            </a:r>
            <a:r>
              <a:rPr lang="zh-CN" sz="2400" b="0" u="none" strike="noStrike">
                <a:solidFill>
                  <a:schemeClr val="dk1"/>
                </a:solidFill>
                <a:effectLst/>
                <a:uFillTx/>
                <a:latin typeface="Bodoni MT Black"/>
              </a:rPr>
              <a:t>实现包括</a:t>
            </a:r>
            <a:r>
              <a:rPr lang="zh-CN" sz="2400" b="0" u="none" strike="noStrike">
                <a:solidFill>
                  <a:srgbClr val="ff0000"/>
                </a:solidFill>
                <a:effectLst/>
                <a:uFillTx/>
                <a:latin typeface="Bodoni MT Black"/>
              </a:rPr>
              <a:t>编码</a:t>
            </a:r>
            <a:r>
              <a:rPr lang="zh-CN" sz="2400" b="0" u="none" strike="noStrike">
                <a:solidFill>
                  <a:schemeClr val="dk1"/>
                </a:solidFill>
                <a:effectLst/>
                <a:uFillTx/>
                <a:latin typeface="Bodoni MT Black"/>
              </a:rPr>
              <a:t>和</a:t>
            </a:r>
            <a:r>
              <a:rPr lang="zh-CN" sz="2400" b="0" u="none" strike="noStrike">
                <a:solidFill>
                  <a:srgbClr val="ff0000"/>
                </a:solidFill>
                <a:effectLst/>
                <a:uFillTx/>
                <a:latin typeface="Bodoni MT Black"/>
              </a:rPr>
              <a:t>测试</a:t>
            </a:r>
            <a:r>
              <a:rPr lang="zh-CN" sz="2400" b="0" u="none" strike="noStrike">
                <a:solidFill>
                  <a:schemeClr val="dk1"/>
                </a:solidFill>
                <a:effectLst/>
                <a:uFillTx/>
                <a:latin typeface="Bodoni MT Black"/>
              </a:rPr>
              <a:t>两个阶段。</a:t>
            </a:r>
            <a:endParaRPr lang="es-ES" sz="2400" b="0" u="none" strike="noStrike">
              <a:solidFill>
                <a:schemeClr val="dk1"/>
              </a:solidFill>
              <a:effectLst/>
              <a:uFillTx/>
              <a:latin typeface="Calibri"/>
            </a:endParaRPr>
          </a:p>
          <a:p>
            <a:pPr indent="0">
              <a:lnSpc>
                <a:spcPct val="125000"/>
              </a:lnSpc>
              <a:spcBef>
                <a:spcPts val="601"/>
              </a:spcBef>
              <a:buNone/>
              <a:tabLst>
                <a:tab algn="l" pos="0"/>
              </a:tabLst>
            </a:pPr>
            <a:r>
              <a:rPr lang="en-US" sz="2400" b="0" u="none" strike="noStrike">
                <a:solidFill>
                  <a:schemeClr val="dk1"/>
                </a:solidFill>
                <a:effectLst/>
                <a:uFillTx/>
                <a:latin typeface="Bodoni MT Black"/>
              </a:rPr>
              <a:t>2. </a:t>
            </a:r>
            <a:r>
              <a:rPr lang="zh-CN" sz="2400" b="0" u="none" strike="noStrike">
                <a:solidFill>
                  <a:srgbClr val="ff0000"/>
                </a:solidFill>
                <a:effectLst/>
                <a:uFillTx/>
                <a:latin typeface="Bodoni MT Black"/>
              </a:rPr>
              <a:t>高级程序设计语言</a:t>
            </a:r>
            <a:r>
              <a:rPr lang="zh-CN" sz="2400" b="0" u="none" strike="noStrike">
                <a:solidFill>
                  <a:schemeClr val="dk1"/>
                </a:solidFill>
                <a:effectLst/>
                <a:uFillTx/>
                <a:latin typeface="Bodoni MT Black"/>
              </a:rPr>
              <a:t>较汇编语言有很多优点。</a:t>
            </a:r>
            <a:endParaRPr lang="es-ES" sz="2400" b="0" u="none" strike="noStrike">
              <a:solidFill>
                <a:schemeClr val="dk1"/>
              </a:solidFill>
              <a:effectLst/>
              <a:uFillTx/>
              <a:latin typeface="Calibri"/>
            </a:endParaRPr>
          </a:p>
          <a:p>
            <a:pPr indent="0">
              <a:lnSpc>
                <a:spcPct val="125000"/>
              </a:lnSpc>
              <a:spcBef>
                <a:spcPts val="601"/>
              </a:spcBef>
              <a:buNone/>
              <a:tabLst>
                <a:tab algn="l" pos="0"/>
              </a:tabLst>
            </a:pPr>
            <a:r>
              <a:rPr lang="en-US" sz="2400" b="0" u="none" strike="noStrike">
                <a:solidFill>
                  <a:schemeClr val="dk1"/>
                </a:solidFill>
                <a:effectLst/>
                <a:uFillTx/>
                <a:latin typeface="Bodoni MT Black"/>
              </a:rPr>
              <a:t>3. </a:t>
            </a:r>
            <a:r>
              <a:rPr lang="zh-CN" sz="2400" b="0" u="none" strike="noStrike">
                <a:solidFill>
                  <a:schemeClr val="dk1"/>
                </a:solidFill>
                <a:effectLst/>
                <a:uFillTx/>
                <a:latin typeface="Bodoni MT Black"/>
              </a:rPr>
              <a:t>软件测试至少分为</a:t>
            </a:r>
            <a:r>
              <a:rPr lang="zh-CN" sz="2400" b="0" u="none" strike="noStrike">
                <a:solidFill>
                  <a:srgbClr val="ff0000"/>
                </a:solidFill>
                <a:effectLst/>
                <a:uFillTx/>
                <a:latin typeface="Bodoni MT Black"/>
              </a:rPr>
              <a:t>单元测试</a:t>
            </a:r>
            <a:r>
              <a:rPr lang="zh-CN" sz="2400" b="0" u="none" strike="noStrike">
                <a:solidFill>
                  <a:schemeClr val="dk1"/>
                </a:solidFill>
                <a:effectLst/>
                <a:uFillTx/>
                <a:latin typeface="Bodoni MT Black"/>
              </a:rPr>
              <a:t>、</a:t>
            </a:r>
            <a:r>
              <a:rPr lang="zh-CN" sz="2400" b="0" u="none" strike="noStrike">
                <a:solidFill>
                  <a:srgbClr val="ff0000"/>
                </a:solidFill>
                <a:effectLst/>
                <a:uFillTx/>
                <a:latin typeface="Bodoni MT Black"/>
              </a:rPr>
              <a:t>集成测试</a:t>
            </a:r>
            <a:r>
              <a:rPr lang="zh-CN" sz="2400" b="0" u="none" strike="noStrike">
                <a:solidFill>
                  <a:schemeClr val="dk1"/>
                </a:solidFill>
                <a:effectLst/>
                <a:uFillTx/>
                <a:latin typeface="Bodoni MT Black"/>
              </a:rPr>
              <a:t>和</a:t>
            </a:r>
            <a:r>
              <a:rPr lang="zh-CN" sz="2400" b="0" u="none" strike="noStrike">
                <a:solidFill>
                  <a:srgbClr val="ff0000"/>
                </a:solidFill>
                <a:effectLst/>
                <a:uFillTx/>
                <a:latin typeface="Bodoni MT Black"/>
              </a:rPr>
              <a:t>验收测试</a:t>
            </a:r>
            <a:r>
              <a:rPr lang="en-US" sz="2400" b="0" u="none" strike="noStrike">
                <a:solidFill>
                  <a:schemeClr val="dk1"/>
                </a:solidFill>
                <a:effectLst/>
                <a:uFillTx/>
                <a:latin typeface="Bodoni MT Black"/>
              </a:rPr>
              <a:t>3</a:t>
            </a:r>
            <a:r>
              <a:rPr lang="zh-CN" sz="2400" b="0" u="none" strike="noStrike">
                <a:solidFill>
                  <a:schemeClr val="dk1"/>
                </a:solidFill>
                <a:effectLst/>
                <a:uFillTx/>
                <a:latin typeface="Bodoni MT Black"/>
              </a:rPr>
              <a:t>个阶段。</a:t>
            </a:r>
            <a:endParaRPr lang="es-ES" sz="2400" b="0" u="none" strike="noStrike">
              <a:solidFill>
                <a:schemeClr val="dk1"/>
              </a:solidFill>
              <a:effectLst/>
              <a:uFillTx/>
              <a:latin typeface="Calibri"/>
            </a:endParaRPr>
          </a:p>
          <a:p>
            <a:pPr indent="0">
              <a:lnSpc>
                <a:spcPct val="125000"/>
              </a:lnSpc>
              <a:spcBef>
                <a:spcPts val="601"/>
              </a:spcBef>
              <a:buNone/>
              <a:tabLst>
                <a:tab algn="l" pos="0"/>
              </a:tabLst>
            </a:pPr>
            <a:r>
              <a:rPr lang="en-US" sz="2400" b="0" u="none" strike="noStrike">
                <a:solidFill>
                  <a:schemeClr val="dk1"/>
                </a:solidFill>
                <a:effectLst/>
                <a:uFillTx/>
                <a:latin typeface="Bodoni MT Black"/>
              </a:rPr>
              <a:t>4. </a:t>
            </a:r>
            <a:r>
              <a:rPr lang="zh-CN" sz="2400" b="0" u="none" strike="noStrike">
                <a:solidFill>
                  <a:schemeClr val="dk1"/>
                </a:solidFill>
                <a:effectLst/>
                <a:uFillTx/>
                <a:latin typeface="Bodoni MT Black"/>
              </a:rPr>
              <a:t>软件测试不仅仅指利用</a:t>
            </a:r>
            <a:r>
              <a:rPr lang="zh-CN" sz="2400" b="0" u="none" strike="noStrike">
                <a:solidFill>
                  <a:srgbClr val="ff0000"/>
                </a:solidFill>
                <a:effectLst/>
                <a:uFillTx/>
                <a:latin typeface="Bodoni MT Black"/>
              </a:rPr>
              <a:t>计算机</a:t>
            </a:r>
            <a:r>
              <a:rPr lang="zh-CN" sz="2400" b="0" u="none" strike="noStrike">
                <a:solidFill>
                  <a:schemeClr val="dk1"/>
                </a:solidFill>
                <a:effectLst/>
                <a:uFillTx/>
                <a:latin typeface="Bodoni MT Black"/>
              </a:rPr>
              <a:t>进行的</a:t>
            </a:r>
            <a:r>
              <a:rPr lang="zh-CN" sz="2400" b="0" u="none" strike="noStrike">
                <a:solidFill>
                  <a:srgbClr val="ff0000"/>
                </a:solidFill>
                <a:effectLst/>
                <a:uFillTx/>
                <a:latin typeface="Bodoni MT Black"/>
              </a:rPr>
              <a:t>测试</a:t>
            </a:r>
            <a:r>
              <a:rPr lang="zh-CN" sz="2400" b="0" u="none" strike="noStrike">
                <a:solidFill>
                  <a:schemeClr val="dk1"/>
                </a:solidFill>
                <a:effectLst/>
                <a:uFillTx/>
                <a:latin typeface="Bodoni MT Black"/>
              </a:rPr>
              <a:t>，还包括</a:t>
            </a:r>
            <a:r>
              <a:rPr lang="zh-CN" sz="2400" b="0" u="none" strike="noStrike">
                <a:solidFill>
                  <a:srgbClr val="ff0000"/>
                </a:solidFill>
                <a:effectLst/>
                <a:uFillTx/>
                <a:latin typeface="Bodoni MT Black"/>
              </a:rPr>
              <a:t>人工</a:t>
            </a:r>
            <a:r>
              <a:rPr lang="zh-CN" sz="2400" b="0" u="none" strike="noStrike">
                <a:solidFill>
                  <a:schemeClr val="dk1"/>
                </a:solidFill>
                <a:effectLst/>
                <a:uFillTx/>
                <a:latin typeface="Bodoni MT Black"/>
              </a:rPr>
              <a:t>进行的</a:t>
            </a:r>
            <a:r>
              <a:rPr lang="zh-CN" sz="2400" b="0" u="none" strike="noStrike">
                <a:solidFill>
                  <a:srgbClr val="ff0000"/>
                </a:solidFill>
                <a:effectLst/>
                <a:uFillTx/>
                <a:latin typeface="Bodoni MT Black"/>
              </a:rPr>
              <a:t>测试</a:t>
            </a:r>
            <a:r>
              <a:rPr lang="zh-CN" sz="2400" b="0" u="none" strike="noStrike">
                <a:solidFill>
                  <a:schemeClr val="dk1"/>
                </a:solidFill>
                <a:effectLst/>
                <a:uFillTx/>
                <a:latin typeface="Bodoni MT Black"/>
              </a:rPr>
              <a:t>（如代码审查）。</a:t>
            </a:r>
            <a:endParaRPr lang="es-ES" sz="2400" b="0" u="none" strike="noStrike">
              <a:solidFill>
                <a:schemeClr val="dk1"/>
              </a:solidFill>
              <a:effectLst/>
              <a:uFillTx/>
              <a:latin typeface="Calibri"/>
            </a:endParaRPr>
          </a:p>
          <a:p>
            <a:pPr indent="0">
              <a:lnSpc>
                <a:spcPct val="125000"/>
              </a:lnSpc>
              <a:spcBef>
                <a:spcPts val="601"/>
              </a:spcBef>
              <a:buNone/>
              <a:tabLst>
                <a:tab algn="l" pos="0"/>
              </a:tabLst>
            </a:pPr>
            <a:r>
              <a:rPr lang="en-US" sz="2400" b="0" u="none" strike="noStrike">
                <a:solidFill>
                  <a:schemeClr val="dk1"/>
                </a:solidFill>
                <a:effectLst/>
                <a:uFillTx/>
                <a:latin typeface="Bodoni MT Black"/>
              </a:rPr>
              <a:t>5. </a:t>
            </a:r>
            <a:r>
              <a:rPr lang="zh-CN" sz="2400" b="0" u="none" strike="noStrike">
                <a:solidFill>
                  <a:srgbClr val="ff0000"/>
                </a:solidFill>
                <a:effectLst/>
                <a:uFillTx/>
                <a:latin typeface="Bodoni MT Black"/>
              </a:rPr>
              <a:t>白盒测试</a:t>
            </a:r>
            <a:r>
              <a:rPr lang="zh-CN" sz="2400" b="0" u="none" strike="noStrike">
                <a:solidFill>
                  <a:schemeClr val="dk1"/>
                </a:solidFill>
                <a:effectLst/>
                <a:uFillTx/>
                <a:latin typeface="Bodoni MT Black"/>
              </a:rPr>
              <a:t>和</a:t>
            </a:r>
            <a:r>
              <a:rPr lang="zh-CN" sz="2400" b="0" u="none" strike="noStrike">
                <a:solidFill>
                  <a:srgbClr val="ff0000"/>
                </a:solidFill>
                <a:effectLst/>
                <a:uFillTx/>
                <a:latin typeface="Bodoni MT Black"/>
              </a:rPr>
              <a:t>黑盒测试</a:t>
            </a:r>
            <a:r>
              <a:rPr lang="zh-CN" sz="2400" b="0" u="none" strike="noStrike">
                <a:solidFill>
                  <a:schemeClr val="dk1"/>
                </a:solidFill>
                <a:effectLst/>
                <a:uFillTx/>
                <a:latin typeface="Bodoni MT Black"/>
              </a:rPr>
              <a:t>是软件测试的两类基本方法，设计白盒测试方案的技术主要有，</a:t>
            </a:r>
            <a:r>
              <a:rPr lang="zh-CN" sz="2400" b="0" u="none" strike="noStrike">
                <a:solidFill>
                  <a:srgbClr val="ff0000"/>
                </a:solidFill>
                <a:effectLst/>
                <a:uFillTx/>
                <a:latin typeface="Bodoni MT Black"/>
              </a:rPr>
              <a:t>逻辑覆盖</a:t>
            </a:r>
            <a:r>
              <a:rPr lang="zh-CN" sz="2400" b="0" u="none" strike="noStrike">
                <a:solidFill>
                  <a:schemeClr val="dk1"/>
                </a:solidFill>
                <a:effectLst/>
                <a:uFillTx/>
                <a:latin typeface="Bodoni MT Black"/>
              </a:rPr>
              <a:t>和</a:t>
            </a:r>
            <a:r>
              <a:rPr lang="zh-CN" sz="2400" b="0" u="none" strike="noStrike">
                <a:solidFill>
                  <a:srgbClr val="ff0000"/>
                </a:solidFill>
                <a:effectLst/>
                <a:uFillTx/>
                <a:latin typeface="Bodoni MT Black"/>
              </a:rPr>
              <a:t>控制结构测试</a:t>
            </a:r>
            <a:r>
              <a:rPr lang="zh-CN" sz="2400" b="0" u="none" strike="noStrike">
                <a:solidFill>
                  <a:schemeClr val="dk1"/>
                </a:solidFill>
                <a:effectLst/>
                <a:uFillTx/>
                <a:latin typeface="Bodoni MT Black"/>
              </a:rPr>
              <a:t>；设计黑盒测试方案的技术主要有，</a:t>
            </a:r>
            <a:r>
              <a:rPr lang="zh-CN" sz="2400" b="0" u="none" strike="noStrike">
                <a:solidFill>
                  <a:srgbClr val="ff0000"/>
                </a:solidFill>
                <a:effectLst/>
                <a:uFillTx/>
                <a:latin typeface="Bodoni MT Black"/>
              </a:rPr>
              <a:t>等价划分</a:t>
            </a:r>
            <a:r>
              <a:rPr lang="zh-CN" sz="2400" b="0" u="none" strike="noStrike">
                <a:solidFill>
                  <a:schemeClr val="dk1"/>
                </a:solidFill>
                <a:effectLst/>
                <a:uFillTx/>
                <a:latin typeface="Bodoni MT Black"/>
              </a:rPr>
              <a:t>、</a:t>
            </a:r>
            <a:r>
              <a:rPr lang="zh-CN" sz="2400" b="0" u="none" strike="noStrike">
                <a:solidFill>
                  <a:srgbClr val="ff0000"/>
                </a:solidFill>
                <a:effectLst/>
                <a:uFillTx/>
                <a:latin typeface="Bodoni MT Black"/>
              </a:rPr>
              <a:t>边界值分析</a:t>
            </a:r>
            <a:r>
              <a:rPr lang="zh-CN" sz="2400" b="0" u="none" strike="noStrike">
                <a:solidFill>
                  <a:schemeClr val="dk1"/>
                </a:solidFill>
                <a:effectLst/>
                <a:uFillTx/>
                <a:latin typeface="Bodoni MT Black"/>
              </a:rPr>
              <a:t>和</a:t>
            </a:r>
            <a:r>
              <a:rPr lang="zh-CN" sz="2400" b="0" u="none" strike="noStrike">
                <a:solidFill>
                  <a:srgbClr val="ff0000"/>
                </a:solidFill>
                <a:effectLst/>
                <a:uFillTx/>
                <a:latin typeface="Bodoni MT Black"/>
              </a:rPr>
              <a:t>错误推测</a:t>
            </a:r>
            <a:r>
              <a:rPr lang="zh-CN" sz="2400" b="0" u="none" strike="noStrike">
                <a:solidFill>
                  <a:schemeClr val="dk1"/>
                </a:solidFill>
                <a:effectLst/>
                <a:uFillTx/>
                <a:latin typeface="Bodoni MT Black"/>
              </a:rPr>
              <a:t>。</a:t>
            </a:r>
            <a:endParaRPr lang="es-ES" sz="2400" b="0" u="none" strike="noStrike">
              <a:solidFill>
                <a:schemeClr val="dk1"/>
              </a:solidFill>
              <a:effectLst/>
              <a:uFillTx/>
              <a:latin typeface="Calibri"/>
            </a:endParaRPr>
          </a:p>
          <a:p>
            <a:pPr indent="0">
              <a:lnSpc>
                <a:spcPct val="125000"/>
              </a:lnSpc>
              <a:spcBef>
                <a:spcPts val="601"/>
              </a:spcBef>
              <a:buNone/>
              <a:tabLst>
                <a:tab algn="l" pos="0"/>
              </a:tabLst>
            </a:pPr>
            <a:r>
              <a:rPr lang="en-US" sz="2400" b="0" u="none" strike="noStrike">
                <a:solidFill>
                  <a:schemeClr val="dk1"/>
                </a:solidFill>
                <a:effectLst/>
                <a:uFillTx/>
                <a:latin typeface="Bodoni MT Black"/>
              </a:rPr>
              <a:t>6. </a:t>
            </a:r>
            <a:r>
              <a:rPr lang="zh-CN" sz="2400" b="0" u="none" strike="noStrike">
                <a:solidFill>
                  <a:schemeClr val="dk1"/>
                </a:solidFill>
                <a:effectLst/>
                <a:uFillTx/>
                <a:latin typeface="Bodoni MT Black"/>
              </a:rPr>
              <a:t>及时改正测试过程中发现的软件错误就是</a:t>
            </a:r>
            <a:r>
              <a:rPr lang="zh-CN" sz="2400" b="0" u="none" strike="noStrike">
                <a:solidFill>
                  <a:srgbClr val="ff0000"/>
                </a:solidFill>
                <a:effectLst/>
                <a:uFillTx/>
                <a:latin typeface="Bodoni MT Black"/>
              </a:rPr>
              <a:t>调试</a:t>
            </a:r>
            <a:r>
              <a:rPr lang="zh-CN" sz="2400" b="0" u="none" strike="noStrike">
                <a:solidFill>
                  <a:schemeClr val="dk1"/>
                </a:solidFill>
                <a:effectLst/>
                <a:uFillTx/>
                <a:latin typeface="Bodoni MT Black"/>
              </a:rPr>
              <a:t>的任务。</a:t>
            </a:r>
            <a:endParaRPr lang="es-ES" sz="2400" b="0" u="none" strike="noStrike">
              <a:solidFill>
                <a:schemeClr val="dk1"/>
              </a:solidFill>
              <a:effectLst/>
              <a:uFillTx/>
              <a:latin typeface="Calibri"/>
            </a:endParaRPr>
          </a:p>
          <a:p>
            <a:pPr indent="0">
              <a:lnSpc>
                <a:spcPct val="125000"/>
              </a:lnSpc>
              <a:spcBef>
                <a:spcPts val="601"/>
              </a:spcBef>
              <a:buNone/>
              <a:tabLst>
                <a:tab algn="l" pos="0"/>
              </a:tabLst>
            </a:pPr>
            <a:r>
              <a:rPr lang="en-US" sz="2400" b="0" u="none" strike="noStrike">
                <a:solidFill>
                  <a:schemeClr val="dk1"/>
                </a:solidFill>
                <a:effectLst/>
                <a:uFillTx/>
                <a:latin typeface="Bodoni MT Black"/>
              </a:rPr>
              <a:t>7. </a:t>
            </a:r>
            <a:r>
              <a:rPr lang="zh-CN" sz="2400" b="0" u="none" strike="noStrike">
                <a:solidFill>
                  <a:schemeClr val="dk1"/>
                </a:solidFill>
                <a:effectLst/>
                <a:uFillTx/>
                <a:latin typeface="Bodoni MT Black"/>
              </a:rPr>
              <a:t>程序中潜藏的错误的数目，直接决定了软件的</a:t>
            </a:r>
            <a:r>
              <a:rPr lang="zh-CN" sz="2400" b="0" u="none" strike="noStrike">
                <a:solidFill>
                  <a:srgbClr val="ff0000"/>
                </a:solidFill>
                <a:effectLst/>
                <a:uFillTx/>
                <a:latin typeface="Bodoni MT Black"/>
              </a:rPr>
              <a:t>可靠性</a:t>
            </a:r>
            <a:r>
              <a:rPr lang="zh-CN" sz="2400" b="0" u="none" strike="noStrike">
                <a:solidFill>
                  <a:schemeClr val="dk1"/>
                </a:solidFill>
                <a:effectLst/>
                <a:uFillTx/>
                <a:latin typeface="Bodoni MT Black"/>
              </a:rPr>
              <a:t>。通过测试可以估算出程序中剩余的错误数。</a:t>
            </a:r>
            <a:endParaRPr lang="es-ES" sz="2400" b="0" u="none" strike="noStrike">
              <a:solidFill>
                <a:schemeClr val="dk1"/>
              </a:solidFill>
              <a:effectLst/>
              <a:uFillTx/>
              <a:latin typeface="Calibri"/>
            </a:endParaRPr>
          </a:p>
        </p:txBody>
      </p:sp>
      <p:sp>
        <p:nvSpPr>
          <p:cNvPr id="815"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本章小结</a:t>
            </a:r>
            <a:endParaRPr lang="en-US" sz="2400" b="0" u="none" strike="noStrike">
              <a:solidFill>
                <a:srgbClr val="000000"/>
              </a:solidFill>
              <a:effectLst/>
              <a:uFillTx/>
              <a:latin typeface="Arial"/>
            </a:endParaRPr>
          </a:p>
        </p:txBody>
      </p:sp>
      <p:sp>
        <p:nvSpPr>
          <p:cNvPr id="816" name="1 Título"/>
          <p:cNvSpPr/>
          <p:nvPr/>
        </p:nvSpPr>
        <p:spPr>
          <a:xfrm>
            <a:off x="0" y="6291360"/>
            <a:ext cx="2315880" cy="460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7</a:t>
            </a:r>
            <a:r>
              <a:rPr lang="zh-CN" sz="2400" b="0" u="none" strike="noStrike">
                <a:solidFill>
                  <a:srgbClr val="d9d9d9"/>
                </a:solidFill>
                <a:effectLst/>
                <a:uFillTx/>
                <a:latin typeface="Bodoni MT Black"/>
              </a:rPr>
              <a:t>章　实现</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20075</TotalTime>
  <Application>LibreOffice/25.8.6.2$Windows_X86_64 LibreOffice_project/b4b39682cd9868fa725bc664aff94278d315bd04</Application>
  <AppVersion>15.0000</AppVersion>
  <Words>25531</Words>
  <Paragraphs>1465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2010-06-24T19:27:56Z</dcterms:created>
  <dc:creator>Design</dc:creator>
  <dc:description/>
  <dc:language>zh-CN</dc:language>
  <cp:lastModifiedBy/>
  <dcterms:modified xsi:type="dcterms:W3CDTF">2026-05-23T20:25:01Z</dcterms:modified>
  <cp:revision>1354</cp:revision>
  <dc:subject/>
  <dc:title>©MediaInteractive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130</vt:i4>
  </property>
  <property fmtid="{D5CDD505-2E9C-101B-9397-08002B2CF9AE}" pid="3" name="PresentationFormat">
    <vt:lpwstr>全屏显示(4:3)</vt:lpwstr>
  </property>
  <property fmtid="{D5CDD505-2E9C-101B-9397-08002B2CF9AE}" pid="4" name="Slides">
    <vt:i4>132</vt:i4>
  </property>
</Properties>
</file>