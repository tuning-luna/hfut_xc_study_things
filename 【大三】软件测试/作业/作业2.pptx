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8" r:id="rId2"/>
    <p:sldId id="264" r:id="rId3"/>
    <p:sldId id="265" r:id="rId4"/>
    <p:sldId id="266" r:id="rId5"/>
  </p:sldIdLst>
  <p:sldSz cx="9144000" cy="6858000" type="screen4x3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04" autoAdjust="0"/>
  </p:normalViewPr>
  <p:slideViewPr>
    <p:cSldViewPr showGuides="1">
      <p:cViewPr varScale="1">
        <p:scale>
          <a:sx n="61" d="100"/>
          <a:sy n="61" d="100"/>
        </p:scale>
        <p:origin x="1011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9B93B-652B-4356-9BCA-B0D4C07CA34A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DB690-C4FE-42BD-8649-EE6496D562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DDB690-C4FE-42BD-8649-EE6496D5622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DDB690-C4FE-42BD-8649-EE6496D5622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05711-7B74-4776-B0C2-418A6CA5A8B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05711-7B74-4776-B0C2-418A6CA5A8B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E243-8794-4BDC-BFAE-5250FE5915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3310" y="164961"/>
            <a:ext cx="8585154" cy="1470025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/>
              <a:t>4-3  </a:t>
            </a:r>
            <a:r>
              <a:rPr lang="zh-CN" altLang="en-US" sz="2800" b="1" dirty="0"/>
              <a:t>画出下列伪码程序的程序框图，设计语句覆盖和路径覆盖的测试用例。</a:t>
            </a:r>
          </a:p>
        </p:txBody>
      </p:sp>
      <p:sp>
        <p:nvSpPr>
          <p:cNvPr id="3" name="矩形 2"/>
          <p:cNvSpPr/>
          <p:nvPr/>
        </p:nvSpPr>
        <p:spPr>
          <a:xfrm>
            <a:off x="3942444" y="917703"/>
            <a:ext cx="5184576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</a:rPr>
              <a:t>START</a:t>
            </a:r>
          </a:p>
          <a:p>
            <a:r>
              <a:rPr lang="en-US" altLang="zh-CN" sz="2400" b="1" dirty="0">
                <a:latin typeface="+mn-ea"/>
              </a:rPr>
              <a:t>INPUT(A,B,C)</a:t>
            </a:r>
          </a:p>
          <a:p>
            <a:r>
              <a:rPr lang="en-US" altLang="zh-CN" sz="2400" b="1" dirty="0">
                <a:latin typeface="+mn-ea"/>
              </a:rPr>
              <a:t>IF A&gt;5</a:t>
            </a:r>
          </a:p>
          <a:p>
            <a:r>
              <a:rPr lang="en-US" altLang="zh-CN" sz="2400" b="1" dirty="0">
                <a:latin typeface="+mn-ea"/>
              </a:rPr>
              <a:t>   THEN X=10</a:t>
            </a:r>
          </a:p>
          <a:p>
            <a:r>
              <a:rPr lang="en-US" altLang="zh-CN" sz="2400" b="1" dirty="0">
                <a:latin typeface="+mn-ea"/>
              </a:rPr>
              <a:t>   ELSE X=1</a:t>
            </a:r>
          </a:p>
          <a:p>
            <a:r>
              <a:rPr lang="en-US" altLang="zh-CN" sz="2400" b="1" dirty="0">
                <a:latin typeface="+mn-ea"/>
              </a:rPr>
              <a:t>ENDIF</a:t>
            </a:r>
          </a:p>
          <a:p>
            <a:r>
              <a:rPr lang="en-US" altLang="zh-CN" sz="2400" b="1" dirty="0">
                <a:latin typeface="+mn-ea"/>
              </a:rPr>
              <a:t>IF B&gt;10</a:t>
            </a:r>
          </a:p>
          <a:p>
            <a:r>
              <a:rPr lang="en-US" altLang="zh-CN" sz="2400" b="1" dirty="0">
                <a:latin typeface="+mn-ea"/>
              </a:rPr>
              <a:t>   THEN Y=20</a:t>
            </a:r>
          </a:p>
          <a:p>
            <a:r>
              <a:rPr lang="en-US" altLang="zh-CN" sz="2400" b="1" dirty="0">
                <a:latin typeface="+mn-ea"/>
              </a:rPr>
              <a:t>   ELSE Y=2</a:t>
            </a:r>
          </a:p>
          <a:p>
            <a:r>
              <a:rPr lang="en-US" altLang="zh-CN" sz="2400" b="1" dirty="0">
                <a:latin typeface="+mn-ea"/>
              </a:rPr>
              <a:t>ENDIF</a:t>
            </a:r>
          </a:p>
          <a:p>
            <a:r>
              <a:rPr lang="en-US" altLang="zh-CN" sz="2400" b="1" dirty="0">
                <a:latin typeface="+mn-ea"/>
              </a:rPr>
              <a:t>IF C&gt;15</a:t>
            </a:r>
          </a:p>
          <a:p>
            <a:r>
              <a:rPr lang="en-US" altLang="zh-CN" sz="2400" b="1" dirty="0">
                <a:latin typeface="+mn-ea"/>
              </a:rPr>
              <a:t>   THEN Z=30</a:t>
            </a:r>
          </a:p>
          <a:p>
            <a:r>
              <a:rPr lang="en-US" altLang="zh-CN" sz="2400" b="1" dirty="0">
                <a:latin typeface="+mn-ea"/>
              </a:rPr>
              <a:t>   ELSE Z=3</a:t>
            </a:r>
          </a:p>
          <a:p>
            <a:r>
              <a:rPr lang="en-US" altLang="zh-CN" sz="2400" b="1" dirty="0">
                <a:latin typeface="+mn-ea"/>
              </a:rPr>
              <a:t>ENDF</a:t>
            </a:r>
          </a:p>
          <a:p>
            <a:r>
              <a:rPr lang="en-US" altLang="zh-CN" sz="2400" b="1" dirty="0">
                <a:latin typeface="+mn-ea"/>
              </a:rPr>
              <a:t>PRINT(X,Y,Z)</a:t>
            </a:r>
          </a:p>
          <a:p>
            <a:r>
              <a:rPr lang="en-US" altLang="zh-CN" sz="2400" b="1" dirty="0">
                <a:latin typeface="+mn-ea"/>
              </a:rPr>
              <a:t>STOP</a:t>
            </a:r>
            <a:endParaRPr lang="zh-CN" altLang="zh-CN" sz="24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3310" y="164961"/>
            <a:ext cx="8585154" cy="1470025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b="1" dirty="0"/>
              <a:t>4-4  </a:t>
            </a:r>
            <a:r>
              <a:rPr lang="zh-CN" altLang="en-US" sz="2800" b="1" dirty="0"/>
              <a:t>针对下面控制流图，写出路径表达式（不循环、循环一次）；再根据路径表达式计算路径数（不循环、循环一次）。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316100" y="1733821"/>
            <a:ext cx="3252005" cy="4203747"/>
            <a:chOff x="2281523" y="1139686"/>
            <a:chExt cx="3585281" cy="4917945"/>
          </a:xfrm>
        </p:grpSpPr>
        <p:grpSp>
          <p:nvGrpSpPr>
            <p:cNvPr id="44" name="组合 43"/>
            <p:cNvGrpSpPr/>
            <p:nvPr/>
          </p:nvGrpSpPr>
          <p:grpSpPr>
            <a:xfrm>
              <a:off x="2347411" y="1139686"/>
              <a:ext cx="3282458" cy="3797312"/>
              <a:chOff x="2347411" y="1139686"/>
              <a:chExt cx="3282458" cy="3797312"/>
            </a:xfrm>
          </p:grpSpPr>
          <p:sp>
            <p:nvSpPr>
              <p:cNvPr id="67" name="Text Box 8"/>
              <p:cNvSpPr txBox="1">
                <a:spLocks noChangeArrowheads="1"/>
              </p:cNvSpPr>
              <p:nvPr/>
            </p:nvSpPr>
            <p:spPr bwMode="auto">
              <a:xfrm>
                <a:off x="4155272" y="1610270"/>
                <a:ext cx="311943" cy="509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457200" indent="-4572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457200" marR="0" lvl="0" indent="-457200" algn="l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68" name="任意多边形 67"/>
              <p:cNvSpPr/>
              <p:nvPr/>
            </p:nvSpPr>
            <p:spPr bwMode="auto">
              <a:xfrm>
                <a:off x="3981445" y="1139686"/>
                <a:ext cx="504825" cy="495300"/>
              </a:xfrm>
              <a:custGeom>
                <a:avLst/>
                <a:gdLst>
                  <a:gd name="connsiteX0" fmla="*/ 0 w 2539007"/>
                  <a:gd name="connsiteY0" fmla="*/ 761702 h 1523404"/>
                  <a:gd name="connsiteX1" fmla="*/ 1269504 w 2539007"/>
                  <a:gd name="connsiteY1" fmla="*/ 0 h 1523404"/>
                  <a:gd name="connsiteX2" fmla="*/ 2539008 w 2539007"/>
                  <a:gd name="connsiteY2" fmla="*/ 761702 h 1523404"/>
                  <a:gd name="connsiteX3" fmla="*/ 1269504 w 2539007"/>
                  <a:gd name="connsiteY3" fmla="*/ 1523404 h 1523404"/>
                  <a:gd name="connsiteX4" fmla="*/ 0 w 2539007"/>
                  <a:gd name="connsiteY4" fmla="*/ 761702 h 1523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9007" h="1523404">
                    <a:moveTo>
                      <a:pt x="0" y="761702"/>
                    </a:moveTo>
                    <a:cubicBezTo>
                      <a:pt x="0" y="341026"/>
                      <a:pt x="568376" y="0"/>
                      <a:pt x="1269504" y="0"/>
                    </a:cubicBezTo>
                    <a:cubicBezTo>
                      <a:pt x="1970632" y="0"/>
                      <a:pt x="2539008" y="341026"/>
                      <a:pt x="2539008" y="761702"/>
                    </a:cubicBezTo>
                    <a:cubicBezTo>
                      <a:pt x="2539008" y="1182378"/>
                      <a:pt x="1970632" y="1523404"/>
                      <a:pt x="1269504" y="1523404"/>
                    </a:cubicBezTo>
                    <a:cubicBezTo>
                      <a:pt x="568376" y="1523404"/>
                      <a:pt x="0" y="1182378"/>
                      <a:pt x="0" y="761702"/>
                    </a:cubicBezTo>
                    <a:close/>
                  </a:path>
                </a:pathLst>
              </a:custGeom>
              <a:solidFill>
                <a:srgbClr val="E6E6E6">
                  <a:hueOff val="0"/>
                  <a:satOff val="0"/>
                  <a:lumOff val="0"/>
                  <a:alphaOff val="0"/>
                </a:srgbClr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lIns="550899" tIns="402167" rIns="550899" bIns="402167" anchor="ctr"/>
              <a:lstStyle/>
              <a:p>
                <a:pPr marL="0" marR="0" lvl="0" indent="0" algn="ctr" defTabSz="208915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1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69" name="直接箭头连接符 21"/>
              <p:cNvCxnSpPr>
                <a:cxnSpLocks noChangeShapeType="1"/>
                <a:endCxn id="70" idx="1"/>
              </p:cNvCxnSpPr>
              <p:nvPr/>
            </p:nvCxnSpPr>
            <p:spPr bwMode="auto">
              <a:xfrm>
                <a:off x="4232272" y="1634771"/>
                <a:ext cx="1588" cy="509749"/>
              </a:xfrm>
              <a:prstGeom prst="straightConnector1">
                <a:avLst/>
              </a:prstGeom>
              <a:noFill/>
              <a:ln w="15875" algn="ctr">
                <a:solidFill>
                  <a:srgbClr val="0000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0" name="任意多边形 69"/>
              <p:cNvSpPr/>
              <p:nvPr/>
            </p:nvSpPr>
            <p:spPr bwMode="auto">
              <a:xfrm>
                <a:off x="3981445" y="2144573"/>
                <a:ext cx="504825" cy="495300"/>
              </a:xfrm>
              <a:custGeom>
                <a:avLst/>
                <a:gdLst>
                  <a:gd name="connsiteX0" fmla="*/ 0 w 2539007"/>
                  <a:gd name="connsiteY0" fmla="*/ 761702 h 1523404"/>
                  <a:gd name="connsiteX1" fmla="*/ 1269504 w 2539007"/>
                  <a:gd name="connsiteY1" fmla="*/ 0 h 1523404"/>
                  <a:gd name="connsiteX2" fmla="*/ 2539008 w 2539007"/>
                  <a:gd name="connsiteY2" fmla="*/ 761702 h 1523404"/>
                  <a:gd name="connsiteX3" fmla="*/ 1269504 w 2539007"/>
                  <a:gd name="connsiteY3" fmla="*/ 1523404 h 1523404"/>
                  <a:gd name="connsiteX4" fmla="*/ 0 w 2539007"/>
                  <a:gd name="connsiteY4" fmla="*/ 761702 h 1523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9007" h="1523404">
                    <a:moveTo>
                      <a:pt x="0" y="761702"/>
                    </a:moveTo>
                    <a:cubicBezTo>
                      <a:pt x="0" y="341026"/>
                      <a:pt x="568376" y="0"/>
                      <a:pt x="1269504" y="0"/>
                    </a:cubicBezTo>
                    <a:cubicBezTo>
                      <a:pt x="1970632" y="0"/>
                      <a:pt x="2539008" y="341026"/>
                      <a:pt x="2539008" y="761702"/>
                    </a:cubicBezTo>
                    <a:cubicBezTo>
                      <a:pt x="2539008" y="1182378"/>
                      <a:pt x="1970632" y="1523404"/>
                      <a:pt x="1269504" y="1523404"/>
                    </a:cubicBezTo>
                    <a:cubicBezTo>
                      <a:pt x="568376" y="1523404"/>
                      <a:pt x="0" y="1182378"/>
                      <a:pt x="0" y="761702"/>
                    </a:cubicBezTo>
                    <a:close/>
                  </a:path>
                </a:pathLst>
              </a:custGeom>
              <a:solidFill>
                <a:srgbClr val="E6E6E6">
                  <a:hueOff val="0"/>
                  <a:satOff val="0"/>
                  <a:lumOff val="0"/>
                  <a:alphaOff val="0"/>
                </a:srgbClr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lIns="550899" tIns="402167" rIns="550899" bIns="402167" anchor="ctr"/>
              <a:lstStyle/>
              <a:p>
                <a:pPr marL="0" marR="0" lvl="0" indent="0" algn="ctr" defTabSz="208915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2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任意多边形 70"/>
              <p:cNvSpPr/>
              <p:nvPr/>
            </p:nvSpPr>
            <p:spPr bwMode="auto">
              <a:xfrm>
                <a:off x="3050774" y="2802812"/>
                <a:ext cx="504825" cy="493712"/>
              </a:xfrm>
              <a:custGeom>
                <a:avLst/>
                <a:gdLst>
                  <a:gd name="connsiteX0" fmla="*/ 0 w 2539007"/>
                  <a:gd name="connsiteY0" fmla="*/ 761702 h 1523404"/>
                  <a:gd name="connsiteX1" fmla="*/ 1269504 w 2539007"/>
                  <a:gd name="connsiteY1" fmla="*/ 0 h 1523404"/>
                  <a:gd name="connsiteX2" fmla="*/ 2539008 w 2539007"/>
                  <a:gd name="connsiteY2" fmla="*/ 761702 h 1523404"/>
                  <a:gd name="connsiteX3" fmla="*/ 1269504 w 2539007"/>
                  <a:gd name="connsiteY3" fmla="*/ 1523404 h 1523404"/>
                  <a:gd name="connsiteX4" fmla="*/ 0 w 2539007"/>
                  <a:gd name="connsiteY4" fmla="*/ 761702 h 1523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9007" h="1523404">
                    <a:moveTo>
                      <a:pt x="0" y="761702"/>
                    </a:moveTo>
                    <a:cubicBezTo>
                      <a:pt x="0" y="341026"/>
                      <a:pt x="568376" y="0"/>
                      <a:pt x="1269504" y="0"/>
                    </a:cubicBezTo>
                    <a:cubicBezTo>
                      <a:pt x="1970632" y="0"/>
                      <a:pt x="2539008" y="341026"/>
                      <a:pt x="2539008" y="761702"/>
                    </a:cubicBezTo>
                    <a:cubicBezTo>
                      <a:pt x="2539008" y="1182378"/>
                      <a:pt x="1970632" y="1523404"/>
                      <a:pt x="1269504" y="1523404"/>
                    </a:cubicBezTo>
                    <a:cubicBezTo>
                      <a:pt x="568376" y="1523404"/>
                      <a:pt x="0" y="1182378"/>
                      <a:pt x="0" y="761702"/>
                    </a:cubicBezTo>
                    <a:close/>
                  </a:path>
                </a:pathLst>
              </a:custGeom>
              <a:solidFill>
                <a:srgbClr val="E6E6E6">
                  <a:hueOff val="0"/>
                  <a:satOff val="0"/>
                  <a:lumOff val="0"/>
                  <a:alphaOff val="0"/>
                </a:srgbClr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lIns="550899" tIns="402167" rIns="550899" bIns="402167" anchor="ctr"/>
              <a:lstStyle/>
              <a:p>
                <a:pPr marL="0" marR="0" lvl="0" indent="0" algn="ctr" defTabSz="208915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3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任意多边形 71"/>
              <p:cNvSpPr/>
              <p:nvPr/>
            </p:nvSpPr>
            <p:spPr bwMode="auto">
              <a:xfrm>
                <a:off x="2519757" y="3719842"/>
                <a:ext cx="504825" cy="495300"/>
              </a:xfrm>
              <a:custGeom>
                <a:avLst/>
                <a:gdLst>
                  <a:gd name="connsiteX0" fmla="*/ 0 w 2539007"/>
                  <a:gd name="connsiteY0" fmla="*/ 761702 h 1523404"/>
                  <a:gd name="connsiteX1" fmla="*/ 1269504 w 2539007"/>
                  <a:gd name="connsiteY1" fmla="*/ 0 h 1523404"/>
                  <a:gd name="connsiteX2" fmla="*/ 2539008 w 2539007"/>
                  <a:gd name="connsiteY2" fmla="*/ 761702 h 1523404"/>
                  <a:gd name="connsiteX3" fmla="*/ 1269504 w 2539007"/>
                  <a:gd name="connsiteY3" fmla="*/ 1523404 h 1523404"/>
                  <a:gd name="connsiteX4" fmla="*/ 0 w 2539007"/>
                  <a:gd name="connsiteY4" fmla="*/ 761702 h 1523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9007" h="1523404">
                    <a:moveTo>
                      <a:pt x="0" y="761702"/>
                    </a:moveTo>
                    <a:cubicBezTo>
                      <a:pt x="0" y="341026"/>
                      <a:pt x="568376" y="0"/>
                      <a:pt x="1269504" y="0"/>
                    </a:cubicBezTo>
                    <a:cubicBezTo>
                      <a:pt x="1970632" y="0"/>
                      <a:pt x="2539008" y="341026"/>
                      <a:pt x="2539008" y="761702"/>
                    </a:cubicBezTo>
                    <a:cubicBezTo>
                      <a:pt x="2539008" y="1182378"/>
                      <a:pt x="1970632" y="1523404"/>
                      <a:pt x="1269504" y="1523404"/>
                    </a:cubicBezTo>
                    <a:cubicBezTo>
                      <a:pt x="568376" y="1523404"/>
                      <a:pt x="0" y="1182378"/>
                      <a:pt x="0" y="761702"/>
                    </a:cubicBezTo>
                    <a:close/>
                  </a:path>
                </a:pathLst>
              </a:custGeom>
              <a:solidFill>
                <a:srgbClr val="E6E6E6">
                  <a:hueOff val="0"/>
                  <a:satOff val="0"/>
                  <a:lumOff val="0"/>
                  <a:alphaOff val="0"/>
                </a:srgbClr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lIns="550899" tIns="402167" rIns="550899" bIns="402167" anchor="ctr"/>
              <a:lstStyle/>
              <a:p>
                <a:pPr marL="0" marR="0" lvl="0" indent="0" algn="ctr" defTabSz="208915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5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任意多边形 72"/>
              <p:cNvSpPr/>
              <p:nvPr/>
            </p:nvSpPr>
            <p:spPr bwMode="auto">
              <a:xfrm>
                <a:off x="4828579" y="2726127"/>
                <a:ext cx="504825" cy="495300"/>
              </a:xfrm>
              <a:custGeom>
                <a:avLst/>
                <a:gdLst>
                  <a:gd name="connsiteX0" fmla="*/ 0 w 2539007"/>
                  <a:gd name="connsiteY0" fmla="*/ 761702 h 1523404"/>
                  <a:gd name="connsiteX1" fmla="*/ 1269504 w 2539007"/>
                  <a:gd name="connsiteY1" fmla="*/ 0 h 1523404"/>
                  <a:gd name="connsiteX2" fmla="*/ 2539008 w 2539007"/>
                  <a:gd name="connsiteY2" fmla="*/ 761702 h 1523404"/>
                  <a:gd name="connsiteX3" fmla="*/ 1269504 w 2539007"/>
                  <a:gd name="connsiteY3" fmla="*/ 1523404 h 1523404"/>
                  <a:gd name="connsiteX4" fmla="*/ 0 w 2539007"/>
                  <a:gd name="connsiteY4" fmla="*/ 761702 h 1523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9007" h="1523404">
                    <a:moveTo>
                      <a:pt x="0" y="761702"/>
                    </a:moveTo>
                    <a:cubicBezTo>
                      <a:pt x="0" y="341026"/>
                      <a:pt x="568376" y="0"/>
                      <a:pt x="1269504" y="0"/>
                    </a:cubicBezTo>
                    <a:cubicBezTo>
                      <a:pt x="1970632" y="0"/>
                      <a:pt x="2539008" y="341026"/>
                      <a:pt x="2539008" y="761702"/>
                    </a:cubicBezTo>
                    <a:cubicBezTo>
                      <a:pt x="2539008" y="1182378"/>
                      <a:pt x="1970632" y="1523404"/>
                      <a:pt x="1269504" y="1523404"/>
                    </a:cubicBezTo>
                    <a:cubicBezTo>
                      <a:pt x="568376" y="1523404"/>
                      <a:pt x="0" y="1182378"/>
                      <a:pt x="0" y="761702"/>
                    </a:cubicBezTo>
                    <a:close/>
                  </a:path>
                </a:pathLst>
              </a:custGeom>
              <a:solidFill>
                <a:srgbClr val="E6E6E6">
                  <a:hueOff val="0"/>
                  <a:satOff val="0"/>
                  <a:lumOff val="0"/>
                  <a:alphaOff val="0"/>
                </a:srgbClr>
              </a:solidFill>
              <a:ln w="254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lIns="550899" tIns="402167" rIns="550899" bIns="402167" anchor="ctr"/>
              <a:lstStyle/>
              <a:p>
                <a:pPr marL="0" marR="0" lvl="0" indent="0" algn="ctr" defTabSz="208915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4</a:t>
                </a: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  <p:cxnSp>
            <p:nvCxnSpPr>
              <p:cNvPr id="74" name="直接箭头连接符 21"/>
              <p:cNvCxnSpPr>
                <a:cxnSpLocks noChangeShapeType="1"/>
              </p:cNvCxnSpPr>
              <p:nvPr/>
            </p:nvCxnSpPr>
            <p:spPr bwMode="auto">
              <a:xfrm flipH="1">
                <a:off x="3516110" y="2536761"/>
                <a:ext cx="493912" cy="370577"/>
              </a:xfrm>
              <a:prstGeom prst="straightConnector1">
                <a:avLst/>
              </a:prstGeom>
              <a:noFill/>
              <a:ln w="15875" algn="ctr">
                <a:solidFill>
                  <a:srgbClr val="0000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5" name="直接箭头连接符 21"/>
              <p:cNvCxnSpPr>
                <a:cxnSpLocks noChangeShapeType="1"/>
                <a:endCxn id="72" idx="1"/>
              </p:cNvCxnSpPr>
              <p:nvPr/>
            </p:nvCxnSpPr>
            <p:spPr bwMode="auto">
              <a:xfrm flipH="1">
                <a:off x="2772170" y="3221427"/>
                <a:ext cx="366712" cy="498415"/>
              </a:xfrm>
              <a:prstGeom prst="straightConnector1">
                <a:avLst/>
              </a:prstGeom>
              <a:noFill/>
              <a:ln w="15875" algn="ctr">
                <a:solidFill>
                  <a:srgbClr val="0000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直接箭头连接符 21"/>
              <p:cNvCxnSpPr>
                <a:cxnSpLocks noChangeShapeType="1"/>
              </p:cNvCxnSpPr>
              <p:nvPr/>
            </p:nvCxnSpPr>
            <p:spPr bwMode="auto">
              <a:xfrm>
                <a:off x="4448969" y="2512410"/>
                <a:ext cx="469497" cy="278525"/>
              </a:xfrm>
              <a:prstGeom prst="straightConnector1">
                <a:avLst/>
              </a:prstGeom>
              <a:noFill/>
              <a:ln w="15875" algn="ctr">
                <a:solidFill>
                  <a:srgbClr val="000000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7" name="弧形 76"/>
              <p:cNvSpPr/>
              <p:nvPr/>
            </p:nvSpPr>
            <p:spPr bwMode="auto">
              <a:xfrm rot="10800000">
                <a:off x="2347411" y="2345792"/>
                <a:ext cx="3282458" cy="2591206"/>
              </a:xfrm>
              <a:prstGeom prst="arc">
                <a:avLst>
                  <a:gd name="adj1" fmla="val 18286184"/>
                  <a:gd name="adj2" fmla="val 5444834"/>
                </a:avLst>
              </a:prstGeom>
              <a:noFill/>
              <a:ln w="158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78" name="Text Box 8"/>
              <p:cNvSpPr txBox="1">
                <a:spLocks noChangeArrowheads="1"/>
              </p:cNvSpPr>
              <p:nvPr/>
            </p:nvSpPr>
            <p:spPr bwMode="auto">
              <a:xfrm>
                <a:off x="3555599" y="2345792"/>
                <a:ext cx="311943" cy="509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457200" indent="-4572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457200" marR="0" lvl="0" indent="-457200" algn="l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79" name="Text Box 8"/>
              <p:cNvSpPr txBox="1">
                <a:spLocks noChangeArrowheads="1"/>
              </p:cNvSpPr>
              <p:nvPr/>
            </p:nvSpPr>
            <p:spPr bwMode="auto">
              <a:xfrm>
                <a:off x="3607094" y="3091901"/>
                <a:ext cx="311943" cy="509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457200" indent="-4572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457200" marR="0" lvl="0" indent="-457200" algn="l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e</a:t>
                </a:r>
              </a:p>
            </p:txBody>
          </p:sp>
          <p:sp>
            <p:nvSpPr>
              <p:cNvPr id="80" name="Text Box 8"/>
              <p:cNvSpPr txBox="1">
                <a:spLocks noChangeArrowheads="1"/>
              </p:cNvSpPr>
              <p:nvPr/>
            </p:nvSpPr>
            <p:spPr bwMode="auto">
              <a:xfrm>
                <a:off x="4589464" y="2257484"/>
                <a:ext cx="311943" cy="509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457200" indent="-4572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457200" marR="0" lvl="0" indent="-457200" algn="l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81" name="Text Box 8"/>
              <p:cNvSpPr txBox="1">
                <a:spLocks noChangeArrowheads="1"/>
              </p:cNvSpPr>
              <p:nvPr/>
            </p:nvSpPr>
            <p:spPr bwMode="auto">
              <a:xfrm>
                <a:off x="2724940" y="3065465"/>
                <a:ext cx="311943" cy="509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457200" indent="-4572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457200" marR="0" lvl="0" indent="-457200" algn="l" defTabSz="91440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45" name="任意多边形 44"/>
            <p:cNvSpPr/>
            <p:nvPr/>
          </p:nvSpPr>
          <p:spPr bwMode="auto">
            <a:xfrm>
              <a:off x="3544685" y="3727118"/>
              <a:ext cx="504825" cy="495300"/>
            </a:xfrm>
            <a:custGeom>
              <a:avLst/>
              <a:gdLst>
                <a:gd name="connsiteX0" fmla="*/ 0 w 2539007"/>
                <a:gd name="connsiteY0" fmla="*/ 761702 h 1523404"/>
                <a:gd name="connsiteX1" fmla="*/ 1269504 w 2539007"/>
                <a:gd name="connsiteY1" fmla="*/ 0 h 1523404"/>
                <a:gd name="connsiteX2" fmla="*/ 2539008 w 2539007"/>
                <a:gd name="connsiteY2" fmla="*/ 761702 h 1523404"/>
                <a:gd name="connsiteX3" fmla="*/ 1269504 w 2539007"/>
                <a:gd name="connsiteY3" fmla="*/ 1523404 h 1523404"/>
                <a:gd name="connsiteX4" fmla="*/ 0 w 2539007"/>
                <a:gd name="connsiteY4" fmla="*/ 761702 h 1523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9007" h="1523404">
                  <a:moveTo>
                    <a:pt x="0" y="761702"/>
                  </a:moveTo>
                  <a:cubicBezTo>
                    <a:pt x="0" y="341026"/>
                    <a:pt x="568376" y="0"/>
                    <a:pt x="1269504" y="0"/>
                  </a:cubicBezTo>
                  <a:cubicBezTo>
                    <a:pt x="1970632" y="0"/>
                    <a:pt x="2539008" y="341026"/>
                    <a:pt x="2539008" y="761702"/>
                  </a:cubicBezTo>
                  <a:cubicBezTo>
                    <a:pt x="2539008" y="1182378"/>
                    <a:pt x="1970632" y="1523404"/>
                    <a:pt x="1269504" y="1523404"/>
                  </a:cubicBezTo>
                  <a:cubicBezTo>
                    <a:pt x="568376" y="1523404"/>
                    <a:pt x="0" y="1182378"/>
                    <a:pt x="0" y="761702"/>
                  </a:cubicBezTo>
                  <a:close/>
                </a:path>
              </a:pathLst>
            </a:custGeom>
            <a:solidFill>
              <a:srgbClr val="E6E6E6">
                <a:hueOff val="0"/>
                <a:satOff val="0"/>
                <a:lumOff val="0"/>
                <a:alphaOff val="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lIns="550899" tIns="402167" rIns="550899" bIns="402167" anchor="ctr"/>
            <a:lstStyle/>
            <a:p>
              <a:pPr marL="0" marR="0" lvl="0" indent="0" algn="ctr" defTabSz="208915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6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46" name="直接箭头连接符 21"/>
            <p:cNvCxnSpPr>
              <a:cxnSpLocks noChangeShapeType="1"/>
              <a:endCxn id="45" idx="1"/>
            </p:cNvCxnSpPr>
            <p:nvPr/>
          </p:nvCxnSpPr>
          <p:spPr bwMode="auto">
            <a:xfrm>
              <a:off x="3516110" y="3221427"/>
              <a:ext cx="280988" cy="505691"/>
            </a:xfrm>
            <a:prstGeom prst="straightConnector1">
              <a:avLst/>
            </a:prstGeom>
            <a:noFill/>
            <a:ln w="15875" algn="ctr">
              <a:solidFill>
                <a:srgbClr val="00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任意多边形 46"/>
            <p:cNvSpPr/>
            <p:nvPr/>
          </p:nvSpPr>
          <p:spPr bwMode="auto">
            <a:xfrm>
              <a:off x="3138882" y="4618393"/>
              <a:ext cx="504825" cy="495300"/>
            </a:xfrm>
            <a:custGeom>
              <a:avLst/>
              <a:gdLst>
                <a:gd name="connsiteX0" fmla="*/ 0 w 2539007"/>
                <a:gd name="connsiteY0" fmla="*/ 761702 h 1523404"/>
                <a:gd name="connsiteX1" fmla="*/ 1269504 w 2539007"/>
                <a:gd name="connsiteY1" fmla="*/ 0 h 1523404"/>
                <a:gd name="connsiteX2" fmla="*/ 2539008 w 2539007"/>
                <a:gd name="connsiteY2" fmla="*/ 761702 h 1523404"/>
                <a:gd name="connsiteX3" fmla="*/ 1269504 w 2539007"/>
                <a:gd name="connsiteY3" fmla="*/ 1523404 h 1523404"/>
                <a:gd name="connsiteX4" fmla="*/ 0 w 2539007"/>
                <a:gd name="connsiteY4" fmla="*/ 761702 h 1523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9007" h="1523404">
                  <a:moveTo>
                    <a:pt x="0" y="761702"/>
                  </a:moveTo>
                  <a:cubicBezTo>
                    <a:pt x="0" y="341026"/>
                    <a:pt x="568376" y="0"/>
                    <a:pt x="1269504" y="0"/>
                  </a:cubicBezTo>
                  <a:cubicBezTo>
                    <a:pt x="1970632" y="0"/>
                    <a:pt x="2539008" y="341026"/>
                    <a:pt x="2539008" y="761702"/>
                  </a:cubicBezTo>
                  <a:cubicBezTo>
                    <a:pt x="2539008" y="1182378"/>
                    <a:pt x="1970632" y="1523404"/>
                    <a:pt x="1269504" y="1523404"/>
                  </a:cubicBezTo>
                  <a:cubicBezTo>
                    <a:pt x="568376" y="1523404"/>
                    <a:pt x="0" y="1182378"/>
                    <a:pt x="0" y="761702"/>
                  </a:cubicBezTo>
                  <a:close/>
                </a:path>
              </a:pathLst>
            </a:custGeom>
            <a:solidFill>
              <a:srgbClr val="E6E6E6">
                <a:hueOff val="0"/>
                <a:satOff val="0"/>
                <a:lumOff val="0"/>
                <a:alphaOff val="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lIns="550899" tIns="402167" rIns="550899" bIns="402167" anchor="ctr"/>
            <a:lstStyle/>
            <a:p>
              <a:pPr marL="0" marR="0" lvl="0" indent="0" algn="ctr" defTabSz="208915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9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48" name="直接箭头连接符 21"/>
            <p:cNvCxnSpPr>
              <a:cxnSpLocks noChangeShapeType="1"/>
            </p:cNvCxnSpPr>
            <p:nvPr/>
          </p:nvCxnSpPr>
          <p:spPr bwMode="auto">
            <a:xfrm>
              <a:off x="2955526" y="4145588"/>
              <a:ext cx="347660" cy="538781"/>
            </a:xfrm>
            <a:prstGeom prst="straightConnector1">
              <a:avLst/>
            </a:prstGeom>
            <a:noFill/>
            <a:ln w="15875" algn="ctr">
              <a:solidFill>
                <a:srgbClr val="00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直接箭头连接符 21"/>
            <p:cNvCxnSpPr>
              <a:cxnSpLocks noChangeShapeType="1"/>
              <a:stCxn id="45" idx="3"/>
            </p:cNvCxnSpPr>
            <p:nvPr/>
          </p:nvCxnSpPr>
          <p:spPr bwMode="auto">
            <a:xfrm flipH="1">
              <a:off x="3516110" y="4222418"/>
              <a:ext cx="280988" cy="461951"/>
            </a:xfrm>
            <a:prstGeom prst="straightConnector1">
              <a:avLst/>
            </a:prstGeom>
            <a:noFill/>
            <a:ln w="15875" algn="ctr">
              <a:solidFill>
                <a:srgbClr val="00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" name="任意多边形 49"/>
            <p:cNvSpPr/>
            <p:nvPr/>
          </p:nvSpPr>
          <p:spPr bwMode="auto">
            <a:xfrm>
              <a:off x="4337051" y="3695562"/>
              <a:ext cx="504825" cy="495300"/>
            </a:xfrm>
            <a:custGeom>
              <a:avLst/>
              <a:gdLst>
                <a:gd name="connsiteX0" fmla="*/ 0 w 2539007"/>
                <a:gd name="connsiteY0" fmla="*/ 761702 h 1523404"/>
                <a:gd name="connsiteX1" fmla="*/ 1269504 w 2539007"/>
                <a:gd name="connsiteY1" fmla="*/ 0 h 1523404"/>
                <a:gd name="connsiteX2" fmla="*/ 2539008 w 2539007"/>
                <a:gd name="connsiteY2" fmla="*/ 761702 h 1523404"/>
                <a:gd name="connsiteX3" fmla="*/ 1269504 w 2539007"/>
                <a:gd name="connsiteY3" fmla="*/ 1523404 h 1523404"/>
                <a:gd name="connsiteX4" fmla="*/ 0 w 2539007"/>
                <a:gd name="connsiteY4" fmla="*/ 761702 h 1523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9007" h="1523404">
                  <a:moveTo>
                    <a:pt x="0" y="761702"/>
                  </a:moveTo>
                  <a:cubicBezTo>
                    <a:pt x="0" y="341026"/>
                    <a:pt x="568376" y="0"/>
                    <a:pt x="1269504" y="0"/>
                  </a:cubicBezTo>
                  <a:cubicBezTo>
                    <a:pt x="1970632" y="0"/>
                    <a:pt x="2539008" y="341026"/>
                    <a:pt x="2539008" y="761702"/>
                  </a:cubicBezTo>
                  <a:cubicBezTo>
                    <a:pt x="2539008" y="1182378"/>
                    <a:pt x="1970632" y="1523404"/>
                    <a:pt x="1269504" y="1523404"/>
                  </a:cubicBezTo>
                  <a:cubicBezTo>
                    <a:pt x="568376" y="1523404"/>
                    <a:pt x="0" y="1182378"/>
                    <a:pt x="0" y="761702"/>
                  </a:cubicBezTo>
                  <a:close/>
                </a:path>
              </a:pathLst>
            </a:custGeom>
            <a:solidFill>
              <a:srgbClr val="E6E6E6">
                <a:hueOff val="0"/>
                <a:satOff val="0"/>
                <a:lumOff val="0"/>
                <a:alphaOff val="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lIns="550899" tIns="402167" rIns="550899" bIns="402167" anchor="ctr"/>
            <a:lstStyle/>
            <a:p>
              <a:pPr marL="0" marR="0" lvl="0" indent="0" algn="ctr" defTabSz="208915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7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1" name="直接箭头连接符 21"/>
            <p:cNvCxnSpPr>
              <a:cxnSpLocks noChangeShapeType="1"/>
              <a:endCxn id="50" idx="1"/>
            </p:cNvCxnSpPr>
            <p:nvPr/>
          </p:nvCxnSpPr>
          <p:spPr bwMode="auto">
            <a:xfrm flipH="1">
              <a:off x="4589464" y="3197147"/>
              <a:ext cx="366712" cy="498415"/>
            </a:xfrm>
            <a:prstGeom prst="straightConnector1">
              <a:avLst/>
            </a:prstGeom>
            <a:noFill/>
            <a:ln w="15875" algn="ctr">
              <a:solidFill>
                <a:srgbClr val="00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" name="任意多边形 51"/>
            <p:cNvSpPr/>
            <p:nvPr/>
          </p:nvSpPr>
          <p:spPr bwMode="auto">
            <a:xfrm>
              <a:off x="5361979" y="3702838"/>
              <a:ext cx="504825" cy="495300"/>
            </a:xfrm>
            <a:custGeom>
              <a:avLst/>
              <a:gdLst>
                <a:gd name="connsiteX0" fmla="*/ 0 w 2539007"/>
                <a:gd name="connsiteY0" fmla="*/ 761702 h 1523404"/>
                <a:gd name="connsiteX1" fmla="*/ 1269504 w 2539007"/>
                <a:gd name="connsiteY1" fmla="*/ 0 h 1523404"/>
                <a:gd name="connsiteX2" fmla="*/ 2539008 w 2539007"/>
                <a:gd name="connsiteY2" fmla="*/ 761702 h 1523404"/>
                <a:gd name="connsiteX3" fmla="*/ 1269504 w 2539007"/>
                <a:gd name="connsiteY3" fmla="*/ 1523404 h 1523404"/>
                <a:gd name="connsiteX4" fmla="*/ 0 w 2539007"/>
                <a:gd name="connsiteY4" fmla="*/ 761702 h 1523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9007" h="1523404">
                  <a:moveTo>
                    <a:pt x="0" y="761702"/>
                  </a:moveTo>
                  <a:cubicBezTo>
                    <a:pt x="0" y="341026"/>
                    <a:pt x="568376" y="0"/>
                    <a:pt x="1269504" y="0"/>
                  </a:cubicBezTo>
                  <a:cubicBezTo>
                    <a:pt x="1970632" y="0"/>
                    <a:pt x="2539008" y="341026"/>
                    <a:pt x="2539008" y="761702"/>
                  </a:cubicBezTo>
                  <a:cubicBezTo>
                    <a:pt x="2539008" y="1182378"/>
                    <a:pt x="1970632" y="1523404"/>
                    <a:pt x="1269504" y="1523404"/>
                  </a:cubicBezTo>
                  <a:cubicBezTo>
                    <a:pt x="568376" y="1523404"/>
                    <a:pt x="0" y="1182378"/>
                    <a:pt x="0" y="761702"/>
                  </a:cubicBezTo>
                  <a:close/>
                </a:path>
              </a:pathLst>
            </a:custGeom>
            <a:solidFill>
              <a:srgbClr val="E6E6E6">
                <a:hueOff val="0"/>
                <a:satOff val="0"/>
                <a:lumOff val="0"/>
                <a:alphaOff val="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lIns="550899" tIns="402167" rIns="550899" bIns="402167" anchor="ctr"/>
            <a:lstStyle/>
            <a:p>
              <a:pPr marL="0" marR="0" lvl="0" indent="0" algn="ctr" defTabSz="208915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8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3" name="直接箭头连接符 21"/>
            <p:cNvCxnSpPr>
              <a:cxnSpLocks noChangeShapeType="1"/>
              <a:endCxn id="52" idx="1"/>
            </p:cNvCxnSpPr>
            <p:nvPr/>
          </p:nvCxnSpPr>
          <p:spPr bwMode="auto">
            <a:xfrm>
              <a:off x="5208588" y="3197147"/>
              <a:ext cx="405804" cy="505691"/>
            </a:xfrm>
            <a:prstGeom prst="straightConnector1">
              <a:avLst/>
            </a:prstGeom>
            <a:noFill/>
            <a:ln w="15875" algn="ctr">
              <a:solidFill>
                <a:srgbClr val="00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直接箭头连接符 21"/>
            <p:cNvCxnSpPr>
              <a:cxnSpLocks noChangeShapeType="1"/>
            </p:cNvCxnSpPr>
            <p:nvPr/>
          </p:nvCxnSpPr>
          <p:spPr bwMode="auto">
            <a:xfrm>
              <a:off x="4772820" y="4121308"/>
              <a:ext cx="347660" cy="538781"/>
            </a:xfrm>
            <a:prstGeom prst="straightConnector1">
              <a:avLst/>
            </a:prstGeom>
            <a:noFill/>
            <a:ln w="15875" algn="ctr">
              <a:solidFill>
                <a:srgbClr val="00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直接箭头连接符 21"/>
            <p:cNvCxnSpPr>
              <a:cxnSpLocks noChangeShapeType="1"/>
              <a:stCxn id="52" idx="3"/>
            </p:cNvCxnSpPr>
            <p:nvPr/>
          </p:nvCxnSpPr>
          <p:spPr bwMode="auto">
            <a:xfrm flipH="1">
              <a:off x="5333404" y="4198138"/>
              <a:ext cx="280988" cy="461951"/>
            </a:xfrm>
            <a:prstGeom prst="straightConnector1">
              <a:avLst/>
            </a:prstGeom>
            <a:noFill/>
            <a:ln w="15875" algn="ctr">
              <a:solidFill>
                <a:srgbClr val="00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任意多边形 55"/>
            <p:cNvSpPr/>
            <p:nvPr/>
          </p:nvSpPr>
          <p:spPr bwMode="auto">
            <a:xfrm>
              <a:off x="4965701" y="4629236"/>
              <a:ext cx="504825" cy="495300"/>
            </a:xfrm>
            <a:custGeom>
              <a:avLst/>
              <a:gdLst>
                <a:gd name="connsiteX0" fmla="*/ 0 w 2539007"/>
                <a:gd name="connsiteY0" fmla="*/ 761702 h 1523404"/>
                <a:gd name="connsiteX1" fmla="*/ 1269504 w 2539007"/>
                <a:gd name="connsiteY1" fmla="*/ 0 h 1523404"/>
                <a:gd name="connsiteX2" fmla="*/ 2539008 w 2539007"/>
                <a:gd name="connsiteY2" fmla="*/ 761702 h 1523404"/>
                <a:gd name="connsiteX3" fmla="*/ 1269504 w 2539007"/>
                <a:gd name="connsiteY3" fmla="*/ 1523404 h 1523404"/>
                <a:gd name="connsiteX4" fmla="*/ 0 w 2539007"/>
                <a:gd name="connsiteY4" fmla="*/ 761702 h 1523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9007" h="1523404">
                  <a:moveTo>
                    <a:pt x="0" y="761702"/>
                  </a:moveTo>
                  <a:cubicBezTo>
                    <a:pt x="0" y="341026"/>
                    <a:pt x="568376" y="0"/>
                    <a:pt x="1269504" y="0"/>
                  </a:cubicBezTo>
                  <a:cubicBezTo>
                    <a:pt x="1970632" y="0"/>
                    <a:pt x="2539008" y="341026"/>
                    <a:pt x="2539008" y="761702"/>
                  </a:cubicBezTo>
                  <a:cubicBezTo>
                    <a:pt x="2539008" y="1182378"/>
                    <a:pt x="1970632" y="1523404"/>
                    <a:pt x="1269504" y="1523404"/>
                  </a:cubicBezTo>
                  <a:cubicBezTo>
                    <a:pt x="568376" y="1523404"/>
                    <a:pt x="0" y="1182378"/>
                    <a:pt x="0" y="761702"/>
                  </a:cubicBezTo>
                  <a:close/>
                </a:path>
              </a:pathLst>
            </a:custGeom>
            <a:solidFill>
              <a:srgbClr val="E6E6E6">
                <a:hueOff val="0"/>
                <a:satOff val="0"/>
                <a:lumOff val="0"/>
                <a:alphaOff val="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none" lIns="550899" tIns="402167" rIns="550899" bIns="402167" anchor="ctr"/>
            <a:lstStyle/>
            <a:p>
              <a:pPr marL="0" marR="0" lvl="0" indent="0" algn="ctr" defTabSz="208915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10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任意多边形 56"/>
            <p:cNvSpPr/>
            <p:nvPr/>
          </p:nvSpPr>
          <p:spPr bwMode="auto">
            <a:xfrm>
              <a:off x="4969073" y="5562331"/>
              <a:ext cx="504825" cy="495300"/>
            </a:xfrm>
            <a:custGeom>
              <a:avLst/>
              <a:gdLst>
                <a:gd name="connsiteX0" fmla="*/ 0 w 2539007"/>
                <a:gd name="connsiteY0" fmla="*/ 761702 h 1523404"/>
                <a:gd name="connsiteX1" fmla="*/ 1269504 w 2539007"/>
                <a:gd name="connsiteY1" fmla="*/ 0 h 1523404"/>
                <a:gd name="connsiteX2" fmla="*/ 2539008 w 2539007"/>
                <a:gd name="connsiteY2" fmla="*/ 761702 h 1523404"/>
                <a:gd name="connsiteX3" fmla="*/ 1269504 w 2539007"/>
                <a:gd name="connsiteY3" fmla="*/ 1523404 h 1523404"/>
                <a:gd name="connsiteX4" fmla="*/ 0 w 2539007"/>
                <a:gd name="connsiteY4" fmla="*/ 761702 h 1523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9007" h="1523404">
                  <a:moveTo>
                    <a:pt x="0" y="761702"/>
                  </a:moveTo>
                  <a:cubicBezTo>
                    <a:pt x="0" y="341026"/>
                    <a:pt x="568376" y="0"/>
                    <a:pt x="1269504" y="0"/>
                  </a:cubicBezTo>
                  <a:cubicBezTo>
                    <a:pt x="1970632" y="0"/>
                    <a:pt x="2539008" y="341026"/>
                    <a:pt x="2539008" y="761702"/>
                  </a:cubicBezTo>
                  <a:cubicBezTo>
                    <a:pt x="2539008" y="1182378"/>
                    <a:pt x="1970632" y="1523404"/>
                    <a:pt x="1269504" y="1523404"/>
                  </a:cubicBezTo>
                  <a:cubicBezTo>
                    <a:pt x="568376" y="1523404"/>
                    <a:pt x="0" y="1182378"/>
                    <a:pt x="0" y="761702"/>
                  </a:cubicBezTo>
                  <a:close/>
                </a:path>
              </a:pathLst>
            </a:custGeom>
            <a:solidFill>
              <a:srgbClr val="E6E6E6">
                <a:hueOff val="0"/>
                <a:satOff val="0"/>
                <a:lumOff val="0"/>
                <a:alphaOff val="0"/>
              </a:srgbClr>
            </a:solidFill>
            <a:ln w="25400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wrap="none" lIns="550899" tIns="402167" rIns="550899" bIns="402167" anchor="ctr"/>
            <a:lstStyle/>
            <a:p>
              <a:pPr marL="0" marR="0" lvl="0" indent="0" algn="ctr" defTabSz="208915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rPr>
                <a:t>11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8" name="直接箭头连接符 21"/>
            <p:cNvCxnSpPr>
              <a:cxnSpLocks noChangeShapeType="1"/>
              <a:stCxn id="56" idx="3"/>
              <a:endCxn id="57" idx="1"/>
            </p:cNvCxnSpPr>
            <p:nvPr/>
          </p:nvCxnSpPr>
          <p:spPr bwMode="auto">
            <a:xfrm>
              <a:off x="5218114" y="5124536"/>
              <a:ext cx="3372" cy="437795"/>
            </a:xfrm>
            <a:prstGeom prst="straightConnector1">
              <a:avLst/>
            </a:prstGeom>
            <a:noFill/>
            <a:ln w="15875" algn="ctr">
              <a:solidFill>
                <a:srgbClr val="000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9" name="Text Box 8"/>
            <p:cNvSpPr txBox="1">
              <a:spLocks noChangeArrowheads="1"/>
            </p:cNvSpPr>
            <p:nvPr/>
          </p:nvSpPr>
          <p:spPr bwMode="auto">
            <a:xfrm>
              <a:off x="4486270" y="3091901"/>
              <a:ext cx="311943" cy="510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457200" marR="0" lvl="0" indent="-4572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60" name="Text Box 8"/>
            <p:cNvSpPr txBox="1">
              <a:spLocks noChangeArrowheads="1"/>
            </p:cNvSpPr>
            <p:nvPr/>
          </p:nvSpPr>
          <p:spPr bwMode="auto">
            <a:xfrm>
              <a:off x="5377557" y="3083174"/>
              <a:ext cx="311943" cy="510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457200" marR="0" lvl="0" indent="-4572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g</a:t>
              </a:r>
            </a:p>
          </p:txBody>
        </p:sp>
        <p:sp>
          <p:nvSpPr>
            <p:cNvPr id="61" name="Text Box 8"/>
            <p:cNvSpPr txBox="1">
              <a:spLocks noChangeArrowheads="1"/>
            </p:cNvSpPr>
            <p:nvPr/>
          </p:nvSpPr>
          <p:spPr bwMode="auto">
            <a:xfrm>
              <a:off x="2868610" y="4174518"/>
              <a:ext cx="311943" cy="510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457200" marR="0" lvl="0" indent="-4572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62" name="Text Box 8"/>
            <p:cNvSpPr txBox="1">
              <a:spLocks noChangeArrowheads="1"/>
            </p:cNvSpPr>
            <p:nvPr/>
          </p:nvSpPr>
          <p:spPr bwMode="auto">
            <a:xfrm>
              <a:off x="3573652" y="4206211"/>
              <a:ext cx="311943" cy="510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457200" marR="0" lvl="0" indent="-4572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63" name="Text Box 8"/>
            <p:cNvSpPr txBox="1">
              <a:spLocks noChangeArrowheads="1"/>
            </p:cNvSpPr>
            <p:nvPr/>
          </p:nvSpPr>
          <p:spPr bwMode="auto">
            <a:xfrm>
              <a:off x="4685904" y="4174679"/>
              <a:ext cx="311943" cy="510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457200" marR="0" lvl="0" indent="-4572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j</a:t>
              </a:r>
            </a:p>
          </p:txBody>
        </p:sp>
        <p:sp>
          <p:nvSpPr>
            <p:cNvPr id="64" name="Text Box 8"/>
            <p:cNvSpPr txBox="1">
              <a:spLocks noChangeArrowheads="1"/>
            </p:cNvSpPr>
            <p:nvPr/>
          </p:nvSpPr>
          <p:spPr bwMode="auto">
            <a:xfrm>
              <a:off x="5473898" y="4175364"/>
              <a:ext cx="311943" cy="510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457200" marR="0" lvl="0" indent="-4572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65" name="Text Box 8"/>
            <p:cNvSpPr txBox="1">
              <a:spLocks noChangeArrowheads="1"/>
            </p:cNvSpPr>
            <p:nvPr/>
          </p:nvSpPr>
          <p:spPr bwMode="auto">
            <a:xfrm>
              <a:off x="5161955" y="5088507"/>
              <a:ext cx="311943" cy="510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457200" marR="0" lvl="0" indent="-4572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66" name="Text Box 8"/>
            <p:cNvSpPr txBox="1">
              <a:spLocks noChangeArrowheads="1"/>
            </p:cNvSpPr>
            <p:nvPr/>
          </p:nvSpPr>
          <p:spPr bwMode="auto">
            <a:xfrm>
              <a:off x="2281523" y="2677938"/>
              <a:ext cx="311943" cy="510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457200" marR="0" lvl="0" indent="-457200" algn="l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m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1520" y="260648"/>
            <a:ext cx="8513146" cy="6192688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2800" b="1" dirty="0"/>
              <a:t>4-5</a:t>
            </a:r>
            <a:r>
              <a:rPr lang="zh-CN" altLang="zh-CN" sz="2800" dirty="0"/>
              <a:t>下面是快速排序算法中的一趟划分算法，其中</a:t>
            </a:r>
            <a:r>
              <a:rPr lang="en-US" altLang="zh-CN" sz="2800" dirty="0" err="1"/>
              <a:t>datalist</a:t>
            </a:r>
            <a:r>
              <a:rPr lang="zh-CN" altLang="zh-CN" sz="2800" dirty="0"/>
              <a:t>是数据表，它有两个数据成员：一个是数据类型为</a:t>
            </a:r>
            <a:r>
              <a:rPr lang="en-US" altLang="zh-CN" sz="2800" dirty="0"/>
              <a:t>Element</a:t>
            </a:r>
            <a:r>
              <a:rPr lang="zh-CN" altLang="zh-CN" sz="2800" dirty="0"/>
              <a:t>的数组</a:t>
            </a:r>
            <a:r>
              <a:rPr lang="en-US" altLang="zh-CN" sz="2800" dirty="0"/>
              <a:t>V</a:t>
            </a:r>
            <a:r>
              <a:rPr lang="zh-CN" altLang="zh-CN" sz="2800" dirty="0"/>
              <a:t>，另一个是数组大小</a:t>
            </a:r>
            <a:r>
              <a:rPr lang="en-US" altLang="zh-CN" sz="2800" dirty="0"/>
              <a:t>n</a:t>
            </a:r>
            <a:r>
              <a:rPr lang="zh-CN" altLang="zh-CN" sz="2800" dirty="0"/>
              <a:t>。算法中用到两个操作，一是取其数组元素</a:t>
            </a:r>
            <a:r>
              <a:rPr lang="en-US" altLang="zh-CN" sz="2800" dirty="0"/>
              <a:t>V[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</a:t>
            </a:r>
            <a:r>
              <a:rPr lang="zh-CN" altLang="zh-CN" sz="2800" dirty="0"/>
              <a:t>的关键码操作</a:t>
            </a:r>
            <a:r>
              <a:rPr lang="en-US" altLang="zh-CN" sz="2800" dirty="0" err="1"/>
              <a:t>getKey</a:t>
            </a:r>
            <a:r>
              <a:rPr lang="en-US" altLang="zh-CN" sz="2800" dirty="0"/>
              <a:t>()</a:t>
            </a:r>
            <a:r>
              <a:rPr lang="zh-CN" altLang="zh-CN" sz="2800" dirty="0"/>
              <a:t>，一是交换两数组元素内容的操作</a:t>
            </a:r>
            <a:r>
              <a:rPr lang="en-US" altLang="zh-CN" sz="2800" dirty="0"/>
              <a:t>Swap()</a:t>
            </a:r>
            <a:r>
              <a:rPr lang="zh-CN" altLang="zh-CN" sz="2800" dirty="0"/>
              <a:t>。</a:t>
            </a:r>
            <a:r>
              <a:rPr lang="en-US" altLang="zh-CN" sz="2800" dirty="0"/>
              <a:t> </a:t>
            </a:r>
            <a:br>
              <a:rPr lang="zh-CN" altLang="zh-CN" sz="2800" dirty="0"/>
            </a:br>
            <a:r>
              <a:rPr lang="en-US" altLang="zh-CN" sz="2800" dirty="0" err="1"/>
              <a:t>int</a:t>
            </a:r>
            <a:r>
              <a:rPr lang="en-US" altLang="zh-CN" sz="2800" dirty="0"/>
              <a:t> Partition( </a:t>
            </a:r>
            <a:r>
              <a:rPr lang="en-US" altLang="zh-CN" sz="2800" dirty="0" err="1"/>
              <a:t>datalist</a:t>
            </a:r>
            <a:r>
              <a:rPr lang="en-US" altLang="zh-CN" sz="2800" dirty="0"/>
              <a:t> &amp;list,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low,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high)</a:t>
            </a:r>
            <a:br>
              <a:rPr lang="zh-CN" altLang="zh-CN" sz="2800" dirty="0"/>
            </a:br>
            <a:r>
              <a:rPr lang="en-US" altLang="zh-CN" sz="2800" dirty="0"/>
              <a:t>{</a:t>
            </a:r>
            <a:br>
              <a:rPr lang="en-US" altLang="zh-CN" sz="2800" dirty="0"/>
            </a:br>
            <a:r>
              <a:rPr lang="en-US" altLang="zh-CN" sz="2800" dirty="0"/>
              <a:t>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k=low; Element pivot = </a:t>
            </a:r>
            <a:r>
              <a:rPr lang="en-US" altLang="zh-CN" sz="2800" dirty="0" err="1"/>
              <a:t>list.V</a:t>
            </a:r>
            <a:r>
              <a:rPr lang="en-US" altLang="zh-CN" sz="2800" dirty="0"/>
              <a:t>[low];</a:t>
            </a:r>
            <a:br>
              <a:rPr lang="zh-CN" altLang="zh-CN" sz="2800" dirty="0"/>
            </a:br>
            <a:r>
              <a:rPr lang="en-US" altLang="zh-CN" sz="2800" dirty="0"/>
              <a:t> for(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= low+1;i&lt;=high;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++)</a:t>
            </a:r>
            <a:br>
              <a:rPr lang="zh-CN" altLang="zh-CN" sz="2800" dirty="0"/>
            </a:br>
            <a:r>
              <a:rPr lang="en-US" altLang="zh-CN" sz="2800" dirty="0"/>
              <a:t>       if(</a:t>
            </a:r>
            <a:r>
              <a:rPr lang="en-US" altLang="zh-CN" sz="2800" dirty="0" err="1"/>
              <a:t>list.V</a:t>
            </a:r>
            <a:r>
              <a:rPr lang="en-US" altLang="zh-CN" sz="2800" dirty="0"/>
              <a:t>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].</a:t>
            </a:r>
            <a:r>
              <a:rPr lang="en-US" altLang="zh-CN" sz="2800" dirty="0" err="1"/>
              <a:t>getKey</a:t>
            </a:r>
            <a:r>
              <a:rPr lang="en-US" altLang="zh-CN" sz="2800" dirty="0"/>
              <a:t>()&lt;</a:t>
            </a:r>
            <a:r>
              <a:rPr lang="en-US" altLang="zh-CN" sz="2800" dirty="0" err="1"/>
              <a:t>pivot.getKey</a:t>
            </a:r>
            <a:r>
              <a:rPr lang="en-US" altLang="zh-CN" sz="2800" dirty="0"/>
              <a:t>()&amp;&amp; ++k!=</a:t>
            </a:r>
            <a:r>
              <a:rPr lang="en-US" altLang="zh-CN" sz="2800" dirty="0" err="1"/>
              <a:t>i</a:t>
            </a:r>
            <a:r>
              <a:rPr lang="en-US" altLang="zh-CN" sz="2800" dirty="0"/>
              <a:t>)</a:t>
            </a:r>
            <a:br>
              <a:rPr lang="zh-CN" altLang="zh-CN" sz="2800" dirty="0"/>
            </a:br>
            <a:r>
              <a:rPr lang="en-US" altLang="zh-CN" sz="2800" dirty="0"/>
              <a:t>              Swap(</a:t>
            </a:r>
            <a:r>
              <a:rPr lang="en-US" altLang="zh-CN" sz="2800" dirty="0" err="1"/>
              <a:t>list.V</a:t>
            </a:r>
            <a:r>
              <a:rPr lang="en-US" altLang="zh-CN" sz="2800" dirty="0"/>
              <a:t>[k],</a:t>
            </a:r>
            <a:r>
              <a:rPr lang="en-US" altLang="zh-CN" sz="2800" dirty="0" err="1"/>
              <a:t>list.V</a:t>
            </a:r>
            <a:r>
              <a:rPr lang="en-US" altLang="zh-CN" sz="2800" dirty="0"/>
              <a:t>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]); </a:t>
            </a:r>
            <a:br>
              <a:rPr lang="en-US" altLang="zh-CN" sz="2800" dirty="0"/>
            </a:br>
            <a:br>
              <a:rPr lang="zh-CN" altLang="zh-CN" sz="2800" dirty="0"/>
            </a:br>
            <a:r>
              <a:rPr lang="en-US" altLang="zh-CN" sz="2800" dirty="0"/>
              <a:t> Swap(</a:t>
            </a:r>
            <a:r>
              <a:rPr lang="en-US" altLang="zh-CN" sz="2800" dirty="0" err="1"/>
              <a:t>list.V</a:t>
            </a:r>
            <a:r>
              <a:rPr lang="en-US" altLang="zh-CN" sz="2800" dirty="0"/>
              <a:t>[k],</a:t>
            </a:r>
            <a:r>
              <a:rPr lang="en-US" altLang="zh-CN" sz="2800" dirty="0" err="1"/>
              <a:t>list.V</a:t>
            </a:r>
            <a:r>
              <a:rPr lang="en-US" altLang="zh-CN" sz="2800" dirty="0"/>
              <a:t>[low]);</a:t>
            </a:r>
            <a:br>
              <a:rPr lang="en-US" altLang="zh-CN" sz="2800" dirty="0"/>
            </a:br>
            <a:br>
              <a:rPr lang="zh-CN" altLang="zh-CN" sz="2800" dirty="0"/>
            </a:br>
            <a:r>
              <a:rPr lang="en-US" altLang="zh-CN" sz="2800" dirty="0"/>
              <a:t> return k;</a:t>
            </a:r>
            <a:br>
              <a:rPr lang="zh-CN" altLang="zh-CN" sz="2800" dirty="0"/>
            </a:br>
            <a:r>
              <a:rPr lang="en-US" altLang="zh-CN" sz="2800" dirty="0"/>
              <a:t> }</a:t>
            </a:r>
            <a:endParaRPr lang="zh-CN" altLang="zh-C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1520" y="260648"/>
            <a:ext cx="8513146" cy="6192688"/>
          </a:xfrm>
        </p:spPr>
        <p:txBody>
          <a:bodyPr anchor="t" anchorCtr="0">
            <a:normAutofit/>
          </a:bodyPr>
          <a:lstStyle/>
          <a:p>
            <a:pPr algn="l"/>
            <a:r>
              <a:rPr lang="zh-CN" altLang="zh-CN" sz="2400" dirty="0"/>
              <a:t>试画出程序流程图，并转化成控制流图，使用路径覆盖的方法为它设计足够的测试用例（循环次数限定为</a:t>
            </a:r>
            <a:r>
              <a:rPr lang="en-US" altLang="zh-CN" sz="2400" dirty="0"/>
              <a:t>1</a:t>
            </a:r>
            <a:r>
              <a:rPr lang="zh-CN" altLang="zh-CN" sz="2400" dirty="0"/>
              <a:t>次）</a:t>
            </a:r>
            <a:r>
              <a:rPr lang="en-US" altLang="zh-CN" sz="2800"/>
              <a:t> </a:t>
            </a:r>
            <a:br>
              <a:rPr lang="en-US" altLang="zh-CN" sz="2800" dirty="0"/>
            </a:br>
            <a:br>
              <a:rPr lang="zh-CN" altLang="zh-CN" sz="2800" dirty="0"/>
            </a:br>
            <a:endParaRPr lang="zh-CN" altLang="zh-CN" sz="2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djN2ZhYTYzNzAxZDRiYTEzN2I3YzA0NTA5Y2JiN2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全屏显示(4:3)</PresentationFormat>
  <Paragraphs>46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宋体</vt:lpstr>
      <vt:lpstr>Arial</vt:lpstr>
      <vt:lpstr>Calibri</vt:lpstr>
      <vt:lpstr>Office 主题​​</vt:lpstr>
      <vt:lpstr>4-3  画出下列伪码程序的程序框图，设计语句覆盖和路径覆盖的测试用例。</vt:lpstr>
      <vt:lpstr>4-4  针对下面控制流图，写出路径表达式（不循环、循环一次）；再根据路径表达式计算路径数（不循环、循环一次）。</vt:lpstr>
      <vt:lpstr>4-5下面是快速排序算法中的一趟划分算法，其中datalist是数据表，它有两个数据成员：一个是数据类型为Element的数组V，另一个是数组大小n。算法中用到两个操作，一是取其数组元素V[i]的关键码操作getKey()，一是交换两数组元素内容的操作Swap()。  int Partition( datalist &amp;list, int low, int high) {  int k=low; Element pivot = list.V[low];  for(int i = low+1;i&lt;=high; i++)        if(list.V[i].getKey()&lt;pivot.getKey()&amp;&amp; ++k!=i)               Swap(list.V[k],list.V[i]);    Swap(list.V[k],list.V[low]);   return k;  }</vt:lpstr>
      <vt:lpstr>试画出程序流程图，并转化成控制流图，使用路径覆盖的方法为它设计足够的测试用例（循环次数限定为1次） 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yulei@hfut.edu.cn</cp:lastModifiedBy>
  <cp:revision>46</cp:revision>
  <dcterms:created xsi:type="dcterms:W3CDTF">2018-11-22T08:56:00Z</dcterms:created>
  <dcterms:modified xsi:type="dcterms:W3CDTF">2026-03-26T00:52:27Z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0D4F3220A0024E95A382596ECC0A7DDE_12</vt:lpwstr>
  </property>
  <property fmtid="{D5CDD505-2E9C-101B-9397-08002B2CF9AE}" pid="3" name="KSOProductBuildVer">
    <vt:lpwstr>2052-12.1.0.21171</vt:lpwstr>
  </property>
</Properties>
</file>