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825" r:id="rId3"/>
    <p:sldId id="560" r:id="rId5"/>
    <p:sldId id="823" r:id="rId6"/>
    <p:sldId id="824" r:id="rId7"/>
    <p:sldId id="826" r:id="rId8"/>
    <p:sldId id="827" r:id="rId9"/>
    <p:sldId id="828" r:id="rId10"/>
    <p:sldId id="829" r:id="rId11"/>
    <p:sldId id="830" r:id="rId12"/>
    <p:sldId id="831" r:id="rId13"/>
    <p:sldId id="832" r:id="rId14"/>
    <p:sldId id="833" r:id="rId15"/>
    <p:sldId id="834" r:id="rId16"/>
    <p:sldId id="835" r:id="rId17"/>
    <p:sldId id="836" r:id="rId18"/>
    <p:sldId id="837" r:id="rId19"/>
    <p:sldId id="838" r:id="rId20"/>
    <p:sldId id="839" r:id="rId21"/>
  </p:sldIdLst>
  <p:sldSz cx="12192000" cy="6858000"/>
  <p:notesSz cx="7315200" cy="9601200"/>
  <p:custDataLst>
    <p:tags r:id="rId2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EAEAEA"/>
    <a:srgbClr val="008000"/>
    <a:srgbClr val="006666"/>
    <a:srgbClr val="FFFFFF"/>
    <a:srgbClr val="99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/>
    <p:restoredTop sz="86371"/>
  </p:normalViewPr>
  <p:slideViewPr>
    <p:cSldViewPr showGuides="1">
      <p:cViewPr varScale="1">
        <p:scale>
          <a:sx n="98" d="100"/>
          <a:sy n="98" d="100"/>
        </p:scale>
        <p:origin x="270" y="54"/>
      </p:cViewPr>
      <p:guideLst>
        <p:guide orient="horz" pos="2118"/>
        <p:guide pos="3856"/>
      </p:guideLst>
    </p:cSldViewPr>
  </p:slideViewPr>
  <p:outlineViewPr>
    <p:cViewPr>
      <p:scale>
        <a:sx n="33" d="100"/>
        <a:sy n="33" d="100"/>
      </p:scale>
      <p:origin x="0" y="-3020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7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l" defTabSz="967105">
              <a:defRPr sz="1300">
                <a:effectLst/>
                <a:ea typeface="+mn-ea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effectLst/>
                <a:ea typeface="+mn-ea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l" defTabSz="967105">
              <a:defRPr sz="1300">
                <a:effectLst/>
                <a:ea typeface="+mn-ea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/>
          <a:p>
            <a:pPr lvl="0" algn="r" defTabSz="967105">
              <a:buNone/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ctr" anchorCtr="0" compatLnSpc="1"/>
          <a:lstStyle>
            <a:lvl1pPr algn="l" defTabSz="967105">
              <a:defRPr sz="130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ctr" anchorCtr="0" compatLnSpc="1"/>
          <a:lstStyle>
            <a:lvl1pPr algn="r" defTabSz="967105">
              <a:defRPr sz="130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b" anchorCtr="0" compatLnSpc="1"/>
          <a:lstStyle>
            <a:lvl1pPr algn="l" defTabSz="967105">
              <a:defRPr sz="1300"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6661" tIns="48331" rIns="96661" bIns="48331" numCol="1" anchor="b" anchorCtr="0" compatLnSpc="1"/>
          <a:lstStyle/>
          <a:p>
            <a:pPr lvl="0" algn="r" defTabSz="967105">
              <a:buNone/>
            </a:pPr>
            <a:fld id="{9A0DB2DC-4C9A-4742-B13C-FB6460FD3503}" type="slidenum">
              <a:rPr lang="zh-CN" altLang="en-US" sz="1300" dirty="0">
                <a:latin typeface="Times New Roman" panose="02020603050405020304" pitchFamily="18" charset="0"/>
              </a:rPr>
            </a:fld>
            <a:endParaRPr lang="zh-CN" altLang="en-US" sz="13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9219" name="Rectangle 1026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20" name="Rectangle 1027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96661" tIns="48331" rIns="96661" bIns="48331" anchor="b" anchorCtr="0"/>
          <a:lstStyle/>
          <a:p>
            <a:pPr lvl="0" algn="r" defTabSz="967105"/>
            <a:fld id="{9A0DB2DC-4C9A-4742-B13C-FB6460FD3503}" type="slidenum">
              <a:rPr lang="en-US" altLang="zh-CN" sz="1300" dirty="0">
                <a:latin typeface="Times New Roman" panose="02020603050405020304" pitchFamily="18" charset="0"/>
              </a:rPr>
            </a:fld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050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2051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none" lIns="96661" tIns="48331" rIns="96661" bIns="48331" anchor="ctr" anchorCtr="0"/>
          <a:lstStyle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rgbClr val="F9FD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/>
          <p:cNvSpPr/>
          <p:nvPr userDrawn="1"/>
        </p:nvSpPr>
        <p:spPr bwMode="gray">
          <a:xfrm>
            <a:off x="920751" y="3340100"/>
            <a:ext cx="10204451" cy="485775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ln w="9525"/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1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F81DD6-D145-4C39-B06A-F437FD1D9C5F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 sz="1400">
                <a:solidFill>
                  <a:srgbClr val="578963"/>
                </a:solidFill>
                <a:effectLst/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dirty="0">
                <a:solidFill>
                  <a:srgbClr val="578963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rgbClr val="57896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981075"/>
            <a:ext cx="5513917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48917" y="981075"/>
            <a:ext cx="5516033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bg>
      <p:bgPr shadeToTitle="1">
        <a:gradFill rotWithShape="0">
          <a:gsLst>
            <a:gs pos="0">
              <a:srgbClr val="ECF3FF"/>
            </a:gs>
            <a:gs pos="100000">
              <a:srgbClr val="FFFF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70" y="45085"/>
            <a:ext cx="108712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335915" y="1028700"/>
            <a:ext cx="10769600" cy="480060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sz="3200"/>
            </a:lvl1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1422400" y="6413500"/>
            <a:ext cx="2540000" cy="457200"/>
          </a:xfrm>
          <a:prstGeom prst="rect">
            <a:avLst/>
          </a:prstGeom>
        </p:spPr>
        <p:txBody>
          <a:bodyPr/>
          <a:lstStyle>
            <a:lvl1pPr algn="ctr"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ECF3FF"/>
            </a:gs>
            <a:gs pos="100000">
              <a:srgbClr val="FFFF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3600451" y="6553200"/>
            <a:ext cx="5088467" cy="306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数据库系统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Helvetica" pitchFamily="34" charset="0"/>
                <a:ea typeface="宋体" panose="02010600030101010101" pitchFamily="2" charset="-122"/>
                <a:cs typeface="+mn-cs"/>
              </a:rPr>
              <a:t>绪论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505" name="Text Box 41"/>
          <p:cNvSpPr txBox="1">
            <a:spLocks noChangeArrowheads="1"/>
          </p:cNvSpPr>
          <p:nvPr/>
        </p:nvSpPr>
        <p:spPr bwMode="auto">
          <a:xfrm>
            <a:off x="9165908" y="6583363"/>
            <a:ext cx="394335" cy="275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buNone/>
            </a:pPr>
            <a:r>
              <a:rPr lang="en-US" altLang="zh-CN" sz="1200" b="1" dirty="0">
                <a:solidFill>
                  <a:srgbClr val="006666"/>
                </a:solidFill>
                <a:latin typeface="Helvetica" pitchFamily="34" charset="0"/>
              </a:rPr>
              <a:t>1.</a:t>
            </a:r>
            <a:fld id="{9A0DB2DC-4C9A-4742-B13C-FB6460FD3503}" type="slidenum">
              <a:rPr lang="en-US" altLang="zh-CN" sz="1200" b="1" dirty="0">
                <a:solidFill>
                  <a:srgbClr val="006666"/>
                </a:solidFill>
                <a:latin typeface="Helvetica" pitchFamily="34" charset="0"/>
              </a:rPr>
            </a:fld>
            <a:endParaRPr lang="en-US" altLang="zh-CN" sz="1200" b="1" dirty="0">
              <a:solidFill>
                <a:srgbClr val="006666"/>
              </a:solidFill>
              <a:latin typeface="Helvetica" pitchFamily="34" charset="0"/>
            </a:endParaRPr>
          </a:p>
        </p:txBody>
      </p:sp>
      <p:sp>
        <p:nvSpPr>
          <p:cNvPr id="6250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007533" y="188913"/>
            <a:ext cx="107696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Rectangle 44"/>
          <p:cNvSpPr/>
          <p:nvPr userDrawn="1"/>
        </p:nvSpPr>
        <p:spPr>
          <a:xfrm flipV="1">
            <a:off x="239184" y="836613"/>
            <a:ext cx="11425767" cy="71437"/>
          </a:xfrm>
          <a:prstGeom prst="rect">
            <a:avLst/>
          </a:prstGeom>
          <a:solidFill>
            <a:srgbClr val="FF9900"/>
          </a:solidFill>
          <a:ln w="9525">
            <a:noFill/>
          </a:ln>
        </p:spPr>
        <p:txBody>
          <a:bodyPr rot="10800000" wrap="none" anchor="ctr" anchorCtr="0"/>
          <a:lstStyle/>
          <a:p>
            <a:pPr lvl="0" algn="ctr" eaLnBrk="1" hangingPunct="1"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53"/>
          <p:cNvSpPr>
            <a:spLocks noGrp="1"/>
          </p:cNvSpPr>
          <p:nvPr>
            <p:ph type="body" idx="1"/>
          </p:nvPr>
        </p:nvSpPr>
        <p:spPr>
          <a:xfrm>
            <a:off x="431800" y="981075"/>
            <a:ext cx="11233151" cy="5184775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31" name="Rectangle 54"/>
          <p:cNvSpPr>
            <a:spLocks noChangeArrowheads="1"/>
          </p:cNvSpPr>
          <p:nvPr/>
        </p:nvSpPr>
        <p:spPr bwMode="auto">
          <a:xfrm>
            <a:off x="1007533" y="6524625"/>
            <a:ext cx="3359151" cy="3333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4E1425-3343-4CA8-B3A3-4C7E5422037E}" type="datetime8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57"/>
          <p:cNvSpPr/>
          <p:nvPr userDrawn="1"/>
        </p:nvSpPr>
        <p:spPr>
          <a:xfrm flipV="1">
            <a:off x="719667" y="6308725"/>
            <a:ext cx="10945284" cy="73025"/>
          </a:xfrm>
          <a:prstGeom prst="rect">
            <a:avLst/>
          </a:prstGeom>
          <a:solidFill>
            <a:srgbClr val="EAEAEA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lstStyle/>
          <a:p>
            <a:pPr lvl="0" algn="ctr" eaLnBrk="1" hangingPunct="1">
              <a:buNone/>
            </a:pP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5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223500" y="6021388"/>
            <a:ext cx="1071033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2" charset="2"/>
        <a:buChar char="n"/>
        <a:defRPr kumimoji="1" sz="28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105000"/>
        <a:buFont typeface="Wingdings" panose="05000000000000000000" pitchFamily="2" charset="2"/>
        <a:buChar char="Ø"/>
        <a:defRPr kumimoji="1" sz="2400">
          <a:solidFill>
            <a:srgbClr val="0000FF"/>
          </a:solidFill>
          <a:latin typeface="+mn-lt"/>
          <a:ea typeface="+mn-ea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5000"/>
        <a:buFont typeface="Wingdings 2" panose="05020102010507070707" pitchFamily="18" charset="2"/>
        <a:buChar char="ê"/>
        <a:defRPr kumimoji="1" sz="2000">
          <a:solidFill>
            <a:srgbClr val="0000FF"/>
          </a:solidFill>
          <a:latin typeface="+mn-lt"/>
          <a:ea typeface="+mn-ea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rgbClr val="0000FF"/>
          </a:solidFill>
          <a:latin typeface="+mn-lt"/>
          <a:ea typeface="+mn-ea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rgbClr val="0000FF"/>
          </a:solidFill>
          <a:latin typeface="+mn-lt"/>
          <a:ea typeface="+mn-ea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rgbClr val="0000FF"/>
          </a:solidFill>
          <a:latin typeface="+mn-lt"/>
          <a:ea typeface="+mn-ea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rgbClr val="0000FF"/>
          </a:solidFill>
          <a:latin typeface="+mn-lt"/>
          <a:ea typeface="+mn-ea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rgbClr val="0000FF"/>
          </a:solidFill>
          <a:latin typeface="+mn-lt"/>
          <a:ea typeface="+mn-ea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rgbClr val="0000FF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hyperlink" Target="https://dev.mysql.com/downloads/installer/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cnblogs.com/kevin-yang123/p/17048873.html" TargetMode="External"/><Relationship Id="rId1" Type="http://schemas.openxmlformats.org/officeDocument/2006/relationships/hyperlink" Target="https://www.navicat.com.cn/product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</a:t>
            </a:r>
            <a:r>
              <a:rPr lang="zh-CN" altLang="en-US" noProof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数据库管理系统实验环境搭建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indent="-36576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3200" b="1" dirty="0"/>
              <a:t>1.1 MySQL</a:t>
            </a:r>
            <a:r>
              <a:rPr lang="zh-CN" altLang="en-US" sz="3200" b="1" dirty="0"/>
              <a:t>下载和部署</a:t>
            </a:r>
            <a:endParaRPr lang="zh-CN" altLang="en-US" sz="3200" b="1" dirty="0"/>
          </a:p>
          <a:p>
            <a:pPr lvl="1" indent="-36576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3200" b="1" dirty="0"/>
              <a:t>1.2  </a:t>
            </a:r>
            <a:r>
              <a:rPr lang="en-US" sz="3200" b="1" dirty="0"/>
              <a:t>Navicat</a:t>
            </a:r>
            <a:r>
              <a:rPr lang="zh-CN" altLang="en-US" sz="3200" b="1" dirty="0"/>
              <a:t>下载</a:t>
            </a:r>
            <a:r>
              <a:rPr lang="zh-CN" altLang="en-US" sz="3200" b="1"/>
              <a:t>和安装</a:t>
            </a:r>
            <a:endParaRPr lang="en-US" altLang="zh-CN" sz="3200" b="1"/>
          </a:p>
          <a:p>
            <a:pPr lvl="1" indent="-36576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3200" b="1"/>
              <a:t>1.3 Navicat</a:t>
            </a:r>
            <a:r>
              <a:rPr lang="zh-CN" altLang="en-US" sz="3200" b="1"/>
              <a:t>和</a:t>
            </a:r>
            <a:r>
              <a:rPr lang="en-US" altLang="zh-CN" sz="3200" b="1"/>
              <a:t>Mysql</a:t>
            </a:r>
            <a:r>
              <a:rPr lang="zh-CN" altLang="en-US" sz="3200" b="1"/>
              <a:t>连接</a:t>
            </a:r>
            <a:endParaRPr lang="zh-CN" altLang="en-US" sz="3200" b="1" dirty="0"/>
          </a:p>
          <a:p>
            <a:pPr lvl="1">
              <a:lnSpc>
                <a:spcPct val="13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lang="zh-CN" altLang="en-US" sz="32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479425" y="1124584"/>
            <a:ext cx="11161191" cy="5400759"/>
          </a:xfrm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7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200" spc="3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sz="3200" spc="30" dirty="0">
                <a:solidFill>
                  <a:srgbClr val="0000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1</a:t>
            </a:r>
            <a:r>
              <a:rPr sz="3200" spc="3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 下载 </a:t>
            </a:r>
            <a:r>
              <a:rPr sz="3200" dirty="0">
                <a:solidFill>
                  <a:srgbClr val="0000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MySQL</a:t>
            </a:r>
            <a:r>
              <a:rPr sz="3200" spc="3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3200" spc="30" dirty="0">
              <a:solidFill>
                <a:srgbClr val="0000FF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sz="3200" spc="3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3200" spc="3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3200" spc="3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下载地址：</a:t>
            </a:r>
            <a:r>
              <a:rPr lang="en-US" sz="3200" u="sng">
                <a:solidFill>
                  <a:srgbClr val="FF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  <a:hlinkClick r:id="rId1"/>
              </a:rPr>
              <a:t>https://dev.mysql.com/downloads/installer/</a:t>
            </a:r>
            <a:endParaRPr lang="en-US" sz="3200" spc="30" dirty="0">
              <a:solidFill>
                <a:srgbClr val="FF0000">
                  <a:alpha val="100000"/>
                </a:srgb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3200" spc="30">
                <a:solidFill>
                  <a:srgbClr val="FF0000">
                    <a:alpha val="100000"/>
                  </a:srgbClr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+mn-ea"/>
              </a:rPr>
              <a:t>     </a:t>
            </a:r>
            <a:r>
              <a:rPr sz="3200" spc="3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点击</a:t>
            </a:r>
            <a:r>
              <a:rPr lang="zh-CN" altLang="en-US" sz="3200" spc="3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红线</a:t>
            </a:r>
            <a:endParaRPr sz="3200" spc="30" dirty="0">
              <a:solidFill>
                <a:srgbClr val="0000FF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2000" b="0" i="0">
              <a:solidFill>
                <a:srgbClr val="4D4D4D"/>
              </a:solidFill>
              <a:effectLst/>
              <a:latin typeface="-apple-system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4D4D4D"/>
              </a:solidFill>
              <a:latin typeface="-apple-system"/>
            </a:endParaRPr>
          </a:p>
          <a:p>
            <a:pPr algn="just">
              <a:lnSpc>
                <a:spcPct val="170000"/>
              </a:lnSpc>
              <a:spcBef>
                <a:spcPts val="3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3295579"/>
            <a:ext cx="4627689" cy="23656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92" y="3295579"/>
            <a:ext cx="3672408" cy="27324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实验环境搭建（续）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908685"/>
            <a:ext cx="11233150" cy="3958590"/>
          </a:xfrm>
        </p:spPr>
        <p:txBody>
          <a:bodyPr/>
          <a:lstStyle/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r>
              <a:rPr 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 sz="2400" spc="2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双击安装软件开始安装</a:t>
            </a:r>
            <a:r>
              <a:rPr lang="zh-CN" altLang="en-US" sz="240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。点击</a:t>
            </a:r>
            <a:r>
              <a:rPr lang="en-US" altLang="zh-CN" sz="240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Next,</a:t>
            </a:r>
            <a:r>
              <a:rPr lang="zh-CN" altLang="en-US" sz="240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显示安装目录，可以自定义，然后点击</a:t>
            </a:r>
            <a:r>
              <a:rPr lang="en-US" altLang="zh-CN" sz="240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Next</a:t>
            </a:r>
            <a:r>
              <a:rPr lang="zh-CN" altLang="en-US" sz="240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400">
              <a:solidFill>
                <a:srgbClr val="0000FF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383" y="2054117"/>
            <a:ext cx="5467507" cy="41093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00762"/>
            <a:ext cx="5621395" cy="4216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实验环境搭建（续）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908685"/>
            <a:ext cx="11233150" cy="3958590"/>
          </a:xfrm>
        </p:spPr>
        <p:txBody>
          <a:bodyPr/>
          <a:lstStyle/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r>
              <a:rPr 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然后依次</a:t>
            </a:r>
            <a:r>
              <a:rPr lang="en-US" altLang="zh-CN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Next,Excecute</a:t>
            </a:r>
            <a:endParaRPr lang="en-US" altLang="en-US" sz="2400" dirty="0">
              <a:solidFill>
                <a:srgbClr val="0000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39" y="1738831"/>
            <a:ext cx="5739917" cy="43324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1772816"/>
            <a:ext cx="5685945" cy="4264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实验环境搭建（续）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908685"/>
            <a:ext cx="11233150" cy="3958590"/>
          </a:xfrm>
        </p:spPr>
        <p:txBody>
          <a:bodyPr/>
          <a:lstStyle/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r>
              <a:rPr 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然后一直</a:t>
            </a:r>
            <a:r>
              <a:rPr lang="en-US" altLang="zh-CN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Next,</a:t>
            </a:r>
            <a:r>
              <a:rPr lang="zh-CN" altLang="en-US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直到</a:t>
            </a:r>
            <a:r>
              <a:rPr lang="en-US" altLang="zh-CN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Accounts and Roles</a:t>
            </a:r>
            <a:r>
              <a:rPr lang="zh-CN" altLang="en-US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界面，设置</a:t>
            </a:r>
            <a:r>
              <a:rPr lang="en-US" altLang="zh-CN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root</a:t>
            </a:r>
            <a:r>
              <a:rPr lang="zh-CN" altLang="en-US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密码，建议</a:t>
            </a:r>
            <a:r>
              <a:rPr lang="en-US" altLang="zh-CN" sz="24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123456</a:t>
            </a:r>
            <a:endParaRPr lang="en-US" altLang="en-US" sz="2400" dirty="0">
              <a:solidFill>
                <a:srgbClr val="0000FF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41" y="2132856"/>
            <a:ext cx="5472655" cy="410449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957" y="2132856"/>
            <a:ext cx="5472655" cy="41044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实验环境搭建（续）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908685"/>
            <a:ext cx="11233150" cy="3958590"/>
          </a:xfrm>
        </p:spPr>
        <p:txBody>
          <a:bodyPr/>
          <a:lstStyle/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r>
              <a:rPr 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然后依次</a:t>
            </a:r>
            <a:r>
              <a:rPr lang="en-US" altLang="zh-CN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Next,Excecute</a:t>
            </a:r>
            <a:endParaRPr lang="en-US" altLang="en-US" sz="24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231" y="1757904"/>
            <a:ext cx="5647769" cy="42358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096" y="1802385"/>
            <a:ext cx="5647769" cy="4235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实验环境搭建（续）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908685"/>
            <a:ext cx="11233150" cy="3958590"/>
          </a:xfrm>
        </p:spPr>
        <p:txBody>
          <a:bodyPr/>
          <a:lstStyle/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r>
              <a:rPr 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然后一直</a:t>
            </a:r>
            <a:r>
              <a:rPr lang="en-US" altLang="zh-CN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Next,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到如下界面验证密码，接着</a:t>
            </a:r>
            <a:r>
              <a:rPr lang="en-US" altLang="zh-CN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Excecute,finish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结束</a:t>
            </a:r>
            <a:endParaRPr lang="en-US" altLang="en-US" sz="2400" dirty="0">
              <a:solidFill>
                <a:srgbClr val="0000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171" y="2204864"/>
            <a:ext cx="5441705" cy="40812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937" y="2179276"/>
            <a:ext cx="5441705" cy="4081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MySQL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实验环境搭建（续）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135" y="908685"/>
            <a:ext cx="11233150" cy="3958590"/>
          </a:xfrm>
        </p:spPr>
        <p:txBody>
          <a:bodyPr/>
          <a:lstStyle/>
          <a:p>
            <a:pPr marL="0" indent="0" algn="l" rtl="0" eaLnBrk="0">
              <a:lnSpc>
                <a:spcPct val="132000"/>
              </a:lnSpc>
              <a:spcBef>
                <a:spcPts val="255"/>
              </a:spcBef>
              <a:buNone/>
            </a:pPr>
            <a:r>
              <a:rPr 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在开始菜单中有</a:t>
            </a:r>
            <a:r>
              <a:rPr lang="en-US" altLang="zh-CN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 8.0 Command Line Client,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进入，输入设置的</a:t>
            </a:r>
            <a:r>
              <a:rPr lang="en-US" altLang="zh-CN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root</a:t>
            </a:r>
            <a:r>
              <a:rPr lang="zh-CN" altLang="en-US" sz="2800" spc="5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密码，如下图显示即代表安装成功</a:t>
            </a:r>
            <a:endParaRPr lang="en-US" altLang="en-US" sz="24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392" y="2708920"/>
            <a:ext cx="2523809" cy="16857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67" y="2204864"/>
            <a:ext cx="7070704" cy="3695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 </a:t>
            </a:r>
            <a:r>
              <a:rPr lang="en-US" altLang="zh-CN" sz="3600" b="1"/>
              <a:t>Navicat</a:t>
            </a:r>
            <a:r>
              <a:rPr lang="zh-CN" altLang="en-US" sz="3600" b="1"/>
              <a:t>下载和安装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两种方式安装</a:t>
            </a:r>
            <a:r>
              <a:rPr lang="en-US" altLang="zh-CN"/>
              <a:t>Navicat,</a:t>
            </a:r>
            <a:r>
              <a:rPr lang="zh-CN" altLang="en-US"/>
              <a:t>第一种官网地址下载安装</a:t>
            </a:r>
            <a:r>
              <a:rPr lang="en-US" altLang="zh-CN">
                <a:hlinkClick r:id="rId1"/>
              </a:rPr>
              <a:t>https://www.navicat.com.cn/products</a:t>
            </a:r>
            <a:endParaRPr lang="en-US" altLang="zh-CN"/>
          </a:p>
          <a:p>
            <a:r>
              <a:rPr lang="zh-CN" altLang="en-US"/>
              <a:t>第二种需要自己破解激活，方法在如下博客中</a:t>
            </a:r>
            <a:r>
              <a:rPr lang="en-US" altLang="zh-CN">
                <a:hlinkClick r:id="rId2"/>
              </a:rPr>
              <a:t>https://www.cnblogs.com/kevin-yang123/p/17048873.html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</a:t>
            </a:r>
            <a:r>
              <a:rPr lang="zh-CN" altLang="en-US"/>
              <a:t>使用第二种的话防护墙可以先关闭）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 </a:t>
            </a:r>
            <a:r>
              <a:rPr lang="en-US" altLang="zh-CN" sz="3600" b="1"/>
              <a:t>Navicat</a:t>
            </a:r>
            <a:r>
              <a:rPr lang="zh-CN" altLang="en-US" sz="3600" b="1"/>
              <a:t>下载和安装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接下来介绍第一种，点击免费试用，直接下载</a:t>
            </a:r>
            <a:r>
              <a:rPr lang="en-US" altLang="zh-CN"/>
              <a:t>(64 bit),</a:t>
            </a:r>
            <a:r>
              <a:rPr lang="zh-CN" altLang="en-US"/>
              <a:t>接着安装即可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36" y="1988840"/>
            <a:ext cx="8233247" cy="23840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842" y="2060848"/>
            <a:ext cx="3250631" cy="32685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打开</a:t>
            </a:r>
            <a:r>
              <a:rPr lang="en-US" altLang="zh-CN"/>
              <a:t>Navicat,</a:t>
            </a:r>
            <a:r>
              <a:rPr lang="zh-CN" altLang="en-US"/>
              <a:t>点击连接菜单，</a:t>
            </a:r>
            <a:r>
              <a:rPr lang="en-US" altLang="zh-CN"/>
              <a:t>MySQL,</a:t>
            </a:r>
            <a:r>
              <a:rPr lang="zh-CN" altLang="en-US"/>
              <a:t>接着在新建连接界面自定义连接名，输入</a:t>
            </a:r>
            <a:r>
              <a:rPr lang="en-US" altLang="zh-CN"/>
              <a:t>root</a:t>
            </a:r>
            <a:r>
              <a:rPr lang="zh-CN" altLang="en-US"/>
              <a:t>密码，点击测试连接，显示连接成功的话即连接成功，然后点击确定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00" y="2303983"/>
            <a:ext cx="6338784" cy="43651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28" y="2226956"/>
            <a:ext cx="3596664" cy="45053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创建数据库，右键创建数据库，命名数据库，选择字符集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24" y="1844824"/>
            <a:ext cx="4342857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9905" algn="l" rtl="0" eaLnBrk="0">
              <a:lnSpc>
                <a:spcPts val="1230"/>
              </a:lnSpc>
              <a:spcBef>
                <a:spcPts val="360"/>
              </a:spcBef>
            </a:pPr>
            <a:endParaRPr lang="en-US" altLang="zh-CN" sz="2800" spc="10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09905" algn="l" rtl="0" eaLnBrk="0">
              <a:lnSpc>
                <a:spcPts val="1230"/>
              </a:lnSpc>
              <a:spcBef>
                <a:spcPts val="360"/>
              </a:spcBef>
            </a:pPr>
            <a:endParaRPr lang="en-US" altLang="zh-CN" spc="10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09905" algn="l" rtl="0" eaLnBrk="0">
              <a:lnSpc>
                <a:spcPts val="1230"/>
              </a:lnSpc>
              <a:spcBef>
                <a:spcPts val="360"/>
              </a:spcBef>
            </a:pPr>
            <a:r>
              <a:rPr lang="zh-CN" altLang="en-US" sz="2800" spc="10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考生表：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examinee</a:t>
            </a:r>
            <a:r>
              <a:rPr lang="en-US" altLang="zh-CN" sz="2800" spc="10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eeid</a:t>
            </a:r>
            <a:r>
              <a:rPr lang="en-US" altLang="zh-CN" sz="2800" spc="10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eename</a:t>
            </a:r>
            <a:r>
              <a:rPr lang="en-US" altLang="zh-CN" sz="2800" spc="10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eesex</a:t>
            </a:r>
            <a:r>
              <a:rPr lang="en-US" altLang="zh-CN" sz="2800" spc="10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eeage</a:t>
            </a:r>
            <a:r>
              <a:rPr lang="en-US" altLang="zh-CN" sz="2800" spc="10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eedepa</a:t>
            </a:r>
            <a:r>
              <a:rPr lang="en-US" altLang="zh-CN" sz="2800" spc="10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</a:t>
            </a:r>
            <a:r>
              <a:rPr lang="zh-CN" altLang="en-US" sz="2800" spc="2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lang="en-US" altLang="en-US" sz="2800"/>
          </a:p>
          <a:p>
            <a:pPr marL="509905" algn="l" rtl="0" eaLnBrk="0">
              <a:lnSpc>
                <a:spcPct val="116000"/>
              </a:lnSpc>
              <a:spcBef>
                <a:spcPts val="335"/>
              </a:spcBef>
            </a:pPr>
            <a:r>
              <a:rPr lang="zh-CN" altLang="en-US" sz="2800" spc="6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考官表：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examiner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erid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ername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ersex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erage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ersalary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erdepa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</a:t>
            </a:r>
            <a:r>
              <a:rPr lang="en-US" altLang="zh-CN" sz="2800" spc="2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zh-CN" altLang="en-US" sz="2800" spc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 </a:t>
            </a:r>
            <a:endParaRPr lang="en-US" altLang="zh-CN" sz="2800" spc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09905" algn="l" rtl="0" eaLnBrk="0">
              <a:lnSpc>
                <a:spcPct val="116000"/>
              </a:lnSpc>
              <a:spcBef>
                <a:spcPts val="335"/>
              </a:spcBef>
            </a:pPr>
            <a:r>
              <a:rPr lang="zh-CN" altLang="en-US" sz="2800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试卷表：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exampaper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(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eid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ename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etype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eduration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lang="en-US" altLang="en-US" sz="2800"/>
          </a:p>
          <a:p>
            <a:pPr marL="509905" algn="l" rtl="0" eaLnBrk="0">
              <a:lnSpc>
                <a:spcPct val="98000"/>
              </a:lnSpc>
              <a:spcBef>
                <a:spcPts val="320"/>
              </a:spcBef>
            </a:pPr>
            <a:r>
              <a:rPr lang="zh-CN" altLang="en-US" sz="2800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考生答卷表：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eeexam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eeid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eid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achieve</a:t>
            </a:r>
            <a:r>
              <a:rPr lang="en-US" altLang="zh-CN" sz="2800" spc="7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</a:t>
            </a:r>
            <a:r>
              <a:rPr lang="zh-CN" altLang="en-US" sz="2800" spc="4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lang="en-US" altLang="en-US" sz="2800"/>
          </a:p>
          <a:p>
            <a:pPr marL="509905" algn="l" rtl="0" eaLnBrk="0">
              <a:lnSpc>
                <a:spcPts val="1560"/>
              </a:lnSpc>
            </a:pPr>
            <a:r>
              <a:rPr lang="zh-CN" altLang="en-US" sz="2800" spc="6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考官制卷表：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erexam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erid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eid</a:t>
            </a:r>
            <a:r>
              <a:rPr lang="en-US" altLang="zh-CN" sz="2800" spc="6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</a:t>
            </a:r>
            <a:r>
              <a:rPr lang="zh-CN" altLang="en-US" sz="2800" spc="1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lang="en-US" altLang="en-US" sz="2800"/>
          </a:p>
          <a:p>
            <a:pPr marL="509905">
              <a:lnSpc>
                <a:spcPct val="129000"/>
              </a:lnSpc>
              <a:spcBef>
                <a:spcPts val="50"/>
              </a:spcBef>
            </a:pPr>
            <a:r>
              <a:rPr lang="zh-CN" altLang="en-US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院系表：</a:t>
            </a:r>
            <a:r>
              <a:rPr lang="en-US" altLang="zh-CN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department(dname,dloca,dtele)</a:t>
            </a:r>
            <a:r>
              <a:rPr lang="zh-CN" altLang="en-US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六张表。            </a:t>
            </a:r>
            <a:endParaRPr lang="en-US" altLang="zh-CN" spc="7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09905">
              <a:lnSpc>
                <a:spcPct val="129000"/>
              </a:lnSpc>
              <a:spcBef>
                <a:spcPts val="50"/>
              </a:spcBef>
            </a:pPr>
            <a:r>
              <a:rPr lang="zh-CN" altLang="en-US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在“表”上右键，选择新建表。 输入表的信息。</a:t>
            </a:r>
            <a:endParaRPr lang="zh-CN" altLang="en-US" spc="7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09905"/>
            <a:r>
              <a:rPr lang="zh-CN" altLang="en-US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输完数据后 </a:t>
            </a:r>
            <a:r>
              <a:rPr lang="en-US" altLang="zh-CN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ctrl+S</a:t>
            </a:r>
            <a:r>
              <a:rPr lang="zh-CN" altLang="en-US" spc="7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保存。输入数据表名</a:t>
            </a:r>
            <a:endParaRPr lang="zh-CN" altLang="en-US" spc="7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1424" y="908720"/>
            <a:ext cx="8585987" cy="518477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pc="-1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对表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examiner </a:t>
            </a:r>
            <a:r>
              <a:rPr lang="zh-CN" altLang="en-US" sz="2800" spc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进行查询， 查询工资大于等于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8000 </a:t>
            </a:r>
            <a:r>
              <a:rPr lang="zh-CN" altLang="en-US" sz="2800" spc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的考官。</a:t>
            </a:r>
            <a:endParaRPr lang="en-US" altLang="zh-CN" sz="2800" spc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24" y="1844824"/>
            <a:ext cx="7003947" cy="42294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在“新建查询”输入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sql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语句后点击运行，下边列出</a:t>
            </a:r>
            <a:r>
              <a:rPr lang="zh-CN" altLang="en-US" sz="2800" spc="2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</a:t>
            </a:r>
            <a:r>
              <a:rPr lang="zh-CN" altLang="en-US" sz="2800" spc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合查询条件的结果。</a:t>
            </a:r>
            <a:endParaRPr lang="en-US" altLang="zh-CN" sz="2800" spc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297" y="1988840"/>
            <a:ext cx="6917128" cy="41770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erexam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exampaer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zh-CN" altLang="en-US" sz="2800" spc="3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两张表建立联</a:t>
            </a:r>
            <a:r>
              <a:rPr lang="zh-CN" altLang="en-US" sz="2800" spc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系。 </a:t>
            </a:r>
            <a:r>
              <a:rPr lang="zh-CN" altLang="en-US" sz="2800" spc="-1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 </a:t>
            </a:r>
            <a:r>
              <a:rPr lang="en-US" altLang="zh-CN" sz="2800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erexam</a:t>
            </a:r>
            <a:r>
              <a:rPr lang="zh-CN" altLang="en-US" sz="2800" spc="-1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zh-CN" altLang="en-US" sz="2800" spc="-1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表上右键设计表</a:t>
            </a:r>
            <a:r>
              <a:rPr lang="zh-CN" altLang="en-US" sz="2800" spc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。点击外键。</a:t>
            </a:r>
            <a:endParaRPr lang="zh-CN" altLang="en-US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24" y="1988840"/>
            <a:ext cx="7186685" cy="40468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 </a:t>
            </a:r>
            <a:r>
              <a:rPr lang="en-US" altLang="zh-CN" sz="3600" b="1"/>
              <a:t>Navicat</a:t>
            </a:r>
            <a:r>
              <a:rPr lang="zh-CN" altLang="en-US" sz="3600" b="1"/>
              <a:t>和</a:t>
            </a:r>
            <a:r>
              <a:rPr lang="en-US" altLang="zh-CN" sz="3600" b="1"/>
              <a:t>Mysql</a:t>
            </a:r>
            <a:r>
              <a:rPr lang="zh-CN" altLang="en-US" sz="3600" b="1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spc="2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删除表，右键表，点击删除</a:t>
            </a:r>
            <a:r>
              <a:rPr lang="zh-CN" altLang="en-US" sz="2800" spc="1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496" y="1767097"/>
            <a:ext cx="7185748" cy="439875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cd669b5a-4afe-4122-84cd-5f1c5cdf1b63"/>
  <p:tag name="COMMONDATA" val="eyJoZGlkIjoiYmVhYjRlNDdkYTU2YTkyYWJjMzUwNmVmYjNhZjFmYjcifQ=="/>
</p:tagLst>
</file>

<file path=ppt/theme/theme1.xml><?xml version="1.0" encoding="utf-8"?>
<a:theme xmlns:a="http://schemas.openxmlformats.org/drawingml/2006/main" name="db-book">
  <a:themeElements>
    <a:clrScheme name="db-book 6">
      <a:dk1>
        <a:srgbClr val="000000"/>
      </a:dk1>
      <a:lt1>
        <a:srgbClr val="CCECFF"/>
      </a:lt1>
      <a:dk2>
        <a:srgbClr val="000000"/>
      </a:dk2>
      <a:lt2>
        <a:srgbClr val="666699"/>
      </a:lt2>
      <a:accent1>
        <a:srgbClr val="99CCFF"/>
      </a:accent1>
      <a:accent2>
        <a:srgbClr val="FF3300"/>
      </a:accent2>
      <a:accent3>
        <a:srgbClr val="E2F4FF"/>
      </a:accent3>
      <a:accent4>
        <a:srgbClr val="000000"/>
      </a:accent4>
      <a:accent5>
        <a:srgbClr val="CAE2FF"/>
      </a:accent5>
      <a:accent6>
        <a:srgbClr val="E72D00"/>
      </a:accent6>
      <a:hlink>
        <a:srgbClr val="F03300"/>
      </a:hlink>
      <a:folHlink>
        <a:srgbClr val="FF300D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" pitchFamily="34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CCCC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B9B900"/>
        </a:accent6>
        <a:hlink>
          <a:srgbClr val="FF9900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CCCC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B9B900"/>
        </a:accent6>
        <a:hlink>
          <a:srgbClr val="F03300"/>
        </a:hlink>
        <a:folHlink>
          <a:srgbClr val="FF300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6">
        <a:dk1>
          <a:srgbClr val="000000"/>
        </a:dk1>
        <a:lt1>
          <a:srgbClr val="CCECFF"/>
        </a:lt1>
        <a:dk2>
          <a:srgbClr val="000000"/>
        </a:dk2>
        <a:lt2>
          <a:srgbClr val="666699"/>
        </a:lt2>
        <a:accent1>
          <a:srgbClr val="99CCFF"/>
        </a:accent1>
        <a:accent2>
          <a:srgbClr val="FF3300"/>
        </a:accent2>
        <a:accent3>
          <a:srgbClr val="E2F4FF"/>
        </a:accent3>
        <a:accent4>
          <a:srgbClr val="000000"/>
        </a:accent4>
        <a:accent5>
          <a:srgbClr val="CAE2FF"/>
        </a:accent5>
        <a:accent6>
          <a:srgbClr val="E72D00"/>
        </a:accent6>
        <a:hlink>
          <a:srgbClr val="F03300"/>
        </a:hlink>
        <a:folHlink>
          <a:srgbClr val="FF300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Office\Templates\Presentations\db-book.pot</Template>
  <TotalTime>0</TotalTime>
  <Words>1410</Words>
  <Application>WPS 演示</Application>
  <PresentationFormat>宽屏</PresentationFormat>
  <Paragraphs>92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Helvetica</vt:lpstr>
      <vt:lpstr>Times New Roman</vt:lpstr>
      <vt:lpstr>Tahoma</vt:lpstr>
      <vt:lpstr>Monotype Sorts</vt:lpstr>
      <vt:lpstr>Wingdings 2</vt:lpstr>
      <vt:lpstr>Wingdings</vt:lpstr>
      <vt:lpstr>Calibri</vt:lpstr>
      <vt:lpstr>-apple-system</vt:lpstr>
      <vt:lpstr>微软雅黑</vt:lpstr>
      <vt:lpstr>Arial Unicode MS</vt:lpstr>
      <vt:lpstr>Segoe Print</vt:lpstr>
      <vt:lpstr>db-book</vt:lpstr>
      <vt:lpstr>数据库系统实验环境搭建和准备</vt:lpstr>
      <vt:lpstr>1.1 MySQL实验环境搭建</vt:lpstr>
      <vt:lpstr>1.1 MySQL实验环境搭建（续）</vt:lpstr>
      <vt:lpstr>1.1 MySQL实验环境搭建（续）</vt:lpstr>
      <vt:lpstr>1.1 MySQL实验环境搭建（续）</vt:lpstr>
      <vt:lpstr>1.1 MySQL实验环境搭建（续）</vt:lpstr>
      <vt:lpstr>1.1 MySQL实验环境搭建（续）</vt:lpstr>
      <vt:lpstr>1.1 MySQL实验环境搭建（续）</vt:lpstr>
      <vt:lpstr>1.2 Navicat下载和安装</vt:lpstr>
      <vt:lpstr>1.2 Navicat下载和安装</vt:lpstr>
      <vt:lpstr>1.3 Navicat和Mysql连接</vt:lpstr>
      <vt:lpstr>1.3 Navicat和Mysql连接</vt:lpstr>
      <vt:lpstr>1.3 Navicat和Mysql连接</vt:lpstr>
      <vt:lpstr>1.3 Navicat和Mysql连接</vt:lpstr>
      <vt:lpstr>1.3 Navicat和Mysql连接</vt:lpstr>
      <vt:lpstr>1.3 Navicat和Mysql连接</vt:lpstr>
      <vt:lpstr>1.3 Navicat和Mysql连接</vt:lpstr>
      <vt:lpstr>1.3 Navicat和Mysql连接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</dc:title>
  <dc:creator>Marilyn Turnamian</dc:creator>
  <cp:lastModifiedBy>胡敏</cp:lastModifiedBy>
  <cp:revision>279</cp:revision>
  <cp:lastPrinted>1999-06-28T19:27:00Z</cp:lastPrinted>
  <dcterms:created xsi:type="dcterms:W3CDTF">2000-02-07T19:26:00Z</dcterms:created>
  <dcterms:modified xsi:type="dcterms:W3CDTF">2023-02-08T08:39:30Z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ACF4D81B79FD4180B87E42EC57345C5B</vt:lpwstr>
  </property>
  <property fmtid="{D5CDD505-2E9C-101B-9397-08002B2CF9AE}" pid="3" name="KSOProductBuildVer">
    <vt:lpwstr>2052-11.1.0.12970</vt:lpwstr>
  </property>
</Properties>
</file>